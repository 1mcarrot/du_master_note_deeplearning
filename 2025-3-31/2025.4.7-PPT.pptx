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59" r:id="rId3"/>
    <p:sldId id="466" r:id="rId5"/>
    <p:sldId id="470" r:id="rId6"/>
    <p:sldId id="500" r:id="rId7"/>
    <p:sldId id="499" r:id="rId8"/>
    <p:sldId id="524" r:id="rId9"/>
    <p:sldId id="510" r:id="rId10"/>
    <p:sldId id="540" r:id="rId11"/>
    <p:sldId id="583" r:id="rId12"/>
    <p:sldId id="541" r:id="rId13"/>
    <p:sldId id="542" r:id="rId14"/>
    <p:sldId id="560" r:id="rId15"/>
    <p:sldId id="543" r:id="rId16"/>
    <p:sldId id="561" r:id="rId17"/>
    <p:sldId id="547" r:id="rId18"/>
    <p:sldId id="562" r:id="rId19"/>
    <p:sldId id="548" r:id="rId20"/>
    <p:sldId id="563" r:id="rId21"/>
    <p:sldId id="576" r:id="rId22"/>
    <p:sldId id="579" r:id="rId23"/>
    <p:sldId id="580" r:id="rId24"/>
    <p:sldId id="497" r:id="rId25"/>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55" autoAdjust="0"/>
    <p:restoredTop sz="94660"/>
  </p:normalViewPr>
  <p:slideViewPr>
    <p:cSldViewPr snapToGrid="0">
      <p:cViewPr varScale="1">
        <p:scale>
          <a:sx n="80" d="100"/>
          <a:sy n="80" d="100"/>
        </p:scale>
        <p:origin x="73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126.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D6D8EF-FF10-4018-846A-D712F3478F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1B9F13-8F08-49E6-9A2C-1C81E5F4088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4294967295"/>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23" name="矩形 22"/>
          <p:cNvSpPr/>
          <p:nvPr userDrawn="1">
            <p:custDataLst>
              <p:tags r:id="rId7"/>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mn-lt"/>
              <a:ea typeface="+mn-ea"/>
              <a:cs typeface="+mn-cs"/>
            </a:endParaRPr>
          </a:p>
        </p:txBody>
      </p:sp>
      <p:pic>
        <p:nvPicPr>
          <p:cNvPr id="8" name="图片 7" descr="8AAHHGN15TD8ZQ7H5V$9JNL.png"/>
          <p:cNvPicPr>
            <a:picLocks noChangeAspect="1"/>
          </p:cNvPicPr>
          <p:nvPr userDrawn="1">
            <p:custDataLst>
              <p:tags r:id="rId8"/>
            </p:custDataLst>
          </p:nvPr>
        </p:nvPicPr>
        <p:blipFill>
          <a:blip r:embed="rId9"/>
          <a:stretch>
            <a:fillRect/>
          </a:stretch>
        </p:blipFill>
        <p:spPr>
          <a:xfrm>
            <a:off x="11203807" y="-1269"/>
            <a:ext cx="879039" cy="988485"/>
          </a:xfrm>
          <a:prstGeom prst="rect">
            <a:avLst/>
          </a:prstGeom>
          <a:noFill/>
          <a:ln w="952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tags" Target="../tags/tag66.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image" Target="../media/image1.png"/><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png"/><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png"/><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tags" Target="../tags/tag125.xml"/><Relationship Id="rId1" Type="http://schemas.openxmlformats.org/officeDocument/2006/relationships/tags" Target="../tags/tag1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516" y="1361217"/>
            <a:ext cx="12130480" cy="1958975"/>
          </a:xfrm>
          <a:prstGeom prst="rect">
            <a:avLst/>
          </a:prstGeom>
          <a:solidFill>
            <a:srgbClr val="132A88">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anchor="ct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en-US" altLang="zh-CN" sz="1425" b="0" i="0" u="none" strike="noStrike" kern="1200" cap="none" spc="0" normalizeH="0" baseline="0" noProof="1">
                <a:ln>
                  <a:noFill/>
                </a:ln>
                <a:solidFill>
                  <a:srgbClr val="1B0FB0"/>
                </a:solidFill>
                <a:effectLst/>
                <a:uLnTx/>
                <a:uFillTx/>
                <a:latin typeface="Arial" panose="020B0604020202020204"/>
                <a:ea typeface="微软雅黑" panose="020B0503020204020204" charset="-122"/>
                <a:cs typeface="+mn-cs"/>
              </a:rPr>
              <a:t> </a:t>
            </a:r>
            <a:endParaRPr kumimoji="0" lang="zh-CN" altLang="en-US" sz="1425" b="0" i="0" u="none" strike="noStrike" kern="1200" cap="none" spc="0" normalizeH="0" baseline="0" noProof="1">
              <a:ln>
                <a:noFill/>
              </a:ln>
              <a:solidFill>
                <a:srgbClr val="1B0FB0"/>
              </a:solidFill>
              <a:effectLst/>
              <a:uLnTx/>
              <a:uFillTx/>
              <a:latin typeface="Arial" panose="020B0604020202020204"/>
              <a:ea typeface="微软雅黑" panose="020B0503020204020204" charset="-122"/>
              <a:cs typeface="+mn-cs"/>
            </a:endParaRPr>
          </a:p>
        </p:txBody>
      </p:sp>
      <p:grpSp>
        <p:nvGrpSpPr>
          <p:cNvPr id="3076" name="组合 8"/>
          <p:cNvGrpSpPr/>
          <p:nvPr/>
        </p:nvGrpSpPr>
        <p:grpSpPr>
          <a:xfrm>
            <a:off x="93626" y="1484991"/>
            <a:ext cx="11943226" cy="1728385"/>
            <a:chOff x="0" y="1397"/>
            <a:chExt cx="19198" cy="4610"/>
          </a:xfrm>
        </p:grpSpPr>
        <p:sp>
          <p:nvSpPr>
            <p:cNvPr id="3078" name="TextBox 22"/>
            <p:cNvSpPr txBox="1"/>
            <p:nvPr/>
          </p:nvSpPr>
          <p:spPr>
            <a:xfrm>
              <a:off x="715" y="1785"/>
              <a:ext cx="17868" cy="3790"/>
            </a:xfrm>
            <a:prstGeom prst="rect">
              <a:avLst/>
            </a:prstGeom>
            <a:noFill/>
            <a:ln w="9525">
              <a:noFill/>
            </a:ln>
          </p:spPr>
          <p:txBody>
            <a:bodyPr wrap="square" lIns="68579" tIns="34289" rIns="68579" bIns="34289">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通过深度学习优化治疗性抗体</a:t>
              </a:r>
              <a:r>
                <a:rPr kumimoji="0" lang="en-US" altLang="zh-CN" sz="44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lang="zh-CN" altLang="en-US" sz="4400" b="1"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从抗体序列预测抗原特异性</a:t>
              </a:r>
              <a:endParaRPr kumimoji="0" lang="en-US" altLang="zh-CN" sz="4400" b="1" i="0" u="none" strike="noStrike" kern="1200" cap="none" spc="0" normalizeH="0" baseline="0" noProof="0" dirty="0">
                <a:ln>
                  <a:noFill/>
                </a:ln>
                <a:solidFill>
                  <a:prstClr val="white"/>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079" name="直接连接符 10"/>
            <p:cNvCxnSpPr/>
            <p:nvPr/>
          </p:nvCxnSpPr>
          <p:spPr>
            <a:xfrm>
              <a:off x="0" y="6007"/>
              <a:ext cx="19198" cy="0"/>
            </a:xfrm>
            <a:prstGeom prst="line">
              <a:avLst/>
            </a:prstGeom>
            <a:ln w="19050" cap="flat" cmpd="sng">
              <a:solidFill>
                <a:srgbClr val="FFFFFF"/>
              </a:solidFill>
              <a:prstDash val="solid"/>
              <a:headEnd type="none" w="med" len="med"/>
              <a:tailEnd type="none" w="med" len="med"/>
            </a:ln>
          </p:spPr>
        </p:cxnSp>
        <p:cxnSp>
          <p:nvCxnSpPr>
            <p:cNvPr id="3080" name="直接连接符 11"/>
            <p:cNvCxnSpPr/>
            <p:nvPr/>
          </p:nvCxnSpPr>
          <p:spPr>
            <a:xfrm>
              <a:off x="0" y="1397"/>
              <a:ext cx="19198" cy="0"/>
            </a:xfrm>
            <a:prstGeom prst="line">
              <a:avLst/>
            </a:prstGeom>
            <a:ln w="19050" cap="flat" cmpd="sng">
              <a:solidFill>
                <a:srgbClr val="FFFFFF"/>
              </a:solidFill>
              <a:prstDash val="solid"/>
              <a:headEnd type="none" w="med" len="med"/>
              <a:tailEnd type="none" w="med" len="med"/>
            </a:ln>
          </p:spPr>
        </p:cxnSp>
      </p:grpSp>
      <p:sp>
        <p:nvSpPr>
          <p:cNvPr id="2" name="矩形 2"/>
          <p:cNvSpPr/>
          <p:nvPr/>
        </p:nvSpPr>
        <p:spPr>
          <a:xfrm>
            <a:off x="4321983" y="4166543"/>
            <a:ext cx="3926840" cy="1753235"/>
          </a:xfrm>
          <a:prstGeom prst="rect">
            <a:avLst/>
          </a:prstGeom>
          <a:noFill/>
          <a:ln w="9525">
            <a:noFill/>
          </a:ln>
        </p:spPr>
        <p:txBody>
          <a:bodyPr wrap="non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报  告  人：</a:t>
            </a:r>
            <a:r>
              <a:rPr lang="zh-CN" altLang="en-US" sz="2400" b="1" dirty="0">
                <a:solidFill>
                  <a:prstClr val="black"/>
                </a:solidFill>
                <a:latin typeface="Times New Roman" panose="02020603050405020304" pitchFamily="18" charset="0"/>
                <a:ea typeface="宋体" panose="02010600030101010101" pitchFamily="2" charset="-122"/>
              </a:rPr>
              <a:t>杜博</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指导老师：朱善良  </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报告日期：</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2025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年 </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4</a:t>
            </a:r>
            <a:r>
              <a:rPr lang="en-US" altLang="zh-CN" sz="2400" b="1" dirty="0">
                <a:solidFill>
                  <a:prstClr val="black"/>
                </a:solidFill>
                <a:latin typeface="Times New Roman" panose="02020603050405020304" pitchFamily="18" charset="0"/>
                <a:ea typeface="宋体" panose="02010600030101010101" pitchFamily="2" charset="-122"/>
              </a:rPr>
              <a:t>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月</a:t>
            </a:r>
            <a:r>
              <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7</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 </a:t>
            </a:r>
            <a:r>
              <a:rPr kumimoji="0" lang="zh-CN"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日</a:t>
            </a:r>
            <a:endParaRPr kumimoji="0" lang="en-US" altLang="zh-CN" sz="2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slow" advTm="6483">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sp>
        <p:nvSpPr>
          <p:cNvPr id="3" name="文本框 2"/>
          <p:cNvSpPr txBox="1"/>
          <p:nvPr/>
        </p:nvSpPr>
        <p:spPr>
          <a:xfrm>
            <a:off x="3573145" y="2264835"/>
            <a:ext cx="8129270" cy="3116238"/>
          </a:xfrm>
          <a:prstGeom prst="rect">
            <a:avLst/>
          </a:prstGeom>
          <a:noFill/>
        </p:spPr>
        <p:txBody>
          <a:bodyPr wrap="square">
            <a:spAutoFit/>
          </a:bodyPr>
          <a:lstStyle/>
          <a:p>
            <a:pPr algn="l" fontAlgn="base">
              <a:lnSpc>
                <a:spcPct val="160000"/>
              </a:lnSpc>
              <a:buFont typeface="+mj-lt"/>
              <a:buAutoNum type="arabicPeriod"/>
            </a:pPr>
            <a:r>
              <a:rPr lang="zh-CN" altLang="en-US" sz="3200" b="1" i="0" dirty="0">
                <a:solidFill>
                  <a:schemeClr val="accent1">
                    <a:lumMod val="75000"/>
                  </a:schemeClr>
                </a:solidFill>
                <a:effectLst/>
                <a:latin typeface="宋体" panose="02010600030101010101" pitchFamily="2" charset="-122"/>
                <a:ea typeface="宋体" panose="02010600030101010101" pitchFamily="2" charset="-122"/>
              </a:rPr>
              <a:t>引言</a:t>
            </a:r>
            <a:endParaRPr lang="en-US" altLang="zh-CN" sz="3200" b="1" i="0" dirty="0">
              <a:solidFill>
                <a:schemeClr val="accent1">
                  <a:lumMod val="75000"/>
                </a:schemeClr>
              </a:solidFill>
              <a:effectLst/>
              <a:latin typeface="宋体" panose="02010600030101010101" pitchFamily="2" charset="-122"/>
              <a:ea typeface="宋体" panose="02010600030101010101" pitchFamily="2" charset="-122"/>
            </a:endParaRPr>
          </a:p>
          <a:p>
            <a:pPr algn="l" fontAlgn="base">
              <a:lnSpc>
                <a:spcPct val="160000"/>
              </a:lnSpc>
              <a:buFont typeface="+mj-lt"/>
              <a:buAutoNum type="arabicPeriod"/>
            </a:pPr>
            <a:r>
              <a:rPr lang="zh-CN" altLang="en-US" sz="3200" b="1" dirty="0">
                <a:solidFill>
                  <a:schemeClr val="accent1">
                    <a:lumMod val="75000"/>
                  </a:schemeClr>
                </a:solidFill>
                <a:latin typeface="宋体" panose="02010600030101010101" pitchFamily="2" charset="-122"/>
                <a:ea typeface="宋体" panose="02010600030101010101" pitchFamily="2" charset="-122"/>
              </a:rPr>
              <a:t>结果</a:t>
            </a:r>
            <a:endParaRPr lang="en-US" altLang="zh-CN" sz="3200" b="1" dirty="0">
              <a:solidFill>
                <a:schemeClr val="accent1">
                  <a:lumMod val="75000"/>
                </a:schemeClr>
              </a:solidFill>
              <a:latin typeface="宋体" panose="02010600030101010101" pitchFamily="2" charset="-122"/>
              <a:ea typeface="宋体" panose="02010600030101010101" pitchFamily="2" charset="-122"/>
            </a:endParaRPr>
          </a:p>
          <a:p>
            <a:pPr algn="l" fontAlgn="base">
              <a:lnSpc>
                <a:spcPct val="160000"/>
              </a:lnSpc>
              <a:buFont typeface="+mj-lt"/>
              <a:buAutoNum type="arabicPeriod"/>
            </a:pPr>
            <a:r>
              <a:rPr lang="zh-CN" altLang="en-US" sz="3200" b="1" dirty="0">
                <a:solidFill>
                  <a:schemeClr val="accent1">
                    <a:lumMod val="75000"/>
                  </a:schemeClr>
                </a:solidFill>
                <a:latin typeface="宋体" panose="02010600030101010101" pitchFamily="2" charset="-122"/>
                <a:ea typeface="宋体" panose="02010600030101010101" pitchFamily="2" charset="-122"/>
              </a:rPr>
              <a:t>讨论</a:t>
            </a:r>
            <a:endParaRPr lang="en-US" altLang="zh-CN" sz="3200" b="1" dirty="0">
              <a:solidFill>
                <a:schemeClr val="accent1">
                  <a:lumMod val="75000"/>
                </a:schemeClr>
              </a:solidFill>
              <a:latin typeface="宋体" panose="02010600030101010101" pitchFamily="2" charset="-122"/>
              <a:ea typeface="宋体" panose="02010600030101010101" pitchFamily="2" charset="-122"/>
            </a:endParaRPr>
          </a:p>
          <a:p>
            <a:pPr algn="l" fontAlgn="base">
              <a:lnSpc>
                <a:spcPct val="160000"/>
              </a:lnSpc>
              <a:buFont typeface="+mj-lt"/>
              <a:buAutoNum type="arabicPeriod"/>
            </a:pPr>
            <a:r>
              <a:rPr lang="zh-CN" altLang="en-US" sz="3200" b="1" i="0" dirty="0">
                <a:solidFill>
                  <a:schemeClr val="accent1">
                    <a:lumMod val="75000"/>
                  </a:schemeClr>
                </a:solidFill>
                <a:effectLst/>
                <a:latin typeface="宋体" panose="02010600030101010101" pitchFamily="2" charset="-122"/>
                <a:ea typeface="宋体" panose="02010600030101010101" pitchFamily="2" charset="-122"/>
              </a:rPr>
              <a:t>回顾</a:t>
            </a:r>
            <a:endParaRPr lang="zh-CN" altLang="en-US" sz="3200" b="1" i="0" dirty="0">
              <a:solidFill>
                <a:schemeClr val="accent1">
                  <a:lumMod val="75000"/>
                </a:schemeClr>
              </a:solidFill>
              <a:effectLst/>
              <a:latin typeface="宋体" panose="02010600030101010101" pitchFamily="2" charset="-122"/>
              <a:ea typeface="宋体" panose="02010600030101010101" pitchFamily="2" charset="-122"/>
            </a:endParaRPr>
          </a:p>
        </p:txBody>
      </p:sp>
      <p:sp>
        <p:nvSpPr>
          <p:cNvPr id="4" name="文本框 23"/>
          <p:cNvSpPr txBox="1"/>
          <p:nvPr/>
        </p:nvSpPr>
        <p:spPr>
          <a:xfrm>
            <a:off x="735965" y="2984226"/>
            <a:ext cx="2837180" cy="1260475"/>
          </a:xfrm>
          <a:prstGeom prst="rect">
            <a:avLst/>
          </a:prstGeom>
          <a:noFill/>
          <a:ln w="9525">
            <a:noFill/>
          </a:ln>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sz="4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mn-cs"/>
              </a:rPr>
              <a:t>目录</a:t>
            </a:r>
            <a:endParaRPr kumimoji="0" lang="zh-CN" sz="44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mn-cs"/>
            </a:endParaRPr>
          </a:p>
          <a:p>
            <a:pPr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sz="32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Times New Roman" panose="02020603050405020304" pitchFamily="18" charset="0"/>
              </a:rPr>
              <a:t>Contents</a:t>
            </a:r>
            <a:endParaRPr kumimoji="0" lang="zh-CN" sz="3200" b="1" i="0" u="none" strike="noStrike" kern="1200" cap="none" spc="0" normalizeH="0" baseline="0" noProof="0" dirty="0">
              <a:ln>
                <a:noFill/>
              </a:ln>
              <a:solidFill>
                <a:schemeClr val="accent1">
                  <a:lumMod val="75000"/>
                </a:schemeClr>
              </a:solidFill>
              <a:effectLst/>
              <a:uLnTx/>
              <a:uFillTx/>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transition spd="slow" advTm="14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1.1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摘要</a:t>
            </a:r>
            <a:endPar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635000" y="1767522"/>
            <a:ext cx="10922000" cy="3322955"/>
          </a:xfrm>
          <a:prstGeom prst="rect">
            <a:avLst/>
          </a:prstGeom>
          <a:noFill/>
        </p:spPr>
        <p:txBody>
          <a:bodyPr wrap="square" rtlCol="0" anchor="t">
            <a:spAutoFit/>
          </a:bodyPr>
          <a:lstStyle/>
          <a:p>
            <a:pPr indent="457200" fontAlgn="auto">
              <a:lnSpc>
                <a:spcPct val="120000"/>
              </a:lnSpc>
            </a:pPr>
            <a:r>
              <a:rPr lang="zh-CN" altLang="en-US" sz="2500" dirty="0">
                <a:latin typeface="宋体" panose="02010600030101010101" pitchFamily="2" charset="-122"/>
                <a:ea typeface="宋体" panose="02010600030101010101" pitchFamily="2" charset="-122"/>
              </a:rPr>
              <a:t>  治疗性抗体的优化是一项耗时且资源密集的任务，主要是因为在哺乳动物细胞中表达的全长抗体的</a:t>
            </a:r>
            <a:r>
              <a:rPr lang="zh-CN" altLang="en-US" sz="2500" dirty="0">
                <a:solidFill>
                  <a:srgbClr val="FF0000"/>
                </a:solidFill>
                <a:latin typeface="宋体" panose="02010600030101010101" pitchFamily="2" charset="-122"/>
                <a:ea typeface="宋体" panose="02010600030101010101" pitchFamily="2" charset="-122"/>
              </a:rPr>
              <a:t>低通量筛选</a:t>
            </a:r>
            <a:r>
              <a:rPr lang="zh-CN" altLang="en-US" sz="2500" dirty="0">
                <a:latin typeface="宋体" panose="02010600030101010101" pitchFamily="2" charset="-122"/>
                <a:ea typeface="宋体" panose="02010600030101010101" pitchFamily="2" charset="-122"/>
              </a:rPr>
              <a:t>通常只能产生少数优化的候选者。</a:t>
            </a:r>
            <a:endParaRPr lang="zh-CN" altLang="en-US" sz="2500" dirty="0">
              <a:latin typeface="宋体" panose="02010600030101010101" pitchFamily="2" charset="-122"/>
              <a:ea typeface="宋体" panose="02010600030101010101" pitchFamily="2" charset="-122"/>
            </a:endParaRPr>
          </a:p>
          <a:p>
            <a:pPr indent="457200" fontAlgn="auto">
              <a:lnSpc>
                <a:spcPct val="120000"/>
              </a:lnSpc>
            </a:pPr>
            <a:r>
              <a:rPr lang="zh-CN" altLang="en-US" sz="2500" dirty="0">
                <a:latin typeface="宋体" panose="02010600030101010101" pitchFamily="2" charset="-122"/>
                <a:ea typeface="宋体" panose="02010600030101010101" pitchFamily="2" charset="-122"/>
              </a:rPr>
              <a:t>  文献展示了一种通过预测抗原特异性来识别优化抗体变体的方法，该方法利用了深度学习技术。</a:t>
            </a:r>
            <a:endParaRPr lang="zh-CN" altLang="en-US" sz="2500" dirty="0">
              <a:latin typeface="宋体" panose="02010600030101010101" pitchFamily="2" charset="-122"/>
              <a:ea typeface="宋体" panose="02010600030101010101" pitchFamily="2" charset="-122"/>
            </a:endParaRPr>
          </a:p>
          <a:p>
            <a:pPr indent="457200" fontAlgn="auto">
              <a:lnSpc>
                <a:spcPct val="120000"/>
              </a:lnSpc>
            </a:pPr>
            <a:r>
              <a:rPr lang="zh-CN" altLang="en-US" sz="2500" dirty="0">
                <a:latin typeface="宋体" panose="02010600030101010101" pitchFamily="2" charset="-122"/>
                <a:ea typeface="宋体" panose="02010600030101010101" pitchFamily="2" charset="-122"/>
              </a:rPr>
              <a:t>  作者开发了一种深度学习模型，经过训练后能够</a:t>
            </a:r>
            <a:r>
              <a:rPr lang="zh-CN" altLang="en-US" sz="2500" dirty="0">
                <a:solidFill>
                  <a:srgbClr val="FF0000"/>
                </a:solidFill>
                <a:latin typeface="宋体" panose="02010600030101010101" pitchFamily="2" charset="-122"/>
                <a:ea typeface="宋体" panose="02010600030101010101" pitchFamily="2" charset="-122"/>
              </a:rPr>
              <a:t>从抗体序列中预测抗原结合能力</a:t>
            </a:r>
            <a:r>
              <a:rPr lang="zh-CN" altLang="en-US" sz="2500" dirty="0">
                <a:latin typeface="宋体" panose="02010600030101010101" pitchFamily="2" charset="-122"/>
                <a:ea typeface="宋体" panose="02010600030101010101" pitchFamily="2" charset="-122"/>
              </a:rPr>
              <a:t>。最后验证了该方法在优化治疗性抗体方面的有效性，特别是在提高抗体的亲和力和特异性方面。</a:t>
            </a:r>
            <a:endParaRPr lang="zh-CN" altLang="en-US" sz="2500" dirty="0">
              <a:latin typeface="宋体" panose="02010600030101010101" pitchFamily="2" charset="-122"/>
              <a:ea typeface="宋体" panose="02010600030101010101" pitchFamily="2" charset="-122"/>
            </a:endParaRPr>
          </a:p>
        </p:txBody>
      </p:sp>
    </p:spTree>
  </p:cSld>
  <p:clrMapOvr>
    <a:masterClrMapping/>
  </p:clrMapOvr>
  <p:transition spd="slow" advTm="14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1.1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摘要</a:t>
            </a:r>
            <a:endPar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338137" y="1789095"/>
            <a:ext cx="11515726" cy="3279809"/>
          </a:xfrm>
          <a:prstGeom prst="rect">
            <a:avLst/>
          </a:prstGeom>
          <a:noFill/>
        </p:spPr>
        <p:txBody>
          <a:bodyPr wrap="square">
            <a:spAutoFit/>
          </a:bodyPr>
          <a:lstStyle/>
          <a:p>
            <a:pPr>
              <a:lnSpc>
                <a:spcPct val="120000"/>
              </a:lnSpc>
            </a:pPr>
            <a:r>
              <a:rPr lang="en-US" altLang="zh-CN" sz="25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为生成训练深度神经网络的数据，利用</a:t>
            </a:r>
            <a:r>
              <a:rPr lang="en-US" altLang="zh-CN" sz="25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CRISPR-Cas9</a:t>
            </a:r>
            <a:r>
              <a:rPr lang="zh-CN" altLang="en-US" sz="25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介导的同源定向修复技术</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，在哺乳动物细胞系中对治疗性抗体</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曲妥珠单抗</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（约</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1×10⁴</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个变体）构建</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定点诱变文库</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并进行</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深度测序</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，筛选其对</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人表皮生长因子受体</a:t>
            </a:r>
            <a:r>
              <a:rPr lang="en-US" altLang="zh-CN"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HER2</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）的特异性。</a:t>
            </a:r>
            <a:endPar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pPr>
            <a:r>
              <a:rPr lang="en-US" altLang="zh-CN" sz="25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训练后的神经网络用于筛选约</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1×10⁸</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个曲妥珠单变体的计算文库，预测出</a:t>
            </a:r>
            <a:r>
              <a:rPr lang="en-US" altLang="zh-CN"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HER2</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特异性亚群（约</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1×10⁶</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个变体），进一步通过粘度、清除率、溶解度和免疫原性过滤获得数千个高度优化的</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先导候选分子</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。从未过滤文库中随机选择的</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30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个变体经重组表达和实验验证，均保持</a:t>
            </a:r>
            <a:r>
              <a:rPr lang="en-US" altLang="zh-CN" sz="2500" b="0" i="0" dirty="0">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HER2</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特异性。</a:t>
            </a:r>
            <a:endParaRPr lang="zh-CN" altLang="en-US" sz="25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背景</a:t>
            </a:r>
            <a:r>
              <a:rPr lang="en-US" altLang="zh-CN" sz="4265" b="1" dirty="0">
                <a:solidFill>
                  <a:prstClr val="white"/>
                </a:solidFill>
                <a:latin typeface="Times New Roman" panose="02020603050405020304" pitchFamily="18" charset="0"/>
                <a:ea typeface="微软雅黑" panose="020B0503020204020204" charset="-122"/>
              </a:rPr>
              <a:t> </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4" name="文本框 3"/>
          <p:cNvSpPr txBox="1"/>
          <p:nvPr/>
        </p:nvSpPr>
        <p:spPr>
          <a:xfrm>
            <a:off x="727075" y="2228850"/>
            <a:ext cx="10737850" cy="2399665"/>
          </a:xfrm>
          <a:prstGeom prst="rect">
            <a:avLst/>
          </a:prstGeom>
          <a:noFill/>
        </p:spPr>
        <p:txBody>
          <a:bodyPr wrap="square">
            <a:spAutoFit/>
          </a:bodyPr>
          <a:lstStyle/>
          <a:p>
            <a:pPr indent="0" fontAlgn="auto">
              <a:lnSpc>
                <a:spcPct val="120000"/>
              </a:lnSpc>
            </a:pPr>
            <a:r>
              <a:rPr lang="en-US" altLang="zh-CN" sz="25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抗体药物发现中的</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靶点到先导化合物</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阶段是一个成熟流程，筛选杂交瘤、噬菌体或酵母展示文库通常会产生多个</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潜在先导候选</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。然而，先导候选优化所需的时间和成本往往占据临床前发现与开发周期的主要部分。这主要因为抗体分子的先导优化需要并行解决多个参数，包括表达水平、粘度、药代动力学、溶解度和免疫原性。</a:t>
            </a:r>
            <a:endPar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背景</a:t>
            </a:r>
            <a:r>
              <a:rPr lang="en-US" altLang="zh-CN" sz="4265" b="1" dirty="0">
                <a:solidFill>
                  <a:prstClr val="white"/>
                </a:solidFill>
                <a:latin typeface="Times New Roman" panose="02020603050405020304" pitchFamily="18" charset="0"/>
                <a:ea typeface="微软雅黑" panose="020B0503020204020204" charset="-122"/>
              </a:rPr>
              <a:t> </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4" name="文本框 3"/>
          <p:cNvSpPr txBox="1"/>
          <p:nvPr/>
        </p:nvSpPr>
        <p:spPr>
          <a:xfrm>
            <a:off x="152400" y="2229406"/>
            <a:ext cx="11887200" cy="2399665"/>
          </a:xfrm>
          <a:prstGeom prst="rect">
            <a:avLst/>
          </a:prstGeom>
          <a:noFill/>
        </p:spPr>
        <p:txBody>
          <a:bodyPr wrap="square">
            <a:spAutoFit/>
          </a:bodyPr>
          <a:lstStyle/>
          <a:p>
            <a:pPr>
              <a:lnSpc>
                <a:spcPct val="120000"/>
              </a:lnSpc>
            </a:pP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机器学习应用于生物序列数据，为增强蛋白质工程提供了有力手段，通过构建能够预测</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基因型</a:t>
            </a:r>
            <a:r>
              <a:rPr lang="en-US" altLang="zh-CN"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表型</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关系的模型实现。这种能力源于模型对序列与功能间复杂关联的外推能力。构建精确机器学习模型的主要挑战之一在于获取合适的高质量训练数据。定向进化系统特别适用于此，因其依赖生物序列数据（</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DNA</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RNA</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和蛋白质）与表型输出的关联。</a:t>
            </a:r>
            <a:endParaRPr lang="zh-CN" altLang="en-US" sz="25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1</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背景</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323658" y="1405044"/>
            <a:ext cx="11544684" cy="4707890"/>
          </a:xfrm>
          <a:prstGeom prst="rect">
            <a:avLst/>
          </a:prstGeom>
          <a:noFill/>
        </p:spPr>
        <p:txBody>
          <a:bodyPr wrap="square">
            <a:spAutoFit/>
          </a:bodyPr>
          <a:lstStyle/>
          <a:p>
            <a:pPr>
              <a:lnSpc>
                <a:spcPct val="120000"/>
              </a:lnSpc>
            </a:pP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近年来，</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深度测序</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Deep Sequencing</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）与</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并行计算</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Parallel Computing</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）技术的普及，使得构建能够从序列数据预测分子表型的深度学习模型成为可能。在多数情况下，深度神经网络是主要采用的算法类型。尽管神经网络自诞生以来其复杂度已发生巨大变化，但其核心原理始终不变</a:t>
            </a:r>
            <a:r>
              <a:rPr lang="zh-CN" altLang="en-US" sz="2500" dirty="0">
                <a:solidFill>
                  <a:srgbClr val="262626"/>
                </a:solidFill>
                <a:latin typeface="Times New Roman" panose="02020603050405020304" pitchFamily="18" charset="0"/>
                <a:ea typeface="宋体" panose="02010600030101010101" pitchFamily="2" charset="-122"/>
                <a:cs typeface="Times New Roman" panose="02020603050405020304" pitchFamily="18" charset="0"/>
              </a:rPr>
              <a:t>，即</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通过模拟生物神经元的连接方式，学习变量间的复杂关联。作为单层神经网络（即感知器）的扩展，深度学习通过引入多个隐藏层来解析大型高维数据集（例如单次深度测序实验产生的数百万条读数）中隐含的规律。训练完善的模型可进一步用于对完全未知的新变体进行预测。这种模型外推能力使其天然适用于蛋白质工程，因为它提供了一种探索远超实验可行范围的序列空间的方法。例如，仅针对十个氨基酸的短片段，其组合序列多样性极高</a:t>
            </a:r>
            <a:r>
              <a:rPr 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在实际实验中几乎无法穷尽研究。</a:t>
            </a:r>
            <a:endParaRPr lang="zh-CN" altLang="en-US" sz="25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2.1 </a:t>
            </a:r>
            <a:r>
              <a:rPr kumimoji="0" lang="zh-CN" altLang="en-US"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抗原特异性序列图谱</a:t>
            </a:r>
            <a:endParaRPr kumimoji="0" lang="zh-CN" altLang="en-US" sz="427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210820" y="2365164"/>
            <a:ext cx="11872026" cy="2399665"/>
          </a:xfrm>
          <a:prstGeom prst="rect">
            <a:avLst/>
          </a:prstGeom>
          <a:noFill/>
        </p:spPr>
        <p:txBody>
          <a:bodyPr wrap="square">
            <a:spAutoFit/>
          </a:bodyPr>
          <a:lstStyle/>
          <a:p>
            <a:r>
              <a:rPr lang="en-US" altLang="zh-CN" sz="2500" b="0" i="0" dirty="0">
                <a:solidFill>
                  <a:srgbClr val="262626"/>
                </a:solidFill>
                <a:effectLst/>
                <a:latin typeface="宋体" panose="02010600030101010101" pitchFamily="2" charset="-122"/>
                <a:ea typeface="宋体" panose="02010600030101010101" pitchFamily="2" charset="-122"/>
              </a:rPr>
              <a:t>	</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本研究利用深度学习方法，从表达治疗性抗体曲妥珠单抗的</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哺乳动物展示细胞系</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出发，采用</a:t>
            </a:r>
            <a:r>
              <a:rPr lang="en-US" altLang="zh-CN"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CRISPR-Cas9</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介导的同源定向修复技术</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在</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重链互补决定区</a:t>
            </a:r>
            <a:r>
              <a:rPr lang="en-US" altLang="zh-CN"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CDRH3</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）引入定点诱变文库。为生成信息丰富的训练数据，首先进行</a:t>
            </a:r>
            <a:r>
              <a:rPr lang="zh-CN" altLang="en-US" sz="25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单一位点深度突变扫描</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DMS</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），随后用于指导组合诱变文库的设计。通过筛选</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5×10⁴</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个变体的实验文库，获得对</a:t>
            </a:r>
            <a:r>
              <a:rPr lang="en-US" altLang="zh-CN"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HER2</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抗原</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的特异性。所有结合与非结合变体序列</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均被用于训练深度神经网络，经充分训练与优化后，该网络能基于抗体序列高精度预测抗原特异性。</a:t>
            </a:r>
            <a:endParaRPr lang="zh-CN" altLang="en-US" sz="25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2.1 </a:t>
            </a:r>
            <a:r>
              <a:rPr kumimoji="0" lang="zh-CN" altLang="en-US"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抗原特异性序列图谱</a:t>
            </a:r>
            <a:endParaRPr kumimoji="0" lang="zh-CN" altLang="en-US" sz="427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160020" y="2036869"/>
            <a:ext cx="11872026" cy="2784475"/>
          </a:xfrm>
          <a:prstGeom prst="rect">
            <a:avLst/>
          </a:prstGeom>
          <a:noFill/>
        </p:spPr>
        <p:txBody>
          <a:bodyPr wrap="square">
            <a:spAutoFit/>
          </a:bodyPr>
          <a:lstStyle/>
          <a:p>
            <a:pPr indent="457200"/>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随后将神经网络应用于</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基于</a:t>
            </a:r>
            <a:r>
              <a:rPr lang="en-US" altLang="zh-CN" sz="25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DMS</a:t>
            </a:r>
            <a:r>
              <a:rPr lang="zh-CN" altLang="en-US" sz="250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的组合诱变文库</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（约</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1×10⁸</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个序列）的变体子集预测，筛选出</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&gt;3.0×10⁶</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个高概率抗原特异性变体。随机选取的变体经重组表达验证，</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30/30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均显示抗原特异性结合。通过多轮基于序列的计算机过滤步骤对预测结合物进行优化，筛选开发性参数（粘度、清除率、溶解度及免疫原性），最终获得近</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8000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个抗体序列变体，其预测性能优于原始曲妥珠单抗序列。对优选序列的进一步生物物理表征显示，这些抗体在表达水平与热稳定性上与曲妥珠单抗相当或更优，其中一个候选分子显著降低了免疫原性风险。</a:t>
            </a:r>
            <a:endParaRPr lang="zh-CN" altLang="en-US" sz="250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1" y="120227"/>
            <a:ext cx="10266680" cy="749436"/>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2.1 </a:t>
            </a:r>
            <a:r>
              <a:rPr kumimoji="0" lang="zh-CN" altLang="en-US"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抗原特异性序列图谱</a:t>
            </a:r>
            <a:endParaRPr kumimoji="0" lang="zh-CN" altLang="en-US" sz="427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811530" y="2459990"/>
            <a:ext cx="10290810" cy="1938020"/>
          </a:xfrm>
          <a:prstGeom prst="rect">
            <a:avLst/>
          </a:prstGeom>
          <a:noFill/>
        </p:spPr>
        <p:txBody>
          <a:bodyPr wrap="square">
            <a:spAutoFit/>
          </a:bodyPr>
          <a:lstStyle/>
          <a:p>
            <a:pPr indent="0" algn="l" fontAlgn="auto">
              <a:lnSpc>
                <a:spcPct val="120000"/>
              </a:lnSpc>
            </a:pP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抗体</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重链互补决定区</a:t>
            </a:r>
            <a:r>
              <a:rPr lang="en-US" altLang="zh-CN"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CDRH3</a:t>
            </a:r>
            <a:r>
              <a:rPr lang="zh-CN" altLang="en-US" sz="2500" b="0"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的氨基酸序列是抗原特异性的关键决定因素，因此我们对该区域进行</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DMS</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以解析特异性决定残基。使用一个表现出无法结合</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HER2</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抗原的曲妥珠单抗变体（</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CDRH3</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序列突变）的杂交瘤细胞系。通过</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CRISPR-Cas9</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介导的同源定向诱变构建文库。</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109154" y="118255"/>
            <a:ext cx="12543155" cy="749436"/>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2.2 </a:t>
            </a:r>
            <a:r>
              <a:rPr kumimoji="0" lang="zh-CN" altLang="en-US" sz="4270"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基于抗体序列训练深度神经网络</a:t>
            </a:r>
            <a:endParaRPr kumimoji="0" lang="zh-CN" altLang="en-US" sz="427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159987" y="2062269"/>
            <a:ext cx="11872026" cy="2399665"/>
          </a:xfrm>
          <a:prstGeom prst="rect">
            <a:avLst/>
          </a:prstGeom>
          <a:noFill/>
        </p:spPr>
        <p:txBody>
          <a:bodyPr wrap="square">
            <a:spAutoFit/>
          </a:bodyPr>
          <a:lstStyle/>
          <a:p>
            <a:pPr algn="l"/>
            <a:b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b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为解析决定抗原结合的高维模式，我们开发并训练了基于序列的机器学习与深度学习模型，用于预测抗体对靶抗原</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HER2</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的特异性。在编译结合与非结合</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CDRH3</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变体的深度测序数据后，通过独热编码将氨基酸序列转化为输入矩阵（</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10×20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矩阵）：矩阵每列代表特定残基，每行对应序列位置，每个位置仅在其对应残基列标记“</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，其余为“</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a:t>
            </a:r>
            <a:r>
              <a:rPr lang="en-US" altLang="zh-CN" sz="4265" b="1" dirty="0">
                <a:solidFill>
                  <a:prstClr val="white"/>
                </a:solidFill>
                <a:latin typeface="Times New Roman" panose="02020603050405020304" pitchFamily="18" charset="0"/>
                <a:ea typeface="微软雅黑" panose="020B0503020204020204" charset="-122"/>
              </a:rPr>
              <a:t>3 </a:t>
            </a:r>
            <a:r>
              <a:rPr lang="zh-CN" altLang="en-US" sz="4265" b="1" dirty="0">
                <a:solidFill>
                  <a:prstClr val="white"/>
                </a:solidFill>
                <a:latin typeface="Times New Roman" panose="02020603050405020304" pitchFamily="18" charset="0"/>
                <a:ea typeface="微软雅黑" panose="020B0503020204020204" charset="-122"/>
              </a:rPr>
              <a:t>模型比较与优化</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210820" y="1576494"/>
            <a:ext cx="11872026" cy="3553460"/>
          </a:xfrm>
          <a:prstGeom prst="rect">
            <a:avLst/>
          </a:prstGeom>
          <a:noFill/>
        </p:spPr>
        <p:txBody>
          <a:bodyPr wrap="square">
            <a:spAutoFit/>
          </a:bodyPr>
          <a:lstStyle/>
          <a:p>
            <a:pPr algn="l"/>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评估了多种模型对结合</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非结合序列的分类准确性，包括：</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buFont typeface="+mj-lt"/>
              <a:buAutoNum type="arabicPeriod"/>
            </a:pP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单</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双变量逻辑回归</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buFont typeface="+mj-lt"/>
              <a:buAutoNum type="arabicPeriod"/>
            </a:pP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K</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近邻（</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k-nearest </a:t>
            </a:r>
            <a:r>
              <a:rPr lang="en-US" altLang="zh-CN" sz="2500" b="0" i="0" dirty="0" err="1">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neighbours</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buFont typeface="+mj-lt"/>
              <a:buAutoNum type="arabicPeriod"/>
            </a:pP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线性与高斯核支持向量机（</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SVM</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buFont typeface="+mj-lt"/>
              <a:buAutoNum type="arabicPeriod"/>
            </a:pP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标准人工神经网络（</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ANN</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buFont typeface="+mj-lt"/>
              <a:buAutoNum type="arabicPeriod"/>
            </a:pP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长短期记忆循环神经网络（</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LSTM-RNN</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buFont typeface="+mj-lt"/>
              <a:buAutoNum type="arabicPeriod"/>
            </a:pP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卷积神经网络（</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CNN</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数据集按</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70%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训练、</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30%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测试</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验证划分。</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CNN</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模型表现最优，因此成为后续优化重点。</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109154" y="139030"/>
            <a:ext cx="11981180" cy="706755"/>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000" b="1" dirty="0">
                <a:solidFill>
                  <a:prstClr val="white"/>
                </a:solidFill>
                <a:latin typeface="Times New Roman" panose="02020603050405020304" pitchFamily="18" charset="0"/>
                <a:ea typeface="微软雅黑" panose="020B0503020204020204" charset="-122"/>
              </a:rPr>
              <a:t>2.4 </a:t>
            </a:r>
            <a:r>
              <a:rPr lang="zh-CN" altLang="en-US" sz="4000" b="1" dirty="0">
                <a:solidFill>
                  <a:prstClr val="white"/>
                </a:solidFill>
                <a:latin typeface="Times New Roman" panose="02020603050405020304" pitchFamily="18" charset="0"/>
                <a:ea typeface="微软雅黑" panose="020B0503020204020204" charset="-122"/>
              </a:rPr>
              <a:t>预测结合序列的重组表达与抗原特异性验证</a:t>
            </a:r>
            <a:endParaRPr kumimoji="0" lang="zh-CN" altLang="en-US" sz="4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554990" y="1402080"/>
            <a:ext cx="11089640" cy="4323080"/>
          </a:xfrm>
          <a:prstGeom prst="rect">
            <a:avLst/>
          </a:prstGeom>
          <a:noFill/>
        </p:spPr>
        <p:txBody>
          <a:bodyPr wrap="square">
            <a:spAutoFit/>
          </a:bodyPr>
          <a:lstStyle/>
          <a:p>
            <a:pPr algn="l"/>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基于</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DMS</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的组合诱变文库，通过计算机模拟生成</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7.2×10⁷</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个潜在序列变体。经全训练</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CNN</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模型根据概率评分（</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P</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）分类，预测出</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1.06×10</a:t>
            </a:r>
            <a:r>
              <a:rPr lang="en-US" altLang="zh-CN" sz="2500" b="0" i="0" baseline="3000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7</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个潜在结合变体（</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P&gt;0.50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），占实验筛选可</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达序列空间的</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14%</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。为提高置信度，将阈值提升至</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P&gt;0.7</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后，抗原特异性序列空间缩减至</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6.39×10⁶</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个变体。</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endParaRPr lang="en-US" altLang="zh-CN" sz="25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zh-CN" altLang="en-US" sz="25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实验验证策略</a:t>
            </a:r>
            <a:b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b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随机选取</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30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个预测结合（</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P&gt;0.7</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12</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个预测非结合（</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P&lt;0.1</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CDRH3</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序列进行验证。为突显深度学习识别新序列的能力，筛选时附加以下条件：</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buFont typeface="+mj-lt"/>
              <a:buAutoNum type="arabicPeriod"/>
            </a:pP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与原曲妥珠单抗</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CDRH3</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序列的</a:t>
            </a:r>
            <a:r>
              <a:rPr lang="zh-CN" altLang="en-US" sz="2500" b="1" i="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莱文斯坦距离</a:t>
            </a:r>
            <a:r>
              <a:rPr lang="zh-CN" altLang="en-US" sz="25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LD</a:t>
            </a:r>
            <a:r>
              <a:rPr lang="zh-CN" altLang="en-US" sz="25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5</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buFont typeface="+mj-lt"/>
              <a:buAutoNum type="arabicPeriod"/>
            </a:pP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结合</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非结合训练数据集中存在相似序列。</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109154" y="139030"/>
            <a:ext cx="11866881" cy="706755"/>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000" b="1" dirty="0">
                <a:solidFill>
                  <a:prstClr val="white"/>
                </a:solidFill>
                <a:latin typeface="Times New Roman" panose="02020603050405020304" pitchFamily="18" charset="0"/>
                <a:ea typeface="微软雅黑" panose="020B0503020204020204" charset="-122"/>
              </a:rPr>
              <a:t>2.4 </a:t>
            </a:r>
            <a:r>
              <a:rPr lang="zh-CN" altLang="en-US" sz="4000" b="1" dirty="0">
                <a:solidFill>
                  <a:prstClr val="white"/>
                </a:solidFill>
                <a:latin typeface="Times New Roman" panose="02020603050405020304" pitchFamily="18" charset="0"/>
                <a:ea typeface="微软雅黑" panose="020B0503020204020204" charset="-122"/>
              </a:rPr>
              <a:t>预测结合序列的重组表达与抗原特异性验证</a:t>
            </a:r>
            <a:endParaRPr kumimoji="0" lang="zh-CN" altLang="en-US" sz="40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109219" y="1923839"/>
            <a:ext cx="11968547" cy="3169285"/>
          </a:xfrm>
          <a:prstGeom prst="rect">
            <a:avLst/>
          </a:prstGeom>
          <a:noFill/>
        </p:spPr>
        <p:txBody>
          <a:bodyPr wrap="square">
            <a:spAutoFit/>
          </a:bodyPr>
          <a:lstStyle/>
          <a:p>
            <a:pPr algn="l"/>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CRISPR-Cas9</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介导的</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HDR</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在哺乳动物展示细胞系中表达</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42</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个变体：</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0" algn="l">
              <a:buFont typeface="Arial" panose="020B0604020202020204" pitchFamily="34" charset="0"/>
              <a:buNone/>
            </a:pPr>
            <a:r>
              <a:rPr lang="zh-CN" altLang="en-US" sz="25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结合变体</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30/30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100%</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）显示抗原特异性。</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0" algn="l">
              <a:buFont typeface="Arial" panose="020B0604020202020204" pitchFamily="34" charset="0"/>
              <a:buNone/>
            </a:pPr>
            <a:r>
              <a:rPr lang="zh-CN" altLang="en-US" sz="25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非结合变体</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11/12</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92%</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）无结合活性。</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buFont typeface="Arial" panose="020B0604020202020204" pitchFamily="34" charset="0"/>
              <a:buChar char="•"/>
            </a:pP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zh-CN" altLang="en-US" sz="2500" b="1"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模型预测值与实测关联性</a:t>
            </a:r>
            <a:b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b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预测概率（</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P</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）与实测亲和力（</a:t>
            </a:r>
            <a:r>
              <a:rPr lang="en-US" altLang="zh-CN" sz="2500" b="0" i="0" dirty="0" err="1">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Kd</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）无显著相关性，提示模型主要区分结合</a:t>
            </a:r>
            <a:r>
              <a:rPr lang="en-US" altLang="zh-CN"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rPr>
              <a:t>非结合状态。</a:t>
            </a:r>
            <a:endParaRPr lang="zh-CN" altLang="en-US" sz="2500" b="0" i="0" dirty="0">
              <a:solidFill>
                <a:srgbClr val="262626"/>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3.1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讨论</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210820" y="1004148"/>
            <a:ext cx="11872026" cy="5477510"/>
          </a:xfrm>
          <a:prstGeom prst="rect">
            <a:avLst/>
          </a:prstGeom>
          <a:noFill/>
        </p:spPr>
        <p:txBody>
          <a:bodyPr wrap="square">
            <a:spAutoFit/>
          </a:bodyPr>
          <a:lstStyle/>
          <a:p>
            <a:pPr algn="l"/>
            <a:r>
              <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	</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为克服哺乳动物细胞抗体优化技术的局限性，</a:t>
            </a:r>
            <a:r>
              <a:rPr lang="zh-CN" altLang="en-US" sz="2500" dirty="0">
                <a:solidFill>
                  <a:srgbClr val="262626"/>
                </a:solidFill>
                <a:latin typeface="宋体" panose="02010600030101010101" pitchFamily="2" charset="-122"/>
                <a:ea typeface="宋体" panose="02010600030101010101" pitchFamily="2" charset="-122"/>
                <a:cs typeface="Times New Roman" panose="02020603050405020304" pitchFamily="18" charset="0"/>
              </a:rPr>
              <a:t>文章</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开发了</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基于深度学习的精准抗原特异性序列筛选方法</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。该方法通过计算与预测抗原特异性变体的多种生物物理特性，可高效识别最具可开发性的抗体分子，从而显著节省时间与成本，并降低下游临床开发风险。</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algn="l"/>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1. </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数据生成策略的创新性</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algn="l">
              <a:buFont typeface="Arial" panose="020B0604020202020204" pitchFamily="34" charset="0"/>
              <a:buChar char="•"/>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以临床获批抗体曲妥珠单抗为模型，我们通过</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单一位点深度突变扫描（</a:t>
            </a:r>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DMS</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）与组合诱变</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解析</a:t>
            </a:r>
            <a:r>
              <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CDRH3</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的抗原结合图谱。</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algn="l">
              <a:buFont typeface="Arial" panose="020B0604020202020204" pitchFamily="34" charset="0"/>
              <a:buChar char="•"/>
            </a:pPr>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DMS</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诱变策略优势</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Arial" panose="020B0604020202020204" pitchFamily="34" charset="0"/>
              <a:buChar char="•"/>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获得高质量训练数据，其中抗原结合变体占比近</a:t>
            </a:r>
            <a:r>
              <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10%</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Arial" panose="020B0604020202020204" pitchFamily="34" charset="0"/>
              <a:buChar char="•"/>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相较于完全随机化的组合诱变（如</a:t>
            </a:r>
            <a:r>
              <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NNK</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简并密码子），显著提升有效变体丰度。</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algn="l">
              <a:buFont typeface="Arial" panose="020B0604020202020204" pitchFamily="34" charset="0"/>
              <a:buChar char="•"/>
            </a:pP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未来扩展方向</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：可探索其他富集训练数据生成方法，例如：</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Arial" panose="020B0604020202020204" pitchFamily="34" charset="0"/>
              <a:buChar char="•"/>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散弹扫描诱变</a:t>
            </a:r>
            <a:endPar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Arial" panose="020B0604020202020204" pitchFamily="34" charset="0"/>
              <a:buChar char="•"/>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二元替换</a:t>
            </a:r>
            <a:endPar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Arial" panose="020B0604020202020204" pitchFamily="34" charset="0"/>
              <a:buChar char="•"/>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重组技术</a:t>
            </a:r>
            <a:endPar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3.1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讨论</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160020" y="1651848"/>
            <a:ext cx="11872026" cy="3553460"/>
          </a:xfrm>
          <a:prstGeom prst="rect">
            <a:avLst/>
          </a:prstGeom>
          <a:noFill/>
        </p:spPr>
        <p:txBody>
          <a:bodyPr wrap="square">
            <a:spAutoFit/>
          </a:bodyPr>
          <a:lstStyle/>
          <a:p>
            <a:pPr algn="l"/>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2. </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深度学习模型的核心价值</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algn="l">
              <a:buFont typeface="Arial" panose="020B0604020202020204" pitchFamily="34" charset="0"/>
              <a:buChar char="•"/>
            </a:pP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单点突变库筛选</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：虽能筛选出增强型突变，但组合突变时需兼顾生物物理特性与高亲和力，存在显著挑战。</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algn="l">
              <a:buFont typeface="Arial" panose="020B0604020202020204" pitchFamily="34" charset="0"/>
              <a:buChar char="•"/>
            </a:pP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序列模式复杂性</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Arial" panose="020B0604020202020204" pitchFamily="34" charset="0"/>
              <a:buChar char="•"/>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结合与非结合变体的氨基酸组成高度相似</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Arial" panose="020B0604020202020204" pitchFamily="34" charset="0"/>
              <a:buChar char="•"/>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人工识别关键序列模式几乎不可行</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algn="l">
              <a:buFont typeface="Arial" panose="020B0604020202020204" pitchFamily="34" charset="0"/>
              <a:buChar char="•"/>
            </a:pP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深度神经网络优势</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Arial" panose="020B0604020202020204" pitchFamily="34" charset="0"/>
              <a:buChar char="•"/>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解析抗原结合序列的</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高维空间特征</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Arial" panose="020B0604020202020204" pitchFamily="34" charset="0"/>
              <a:buChar char="•"/>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突破传统线性模型的局限性，揭示非线性组合规律</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3</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.1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关键发现与模型选择依据</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211103" y="2036234"/>
            <a:ext cx="11310938" cy="2399665"/>
          </a:xfrm>
          <a:prstGeom prst="rect">
            <a:avLst/>
          </a:prstGeom>
          <a:noFill/>
        </p:spPr>
        <p:txBody>
          <a:bodyPr wrap="square">
            <a:spAutoFit/>
          </a:bodyPr>
          <a:lstStyle/>
          <a:p>
            <a:pPr algn="l"/>
            <a:b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b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本研究揭示：</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仅需筛选</a:t>
            </a:r>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5×10⁴</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个变体（占基于</a:t>
            </a:r>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DMS</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的组合诱变文库总序列多样性</a:t>
            </a:r>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7.17×10⁸</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的</a:t>
            </a:r>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0.0054%</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，即可训练出高精度神经网络模型。这一发现表明：</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indent="0" algn="l">
              <a:buFont typeface="Arial" panose="020B0604020202020204" pitchFamily="34" charset="0"/>
              <a:buNone/>
            </a:pPr>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1.</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哺乳动物表达系统</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（或噬菌体</a:t>
            </a:r>
            <a:r>
              <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酵母等）的物理库</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容量限制</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indent="0" algn="l">
              <a:buFont typeface="Arial" panose="020B0604020202020204" pitchFamily="34" charset="0"/>
              <a:buNone/>
            </a:pPr>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2.</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深度测序读长限制</a:t>
            </a:r>
            <a:b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b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均不会成为深度学习引导的蛋白质工程的主要瓶颈。</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3</a:t>
            </a:r>
            <a:r>
              <a:rPr kumimoji="0" lang="en-US" altLang="zh-CN"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.2 </a:t>
            </a:r>
            <a:r>
              <a:rPr kumimoji="0" lang="zh-CN" altLang="en-US" sz="4265" b="1" i="0" u="none" strike="noStrike" kern="1200" cap="none" spc="0" normalizeH="0" baseline="0" noProof="0" dirty="0">
                <a:ln>
                  <a:noFill/>
                </a:ln>
                <a:solidFill>
                  <a:prstClr val="white"/>
                </a:solidFill>
                <a:effectLst/>
                <a:uLnTx/>
                <a:uFillTx/>
                <a:latin typeface="Times New Roman" panose="02020603050405020304" pitchFamily="18" charset="0"/>
                <a:ea typeface="微软雅黑" panose="020B0503020204020204" charset="-122"/>
                <a:cs typeface="+mn-cs"/>
              </a:rPr>
              <a:t>机器学习方法比较</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sp>
        <p:nvSpPr>
          <p:cNvPr id="3" name="文本框 2"/>
          <p:cNvSpPr txBox="1"/>
          <p:nvPr/>
        </p:nvSpPr>
        <p:spPr>
          <a:xfrm>
            <a:off x="332388" y="1081194"/>
            <a:ext cx="11310938" cy="4707890"/>
          </a:xfrm>
          <a:prstGeom prst="rect">
            <a:avLst/>
          </a:prstGeom>
          <a:noFill/>
        </p:spPr>
        <p:txBody>
          <a:bodyPr wrap="square">
            <a:spAutoFit/>
          </a:bodyPr>
          <a:lstStyle/>
          <a:p>
            <a:pPr algn="l">
              <a:buFont typeface="+mj-lt"/>
              <a:buAutoNum type="arabicPeriod"/>
            </a:pP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卷积神经网络（</a:t>
            </a:r>
            <a:r>
              <a:rPr lang="en-US" altLang="zh-CN"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CNN</a:t>
            </a: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）优势</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mj-lt"/>
              <a:buAutoNum type="arabicPeriod"/>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作为当前深度学习领域的前沿技术，</a:t>
            </a:r>
            <a:r>
              <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CNN</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在本研究中展现出优异的分类性能</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marL="742950" lvl="1" indent="-285750" algn="l">
              <a:buFont typeface="+mj-lt"/>
              <a:buAutoNum type="arabicPeriod"/>
            </a:pP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随着数据集规模扩大（深度测序可轻松实现），深度神经网络往往超越传统方法（如</a:t>
            </a:r>
            <a:r>
              <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k</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近邻、随机森林、支持向量机），并有望探索更广阔的蛋白质序列空间。</a:t>
            </a:r>
            <a:endPar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algn="l">
              <a:buFont typeface="+mj-lt"/>
              <a:buAutoNum type="arabicPeriod"/>
            </a:pPr>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生成模型的未来潜力：</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可用于从定向进化数据中挖掘诱变序列空间，拓展蛋白质设计边界</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algn="l">
              <a:buFont typeface="+mj-lt"/>
              <a:buAutoNum type="arabicPeriod"/>
            </a:pP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algn="l"/>
            <a:r>
              <a:rPr lang="zh-CN" altLang="en-US" sz="2500" b="1"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方法学启示</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indent="0" algn="l">
              <a:buFont typeface="Arial" panose="020B0604020202020204" pitchFamily="34" charset="0"/>
              <a:buNone/>
            </a:pPr>
            <a:r>
              <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1.</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尽管传统机器学习方法（如随机森林）仍适用于复杂模式识别，但在大数据场景下，深度学习将主导蛋白质工程创新</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a:p>
            <a:pPr indent="0" algn="l">
              <a:buFont typeface="Arial" panose="020B0604020202020204" pitchFamily="34" charset="0"/>
              <a:buNone/>
            </a:pPr>
            <a:r>
              <a:rPr lang="en-US" altLang="zh-CN"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2.</a:t>
            </a:r>
            <a:r>
              <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rPr>
              <a:t>实验库的小样本高效训练能力，为资源有限的研究提供了新范式</a:t>
            </a:r>
            <a:endParaRPr lang="zh-CN" altLang="en-US" sz="2500" b="0" i="0" dirty="0">
              <a:solidFill>
                <a:srgbClr val="262626"/>
              </a:solidFill>
              <a:effectLst/>
              <a:latin typeface="宋体" panose="02010600030101010101" pitchFamily="2" charset="-122"/>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marL="0" marR="0" lvl="0" indent="0" algn="l" defTabSz="457200" rtl="0" eaLnBrk="1" fontAlgn="base" latinLnBrk="0" hangingPunct="1">
              <a:lnSpc>
                <a:spcPct val="100000"/>
              </a:lnSpc>
              <a:spcBef>
                <a:spcPts val="0"/>
              </a:spcBef>
              <a:spcAft>
                <a:spcPts val="0"/>
              </a:spcAft>
              <a:buClrTx/>
              <a:buSzTx/>
              <a:buFontTx/>
              <a:buNone/>
              <a:defRPr/>
            </a:pPr>
            <a:r>
              <a:rPr lang="en-US" altLang="zh-CN" sz="4265" b="1" dirty="0">
                <a:solidFill>
                  <a:prstClr val="white"/>
                </a:solidFill>
                <a:latin typeface="Times New Roman" panose="02020603050405020304" pitchFamily="18" charset="0"/>
                <a:ea typeface="微软雅黑" panose="020B0503020204020204" charset="-122"/>
              </a:rPr>
              <a:t>4 </a:t>
            </a:r>
            <a:r>
              <a:rPr lang="zh-CN" altLang="en-US" sz="4265" b="1" dirty="0">
                <a:solidFill>
                  <a:prstClr val="white"/>
                </a:solidFill>
                <a:latin typeface="Times New Roman" panose="02020603050405020304" pitchFamily="18" charset="0"/>
                <a:ea typeface="微软雅黑" panose="020B0503020204020204" charset="-122"/>
              </a:rPr>
              <a:t>深度学习模型精准预测抗原特异性</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a:blip r:embed="rId5"/>
          <a:stretch>
            <a:fillRect/>
          </a:stretch>
        </p:blipFill>
        <p:spPr>
          <a:xfrm>
            <a:off x="0" y="1662500"/>
            <a:ext cx="12192000" cy="3532999"/>
          </a:xfrm>
          <a:prstGeom prst="rect">
            <a:avLst/>
          </a:prstGeom>
        </p:spPr>
      </p:pic>
    </p:spTree>
  </p:cSld>
  <p:clrMapOvr>
    <a:masterClrMapping/>
  </p:clrMapOvr>
  <p:transition spd="slow" advTm="14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4 </a:t>
            </a:r>
            <a:r>
              <a:rPr lang="zh-CN" altLang="en-US" sz="4265" b="1" dirty="0">
                <a:solidFill>
                  <a:prstClr val="white"/>
                </a:solidFill>
                <a:latin typeface="Times New Roman" panose="02020603050405020304" pitchFamily="18" charset="0"/>
                <a:ea typeface="微软雅黑" panose="020B0503020204020204" charset="-122"/>
              </a:rPr>
              <a:t>深度学习模型精准预测抗原特异性</a:t>
            </a:r>
            <a:r>
              <a:rPr lang="en-US" altLang="zh-CN" sz="4265" b="1" dirty="0">
                <a:solidFill>
                  <a:prstClr val="white"/>
                </a:solidFill>
                <a:latin typeface="Times New Roman" panose="02020603050405020304" pitchFamily="18" charset="0"/>
                <a:ea typeface="微软雅黑" panose="020B0503020204020204" charset="-122"/>
              </a:rPr>
              <a:t> </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a:blip r:embed="rId5"/>
          <a:stretch>
            <a:fillRect/>
          </a:stretch>
        </p:blipFill>
        <p:spPr>
          <a:xfrm>
            <a:off x="0" y="1081194"/>
            <a:ext cx="12192000" cy="5545271"/>
          </a:xfrm>
          <a:prstGeom prst="rect">
            <a:avLst/>
          </a:prstGeom>
        </p:spPr>
      </p:pic>
    </p:spTree>
  </p:cSld>
  <p:clrMapOvr>
    <a:masterClrMapping/>
  </p:clrMapOvr>
  <p:transition spd="slow" advTm="14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15663"/>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sp>
        <p:nvSpPr>
          <p:cNvPr id="5128" name="文本框 23"/>
          <p:cNvSpPr txBox="1"/>
          <p:nvPr>
            <p:custDataLst>
              <p:tags r:id="rId2"/>
            </p:custDataLst>
          </p:nvPr>
        </p:nvSpPr>
        <p:spPr>
          <a:xfrm>
            <a:off x="210820" y="120227"/>
            <a:ext cx="9618195" cy="748030"/>
          </a:xfrm>
          <a:prstGeom prst="rect">
            <a:avLst/>
          </a:prstGeom>
          <a:noFill/>
          <a:ln w="9525">
            <a:noFill/>
          </a:ln>
        </p:spPr>
        <p:txBody>
          <a:bodyPr wrap="square">
            <a:spAutoFit/>
          </a:bodyPr>
          <a:lstStyle/>
          <a:p>
            <a:pPr defTabSz="457200" fontAlgn="base">
              <a:defRPr/>
            </a:pPr>
            <a:r>
              <a:rPr lang="en-US" altLang="zh-CN" sz="4265" b="1" dirty="0">
                <a:solidFill>
                  <a:prstClr val="white"/>
                </a:solidFill>
                <a:latin typeface="Times New Roman" panose="02020603050405020304" pitchFamily="18" charset="0"/>
                <a:ea typeface="微软雅黑" panose="020B0503020204020204" charset="-122"/>
              </a:rPr>
              <a:t>4 CNN</a:t>
            </a:r>
            <a:r>
              <a:rPr lang="zh-CN" altLang="en-US" sz="4265" b="1" dirty="0">
                <a:solidFill>
                  <a:prstClr val="white"/>
                </a:solidFill>
                <a:latin typeface="Times New Roman" panose="02020603050405020304" pitchFamily="18" charset="0"/>
                <a:ea typeface="微软雅黑" panose="020B0503020204020204" charset="-122"/>
              </a:rPr>
              <a:t>预测抗原特异性评估</a:t>
            </a:r>
            <a:r>
              <a:rPr lang="en-US" altLang="zh-CN" sz="4265" b="1" dirty="0">
                <a:solidFill>
                  <a:prstClr val="white"/>
                </a:solidFill>
                <a:latin typeface="Times New Roman" panose="02020603050405020304" pitchFamily="18" charset="0"/>
                <a:ea typeface="微软雅黑" panose="020B0503020204020204" charset="-122"/>
              </a:rPr>
              <a:t> </a:t>
            </a:r>
            <a:endParaRPr kumimoji="0" lang="zh-CN" altLang="en-US" sz="4265"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7" name="图片 7" descr="8AAHHGN15TD8ZQ7H5V$9JNL.png"/>
          <p:cNvPicPr>
            <a:picLocks noChangeAspect="1"/>
          </p:cNvPicPr>
          <p:nvPr>
            <p:custDataLst>
              <p:tags r:id="rId3"/>
            </p:custDataLst>
          </p:nvPr>
        </p:nvPicPr>
        <p:blipFill>
          <a:blip r:embed="rId4"/>
          <a:stretch>
            <a:fillRect/>
          </a:stretch>
        </p:blipFill>
        <p:spPr>
          <a:xfrm>
            <a:off x="11203807" y="-1269"/>
            <a:ext cx="879039" cy="988485"/>
          </a:xfrm>
          <a:prstGeom prst="rect">
            <a:avLst/>
          </a:prstGeom>
          <a:noFill/>
          <a:ln w="9525">
            <a:noFill/>
          </a:ln>
        </p:spPr>
      </p:pic>
      <p:pic>
        <p:nvPicPr>
          <p:cNvPr id="3" name="图片 2"/>
          <p:cNvPicPr>
            <a:picLocks noChangeAspect="1"/>
          </p:cNvPicPr>
          <p:nvPr/>
        </p:nvPicPr>
        <p:blipFill>
          <a:blip r:embed="rId5"/>
          <a:srcRect r="35370"/>
          <a:stretch>
            <a:fillRect/>
          </a:stretch>
        </p:blipFill>
        <p:spPr>
          <a:xfrm>
            <a:off x="594360" y="1390650"/>
            <a:ext cx="11354435" cy="4879975"/>
          </a:xfrm>
          <a:prstGeom prst="rect">
            <a:avLst/>
          </a:prstGeom>
        </p:spPr>
      </p:pic>
    </p:spTree>
  </p:cSld>
  <p:clrMapOvr>
    <a:masterClrMapping/>
  </p:clrMapOvr>
  <p:transition spd="slow" advTm="14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custDataLst>
              <p:tags r:id="rId1"/>
            </p:custDataLst>
          </p:nvPr>
        </p:nvSpPr>
        <p:spPr>
          <a:xfrm>
            <a:off x="0" y="-70414"/>
            <a:ext cx="12192000" cy="960967"/>
          </a:xfrm>
          <a:prstGeom prst="rect">
            <a:avLst/>
          </a:prstGeom>
          <a:solidFill>
            <a:srgbClr val="2A3F94"/>
          </a:solidFill>
          <a:ln>
            <a:solidFill>
              <a:srgbClr val="2A3F94"/>
            </a:solidFill>
          </a:ln>
        </p:spPr>
        <p:style>
          <a:lnRef idx="2">
            <a:schemeClr val="accent1">
              <a:shade val="50000"/>
            </a:schemeClr>
          </a:lnRef>
          <a:fillRef idx="1">
            <a:schemeClr val="accent1"/>
          </a:fillRef>
          <a:effectRef idx="0">
            <a:schemeClr val="accent1"/>
          </a:effectRef>
          <a:fontRef idx="minor">
            <a:schemeClr val="lt1"/>
          </a:fontRef>
        </p:style>
        <p:txBody>
          <a:bodyPr lIns="91438" tIns="45718" rIns="91438" bIns="45718" anchor="ctr"/>
          <a:lstStyle/>
          <a:p>
            <a:pPr marL="0" marR="0" lvl="0" indent="0" algn="ctr" defTabSz="685800" rtl="0" eaLnBrk="1" fontAlgn="auto" latinLnBrk="0" hangingPunct="1">
              <a:lnSpc>
                <a:spcPct val="100000"/>
              </a:lnSpc>
              <a:spcBef>
                <a:spcPct val="0"/>
              </a:spcBef>
              <a:spcAft>
                <a:spcPct val="0"/>
              </a:spcAft>
              <a:buClrTx/>
              <a:buSzTx/>
              <a:buFontTx/>
              <a:buNone/>
              <a:defRPr/>
            </a:pPr>
            <a:endParaRPr kumimoji="0" lang="zh-CN" altLang="en-US" sz="1900" b="0" i="0" u="none" strike="noStrike" kern="1200" cap="none" spc="0" normalizeH="0" baseline="0" noProof="0">
              <a:ln>
                <a:noFill/>
              </a:ln>
              <a:solidFill>
                <a:srgbClr val="1B0FB0"/>
              </a:solidFill>
              <a:effectLst/>
              <a:uLnTx/>
              <a:uFillTx/>
              <a:latin typeface="Arial" panose="020B0604020202020204"/>
              <a:ea typeface="微软雅黑" panose="020B0503020204020204" charset="-122"/>
              <a:cs typeface="+mn-cs"/>
            </a:endParaRPr>
          </a:p>
        </p:txBody>
      </p:sp>
      <p:pic>
        <p:nvPicPr>
          <p:cNvPr id="7" name="图片 7" descr="8AAHHGN15TD8ZQ7H5V$9JNL.png"/>
          <p:cNvPicPr>
            <a:picLocks noChangeAspect="1"/>
          </p:cNvPicPr>
          <p:nvPr>
            <p:custDataLst>
              <p:tags r:id="rId2"/>
            </p:custDataLst>
          </p:nvPr>
        </p:nvPicPr>
        <p:blipFill>
          <a:blip r:embed="rId3"/>
          <a:stretch>
            <a:fillRect/>
          </a:stretch>
        </p:blipFill>
        <p:spPr>
          <a:xfrm>
            <a:off x="11203807" y="-1269"/>
            <a:ext cx="879039" cy="988485"/>
          </a:xfrm>
          <a:prstGeom prst="rect">
            <a:avLst/>
          </a:prstGeom>
          <a:noFill/>
          <a:ln w="9525">
            <a:noFill/>
          </a:ln>
        </p:spPr>
      </p:pic>
      <p:sp>
        <p:nvSpPr>
          <p:cNvPr id="2" name="文本框 1"/>
          <p:cNvSpPr txBox="1"/>
          <p:nvPr/>
        </p:nvSpPr>
        <p:spPr>
          <a:xfrm>
            <a:off x="5132810" y="2982050"/>
            <a:ext cx="2464612" cy="893899"/>
          </a:xfrm>
          <a:prstGeom prst="rect">
            <a:avLst/>
          </a:prstGeom>
          <a:noFill/>
        </p:spPr>
        <p:txBody>
          <a:bodyPr wrap="square">
            <a:spAutoFit/>
          </a:bodyPr>
          <a:lstStyle/>
          <a:p>
            <a:pPr marL="0" lvl="1" algn="just" fontAlgn="base">
              <a:lnSpc>
                <a:spcPct val="120000"/>
              </a:lnSpc>
            </a:pPr>
            <a:r>
              <a:rPr lang="zh-CN" altLang="en-US" sz="4800" b="1"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rPr>
              <a:t>谢 谢！</a:t>
            </a:r>
            <a:endParaRPr lang="en-US" altLang="zh-CN" sz="4800" b="1" dirty="0">
              <a:solidFill>
                <a:schemeClr val="accent1">
                  <a:lumMod val="75000"/>
                </a:schemeClr>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spd="slow" advTm="145"/>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COMMONDATA" val="eyJoZGlkIjoiYjk4Y2RmYWE5Y2FjZjE1OTMzMDFlYzg5ODNmZmE2NDA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3582</Words>
  <Application>WPS 演示</Application>
  <PresentationFormat>宽屏</PresentationFormat>
  <Paragraphs>133</Paragraphs>
  <Slides>22</Slides>
  <Notes>41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22</vt:i4>
      </vt:variant>
    </vt:vector>
  </HeadingPairs>
  <TitlesOfParts>
    <vt:vector size="32" baseType="lpstr">
      <vt:lpstr>Arial</vt:lpstr>
      <vt:lpstr>宋体</vt:lpstr>
      <vt:lpstr>Wingdings</vt:lpstr>
      <vt:lpstr>Wingdings</vt:lpstr>
      <vt:lpstr>Arial</vt:lpstr>
      <vt:lpstr>微软雅黑</vt:lpstr>
      <vt:lpstr>Times New Roman</vt:lpstr>
      <vt:lpstr>Arial Unicode MS</vt:lpstr>
      <vt:lpstr>等线</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xuechen lan</dc:creator>
  <cp:lastModifiedBy>风华正茂</cp:lastModifiedBy>
  <cp:revision>142</cp:revision>
  <dcterms:created xsi:type="dcterms:W3CDTF">2024-11-16T13:08:00Z</dcterms:created>
  <dcterms:modified xsi:type="dcterms:W3CDTF">2025-04-07T11:08:10Z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F5FF2F86B7124E00BCD8C73738B07681_12</vt:lpwstr>
  </property>
  <property fmtid="{D5CDD505-2E9C-101B-9397-08002B2CF9AE}" pid="3" name="KSOProductBuildVer">
    <vt:lpwstr>2052-12.1.0.20305</vt:lpwstr>
  </property>
</Properties>
</file>