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7" r:id="rId3"/>
    <p:sldId id="451" r:id="rId5"/>
    <p:sldId id="450" r:id="rId6"/>
    <p:sldId id="256" r:id="rId7"/>
    <p:sldId id="476" r:id="rId8"/>
    <p:sldId id="478" r:id="rId9"/>
    <p:sldId id="479" r:id="rId10"/>
    <p:sldId id="480" r:id="rId11"/>
    <p:sldId id="481" r:id="rId12"/>
    <p:sldId id="482" r:id="rId13"/>
    <p:sldId id="491" r:id="rId14"/>
    <p:sldId id="492" r:id="rId15"/>
    <p:sldId id="493" r:id="rId16"/>
    <p:sldId id="490" r:id="rId17"/>
    <p:sldId id="483" r:id="rId18"/>
    <p:sldId id="511" r:id="rId19"/>
    <p:sldId id="513" r:id="rId20"/>
    <p:sldId id="514" r:id="rId21"/>
    <p:sldId id="516" r:id="rId22"/>
    <p:sldId id="484" r:id="rId23"/>
    <p:sldId id="485" r:id="rId24"/>
    <p:sldId id="486" r:id="rId25"/>
    <p:sldId id="487" r:id="rId26"/>
    <p:sldId id="488" r:id="rId27"/>
    <p:sldId id="489" r:id="rId28"/>
    <p:sldId id="477" r:id="rId29"/>
    <p:sldId id="494" r:id="rId30"/>
    <p:sldId id="495" r:id="rId31"/>
    <p:sldId id="449" r:id="rId32"/>
    <p:sldId id="497" r:id="rId33"/>
    <p:sldId id="498" r:id="rId34"/>
    <p:sldId id="499" r:id="rId35"/>
    <p:sldId id="512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ACC4E2"/>
    <a:srgbClr val="AC0000"/>
    <a:srgbClr val="ACECFF"/>
    <a:srgbClr val="0066CC"/>
    <a:srgbClr val="3366FF"/>
    <a:srgbClr val="3399FF"/>
    <a:srgbClr val="CCECFF"/>
    <a:srgbClr val="99CCFF"/>
    <a:srgbClr val="63A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93" autoAdjust="0"/>
  </p:normalViewPr>
  <p:slideViewPr>
    <p:cSldViewPr snapToGrid="0">
      <p:cViewPr varScale="1">
        <p:scale>
          <a:sx n="70" d="100"/>
          <a:sy n="70" d="100"/>
        </p:scale>
        <p:origin x="93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02536-601D-4846-A2C4-23D77D4A1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57155-E3C6-4F2E-B0D8-7E8340E399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2"/>
          </p:nvPr>
        </p:nvSpPr>
        <p:spPr>
          <a:xfrm>
            <a:off x="912813" y="6243638"/>
            <a:ext cx="3551238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45516B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621C1B-9B12-4B87-AE8A-1E39D47D37F2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5516B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5516B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9169400" y="6243638"/>
            <a:ext cx="27606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EDE836-9165-420B-BD50-9F340EB63492}" type="slidenum"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464050" y="6243638"/>
            <a:ext cx="4319588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数学实验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SSTIXThirteen" pitchFamily="2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 userDrawn="1"/>
        </p:nvGrpSpPr>
        <p:grpSpPr>
          <a:xfrm>
            <a:off x="239713" y="115888"/>
            <a:ext cx="11388725" cy="1052512"/>
            <a:chOff x="0" y="0"/>
            <a:chExt cx="5381" cy="663"/>
          </a:xfrm>
        </p:grpSpPr>
        <p:sp>
          <p:nvSpPr>
            <p:cNvPr id="1030" name="Rectangle 3"/>
            <p:cNvSpPr>
              <a:spLocks noChangeArrowheads="1"/>
            </p:cNvSpPr>
            <p:nvPr/>
          </p:nvSpPr>
          <p:spPr bwMode="auto">
            <a:xfrm>
              <a:off x="183" y="68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" name="Rectangle 4"/>
            <p:cNvSpPr>
              <a:spLocks noChangeArrowheads="1"/>
            </p:cNvSpPr>
            <p:nvPr/>
          </p:nvSpPr>
          <p:spPr bwMode="auto">
            <a:xfrm>
              <a:off x="424" y="68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261" y="334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494" y="334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199" y="498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7" name="Rectangle 10"/>
          <p:cNvSpPr>
            <a:spLocks noGrp="1"/>
          </p:cNvSpPr>
          <p:nvPr>
            <p:ph type="title"/>
          </p:nvPr>
        </p:nvSpPr>
        <p:spPr>
          <a:xfrm>
            <a:off x="1535113" y="214313"/>
            <a:ext cx="10390187" cy="9826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8" name="Rectangle 11"/>
          <p:cNvSpPr>
            <a:spLocks noGrp="1"/>
          </p:cNvSpPr>
          <p:nvPr>
            <p:ph type="body" idx="1"/>
          </p:nvPr>
        </p:nvSpPr>
        <p:spPr>
          <a:xfrm>
            <a:off x="1576388" y="1341438"/>
            <a:ext cx="10363200" cy="47910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9" name="Rectangle 15"/>
          <p:cNvSpPr>
            <a:spLocks noChangeArrowheads="1"/>
          </p:cNvSpPr>
          <p:nvPr/>
        </p:nvSpPr>
        <p:spPr bwMode="auto">
          <a:xfrm>
            <a:off x="877888" y="6237288"/>
            <a:ext cx="109696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609600" indent="-609600" algn="l" rtl="0" eaLnBrk="0" fontAlgn="base" hangingPunct="0">
        <a:spcBef>
          <a:spcPct val="20000"/>
        </a:spcBef>
        <a:spcAft>
          <a:spcPct val="0"/>
        </a:spcAft>
        <a:buClr>
          <a:srgbClr val="4D009A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8.wmf"/><Relationship Id="rId11" Type="http://schemas.openxmlformats.org/officeDocument/2006/relationships/notesSlide" Target="../notesSlides/notesSlide13.xml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2.png"/><Relationship Id="rId3" Type="http://schemas.openxmlformats.org/officeDocument/2006/relationships/tags" Target="../tags/tag2.xml"/><Relationship Id="rId2" Type="http://schemas.openxmlformats.org/officeDocument/2006/relationships/image" Target="../media/image21.png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image" Target="../media/image34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33.png"/><Relationship Id="rId3" Type="http://schemas.openxmlformats.org/officeDocument/2006/relationships/tags" Target="../tags/tag7.xml"/><Relationship Id="rId2" Type="http://schemas.openxmlformats.org/officeDocument/2006/relationships/image" Target="../media/image32.png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image" Target="../media/image36.emf"/><Relationship Id="rId11" Type="http://schemas.openxmlformats.org/officeDocument/2006/relationships/tags" Target="../tags/tag12.xml"/><Relationship Id="rId10" Type="http://schemas.openxmlformats.org/officeDocument/2006/relationships/image" Target="../media/image35.png"/><Relationship Id="rId1" Type="http://schemas.openxmlformats.org/officeDocument/2006/relationships/tags" Target="../tags/tag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2" Type="http://schemas.openxmlformats.org/officeDocument/2006/relationships/notesSlide" Target="../notesSlides/notesSlide22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wmf"/><Relationship Id="rId10" Type="http://schemas.openxmlformats.org/officeDocument/2006/relationships/notesSlide" Target="../notesSlides/notesSlide23.xml"/><Relationship Id="rId1" Type="http://schemas.openxmlformats.org/officeDocument/2006/relationships/oleObject" Target="../embeddings/oleObject19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emf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4.wmf"/><Relationship Id="rId13" Type="http://schemas.openxmlformats.org/officeDocument/2006/relationships/vmlDrawing" Target="../drawings/vmlDrawing8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3.emf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emf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35113" y="3895725"/>
            <a:ext cx="9132888" cy="1470025"/>
          </a:xfrm>
          <a:prstGeom prst="rect">
            <a:avLst/>
          </a:prstGeom>
          <a:solidFill>
            <a:srgbClr val="132A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4" tIns="25717" rIns="51434" bIns="25717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70" b="0" i="0" u="none" strike="noStrike" kern="1200" cap="none" spc="0" normalizeH="0" baseline="0" noProof="1">
                <a:ln>
                  <a:noFill/>
                </a:ln>
                <a:solidFill>
                  <a:srgbClr val="1B0F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070" b="0" i="0" u="none" strike="noStrike" kern="1200" cap="none" spc="0" normalizeH="0" baseline="0" noProof="1">
              <a:ln>
                <a:noFill/>
              </a:ln>
              <a:solidFill>
                <a:srgbClr val="1B0FB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1507" name="组合 8"/>
          <p:cNvGrpSpPr/>
          <p:nvPr/>
        </p:nvGrpSpPr>
        <p:grpSpPr>
          <a:xfrm>
            <a:off x="1546225" y="4056063"/>
            <a:ext cx="9090025" cy="1195387"/>
            <a:chOff x="0" y="3256"/>
            <a:chExt cx="19198" cy="2751"/>
          </a:xfrm>
        </p:grpSpPr>
        <p:sp>
          <p:nvSpPr>
            <p:cNvPr id="21510" name="TextBox 22"/>
            <p:cNvSpPr txBox="1"/>
            <p:nvPr/>
          </p:nvSpPr>
          <p:spPr>
            <a:xfrm>
              <a:off x="1023" y="3256"/>
              <a:ext cx="16592" cy="24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1434" tIns="25717" rIns="51434" bIns="25717">
              <a:spAutoFit/>
            </a:bodyPr>
            <a:lstStyle/>
            <a:p>
              <a:pPr algn="ctr" eaLnBrk="1" hangingPunct="1"/>
              <a:r>
                <a:rPr lang="zh-CN" altLang="en-US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数学建模实验案例</a:t>
              </a:r>
              <a:endPara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传染病模型和</a:t>
              </a:r>
              <a:r>
                <a:rPr lang="en-US" altLang="zh-CN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SARS</a:t>
              </a:r>
              <a:r>
                <a:rPr lang="zh-CN" altLang="en-US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的传播</a:t>
              </a:r>
              <a:endPara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511" name="直接连接符 10"/>
            <p:cNvCxnSpPr/>
            <p:nvPr/>
          </p:nvCxnSpPr>
          <p:spPr>
            <a:xfrm>
              <a:off x="0" y="6007"/>
              <a:ext cx="19198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12" name="直接连接符 11"/>
            <p:cNvCxnSpPr/>
            <p:nvPr/>
          </p:nvCxnSpPr>
          <p:spPr>
            <a:xfrm>
              <a:off x="0" y="3256"/>
              <a:ext cx="19198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2150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370013"/>
            <a:ext cx="9667875" cy="2089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648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98277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/>
              <a:t>实验背景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68778" y="1480742"/>
            <a:ext cx="11054443" cy="4615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  SIR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模型是一种经典的传染病模型，用于描述易感者（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Susceptible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）、感染者（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Infected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）和康复者（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Recovered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）三类人群在传染病传播过程中的动态变化。该模型由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W. O. Kermack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A.G.McKendrick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在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1927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年提出，是传染病动力学研究的基础，已成为最成功、最著名的传染病传播模型之一。各国的健康卫生机构针对各类流行病的特点拓展了各种升级版的</a:t>
            </a:r>
            <a:r>
              <a:rPr lang="en-US" altLang="zh-CN" sz="2800" kern="100" dirty="0">
                <a:effectLst/>
                <a:latin typeface="+mn-ea"/>
                <a:cs typeface="Times New Roman" panose="02020603050405020304" pitchFamily="18" charset="0"/>
              </a:rPr>
              <a:t>SIR</a:t>
            </a:r>
            <a:r>
              <a:rPr lang="zh-CN" altLang="en-US" sz="2800" kern="100" dirty="0">
                <a:effectLst/>
                <a:latin typeface="+mn-ea"/>
                <a:cs typeface="Times New Roman" panose="02020603050405020304" pitchFamily="18" charset="0"/>
              </a:rPr>
              <a:t>模型，其在流行病预防和控制决策起到了重要作用。</a:t>
            </a:r>
            <a:endParaRPr lang="zh-CN" altLang="en-US" sz="2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6483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32553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/>
              <a:t>实验要求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899" y="1803907"/>
            <a:ext cx="9552215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、熟练掌握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MWORKS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软件的科学计算及绘图的相关功能；</a:t>
            </a:r>
            <a:endParaRPr lang="zh-CN" altLang="en-US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、结合参考教材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5.10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（传染病模型和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SARS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的传播），建立经典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SIR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模型，要求给出建模全过程；</a:t>
            </a:r>
            <a:endParaRPr lang="zh-CN" altLang="en-US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、利用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MWORKS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求解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SIR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模型，结合教材内容，讨论参数变化时各类人群的变化规律，要求给出数值结果、变化曲线图。</a:t>
            </a:r>
            <a:endParaRPr lang="zh-CN" altLang="en-US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6483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944670" y="188821"/>
            <a:ext cx="494538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传染病模型和</a:t>
            </a:r>
            <a:r>
              <a:rPr lang="en-US" altLang="zh-CN" sz="3200" b="1" dirty="0"/>
              <a:t>SARS</a:t>
            </a:r>
            <a:r>
              <a:rPr lang="zh-CN" altLang="en-US" sz="3200" b="1" dirty="0"/>
              <a:t>的传播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67690" y="1372870"/>
            <a:ext cx="1120013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800" dirty="0" smtClean="0">
                <a:sym typeface="+mn-ea"/>
              </a:rPr>
              <a:t>2002</a:t>
            </a:r>
            <a:r>
              <a:rPr lang="zh-CN" altLang="zh-CN" sz="2800" dirty="0">
                <a:sym typeface="+mn-ea"/>
              </a:rPr>
              <a:t>年冬到</a:t>
            </a:r>
            <a:r>
              <a:rPr lang="en-US" altLang="zh-CN" sz="2800" dirty="0">
                <a:sym typeface="+mn-ea"/>
              </a:rPr>
              <a:t>2003</a:t>
            </a:r>
            <a:r>
              <a:rPr lang="zh-CN" altLang="zh-CN" sz="2800" dirty="0">
                <a:sym typeface="+mn-ea"/>
              </a:rPr>
              <a:t>年春，一种名为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SARS</a:t>
            </a:r>
            <a:r>
              <a:rPr lang="zh-CN" altLang="zh-CN" sz="2800" dirty="0">
                <a:sym typeface="+mn-ea"/>
              </a:rPr>
              <a:t>（</a:t>
            </a:r>
            <a:r>
              <a:rPr lang="en-US" altLang="zh-CN" sz="2800" dirty="0">
                <a:sym typeface="+mn-ea"/>
              </a:rPr>
              <a:t>Severe Acute Respiratory Syndrome</a:t>
            </a:r>
            <a:r>
              <a:rPr lang="zh-CN" altLang="zh-CN" sz="2800" dirty="0">
                <a:sym typeface="+mn-ea"/>
              </a:rPr>
              <a:t>，严重急性呼吸道综合症</a:t>
            </a:r>
            <a:r>
              <a:rPr lang="en-US" altLang="zh-CN" sz="2800" dirty="0">
                <a:sym typeface="+mn-ea"/>
              </a:rPr>
              <a:t>, </a:t>
            </a:r>
            <a:r>
              <a:rPr lang="zh-CN" altLang="zh-CN" sz="2800" dirty="0">
                <a:sym typeface="+mn-ea"/>
              </a:rPr>
              <a:t>民间俗称</a:t>
            </a:r>
            <a:r>
              <a:rPr lang="zh-CN" altLang="zh-CN" sz="2800" dirty="0">
                <a:solidFill>
                  <a:srgbClr val="FF0000"/>
                </a:solidFill>
                <a:sym typeface="+mn-ea"/>
              </a:rPr>
              <a:t>非典</a:t>
            </a:r>
            <a:r>
              <a:rPr lang="zh-CN" altLang="zh-CN" sz="2800" dirty="0">
                <a:sym typeface="+mn-ea"/>
              </a:rPr>
              <a:t>）的传染病肆虐</a:t>
            </a:r>
            <a:r>
              <a:rPr lang="zh-CN" altLang="zh-CN" sz="2800" dirty="0" smtClean="0">
                <a:sym typeface="+mn-ea"/>
              </a:rPr>
              <a:t>全球。</a:t>
            </a:r>
            <a:endParaRPr lang="en-US" altLang="zh-CN" sz="2800" dirty="0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7690" y="3235960"/>
            <a:ext cx="10839450" cy="16414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2800" dirty="0" smtClean="0"/>
              <a:t>SARS</a:t>
            </a:r>
            <a:r>
              <a:rPr lang="zh-CN" altLang="en-US" sz="2800" b="1" dirty="0"/>
              <a:t>首发于中国广东，迅速扩散</a:t>
            </a:r>
            <a:r>
              <a:rPr lang="zh-CN" altLang="en-US" sz="2800" b="1" dirty="0" smtClean="0"/>
              <a:t>到</a:t>
            </a:r>
            <a:r>
              <a:rPr lang="en-US" altLang="zh-CN" sz="2800" dirty="0" smtClean="0"/>
              <a:t>30</a:t>
            </a:r>
            <a:r>
              <a:rPr lang="zh-CN" altLang="en-US" sz="2800" b="1" dirty="0"/>
              <a:t>多个国家和地区</a:t>
            </a:r>
            <a:r>
              <a:rPr lang="zh-CN" altLang="en-US" sz="2800" b="1" dirty="0" smtClean="0"/>
              <a:t>，多</a:t>
            </a:r>
            <a:r>
              <a:rPr lang="zh-CN" altLang="en-US" sz="2800" b="1" dirty="0"/>
              <a:t>名患者</a:t>
            </a:r>
            <a:r>
              <a:rPr lang="zh-CN" altLang="en-US" sz="2800" b="1" dirty="0" smtClean="0"/>
              <a:t>死亡引起</a:t>
            </a:r>
            <a:r>
              <a:rPr lang="zh-CN" altLang="en-US" sz="2800" b="1" dirty="0"/>
              <a:t>社会恐慌、媒体关注，以及各国政府和联合国、世界卫生组织的高度重视、积极应对，直至最终控制住疫情的</a:t>
            </a:r>
            <a:r>
              <a:rPr lang="zh-CN" altLang="en-US" sz="2800" b="1" dirty="0" smtClean="0"/>
              <a:t>蔓延。</a:t>
            </a:r>
            <a:endParaRPr lang="zh-CN" altLang="en-US" sz="28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67690" y="5099050"/>
            <a:ext cx="1093152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800" dirty="0" smtClean="0">
                <a:sym typeface="+mn-ea"/>
              </a:rPr>
              <a:t>SARS</a:t>
            </a:r>
            <a:r>
              <a:rPr lang="zh-CN" altLang="zh-CN" sz="2800" dirty="0">
                <a:sym typeface="+mn-ea"/>
              </a:rPr>
              <a:t>被控制住不久，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2003</a:t>
            </a:r>
            <a:r>
              <a:rPr lang="zh-CN" altLang="zh-CN" sz="2800" dirty="0">
                <a:solidFill>
                  <a:srgbClr val="FF0000"/>
                </a:solidFill>
                <a:sym typeface="+mn-ea"/>
              </a:rPr>
              <a:t>年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zh-CN" sz="2800" dirty="0" smtClean="0">
                <a:solidFill>
                  <a:srgbClr val="FF0000"/>
                </a:solidFill>
                <a:sym typeface="+mn-ea"/>
              </a:rPr>
              <a:t>月</a:t>
            </a:r>
            <a:r>
              <a:rPr lang="zh-CN" altLang="zh-CN" sz="2800" dirty="0" smtClean="0">
                <a:sym typeface="+mn-ea"/>
              </a:rPr>
              <a:t>全国</a:t>
            </a:r>
            <a:r>
              <a:rPr lang="zh-CN" altLang="zh-CN" sz="2800" dirty="0">
                <a:sym typeface="+mn-ea"/>
              </a:rPr>
              <a:t>大学生数学建模</a:t>
            </a:r>
            <a:r>
              <a:rPr lang="zh-CN" altLang="zh-CN" sz="2800" dirty="0" smtClean="0">
                <a:sym typeface="+mn-ea"/>
              </a:rPr>
              <a:t>竞赛以</a:t>
            </a:r>
            <a:r>
              <a:rPr lang="zh-CN" altLang="zh-CN" sz="2800" dirty="0">
                <a:sym typeface="+mn-ea"/>
              </a:rPr>
              <a:t>“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SARS</a:t>
            </a:r>
            <a:r>
              <a:rPr lang="zh-CN" altLang="zh-CN" sz="2800" dirty="0">
                <a:solidFill>
                  <a:srgbClr val="FF0000"/>
                </a:solidFill>
                <a:sym typeface="+mn-ea"/>
              </a:rPr>
              <a:t>的传播</a:t>
            </a:r>
            <a:r>
              <a:rPr lang="zh-CN" altLang="zh-CN" sz="2800" dirty="0">
                <a:sym typeface="+mn-ea"/>
              </a:rPr>
              <a:t>”命名</a:t>
            </a:r>
            <a:r>
              <a:rPr lang="zh-CN" altLang="zh-CN" sz="2800" dirty="0" smtClean="0">
                <a:sym typeface="+mn-ea"/>
              </a:rPr>
              <a:t>当年</a:t>
            </a:r>
            <a:r>
              <a:rPr lang="en-US" altLang="zh-CN" sz="2800" dirty="0" smtClean="0">
                <a:sym typeface="+mn-ea"/>
              </a:rPr>
              <a:t>A</a:t>
            </a:r>
            <a:r>
              <a:rPr lang="zh-CN" altLang="zh-CN" sz="2800" dirty="0">
                <a:sym typeface="+mn-ea"/>
              </a:rPr>
              <a:t>题和</a:t>
            </a:r>
            <a:r>
              <a:rPr lang="en-US" altLang="zh-CN" sz="2800" dirty="0">
                <a:sym typeface="+mn-ea"/>
              </a:rPr>
              <a:t>C</a:t>
            </a:r>
            <a:r>
              <a:rPr lang="zh-CN" altLang="zh-CN" sz="2800" dirty="0" smtClean="0">
                <a:sym typeface="+mn-ea"/>
              </a:rPr>
              <a:t>题。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1610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赛题要求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899" y="1257807"/>
            <a:ext cx="9552215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建立你们自己的模型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特别要说明怎样才能建立真正能预测以及能为预防和控制提供可靠、足够信息的模型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这样做的困难在哪里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zh-CN" altLang="en-US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4899" y="3498850"/>
            <a:ext cx="968756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7970" algn="just"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对于卫生部门所采取的措施做出评论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 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提前或延后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天采取严格的隔离措施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 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对疫情传播所造成的影响做出估计。</a:t>
            </a:r>
            <a:endParaRPr lang="zh-CN" altLang="en-US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advTm="6483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290385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/>
              <a:t>SARS</a:t>
            </a:r>
            <a:r>
              <a:rPr lang="zh-CN" altLang="en-US" sz="3200" b="1" dirty="0"/>
              <a:t>疫情数据</a:t>
            </a:r>
            <a:endParaRPr lang="zh-CN" altLang="en-US" sz="32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420495" y="1411605"/>
            <a:ext cx="9350375" cy="19240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1  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北京市从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2003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年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20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日至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日逐日的疫情数据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1420495" y="1871980"/>
          <a:ext cx="8575675" cy="3187700"/>
        </p:xfrm>
        <a:graphic>
          <a:graphicData uri="http://schemas.openxmlformats.org/drawingml/2006/table">
            <a:tbl>
              <a:tblPr/>
              <a:tblGrid>
                <a:gridCol w="1245870"/>
                <a:gridCol w="2032635"/>
                <a:gridCol w="1739265"/>
                <a:gridCol w="1261745"/>
                <a:gridCol w="2296160"/>
              </a:tblGrid>
              <a:tr h="637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日期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已确诊病例累计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现有疑似病例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死亡累计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治愈出院累计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7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</a:t>
                      </a:r>
                      <a:endParaRPr 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339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402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18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33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637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21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</a:t>
                      </a:r>
                      <a:endParaRPr 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482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610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25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43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7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….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7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23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</a:t>
                      </a:r>
                      <a:endParaRPr 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2521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191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2277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Tm="6483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494538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传染病模型和</a:t>
            </a:r>
            <a:r>
              <a:rPr lang="en-US" altLang="zh-CN" sz="3200" b="1" dirty="0"/>
              <a:t>SARS</a:t>
            </a:r>
            <a:r>
              <a:rPr lang="zh-CN" altLang="en-US" sz="3200" b="1" dirty="0"/>
              <a:t>的传播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950595" y="1803907"/>
            <a:ext cx="955221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l"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介绍数学医学领域中基本的传染病模型。</a:t>
            </a:r>
            <a:endParaRPr lang="zh-CN" altLang="en-US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0595" y="3201035"/>
            <a:ext cx="109702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800" dirty="0" smtClean="0">
                <a:sym typeface="+mn-ea"/>
              </a:rPr>
              <a:t>  </a:t>
            </a:r>
            <a:r>
              <a:rPr lang="zh-CN" altLang="zh-CN" sz="2800" dirty="0" smtClean="0">
                <a:sym typeface="+mn-ea"/>
              </a:rPr>
              <a:t>结合</a:t>
            </a:r>
            <a:r>
              <a:rPr lang="zh-CN" altLang="zh-CN" sz="2800" dirty="0">
                <a:sym typeface="+mn-ea"/>
              </a:rPr>
              <a:t>赛</a:t>
            </a:r>
            <a:r>
              <a:rPr lang="zh-CN" altLang="zh-CN" sz="2800" dirty="0" smtClean="0">
                <a:sym typeface="+mn-ea"/>
              </a:rPr>
              <a:t>题介绍</a:t>
            </a:r>
            <a:r>
              <a:rPr lang="zh-CN" altLang="zh-CN" sz="2800" dirty="0">
                <a:sym typeface="+mn-ea"/>
              </a:rPr>
              <a:t>几个描述、分析</a:t>
            </a:r>
            <a:r>
              <a:rPr lang="en-US" altLang="zh-CN" sz="2800" dirty="0">
                <a:sym typeface="+mn-ea"/>
              </a:rPr>
              <a:t>SARS</a:t>
            </a:r>
            <a:r>
              <a:rPr lang="zh-CN" altLang="zh-CN" sz="2800" dirty="0">
                <a:sym typeface="+mn-ea"/>
              </a:rPr>
              <a:t>传播过程的模型及求解</a:t>
            </a:r>
            <a:r>
              <a:rPr lang="zh-CN" altLang="zh-CN" sz="2800" dirty="0" smtClean="0">
                <a:sym typeface="+mn-ea"/>
              </a:rPr>
              <a:t>结果。</a:t>
            </a:r>
            <a:endParaRPr lang="zh-CN" altLang="zh-CN" sz="2800" dirty="0" smtClean="0">
              <a:sym typeface="+mn-ea"/>
            </a:endParaRPr>
          </a:p>
        </p:txBody>
      </p:sp>
    </p:spTree>
  </p:cSld>
  <p:clrMapOvr>
    <a:masterClrMapping/>
  </p:clrMapOvr>
  <p:transition advTm="6483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344932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基本的传染病模型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01015" y="2013585"/>
            <a:ext cx="706247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267970" algn="l"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不从医学角度分析各种传染病的特殊机理</a:t>
            </a:r>
            <a:endParaRPr lang="en-US" altLang="zh-CN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8195" y="3627120"/>
            <a:ext cx="7609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dirty="0" smtClean="0">
                <a:sym typeface="+mn-ea"/>
              </a:rPr>
              <a:t>按照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传播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过程的规律</a:t>
            </a:r>
            <a:r>
              <a:rPr lang="zh-CN" altLang="en-US" sz="2800" dirty="0" smtClean="0">
                <a:sym typeface="+mn-ea"/>
              </a:rPr>
              <a:t>建立微分方程模型</a:t>
            </a:r>
            <a:endParaRPr lang="zh-CN" altLang="en-US" sz="2800" dirty="0" smtClean="0">
              <a:sym typeface="+mn-ea"/>
            </a:endParaRPr>
          </a:p>
        </p:txBody>
      </p:sp>
    </p:spTree>
  </p:cSld>
  <p:clrMapOvr>
    <a:masterClrMapping/>
  </p:clrMapOvr>
  <p:transition advTm="6483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57226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1104265"/>
            <a:ext cx="1184973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将人群分为两类：易感染者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(Susceptible,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健康人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和已感染者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(Infective, 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病人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8445" y="1841500"/>
            <a:ext cx="2059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假设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445" y="3888105"/>
            <a:ext cx="1036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FF0000"/>
                </a:solidFill>
                <a:sym typeface="+mn-ea"/>
              </a:rPr>
              <a:t>建模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5400" y="1733550"/>
            <a:ext cx="1047496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总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人数</a:t>
            </a:r>
            <a:r>
              <a:rPr lang="en-US" altLang="zh-CN" sz="28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不变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，时刻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健康人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病人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所占比例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分别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 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2800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)=1.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 dirty="0" smtClean="0">
                <a:sym typeface="+mn-ea"/>
              </a:rPr>
              <a:t>     </a:t>
            </a:r>
            <a:endParaRPr lang="zh-CN" altLang="en-US" sz="2800" b="1" dirty="0" smtClean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5400" y="2796540"/>
            <a:ext cx="872236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hangingPunct="1">
              <a:lnSpc>
                <a:spcPct val="12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每个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病人每天有效接触人数为</a:t>
            </a:r>
            <a:r>
              <a:rPr lang="zh-CN" altLang="en-US" sz="28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日接触率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且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使接触的健康人致病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63" name="Object 15"/>
          <p:cNvGraphicFramePr>
            <a:graphicFrameLocks noChangeAspect="1"/>
          </p:cNvGraphicFramePr>
          <p:nvPr/>
        </p:nvGraphicFramePr>
        <p:xfrm>
          <a:off x="1295331" y="3990850"/>
          <a:ext cx="5176936" cy="5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96" name="公式" r:id="rId1" imgW="2070100" imgH="203200" progId="Equation.3">
                  <p:embed/>
                </p:oleObj>
              </mc:Choice>
              <mc:Fallback>
                <p:oleObj name="公式" r:id="rId1" imgW="2070100" imgH="203200" progId="Equation.3">
                  <p:embed/>
                  <p:pic>
                    <p:nvPicPr>
                      <p:cNvPr id="0" name="图片 13029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31" y="3990850"/>
                        <a:ext cx="5176936" cy="5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295618" y="4563565"/>
          <a:ext cx="1734195" cy="9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94" name="Equation" r:id="rId3" imgW="546100" imgH="393700" progId="Equation.DSMT4">
                  <p:embed/>
                </p:oleObj>
              </mc:Choice>
              <mc:Fallback>
                <p:oleObj name="Equation" r:id="rId3" imgW="546100" imgH="393700" progId="Equation.DSMT4">
                  <p:embed/>
                  <p:pic>
                    <p:nvPicPr>
                      <p:cNvPr id="0" name="图片 13029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18" y="4563565"/>
                        <a:ext cx="1734195" cy="9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295331" y="5708997"/>
          <a:ext cx="2167092" cy="47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95" name="公式" r:id="rId5" imgW="989965" imgH="241300" progId="Equation.3">
                  <p:embed/>
                </p:oleObj>
              </mc:Choice>
              <mc:Fallback>
                <p:oleObj name="公式" r:id="rId5" imgW="989965" imgH="241300" progId="Equation.3">
                  <p:embed/>
                  <p:pic>
                    <p:nvPicPr>
                      <p:cNvPr id="0" name="图片 13029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31" y="5708997"/>
                        <a:ext cx="2167092" cy="47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7"/>
          <p:cNvGrpSpPr/>
          <p:nvPr/>
        </p:nvGrpSpPr>
        <p:grpSpPr bwMode="auto">
          <a:xfrm>
            <a:off x="6482085" y="4402613"/>
            <a:ext cx="3443288" cy="1382713"/>
            <a:chOff x="3216" y="2732"/>
            <a:chExt cx="2169" cy="871"/>
          </a:xfrm>
        </p:grpSpPr>
        <p:graphicFrame>
          <p:nvGraphicFramePr>
            <p:cNvPr id="2053" name="Object 4"/>
            <p:cNvGraphicFramePr>
              <a:graphicFrameLocks noChangeAspect="1"/>
            </p:cNvGraphicFramePr>
            <p:nvPr/>
          </p:nvGraphicFramePr>
          <p:xfrm>
            <a:off x="3783" y="2732"/>
            <a:ext cx="1602" cy="8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297" name="Equation" r:id="rId7" imgW="889000" imgH="660400" progId="Equation.DSMT4">
                    <p:embed/>
                  </p:oleObj>
                </mc:Choice>
                <mc:Fallback>
                  <p:oleObj name="Equation" r:id="rId7" imgW="889000" imgH="660400" progId="Equation.DSMT4">
                    <p:embed/>
                    <p:pic>
                      <p:nvPicPr>
                        <p:cNvPr id="0" name="图片 13029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" y="2732"/>
                          <a:ext cx="1602" cy="871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4" name="AutoShape 16"/>
            <p:cNvSpPr>
              <a:spLocks noChangeArrowheads="1"/>
            </p:cNvSpPr>
            <p:nvPr/>
          </p:nvSpPr>
          <p:spPr bwMode="auto">
            <a:xfrm>
              <a:off x="3216" y="3024"/>
              <a:ext cx="192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p>
              <a:endParaRPr lang="zh-CN" altLang="en-US"/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57226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graphicFrame>
        <p:nvGraphicFramePr>
          <p:cNvPr id="3109" name="Object 37"/>
          <p:cNvGraphicFramePr>
            <a:graphicFrameLocks noChangeAspect="1"/>
          </p:cNvGraphicFramePr>
          <p:nvPr/>
        </p:nvGraphicFramePr>
        <p:xfrm>
          <a:off x="1813719" y="1007745"/>
          <a:ext cx="2543175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32" name="Equation" r:id="rId1" imgW="889000" imgH="660400" progId="Equation.DSMT4">
                  <p:embed/>
                </p:oleObj>
              </mc:Choice>
              <mc:Fallback>
                <p:oleObj name="Equation" r:id="rId1" imgW="889000" imgH="660400" progId="Equation.DSMT4">
                  <p:embed/>
                  <p:pic>
                    <p:nvPicPr>
                      <p:cNvPr id="0" name="图片 1240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719" y="1007745"/>
                        <a:ext cx="2543175" cy="138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/>
          <p:nvPr/>
        </p:nvGrpSpPr>
        <p:grpSpPr bwMode="auto">
          <a:xfrm>
            <a:off x="4890626" y="1439546"/>
            <a:ext cx="2438400" cy="519113"/>
            <a:chOff x="3744" y="645"/>
            <a:chExt cx="1536" cy="327"/>
          </a:xfrm>
        </p:grpSpPr>
        <p:sp>
          <p:nvSpPr>
            <p:cNvPr id="3087" name="Text Box 40"/>
            <p:cNvSpPr txBox="1">
              <a:spLocks noChangeArrowheads="1"/>
            </p:cNvSpPr>
            <p:nvPr/>
          </p:nvSpPr>
          <p:spPr bwMode="auto">
            <a:xfrm>
              <a:off x="3888" y="645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/>
                <a:t>l</a:t>
              </a:r>
              <a:r>
                <a:rPr lang="en-US" altLang="zh-CN" sz="2800" b="1" dirty="0" smtClean="0"/>
                <a:t>ogistic </a:t>
              </a:r>
              <a:r>
                <a:rPr lang="zh-CN" altLang="en-US" sz="2800" b="1" dirty="0"/>
                <a:t>模型</a:t>
              </a:r>
              <a:endParaRPr lang="zh-CN" altLang="en-US" sz="2800" b="1" dirty="0"/>
            </a:p>
          </p:txBody>
        </p:sp>
        <p:sp>
          <p:nvSpPr>
            <p:cNvPr id="3088" name="AutoShape 49"/>
            <p:cNvSpPr>
              <a:spLocks noChangeArrowheads="1"/>
            </p:cNvSpPr>
            <p:nvPr/>
          </p:nvSpPr>
          <p:spPr bwMode="auto">
            <a:xfrm>
              <a:off x="3744" y="684"/>
              <a:ext cx="144" cy="28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55"/>
          <p:cNvGrpSpPr/>
          <p:nvPr/>
        </p:nvGrpSpPr>
        <p:grpSpPr bwMode="auto">
          <a:xfrm>
            <a:off x="1543933" y="2468666"/>
            <a:ext cx="3879850" cy="3033713"/>
            <a:chOff x="436" y="960"/>
            <a:chExt cx="2444" cy="1911"/>
          </a:xfrm>
        </p:grpSpPr>
        <p:sp>
          <p:nvSpPr>
            <p:cNvPr id="3089" name="Line 3"/>
            <p:cNvSpPr>
              <a:spLocks noChangeShapeType="1"/>
            </p:cNvSpPr>
            <p:nvPr/>
          </p:nvSpPr>
          <p:spPr bwMode="auto">
            <a:xfrm>
              <a:off x="635" y="2594"/>
              <a:ext cx="19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0" name="Line 4"/>
            <p:cNvSpPr>
              <a:spLocks noChangeShapeType="1"/>
            </p:cNvSpPr>
            <p:nvPr/>
          </p:nvSpPr>
          <p:spPr bwMode="auto">
            <a:xfrm flipV="1">
              <a:off x="635" y="1059"/>
              <a:ext cx="0" cy="1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1" name="Arc 8"/>
            <p:cNvSpPr/>
            <p:nvPr/>
          </p:nvSpPr>
          <p:spPr bwMode="auto">
            <a:xfrm flipV="1">
              <a:off x="635" y="1920"/>
              <a:ext cx="499" cy="377"/>
            </a:xfrm>
            <a:custGeom>
              <a:avLst/>
              <a:gdLst>
                <a:gd name="T0" fmla="*/ 0 w 21600"/>
                <a:gd name="T1" fmla="*/ 0 h 21600"/>
                <a:gd name="T2" fmla="*/ 12 w 21600"/>
                <a:gd name="T3" fmla="*/ 7 h 21600"/>
                <a:gd name="T4" fmla="*/ 0 w 21600"/>
                <a:gd name="T5" fmla="*/ 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2" name="Arc 9"/>
            <p:cNvSpPr/>
            <p:nvPr/>
          </p:nvSpPr>
          <p:spPr bwMode="auto">
            <a:xfrm flipH="1">
              <a:off x="1132" y="1356"/>
              <a:ext cx="932" cy="737"/>
            </a:xfrm>
            <a:custGeom>
              <a:avLst/>
              <a:gdLst>
                <a:gd name="T0" fmla="*/ 5 w 21226"/>
                <a:gd name="T1" fmla="*/ 0 h 21448"/>
                <a:gd name="T2" fmla="*/ 41 w 21226"/>
                <a:gd name="T3" fmla="*/ 21 h 21448"/>
                <a:gd name="T4" fmla="*/ 0 w 21226"/>
                <a:gd name="T5" fmla="*/ 25 h 21448"/>
                <a:gd name="T6" fmla="*/ 0 60000 65536"/>
                <a:gd name="T7" fmla="*/ 0 60000 65536"/>
                <a:gd name="T8" fmla="*/ 0 60000 65536"/>
                <a:gd name="T9" fmla="*/ 0 w 21226"/>
                <a:gd name="T10" fmla="*/ 0 h 21448"/>
                <a:gd name="T11" fmla="*/ 21226 w 21226"/>
                <a:gd name="T12" fmla="*/ 21448 h 21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26" h="21448" fill="none" extrusionOk="0">
                  <a:moveTo>
                    <a:pt x="2555" y="-1"/>
                  </a:moveTo>
                  <a:cubicBezTo>
                    <a:pt x="11919" y="1115"/>
                    <a:pt x="19478" y="8177"/>
                    <a:pt x="21225" y="17445"/>
                  </a:cubicBezTo>
                </a:path>
                <a:path w="21226" h="21448" stroke="0" extrusionOk="0">
                  <a:moveTo>
                    <a:pt x="2555" y="-1"/>
                  </a:moveTo>
                  <a:cubicBezTo>
                    <a:pt x="11919" y="1115"/>
                    <a:pt x="19478" y="8177"/>
                    <a:pt x="21225" y="17445"/>
                  </a:cubicBezTo>
                  <a:lnTo>
                    <a:pt x="0" y="2144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" name="Text Box 10"/>
            <p:cNvSpPr txBox="1">
              <a:spLocks noChangeArrowheads="1"/>
            </p:cNvSpPr>
            <p:nvPr/>
          </p:nvSpPr>
          <p:spPr bwMode="auto">
            <a:xfrm>
              <a:off x="685" y="960"/>
              <a:ext cx="3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 i="1"/>
            </a:p>
          </p:txBody>
        </p:sp>
        <p:sp>
          <p:nvSpPr>
            <p:cNvPr id="3094" name="Text Box 11"/>
            <p:cNvSpPr txBox="1">
              <a:spLocks noChangeArrowheads="1"/>
            </p:cNvSpPr>
            <p:nvPr/>
          </p:nvSpPr>
          <p:spPr bwMode="auto">
            <a:xfrm>
              <a:off x="436" y="2148"/>
              <a:ext cx="4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  <p:sp>
          <p:nvSpPr>
            <p:cNvPr id="3095" name="Text Box 14"/>
            <p:cNvSpPr txBox="1">
              <a:spLocks noChangeArrowheads="1"/>
            </p:cNvSpPr>
            <p:nvPr/>
          </p:nvSpPr>
          <p:spPr bwMode="auto">
            <a:xfrm>
              <a:off x="486" y="1208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3096" name="Text Box 15"/>
            <p:cNvSpPr txBox="1">
              <a:spLocks noChangeArrowheads="1"/>
            </p:cNvSpPr>
            <p:nvPr/>
          </p:nvSpPr>
          <p:spPr bwMode="auto">
            <a:xfrm>
              <a:off x="486" y="2534"/>
              <a:ext cx="3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0</a:t>
              </a:r>
              <a:endParaRPr lang="en-US" altLang="zh-CN" b="1"/>
            </a:p>
          </p:txBody>
        </p:sp>
        <p:sp>
          <p:nvSpPr>
            <p:cNvPr id="3097" name="Text Box 17"/>
            <p:cNvSpPr txBox="1">
              <a:spLocks noChangeArrowheads="1"/>
            </p:cNvSpPr>
            <p:nvPr/>
          </p:nvSpPr>
          <p:spPr bwMode="auto">
            <a:xfrm>
              <a:off x="2431" y="2583"/>
              <a:ext cx="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t</a:t>
              </a:r>
              <a:endParaRPr lang="en-US" altLang="zh-CN" b="1" i="1"/>
            </a:p>
          </p:txBody>
        </p:sp>
        <p:sp>
          <p:nvSpPr>
            <p:cNvPr id="3098" name="Line 41"/>
            <p:cNvSpPr>
              <a:spLocks noChangeShapeType="1"/>
            </p:cNvSpPr>
            <p:nvPr/>
          </p:nvSpPr>
          <p:spPr bwMode="auto">
            <a:xfrm flipH="1">
              <a:off x="635" y="1307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120" name="Object 48"/>
          <p:cNvGraphicFramePr>
            <a:graphicFrameLocks noChangeAspect="1"/>
          </p:cNvGraphicFramePr>
          <p:nvPr/>
        </p:nvGraphicFramePr>
        <p:xfrm>
          <a:off x="1813808" y="5493622"/>
          <a:ext cx="2434697" cy="489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33" name="公式" r:id="rId3" imgW="977265" imgH="203200" progId="Equation.3">
                  <p:embed/>
                </p:oleObj>
              </mc:Choice>
              <mc:Fallback>
                <p:oleObj name="公式" r:id="rId3" imgW="977265" imgH="203200" progId="Equation.3">
                  <p:embed/>
                  <p:pic>
                    <p:nvPicPr>
                      <p:cNvPr id="0" name="图片 1240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808" y="5493622"/>
                        <a:ext cx="2434697" cy="489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269865" y="55587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 smtClean="0">
                <a:solidFill>
                  <a:srgbClr val="FF0000"/>
                </a:solidFill>
                <a:sym typeface="+mn-ea"/>
              </a:rPr>
              <a:t>没有考虑病人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可以治愈！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128" name="Text Box 56"/>
          <p:cNvSpPr txBox="1">
            <a:spLocks noChangeArrowheads="1"/>
          </p:cNvSpPr>
          <p:nvPr/>
        </p:nvSpPr>
        <p:spPr bwMode="auto">
          <a:xfrm>
            <a:off x="6182058" y="2713776"/>
            <a:ext cx="2809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t=t</a:t>
            </a:r>
            <a:r>
              <a:rPr lang="en-US" altLang="zh-CN" sz="2800" b="1" i="1" baseline="-25000"/>
              <a:t>m</a:t>
            </a:r>
            <a:r>
              <a:rPr lang="en-US" altLang="zh-CN" sz="2800" b="1"/>
              <a:t>, d</a:t>
            </a:r>
            <a:r>
              <a:rPr lang="en-US" altLang="zh-CN" sz="2800" b="1" i="1"/>
              <a:t>i</a:t>
            </a:r>
            <a:r>
              <a:rPr lang="en-US" altLang="zh-CN" sz="2800" b="1"/>
              <a:t>/d</a:t>
            </a:r>
            <a:r>
              <a:rPr lang="en-US" altLang="zh-CN" sz="2800" b="1" i="1"/>
              <a:t>t </a:t>
            </a:r>
            <a:r>
              <a:rPr lang="zh-CN" altLang="zh-CN" sz="2800" b="1"/>
              <a:t>最大</a:t>
            </a:r>
            <a:endParaRPr lang="zh-CN" altLang="en-US" sz="2800" b="1"/>
          </a:p>
        </p:txBody>
      </p:sp>
      <p:sp>
        <p:nvSpPr>
          <p:cNvPr id="3116" name="Text Box 44"/>
          <p:cNvSpPr txBox="1">
            <a:spLocks noChangeArrowheads="1"/>
          </p:cNvSpPr>
          <p:nvPr/>
        </p:nvSpPr>
        <p:spPr bwMode="auto">
          <a:xfrm>
            <a:off x="6026043" y="374612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/>
              <a:t>t</a:t>
            </a:r>
            <a:r>
              <a:rPr lang="en-US" altLang="zh-CN" sz="2800" b="1" i="1" baseline="-25000" dirty="0"/>
              <a:t>m</a:t>
            </a:r>
            <a:r>
              <a:rPr lang="en-US" altLang="zh-CN" sz="2800" b="1" dirty="0"/>
              <a:t>~</a:t>
            </a:r>
            <a:r>
              <a:rPr lang="zh-CN" altLang="en-US" sz="2800" b="1" dirty="0"/>
              <a:t>传染病高潮到来时刻</a:t>
            </a:r>
            <a:endParaRPr lang="zh-CN" altLang="en-US" sz="2800" b="1" dirty="0"/>
          </a:p>
        </p:txBody>
      </p:sp>
      <p:sp>
        <p:nvSpPr>
          <p:cNvPr id="3118" name="Text Box 46"/>
          <p:cNvSpPr txBox="1">
            <a:spLocks noChangeArrowheads="1"/>
          </p:cNvSpPr>
          <p:nvPr/>
        </p:nvSpPr>
        <p:spPr bwMode="auto">
          <a:xfrm>
            <a:off x="6026043" y="4778319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ym typeface="Symbol" panose="05050102010706020507" pitchFamily="18" charset="2"/>
              </a:rPr>
              <a:t> (</a:t>
            </a:r>
            <a:r>
              <a:rPr lang="zh-CN" altLang="en-US" sz="2800" b="1" dirty="0">
                <a:sym typeface="Symbol" panose="05050102010706020507" pitchFamily="18" charset="2"/>
              </a:rPr>
              <a:t>日接触率</a:t>
            </a:r>
            <a:r>
              <a:rPr lang="en-US" altLang="zh-CN" sz="2800" b="1" dirty="0">
                <a:sym typeface="Symbol" panose="05050102010706020507" pitchFamily="18" charset="2"/>
              </a:rPr>
              <a:t>)    </a:t>
            </a:r>
            <a:r>
              <a:rPr lang="en-US" altLang="zh-CN" sz="2800" b="1" i="1" dirty="0"/>
              <a:t>t</a:t>
            </a:r>
            <a:r>
              <a:rPr lang="en-US" altLang="zh-CN" sz="2800" b="1" i="1" baseline="-25000" dirty="0"/>
              <a:t>m</a:t>
            </a:r>
            <a:r>
              <a:rPr lang="en-US" altLang="zh-CN" sz="2800" b="1" dirty="0">
                <a:sym typeface="Symbol" panose="05050102010706020507" pitchFamily="18" charset="2"/>
              </a:rPr>
              <a:t>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10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utoUpdateAnimBg="0"/>
      <p:bldP spid="3116" grpId="0" autoUpdateAnimBg="0"/>
      <p:bldP spid="311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2943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SIS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381635" y="1296035"/>
            <a:ext cx="11133455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传染病</a:t>
            </a:r>
            <a:r>
              <a:rPr lang="zh-CN" altLang="en-US" sz="2800" b="1" dirty="0">
                <a:solidFill>
                  <a:srgbClr val="FF0000"/>
                </a:solidFill>
              </a:rPr>
              <a:t>无免疫性</a:t>
            </a:r>
            <a:r>
              <a:rPr lang="zh-CN" altLang="en-US" sz="2800" b="1" dirty="0"/>
              <a:t>如伤风、痢疾等</a:t>
            </a:r>
            <a:r>
              <a:rPr lang="en-US" altLang="zh-CN" sz="2800" b="1" dirty="0" smtClean="0"/>
              <a:t>——</a:t>
            </a:r>
            <a:r>
              <a:rPr lang="zh-CN" altLang="en-US" sz="2800" b="1" dirty="0"/>
              <a:t>病人治愈成为健康人，</a:t>
            </a:r>
            <a:r>
              <a:rPr lang="zh-CN" altLang="en-US" sz="2800" b="1" dirty="0">
                <a:solidFill>
                  <a:srgbClr val="FF0000"/>
                </a:solidFill>
              </a:rPr>
              <a:t>健康人可再次被感染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81635" y="2805430"/>
            <a:ext cx="5324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C00000"/>
                </a:solidFill>
              </a:rPr>
              <a:t>增加假设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153285" y="2700020"/>
            <a:ext cx="662324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 smtClean="0"/>
              <a:t>3.  </a:t>
            </a:r>
            <a:r>
              <a:rPr lang="zh-CN" altLang="en-US" sz="2800" b="1" dirty="0" smtClean="0"/>
              <a:t>病人</a:t>
            </a:r>
            <a:r>
              <a:rPr lang="zh-CN" altLang="en-US" sz="2800" b="1" dirty="0"/>
              <a:t>每天治愈的比例为</a:t>
            </a:r>
            <a:r>
              <a:rPr lang="zh-CN" altLang="en-US" sz="2800" b="1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 </a:t>
            </a:r>
            <a:r>
              <a:rPr lang="en-US" altLang="zh-CN" sz="28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日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治愈率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1635" y="3539490"/>
            <a:ext cx="5324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C00000"/>
                </a:solidFill>
              </a:rPr>
              <a:t>建模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1619885" y="3539490"/>
          <a:ext cx="76898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13" name="公式" r:id="rId1" imgW="3302000" imgH="241300" progId="Equation.3">
                  <p:embed/>
                </p:oleObj>
              </mc:Choice>
              <mc:Fallback>
                <p:oleObj name="公式" r:id="rId1" imgW="3302000" imgH="241300" progId="Equation.3">
                  <p:embed/>
                  <p:pic>
                    <p:nvPicPr>
                      <p:cNvPr id="0" name="图片 1251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885" y="3539490"/>
                        <a:ext cx="76898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065"/>
          <p:cNvGrpSpPr/>
          <p:nvPr/>
        </p:nvGrpSpPr>
        <p:grpSpPr bwMode="auto">
          <a:xfrm>
            <a:off x="923925" y="4178300"/>
            <a:ext cx="3636963" cy="1416050"/>
            <a:chOff x="340" y="2248"/>
            <a:chExt cx="2291" cy="892"/>
          </a:xfrm>
        </p:grpSpPr>
        <p:graphicFrame>
          <p:nvGraphicFramePr>
            <p:cNvPr id="4100" name="Object 4"/>
            <p:cNvGraphicFramePr>
              <a:graphicFrameLocks noChangeAspect="1"/>
            </p:cNvGraphicFramePr>
            <p:nvPr/>
          </p:nvGraphicFramePr>
          <p:xfrm>
            <a:off x="720" y="2248"/>
            <a:ext cx="1911" cy="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14" name="Equation" r:id="rId3" imgW="1168400" imgH="660400" progId="Equation.DSMT4">
                    <p:embed/>
                  </p:oleObj>
                </mc:Choice>
                <mc:Fallback>
                  <p:oleObj name="Equation" r:id="rId3" imgW="1168400" imgH="660400" progId="Equation.DSMT4">
                    <p:embed/>
                    <p:pic>
                      <p:nvPicPr>
                        <p:cNvPr id="0" name="图片 1251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248"/>
                          <a:ext cx="1911" cy="8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1" name="AutoShape 18"/>
            <p:cNvSpPr>
              <a:spLocks noChangeArrowheads="1"/>
            </p:cNvSpPr>
            <p:nvPr/>
          </p:nvSpPr>
          <p:spPr bwMode="auto">
            <a:xfrm>
              <a:off x="340" y="2529"/>
              <a:ext cx="125" cy="294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p>
              <a:endParaRPr lang="zh-CN" altLang="en-US"/>
            </a:p>
          </p:txBody>
        </p:sp>
      </p:grpSp>
      <p:graphicFrame>
        <p:nvGraphicFramePr>
          <p:cNvPr id="53256" name="Object 2056"/>
          <p:cNvGraphicFramePr>
            <a:graphicFrameLocks noChangeAspect="1"/>
          </p:cNvGraphicFramePr>
          <p:nvPr/>
        </p:nvGraphicFramePr>
        <p:xfrm>
          <a:off x="4730477" y="4178300"/>
          <a:ext cx="27305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15" name="公式" r:id="rId5" imgW="1066165" imgH="393700" progId="Equation.3">
                  <p:embed/>
                </p:oleObj>
              </mc:Choice>
              <mc:Fallback>
                <p:oleObj name="公式" r:id="rId5" imgW="1066165" imgH="393700" progId="Equation.3">
                  <p:embed/>
                  <p:pic>
                    <p:nvPicPr>
                      <p:cNvPr id="0" name="图片 1251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477" y="4178300"/>
                        <a:ext cx="27305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066"/>
          <p:cNvGrpSpPr/>
          <p:nvPr/>
        </p:nvGrpSpPr>
        <p:grpSpPr bwMode="auto">
          <a:xfrm>
            <a:off x="5700713" y="5091430"/>
            <a:ext cx="1296987" cy="750888"/>
            <a:chOff x="2517" y="2704"/>
            <a:chExt cx="817" cy="473"/>
          </a:xfrm>
        </p:grpSpPr>
        <p:sp>
          <p:nvSpPr>
            <p:cNvPr id="13" name="AutoShape 2057"/>
            <p:cNvSpPr>
              <a:spLocks noChangeArrowheads="1"/>
            </p:cNvSpPr>
            <p:nvPr/>
          </p:nvSpPr>
          <p:spPr bwMode="auto">
            <a:xfrm>
              <a:off x="2744" y="2704"/>
              <a:ext cx="227" cy="136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p>
              <a:endParaRPr lang="zh-CN" altLang="en-US"/>
            </a:p>
          </p:txBody>
        </p:sp>
        <p:grpSp>
          <p:nvGrpSpPr>
            <p:cNvPr id="4114" name="Group 2059"/>
            <p:cNvGrpSpPr>
              <a:grpSpLocks noChangeAspect="1"/>
            </p:cNvGrpSpPr>
            <p:nvPr/>
          </p:nvGrpSpPr>
          <p:grpSpPr bwMode="auto">
            <a:xfrm>
              <a:off x="2517" y="2854"/>
              <a:ext cx="817" cy="323"/>
              <a:chOff x="2517" y="2854"/>
              <a:chExt cx="817" cy="323"/>
            </a:xfrm>
          </p:grpSpPr>
          <p:sp>
            <p:nvSpPr>
              <p:cNvPr id="4115" name="AutoShape 2058"/>
              <p:cNvSpPr>
                <a:spLocks noChangeAspect="1" noChangeArrowheads="1" noTextEdit="1"/>
              </p:cNvSpPr>
              <p:nvPr/>
            </p:nvSpPr>
            <p:spPr bwMode="auto">
              <a:xfrm>
                <a:off x="2517" y="2886"/>
                <a:ext cx="81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6" name="Rectangle 2060"/>
              <p:cNvSpPr>
                <a:spLocks noChangeArrowheads="1"/>
              </p:cNvSpPr>
              <p:nvPr/>
            </p:nvSpPr>
            <p:spPr bwMode="auto">
              <a:xfrm>
                <a:off x="3170" y="2854"/>
                <a:ext cx="134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p>
                <a:r>
                  <a:rPr lang="en-US" altLang="zh-CN" sz="2900" b="1" i="1">
                    <a:solidFill>
                      <a:srgbClr val="FF3300"/>
                    </a:solidFill>
                    <a:latin typeface="Symbol" panose="05050102010706020507" pitchFamily="18" charset="2"/>
                  </a:rPr>
                  <a:t>m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4117" name="Rectangle 2061"/>
              <p:cNvSpPr>
                <a:spLocks noChangeArrowheads="1"/>
              </p:cNvSpPr>
              <p:nvPr/>
            </p:nvSpPr>
            <p:spPr bwMode="auto">
              <a:xfrm>
                <a:off x="2906" y="2854"/>
                <a:ext cx="127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p>
                <a:r>
                  <a:rPr lang="en-US" altLang="zh-CN" sz="2900" b="1" i="1">
                    <a:solidFill>
                      <a:srgbClr val="FF3300"/>
                    </a:solidFill>
                    <a:latin typeface="Symbol" panose="05050102010706020507" pitchFamily="18" charset="2"/>
                  </a:rPr>
                  <a:t>l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4118" name="Rectangle 2062"/>
              <p:cNvSpPr>
                <a:spLocks noChangeArrowheads="1"/>
              </p:cNvSpPr>
              <p:nvPr/>
            </p:nvSpPr>
            <p:spPr bwMode="auto">
              <a:xfrm>
                <a:off x="2526" y="2854"/>
                <a:ext cx="14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p>
                <a:r>
                  <a:rPr lang="en-US" altLang="zh-CN" sz="2900" b="1" i="1">
                    <a:solidFill>
                      <a:srgbClr val="FF3300"/>
                    </a:solidFill>
                    <a:latin typeface="Symbol" panose="05050102010706020507" pitchFamily="18" charset="2"/>
                  </a:rPr>
                  <a:t>s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4119" name="Rectangle 2063"/>
              <p:cNvSpPr>
                <a:spLocks noChangeArrowheads="1"/>
              </p:cNvSpPr>
              <p:nvPr/>
            </p:nvSpPr>
            <p:spPr bwMode="auto">
              <a:xfrm>
                <a:off x="3070" y="2880"/>
                <a:ext cx="64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p>
                <a:r>
                  <a:rPr lang="en-US" altLang="zh-CN" sz="2900" b="1">
                    <a:solidFill>
                      <a:srgbClr val="FF3300"/>
                    </a:solidFill>
                  </a:rPr>
                  <a:t>/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4120" name="Rectangle 2064"/>
              <p:cNvSpPr>
                <a:spLocks noChangeArrowheads="1"/>
              </p:cNvSpPr>
              <p:nvPr/>
            </p:nvSpPr>
            <p:spPr bwMode="auto">
              <a:xfrm>
                <a:off x="2740" y="2854"/>
                <a:ext cx="127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p>
                <a:r>
                  <a:rPr lang="en-US" altLang="zh-CN" sz="2900" b="1">
                    <a:solidFill>
                      <a:srgbClr val="FF33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7321550" y="5380355"/>
            <a:ext cx="46024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FF3300"/>
                </a:solidFill>
                <a:sym typeface="Symbol" panose="05050102010706020507" pitchFamily="18" charset="2"/>
              </a:rPr>
              <a:t> </a:t>
            </a:r>
            <a:r>
              <a:rPr lang="zh-CN" altLang="en-US" sz="2000" b="1" i="1">
                <a:solidFill>
                  <a:srgbClr val="FF3300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000" b="1">
                <a:sym typeface="Symbol" panose="05050102010706020507" pitchFamily="18" charset="2"/>
              </a:rPr>
              <a:t>一个感染期内</a:t>
            </a:r>
            <a:r>
              <a:rPr lang="zh-CN" altLang="en-US" sz="2000" b="1">
                <a:sym typeface="+mn-ea"/>
              </a:rPr>
              <a:t>每个病人的有效接触人数，称为</a:t>
            </a:r>
            <a:r>
              <a:rPr lang="zh-CN" altLang="en-US" sz="2000" b="1">
                <a:solidFill>
                  <a:srgbClr val="FF3300"/>
                </a:solidFill>
                <a:sym typeface="+mn-ea"/>
              </a:rPr>
              <a:t>接触数</a:t>
            </a:r>
            <a:r>
              <a:rPr lang="en-US" altLang="zh-CN" sz="2000" b="1">
                <a:sym typeface="+mn-ea"/>
              </a:rPr>
              <a:t>.</a:t>
            </a:r>
            <a:endParaRPr lang="en-US" altLang="zh-CN" sz="2000" b="1">
              <a:sym typeface="+mn-ea"/>
            </a:endParaRP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795338" y="5594033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sym typeface="Symbol" panose="05050102010706020507" pitchFamily="18" charset="2"/>
              </a:rPr>
              <a:t>~ </a:t>
            </a:r>
            <a:r>
              <a:rPr lang="zh-CN" altLang="en-US" sz="2800" b="1">
                <a:sym typeface="Symbol" panose="05050102010706020507" pitchFamily="18" charset="2"/>
              </a:rPr>
              <a:t>日接触率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3081338" y="559435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anose="05050102010706020507" pitchFamily="18" charset="2"/>
              </a:rPr>
              <a:t>1/</a:t>
            </a:r>
            <a:r>
              <a:rPr lang="en-US" altLang="zh-CN" sz="2800" b="1" i="1">
                <a:sym typeface="Symbol" panose="05050102010706020507" pitchFamily="18" charset="2"/>
              </a:rPr>
              <a:t> </a:t>
            </a:r>
            <a:r>
              <a:rPr lang="en-US" altLang="zh-CN" sz="2800" b="1">
                <a:sym typeface="Symbol" panose="05050102010706020507" pitchFamily="18" charset="2"/>
              </a:rPr>
              <a:t>~</a:t>
            </a:r>
            <a:r>
              <a:rPr lang="zh-CN" altLang="en-US" sz="2800" b="1">
                <a:sym typeface="Symbol" panose="05050102010706020507" pitchFamily="18" charset="2"/>
              </a:rPr>
              <a:t>感染期</a:t>
            </a:r>
            <a:endParaRPr lang="zh-CN" altLang="en-US" sz="2800" b="1"/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autoUpdateAnimBg="0"/>
      <p:bldP spid="4105" grpId="0" autoUpdateAnimBg="0"/>
      <p:bldP spid="4111" grpId="0" autoUpdateAnimBg="0"/>
      <p:bldP spid="41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2943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SIS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4787011" y="29768"/>
          <a:ext cx="2892297" cy="855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38" name="Equation" r:id="rId1" imgW="1244600" imgH="393700" progId="Equation.DSMT4">
                  <p:embed/>
                </p:oleObj>
              </mc:Choice>
              <mc:Fallback>
                <p:oleObj name="Equation" r:id="rId1" imgW="1244600" imgH="393700" progId="Equation.DSMT4">
                  <p:embed/>
                  <p:pic>
                    <p:nvPicPr>
                      <p:cNvPr id="0" name="图片 1261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011" y="29768"/>
                        <a:ext cx="2892297" cy="855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6" name="Text Box 126"/>
          <p:cNvSpPr txBox="1">
            <a:spLocks noChangeArrowheads="1"/>
          </p:cNvSpPr>
          <p:nvPr/>
        </p:nvSpPr>
        <p:spPr bwMode="auto">
          <a:xfrm>
            <a:off x="8481536" y="248844"/>
            <a:ext cx="18713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i="1" dirty="0" smtClean="0">
                <a:sym typeface="Symbol" panose="05050102010706020507" pitchFamily="18" charset="2"/>
              </a:rPr>
              <a:t> </a:t>
            </a:r>
            <a:r>
              <a:rPr lang="en-US" altLang="zh-CN" sz="2800" b="1" i="1" dirty="0" smtClean="0">
                <a:sym typeface="Symbol" panose="05050102010706020507" pitchFamily="18" charset="2"/>
              </a:rPr>
              <a:t>~</a:t>
            </a:r>
            <a:r>
              <a:rPr lang="zh-CN" altLang="en-US" sz="2800" b="1" dirty="0" smtClean="0"/>
              <a:t>接触数</a:t>
            </a:r>
            <a:endParaRPr lang="en-US" altLang="zh-CN" sz="2800" b="1" dirty="0"/>
          </a:p>
        </p:txBody>
      </p:sp>
      <p:grpSp>
        <p:nvGrpSpPr>
          <p:cNvPr id="7" name="Group 91"/>
          <p:cNvGrpSpPr/>
          <p:nvPr/>
        </p:nvGrpSpPr>
        <p:grpSpPr bwMode="auto">
          <a:xfrm>
            <a:off x="1957904" y="2292087"/>
            <a:ext cx="2098675" cy="914400"/>
            <a:chOff x="2197" y="1440"/>
            <a:chExt cx="1322" cy="576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352" y="1440"/>
              <a:ext cx="1167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" name="Group 84"/>
            <p:cNvGrpSpPr/>
            <p:nvPr/>
          </p:nvGrpSpPr>
          <p:grpSpPr bwMode="auto">
            <a:xfrm>
              <a:off x="2352" y="1536"/>
              <a:ext cx="975" cy="322"/>
              <a:chOff x="2385" y="1592"/>
              <a:chExt cx="975" cy="322"/>
            </a:xfrm>
          </p:grpSpPr>
          <p:sp>
            <p:nvSpPr>
              <p:cNvPr id="11" name="Arc 10"/>
              <p:cNvSpPr/>
              <p:nvPr/>
            </p:nvSpPr>
            <p:spPr bwMode="auto">
              <a:xfrm rot="21213641" flipH="1">
                <a:off x="2612" y="1592"/>
                <a:ext cx="748" cy="215"/>
              </a:xfrm>
              <a:custGeom>
                <a:avLst/>
                <a:gdLst>
                  <a:gd name="T0" fmla="*/ 0 w 21529"/>
                  <a:gd name="T1" fmla="*/ 0 h 21600"/>
                  <a:gd name="T2" fmla="*/ 26 w 21529"/>
                  <a:gd name="T3" fmla="*/ 2 h 21600"/>
                  <a:gd name="T4" fmla="*/ 0 w 21529"/>
                  <a:gd name="T5" fmla="*/ 2 h 21600"/>
                  <a:gd name="T6" fmla="*/ 0 60000 65536"/>
                  <a:gd name="T7" fmla="*/ 0 60000 65536"/>
                  <a:gd name="T8" fmla="*/ 0 60000 65536"/>
                  <a:gd name="T9" fmla="*/ 0 w 21529"/>
                  <a:gd name="T10" fmla="*/ 0 h 21600"/>
                  <a:gd name="T11" fmla="*/ 21529 w 2152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29" h="21600" fill="none" extrusionOk="0">
                    <a:moveTo>
                      <a:pt x="-1" y="0"/>
                    </a:moveTo>
                    <a:cubicBezTo>
                      <a:pt x="11253" y="0"/>
                      <a:pt x="20620" y="8639"/>
                      <a:pt x="21529" y="19855"/>
                    </a:cubicBezTo>
                  </a:path>
                  <a:path w="21529" h="21600" stroke="0" extrusionOk="0">
                    <a:moveTo>
                      <a:pt x="-1" y="0"/>
                    </a:moveTo>
                    <a:cubicBezTo>
                      <a:pt x="11253" y="0"/>
                      <a:pt x="20620" y="8639"/>
                      <a:pt x="21529" y="1985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Arc 11"/>
              <p:cNvSpPr/>
              <p:nvPr/>
            </p:nvSpPr>
            <p:spPr bwMode="auto">
              <a:xfrm flipV="1">
                <a:off x="2385" y="1776"/>
                <a:ext cx="255" cy="138"/>
              </a:xfrm>
              <a:custGeom>
                <a:avLst/>
                <a:gdLst>
                  <a:gd name="T0" fmla="*/ 0 w 21191"/>
                  <a:gd name="T1" fmla="*/ 0 h 21600"/>
                  <a:gd name="T2" fmla="*/ 3 w 21191"/>
                  <a:gd name="T3" fmla="*/ 1 h 21600"/>
                  <a:gd name="T4" fmla="*/ 0 w 21191"/>
                  <a:gd name="T5" fmla="*/ 1 h 21600"/>
                  <a:gd name="T6" fmla="*/ 0 60000 65536"/>
                  <a:gd name="T7" fmla="*/ 0 60000 65536"/>
                  <a:gd name="T8" fmla="*/ 0 60000 65536"/>
                  <a:gd name="T9" fmla="*/ 0 w 21191"/>
                  <a:gd name="T10" fmla="*/ 0 h 21600"/>
                  <a:gd name="T11" fmla="*/ 21191 w 2119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91" h="21600" fill="none" extrusionOk="0">
                    <a:moveTo>
                      <a:pt x="-1" y="0"/>
                    </a:moveTo>
                    <a:cubicBezTo>
                      <a:pt x="10317" y="0"/>
                      <a:pt x="19193" y="7296"/>
                      <a:pt x="21191" y="17417"/>
                    </a:cubicBezTo>
                  </a:path>
                  <a:path w="21191" h="21600" stroke="0" extrusionOk="0">
                    <a:moveTo>
                      <a:pt x="-1" y="0"/>
                    </a:moveTo>
                    <a:cubicBezTo>
                      <a:pt x="10317" y="0"/>
                      <a:pt x="19193" y="7296"/>
                      <a:pt x="21191" y="1741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2197" y="1728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sz="2000" b="1" baseline="-25000"/>
                <a:t>0</a:t>
              </a:r>
              <a:endParaRPr lang="en-US" altLang="zh-CN" b="1"/>
            </a:p>
          </p:txBody>
        </p:sp>
      </p:grpSp>
      <p:grpSp>
        <p:nvGrpSpPr>
          <p:cNvPr id="14" name="Group 92"/>
          <p:cNvGrpSpPr/>
          <p:nvPr/>
        </p:nvGrpSpPr>
        <p:grpSpPr bwMode="auto">
          <a:xfrm>
            <a:off x="1899166" y="1377687"/>
            <a:ext cx="1755775" cy="854075"/>
            <a:chOff x="2160" y="864"/>
            <a:chExt cx="1106" cy="538"/>
          </a:xfrm>
        </p:grpSpPr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160" y="864"/>
              <a:ext cx="2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i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0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16" name="Arc 19"/>
            <p:cNvSpPr/>
            <p:nvPr/>
          </p:nvSpPr>
          <p:spPr bwMode="auto">
            <a:xfrm flipH="1" flipV="1">
              <a:off x="2400" y="864"/>
              <a:ext cx="866" cy="538"/>
            </a:xfrm>
            <a:custGeom>
              <a:avLst/>
              <a:gdLst>
                <a:gd name="T0" fmla="*/ 0 w 22988"/>
                <a:gd name="T1" fmla="*/ 0 h 21600"/>
                <a:gd name="T2" fmla="*/ 33 w 22988"/>
                <a:gd name="T3" fmla="*/ 10 h 21600"/>
                <a:gd name="T4" fmla="*/ 3 w 22988"/>
                <a:gd name="T5" fmla="*/ 13 h 21600"/>
                <a:gd name="T6" fmla="*/ 0 60000 65536"/>
                <a:gd name="T7" fmla="*/ 0 60000 65536"/>
                <a:gd name="T8" fmla="*/ 0 60000 65536"/>
                <a:gd name="T9" fmla="*/ 0 w 22988"/>
                <a:gd name="T10" fmla="*/ 0 h 21600"/>
                <a:gd name="T11" fmla="*/ 22988 w 229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88" h="21600" fill="none" extrusionOk="0">
                  <a:moveTo>
                    <a:pt x="-1" y="102"/>
                  </a:moveTo>
                  <a:cubicBezTo>
                    <a:pt x="698" y="34"/>
                    <a:pt x="1400" y="-1"/>
                    <a:pt x="2103" y="0"/>
                  </a:cubicBezTo>
                  <a:cubicBezTo>
                    <a:pt x="11909" y="0"/>
                    <a:pt x="20485" y="6606"/>
                    <a:pt x="22987" y="16088"/>
                  </a:cubicBezTo>
                </a:path>
                <a:path w="22988" h="21600" stroke="0" extrusionOk="0">
                  <a:moveTo>
                    <a:pt x="-1" y="102"/>
                  </a:moveTo>
                  <a:cubicBezTo>
                    <a:pt x="698" y="34"/>
                    <a:pt x="1400" y="-1"/>
                    <a:pt x="2103" y="0"/>
                  </a:cubicBezTo>
                  <a:cubicBezTo>
                    <a:pt x="11909" y="0"/>
                    <a:pt x="20485" y="6606"/>
                    <a:pt x="22987" y="16088"/>
                  </a:cubicBezTo>
                  <a:lnTo>
                    <a:pt x="2103" y="2160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90"/>
          <p:cNvGrpSpPr/>
          <p:nvPr/>
        </p:nvGrpSpPr>
        <p:grpSpPr bwMode="auto">
          <a:xfrm>
            <a:off x="1518166" y="996687"/>
            <a:ext cx="3159125" cy="2790825"/>
            <a:chOff x="1920" y="624"/>
            <a:chExt cx="1990" cy="1758"/>
          </a:xfrm>
        </p:grpSpPr>
        <p:sp>
          <p:nvSpPr>
            <p:cNvPr id="18" name="Line 7"/>
            <p:cNvSpPr>
              <a:spLocks noChangeShapeType="1"/>
            </p:cNvSpPr>
            <p:nvPr/>
          </p:nvSpPr>
          <p:spPr bwMode="auto">
            <a:xfrm flipV="1">
              <a:off x="2400" y="2112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 flipV="1">
              <a:off x="2385" y="696"/>
              <a:ext cx="0" cy="1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2309" y="2122"/>
              <a:ext cx="3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O</a:t>
              </a:r>
              <a:endParaRPr lang="en-US" altLang="zh-CN" sz="2000" b="1" i="1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3648" y="2094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t</a:t>
              </a:r>
              <a:endParaRPr lang="en-US" altLang="zh-CN" b="1" i="1"/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2208" y="624"/>
              <a:ext cx="3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 err="1"/>
                <a:t>i</a:t>
              </a:r>
              <a:endParaRPr lang="en-US" altLang="zh-CN" b="1" i="1" dirty="0"/>
            </a:p>
          </p:txBody>
        </p:sp>
        <p:sp>
          <p:nvSpPr>
            <p:cNvPr id="23" name="Text Box 85"/>
            <p:cNvSpPr txBox="1">
              <a:spLocks noChangeArrowheads="1"/>
            </p:cNvSpPr>
            <p:nvPr/>
          </p:nvSpPr>
          <p:spPr bwMode="auto">
            <a:xfrm>
              <a:off x="2928" y="86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ym typeface="Symbol" panose="05050102010706020507" pitchFamily="18" charset="2"/>
                </a:rPr>
                <a:t> &gt;</a:t>
              </a:r>
              <a:r>
                <a:rPr lang="en-US" altLang="zh-CN" b="1">
                  <a:sym typeface="Symbol" panose="05050102010706020507" pitchFamily="18" charset="2"/>
                </a:rPr>
                <a:t>1</a:t>
              </a:r>
              <a:endParaRPr lang="en-US" altLang="zh-CN" b="1"/>
            </a:p>
          </p:txBody>
        </p:sp>
        <p:sp>
          <p:nvSpPr>
            <p:cNvPr id="24" name="Text Box 87"/>
            <p:cNvSpPr txBox="1">
              <a:spLocks noChangeArrowheads="1"/>
            </p:cNvSpPr>
            <p:nvPr/>
          </p:nvSpPr>
          <p:spPr bwMode="auto">
            <a:xfrm>
              <a:off x="1920" y="134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1-1/</a:t>
              </a:r>
              <a:r>
                <a:rPr lang="en-US" altLang="zh-CN" sz="2000" b="1">
                  <a:sym typeface="Symbol" panose="05050102010706020507" pitchFamily="18" charset="2"/>
                </a:rPr>
                <a:t></a:t>
              </a:r>
              <a:endParaRPr lang="en-US" altLang="zh-CN" sz="2000" b="1"/>
            </a:p>
          </p:txBody>
        </p:sp>
      </p:grp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517968" y="3724171"/>
          <a:ext cx="3313112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37" name="公式" r:id="rId3" imgW="1587500" imgH="787400" progId="Equation.3">
                  <p:embed/>
                </p:oleObj>
              </mc:Choice>
              <mc:Fallback>
                <p:oleObj name="公式" r:id="rId3" imgW="1587500" imgH="787400" progId="Equation.3">
                  <p:embed/>
                  <p:pic>
                    <p:nvPicPr>
                      <p:cNvPr id="0" name="图片 12613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968" y="3724171"/>
                        <a:ext cx="3313112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96"/>
          <p:cNvGrpSpPr/>
          <p:nvPr/>
        </p:nvGrpSpPr>
        <p:grpSpPr bwMode="auto">
          <a:xfrm>
            <a:off x="7125965" y="1938139"/>
            <a:ext cx="2159000" cy="1438275"/>
            <a:chOff x="3936" y="1104"/>
            <a:chExt cx="1360" cy="906"/>
          </a:xfrm>
        </p:grpSpPr>
        <p:sp>
          <p:nvSpPr>
            <p:cNvPr id="28" name="Arc 71"/>
            <p:cNvSpPr/>
            <p:nvPr/>
          </p:nvSpPr>
          <p:spPr bwMode="auto">
            <a:xfrm flipH="1" flipV="1">
              <a:off x="4176" y="1248"/>
              <a:ext cx="1120" cy="762"/>
            </a:xfrm>
            <a:custGeom>
              <a:avLst/>
              <a:gdLst>
                <a:gd name="T0" fmla="*/ 5 w 21600"/>
                <a:gd name="T1" fmla="*/ 0 h 21511"/>
                <a:gd name="T2" fmla="*/ 58 w 21600"/>
                <a:gd name="T3" fmla="*/ 27 h 21511"/>
                <a:gd name="T4" fmla="*/ 0 w 21600"/>
                <a:gd name="T5" fmla="*/ 27 h 215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1"/>
                <a:gd name="T11" fmla="*/ 21600 w 21600"/>
                <a:gd name="T12" fmla="*/ 21511 h 215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1" fill="none" extrusionOk="0">
                  <a:moveTo>
                    <a:pt x="1955" y="-1"/>
                  </a:moveTo>
                  <a:cubicBezTo>
                    <a:pt x="13080" y="1010"/>
                    <a:pt x="21600" y="10339"/>
                    <a:pt x="21600" y="21511"/>
                  </a:cubicBezTo>
                </a:path>
                <a:path w="21600" h="21511" stroke="0" extrusionOk="0">
                  <a:moveTo>
                    <a:pt x="1955" y="-1"/>
                  </a:moveTo>
                  <a:cubicBezTo>
                    <a:pt x="13080" y="1010"/>
                    <a:pt x="21600" y="10339"/>
                    <a:pt x="21600" y="21511"/>
                  </a:cubicBezTo>
                  <a:lnTo>
                    <a:pt x="0" y="2151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76"/>
            <p:cNvSpPr txBox="1">
              <a:spLocks noChangeArrowheads="1"/>
            </p:cNvSpPr>
            <p:nvPr/>
          </p:nvSpPr>
          <p:spPr bwMode="auto">
            <a:xfrm>
              <a:off x="3936" y="11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</p:grpSp>
      <p:grpSp>
        <p:nvGrpSpPr>
          <p:cNvPr id="30" name="Group 99"/>
          <p:cNvGrpSpPr/>
          <p:nvPr/>
        </p:nvGrpSpPr>
        <p:grpSpPr bwMode="auto">
          <a:xfrm>
            <a:off x="7278365" y="1252339"/>
            <a:ext cx="2438400" cy="2574925"/>
            <a:chOff x="4032" y="672"/>
            <a:chExt cx="1536" cy="1622"/>
          </a:xfrm>
        </p:grpSpPr>
        <p:sp>
          <p:nvSpPr>
            <p:cNvPr id="5147" name="Line 69"/>
            <p:cNvSpPr>
              <a:spLocks noChangeShapeType="1"/>
            </p:cNvSpPr>
            <p:nvPr/>
          </p:nvSpPr>
          <p:spPr bwMode="auto">
            <a:xfrm>
              <a:off x="4160" y="2047"/>
              <a:ext cx="1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Line 70"/>
            <p:cNvSpPr>
              <a:spLocks noChangeShapeType="1"/>
            </p:cNvSpPr>
            <p:nvPr/>
          </p:nvSpPr>
          <p:spPr bwMode="auto">
            <a:xfrm flipV="1">
              <a:off x="4160" y="755"/>
              <a:ext cx="0" cy="1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9" name="Text Box 73"/>
            <p:cNvSpPr txBox="1">
              <a:spLocks noChangeArrowheads="1"/>
            </p:cNvSpPr>
            <p:nvPr/>
          </p:nvSpPr>
          <p:spPr bwMode="auto">
            <a:xfrm>
              <a:off x="4032" y="67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 i="1"/>
            </a:p>
          </p:txBody>
        </p:sp>
        <p:sp>
          <p:nvSpPr>
            <p:cNvPr id="5150" name="Text Box 74"/>
            <p:cNvSpPr txBox="1">
              <a:spLocks noChangeArrowheads="1"/>
            </p:cNvSpPr>
            <p:nvPr/>
          </p:nvSpPr>
          <p:spPr bwMode="auto">
            <a:xfrm>
              <a:off x="4096" y="2039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O</a:t>
              </a:r>
              <a:endParaRPr lang="en-US" altLang="zh-CN" sz="2000" b="1" i="1"/>
            </a:p>
          </p:txBody>
        </p:sp>
        <p:sp>
          <p:nvSpPr>
            <p:cNvPr id="5151" name="Text Box 75"/>
            <p:cNvSpPr txBox="1">
              <a:spLocks noChangeArrowheads="1"/>
            </p:cNvSpPr>
            <p:nvPr/>
          </p:nvSpPr>
          <p:spPr bwMode="auto">
            <a:xfrm>
              <a:off x="5376" y="200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t</a:t>
              </a:r>
              <a:endParaRPr lang="en-US" altLang="zh-CN" b="1" i="1"/>
            </a:p>
          </p:txBody>
        </p:sp>
        <p:sp>
          <p:nvSpPr>
            <p:cNvPr id="5152" name="Text Box 94"/>
            <p:cNvSpPr txBox="1">
              <a:spLocks noChangeArrowheads="1"/>
            </p:cNvSpPr>
            <p:nvPr/>
          </p:nvSpPr>
          <p:spPr bwMode="auto">
            <a:xfrm>
              <a:off x="4704" y="86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ym typeface="Symbol" panose="05050102010706020507" pitchFamily="18" charset="2"/>
                </a:rPr>
                <a:t> </a:t>
              </a:r>
              <a:r>
                <a:rPr lang="en-US" altLang="zh-CN" b="1">
                  <a:sym typeface="Symbol" panose="05050102010706020507" pitchFamily="18" charset="2"/>
                </a:rPr>
                <a:t>1</a:t>
              </a:r>
              <a:endParaRPr lang="en-US" altLang="zh-CN" b="1"/>
            </a:p>
          </p:txBody>
        </p:sp>
      </p:grpSp>
      <p:grpSp>
        <p:nvGrpSpPr>
          <p:cNvPr id="31" name="Group 102"/>
          <p:cNvGrpSpPr/>
          <p:nvPr/>
        </p:nvGrpSpPr>
        <p:grpSpPr bwMode="auto">
          <a:xfrm>
            <a:off x="8192765" y="2090539"/>
            <a:ext cx="1219200" cy="609600"/>
            <a:chOff x="4608" y="1200"/>
            <a:chExt cx="768" cy="384"/>
          </a:xfrm>
        </p:grpSpPr>
        <p:sp>
          <p:nvSpPr>
            <p:cNvPr id="32" name="Text Box 100"/>
            <p:cNvSpPr txBox="1">
              <a:spLocks noChangeArrowheads="1"/>
            </p:cNvSpPr>
            <p:nvPr/>
          </p:nvSpPr>
          <p:spPr bwMode="auto">
            <a:xfrm>
              <a:off x="4608" y="1296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di</a:t>
              </a:r>
              <a:r>
                <a:rPr lang="en-US" altLang="zh-CN" b="1"/>
                <a:t>/</a:t>
              </a:r>
              <a:r>
                <a:rPr lang="en-US" altLang="zh-CN" b="1" i="1"/>
                <a:t>dt </a:t>
              </a:r>
              <a:r>
                <a:rPr lang="en-US" altLang="zh-CN" b="1"/>
                <a:t>&lt; 0</a:t>
              </a:r>
              <a:endParaRPr lang="en-US" altLang="zh-CN" b="1"/>
            </a:p>
          </p:txBody>
        </p:sp>
        <p:sp>
          <p:nvSpPr>
            <p:cNvPr id="33" name="AutoShape 101"/>
            <p:cNvSpPr>
              <a:spLocks noChangeArrowheads="1"/>
            </p:cNvSpPr>
            <p:nvPr/>
          </p:nvSpPr>
          <p:spPr bwMode="auto">
            <a:xfrm>
              <a:off x="4800" y="1200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Rectangle 121"/>
          <p:cNvSpPr>
            <a:spLocks noChangeArrowheads="1"/>
          </p:cNvSpPr>
          <p:nvPr/>
        </p:nvSpPr>
        <p:spPr bwMode="auto">
          <a:xfrm>
            <a:off x="2203768" y="5153873"/>
            <a:ext cx="24479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 &gt;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1, </a:t>
            </a:r>
            <a:r>
              <a:rPr lang="en-US" altLang="zh-CN" sz="2800" b="1" i="1">
                <a:solidFill>
                  <a:schemeClr val="tx1"/>
                </a:solidFill>
              </a:rPr>
              <a:t>i</a:t>
            </a:r>
            <a:r>
              <a:rPr lang="en-US" altLang="zh-CN" sz="2800" b="1" baseline="-25000">
                <a:solidFill>
                  <a:schemeClr val="tx1"/>
                </a:solidFill>
              </a:rPr>
              <a:t>0</a:t>
            </a:r>
            <a:r>
              <a:rPr lang="en-US" altLang="zh-CN" sz="2800" b="1">
                <a:solidFill>
                  <a:schemeClr val="tx1"/>
                </a:solidFill>
              </a:rPr>
              <a:t>&lt; 1-1/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endParaRPr lang="en-US" altLang="zh-CN" sz="2800" b="1" i="1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37" name="Group 124"/>
          <p:cNvGrpSpPr/>
          <p:nvPr/>
        </p:nvGrpSpPr>
        <p:grpSpPr bwMode="auto">
          <a:xfrm>
            <a:off x="1688148" y="5686956"/>
            <a:ext cx="3455987" cy="557212"/>
            <a:chOff x="249" y="3385"/>
            <a:chExt cx="2177" cy="351"/>
          </a:xfrm>
        </p:grpSpPr>
        <p:sp>
          <p:nvSpPr>
            <p:cNvPr id="38" name="Rectangle 122"/>
            <p:cNvSpPr>
              <a:spLocks noChangeArrowheads="1"/>
            </p:cNvSpPr>
            <p:nvPr/>
          </p:nvSpPr>
          <p:spPr bwMode="auto">
            <a:xfrm>
              <a:off x="430" y="3385"/>
              <a:ext cx="199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p>
              <a:r>
                <a:rPr lang="en-US" altLang="zh-CN" sz="2800" b="1" i="1" dirty="0" err="1">
                  <a:solidFill>
                    <a:schemeClr val="tx1"/>
                  </a:solidFill>
                </a:rPr>
                <a:t>i</a:t>
              </a:r>
              <a:r>
                <a:rPr lang="en-US" altLang="zh-CN" sz="2800" b="1" dirty="0">
                  <a:solidFill>
                    <a:schemeClr val="tx1"/>
                  </a:solidFill>
                </a:rPr>
                <a:t>(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t</a:t>
              </a:r>
              <a:r>
                <a:rPr lang="en-US" altLang="zh-CN" sz="2800" b="1" dirty="0">
                  <a:solidFill>
                    <a:schemeClr val="tx1"/>
                  </a:solidFill>
                </a:rPr>
                <a:t>)</a:t>
              </a:r>
              <a:r>
                <a:rPr lang="zh-CN" altLang="en-US" sz="2800" b="1" dirty="0">
                  <a:solidFill>
                    <a:schemeClr val="tx1"/>
                  </a:solidFill>
                </a:rPr>
                <a:t>按</a:t>
              </a:r>
              <a:r>
                <a:rPr lang="en-US" altLang="zh-CN" sz="2800" b="1" dirty="0">
                  <a:solidFill>
                    <a:schemeClr val="tx1"/>
                  </a:solidFill>
                </a:rPr>
                <a:t>S</a:t>
              </a:r>
              <a:r>
                <a:rPr lang="zh-CN" altLang="en-US" sz="2800" b="1" dirty="0">
                  <a:solidFill>
                    <a:schemeClr val="tx1"/>
                  </a:solidFill>
                </a:rPr>
                <a:t>形曲线增长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AutoShape 123"/>
            <p:cNvSpPr>
              <a:spLocks noChangeArrowheads="1"/>
            </p:cNvSpPr>
            <p:nvPr/>
          </p:nvSpPr>
          <p:spPr bwMode="auto">
            <a:xfrm>
              <a:off x="249" y="3430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166" name="Text Box 46"/>
          <p:cNvSpPr txBox="1">
            <a:spLocks noChangeArrowheads="1"/>
          </p:cNvSpPr>
          <p:nvPr/>
        </p:nvSpPr>
        <p:spPr bwMode="auto">
          <a:xfrm>
            <a:off x="6921818" y="56047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接触数</a:t>
            </a:r>
            <a:r>
              <a:rPr lang="zh-CN" altLang="en-US" sz="2800" b="1" i="1">
                <a:solidFill>
                  <a:srgbClr val="FF3300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=1 </a:t>
            </a:r>
            <a:r>
              <a:rPr lang="en-US" altLang="zh-CN" sz="2800" b="1">
                <a:solidFill>
                  <a:srgbClr val="FF3300"/>
                </a:solidFill>
              </a:rPr>
              <a:t>~ </a:t>
            </a:r>
            <a:r>
              <a:rPr lang="zh-CN" altLang="en-US" sz="2800" b="1">
                <a:solidFill>
                  <a:srgbClr val="FF3300"/>
                </a:solidFill>
              </a:rPr>
              <a:t>阈值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p:graphicFrame>
        <p:nvGraphicFramePr>
          <p:cNvPr id="5169" name="Object 49"/>
          <p:cNvGraphicFramePr>
            <a:graphicFrameLocks noChangeAspect="1"/>
          </p:cNvGraphicFramePr>
          <p:nvPr/>
        </p:nvGraphicFramePr>
        <p:xfrm>
          <a:off x="6884036" y="4121586"/>
          <a:ext cx="795020" cy="39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39" name="公式" r:id="rId5" imgW="355600" imgH="177165" progId="Equation.3">
                  <p:embed/>
                </p:oleObj>
              </mc:Choice>
              <mc:Fallback>
                <p:oleObj name="公式" r:id="rId5" imgW="355600" imgH="177165" progId="Equation.3">
                  <p:embed/>
                  <p:pic>
                    <p:nvPicPr>
                      <p:cNvPr id="0" name="图片 126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036" y="4121586"/>
                        <a:ext cx="795020" cy="398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5" name="Text Box 55"/>
          <p:cNvSpPr txBox="1">
            <a:spLocks noChangeArrowheads="1"/>
          </p:cNvSpPr>
          <p:nvPr/>
        </p:nvSpPr>
        <p:spPr bwMode="auto">
          <a:xfrm>
            <a:off x="6129655" y="4596725"/>
            <a:ext cx="4897438" cy="94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anose="05050102010706020507" pitchFamily="18" charset="2"/>
              </a:rPr>
              <a:t>感染期内</a:t>
            </a:r>
            <a:r>
              <a:rPr lang="zh-CN" altLang="en-US" sz="2800" b="1"/>
              <a:t>有效接触使健康者感染的人数不超过原有的病人数</a:t>
            </a:r>
            <a:endParaRPr lang="zh-CN" altLang="en-US" sz="2800" b="1"/>
          </a:p>
        </p:txBody>
      </p:sp>
      <p:grpSp>
        <p:nvGrpSpPr>
          <p:cNvPr id="40" name="Group 131"/>
          <p:cNvGrpSpPr/>
          <p:nvPr/>
        </p:nvGrpSpPr>
        <p:grpSpPr bwMode="auto">
          <a:xfrm>
            <a:off x="7787005" y="4020463"/>
            <a:ext cx="2263775" cy="519112"/>
            <a:chOff x="3606" y="2423"/>
            <a:chExt cx="1426" cy="327"/>
          </a:xfrm>
          <a:solidFill>
            <a:schemeClr val="bg1"/>
          </a:solidFill>
        </p:grpSpPr>
        <p:sp>
          <p:nvSpPr>
            <p:cNvPr id="5141" name="Rectangle 129"/>
            <p:cNvSpPr>
              <a:spLocks noChangeArrowheads="1"/>
            </p:cNvSpPr>
            <p:nvPr/>
          </p:nvSpPr>
          <p:spPr bwMode="auto">
            <a:xfrm>
              <a:off x="3742" y="2423"/>
              <a:ext cx="1290" cy="3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000000"/>
                  </a:solidFill>
                </a:rPr>
                <a:t>i</a:t>
              </a:r>
              <a:r>
                <a:rPr lang="en-US" altLang="zh-CN" sz="2800" b="1">
                  <a:solidFill>
                    <a:srgbClr val="000000"/>
                  </a:solidFill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</a:rPr>
                <a:t>t</a:t>
              </a:r>
              <a:r>
                <a:rPr lang="en-US" altLang="zh-CN" sz="2800" b="1">
                  <a:solidFill>
                    <a:srgbClr val="000000"/>
                  </a:solidFill>
                </a:rPr>
                <a:t>)</a:t>
              </a:r>
              <a:r>
                <a:rPr lang="zh-CN" altLang="en-US" sz="2800" b="1">
                  <a:solidFill>
                    <a:srgbClr val="000000"/>
                  </a:solidFill>
                </a:rPr>
                <a:t>单调下降</a:t>
              </a:r>
              <a:endParaRPr lang="zh-CN" altLang="en-US" sz="2800" b="1">
                <a:solidFill>
                  <a:srgbClr val="000000"/>
                </a:solidFill>
              </a:endParaRPr>
            </a:p>
          </p:txBody>
        </p:sp>
        <p:sp>
          <p:nvSpPr>
            <p:cNvPr id="5142" name="AutoShape 130"/>
            <p:cNvSpPr>
              <a:spLocks noChangeArrowheads="1"/>
            </p:cNvSpPr>
            <p:nvPr/>
          </p:nvSpPr>
          <p:spPr bwMode="auto">
            <a:xfrm>
              <a:off x="3606" y="2432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10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10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10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6" grpId="0"/>
      <p:bldP spid="36" grpId="0" bldLvl="0" animBg="1"/>
      <p:bldP spid="5166" grpId="0"/>
      <p:bldP spid="5175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6753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SIR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9215" y="1110615"/>
            <a:ext cx="118027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7970" algn="l">
              <a:lnSpc>
                <a:spcPct val="150000"/>
              </a:lnSpc>
            </a:pP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传染病有免疫性如天花、麻疹等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病人治愈后移出感染系统，称移出者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(Removed)</a:t>
            </a:r>
            <a:endParaRPr lang="en-US" altLang="zh-C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4170" y="1943735"/>
            <a:ext cx="110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假设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6158" name="Text Box 59"/>
          <p:cNvSpPr txBox="1">
            <a:spLocks noChangeArrowheads="1"/>
          </p:cNvSpPr>
          <p:nvPr/>
        </p:nvSpPr>
        <p:spPr bwMode="auto">
          <a:xfrm>
            <a:off x="1676400" y="1827212"/>
            <a:ext cx="6925443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zh-CN" altLang="en-US" sz="2800" b="1" dirty="0" smtClean="0"/>
              <a:t>总</a:t>
            </a:r>
            <a:r>
              <a:rPr lang="zh-CN" altLang="en-US" sz="2800" b="1" dirty="0"/>
              <a:t>人数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不变</a:t>
            </a:r>
            <a:r>
              <a:rPr lang="zh-CN" altLang="en-US" sz="2800" b="1" dirty="0" smtClean="0"/>
              <a:t>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健康人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病人和移出者</a:t>
            </a:r>
            <a:r>
              <a:rPr lang="zh-CN" altLang="en-US" sz="2800" b="1" dirty="0"/>
              <a:t>的比例</a:t>
            </a:r>
            <a:r>
              <a:rPr lang="zh-CN" altLang="en-US" sz="2800" b="1" dirty="0" smtClean="0"/>
              <a:t>分别为 </a:t>
            </a:r>
            <a:r>
              <a:rPr lang="en-US" altLang="zh-CN" sz="2800" b="1" i="1" dirty="0" smtClean="0">
                <a:solidFill>
                  <a:srgbClr val="FF0000"/>
                </a:solidFill>
              </a:rPr>
              <a:t>s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800" b="1" i="1" dirty="0" smtClean="0">
                <a:solidFill>
                  <a:srgbClr val="FF0000"/>
                </a:solidFill>
              </a:rPr>
              <a:t>t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), </a:t>
            </a:r>
            <a:r>
              <a:rPr lang="en-US" altLang="zh-CN" sz="2800" b="1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800" b="1" i="1" dirty="0" smtClean="0">
                <a:solidFill>
                  <a:srgbClr val="FF0000"/>
                </a:solidFill>
              </a:rPr>
              <a:t>t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), </a:t>
            </a:r>
            <a:r>
              <a:rPr lang="en-US" altLang="zh-CN" sz="2800" b="1" i="1" dirty="0" smtClean="0">
                <a:solidFill>
                  <a:srgbClr val="FF0000"/>
                </a:solidFill>
              </a:rPr>
              <a:t>r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800" b="1" i="1" dirty="0" smtClean="0">
                <a:solidFill>
                  <a:srgbClr val="FF0000"/>
                </a:solidFill>
              </a:rPr>
              <a:t>t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).</a:t>
            </a:r>
            <a:r>
              <a:rPr lang="zh-CN" altLang="en-US" sz="2800" b="1" dirty="0" smtClean="0"/>
              <a:t>                        </a:t>
            </a:r>
            <a:endParaRPr lang="en-US" altLang="zh-CN" sz="2800" b="1" dirty="0"/>
          </a:p>
        </p:txBody>
      </p:sp>
      <p:sp>
        <p:nvSpPr>
          <p:cNvPr id="6206" name="Text Box 62"/>
          <p:cNvSpPr txBox="1">
            <a:spLocks noChangeArrowheads="1"/>
          </p:cNvSpPr>
          <p:nvPr/>
        </p:nvSpPr>
        <p:spPr bwMode="auto">
          <a:xfrm>
            <a:off x="1676400" y="3158144"/>
            <a:ext cx="6997452" cy="1040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spcBef>
                <a:spcPct val="20000"/>
              </a:spcBef>
              <a:buAutoNum type="arabicPeriod" startAt="2"/>
            </a:pPr>
            <a:r>
              <a:rPr lang="zh-CN" altLang="en-US" sz="2800" b="1" dirty="0" smtClean="0">
                <a:sym typeface="Symbol" panose="05050102010706020507" pitchFamily="18" charset="2"/>
              </a:rPr>
              <a:t>病人</a:t>
            </a:r>
            <a:r>
              <a:rPr lang="zh-CN" altLang="en-US" sz="2800" b="1" dirty="0">
                <a:sym typeface="Symbol" panose="05050102010706020507" pitchFamily="18" charset="2"/>
              </a:rPr>
              <a:t>的日接触</a:t>
            </a:r>
            <a:r>
              <a:rPr lang="zh-CN" altLang="en-US" sz="2800" b="1" dirty="0" smtClean="0">
                <a:sym typeface="Symbol" panose="05050102010706020507" pitchFamily="18" charset="2"/>
              </a:rPr>
              <a:t>率为</a:t>
            </a:r>
            <a:r>
              <a:rPr lang="zh-CN" altLang="en-US" sz="2800" b="1" i="1" dirty="0" smtClean="0">
                <a:sym typeface="Symbol" panose="05050102010706020507" pitchFamily="18" charset="2"/>
              </a:rPr>
              <a:t></a:t>
            </a:r>
            <a:r>
              <a:rPr lang="zh-CN" altLang="en-US" sz="2800" b="1" dirty="0" smtClean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日</a:t>
            </a:r>
            <a:r>
              <a:rPr lang="zh-CN" altLang="en-US" sz="2800" b="1" dirty="0" smtClean="0"/>
              <a:t>治愈率为</a:t>
            </a:r>
            <a:r>
              <a:rPr lang="zh-CN" altLang="en-US" sz="2800" b="1" i="1" dirty="0" smtClean="0"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 smtClean="0"/>
              <a:t>接触</a:t>
            </a:r>
            <a:endParaRPr lang="en-US" altLang="zh-CN" sz="2800" b="1" dirty="0" smtClean="0"/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/>
              <a:t> </a:t>
            </a:r>
            <a:r>
              <a:rPr lang="en-US" altLang="zh-CN" sz="2800" b="1" dirty="0" smtClean="0"/>
              <a:t>    </a:t>
            </a:r>
            <a:r>
              <a:rPr lang="zh-CN" altLang="en-US" sz="2800" b="1" dirty="0" smtClean="0"/>
              <a:t> 数 </a:t>
            </a:r>
            <a:r>
              <a:rPr lang="zh-CN" altLang="en-US" sz="2800" b="1" i="1" dirty="0">
                <a:sym typeface="Symbol" panose="05050102010706020507" pitchFamily="18" charset="2"/>
              </a:rPr>
              <a:t> </a:t>
            </a:r>
            <a:r>
              <a:rPr lang="en-US" altLang="zh-CN" sz="2800" b="1" i="1" dirty="0">
                <a:sym typeface="Symbol" panose="05050102010706020507" pitchFamily="18" charset="2"/>
              </a:rPr>
              <a:t>=  / </a:t>
            </a:r>
            <a:r>
              <a:rPr lang="en-US" altLang="zh-CN" sz="2800" b="1" i="1" dirty="0" smtClean="0">
                <a:sym typeface="Symbol" panose="05050102010706020507" pitchFamily="18" charset="2"/>
              </a:rPr>
              <a:t> .</a:t>
            </a:r>
            <a:endParaRPr lang="en-US" altLang="zh-CN" sz="2800" b="1" i="1" dirty="0">
              <a:sym typeface="Symbol" panose="05050102010706020507" pitchFamily="18" charset="2"/>
            </a:endParaRPr>
          </a:p>
        </p:txBody>
      </p:sp>
      <p:graphicFrame>
        <p:nvGraphicFramePr>
          <p:cNvPr id="6208" name="Object 64"/>
          <p:cNvGraphicFramePr>
            <a:graphicFrameLocks noChangeAspect="1"/>
          </p:cNvGraphicFramePr>
          <p:nvPr/>
        </p:nvGraphicFramePr>
        <p:xfrm>
          <a:off x="1676400" y="4402744"/>
          <a:ext cx="4192488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04" name="公式" r:id="rId1" imgW="1447800" imgH="241300" progId="Equation.3">
                  <p:embed/>
                </p:oleObj>
              </mc:Choice>
              <mc:Fallback>
                <p:oleObj name="公式" r:id="rId1" imgW="1447800" imgH="241300" progId="Equation.3">
                  <p:embed/>
                  <p:pic>
                    <p:nvPicPr>
                      <p:cNvPr id="0" name="图片 12710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02744"/>
                        <a:ext cx="4192488" cy="574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0"/>
          <p:cNvGrpSpPr/>
          <p:nvPr/>
        </p:nvGrpSpPr>
        <p:grpSpPr bwMode="auto">
          <a:xfrm>
            <a:off x="1676400" y="5181254"/>
            <a:ext cx="6248400" cy="534670"/>
            <a:chOff x="1248" y="3263"/>
            <a:chExt cx="3936" cy="337"/>
          </a:xfrm>
        </p:grpSpPr>
        <p:sp>
          <p:nvSpPr>
            <p:cNvPr id="6157" name="Text Box 66"/>
            <p:cNvSpPr txBox="1">
              <a:spLocks noChangeArrowheads="1"/>
            </p:cNvSpPr>
            <p:nvPr/>
          </p:nvSpPr>
          <p:spPr bwMode="auto">
            <a:xfrm>
              <a:off x="1248" y="3263"/>
              <a:ext cx="39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需建立                                   的两个方程</a:t>
              </a:r>
              <a:r>
                <a:rPr lang="en-US" altLang="zh-CN" sz="2800" b="1"/>
                <a:t>.</a:t>
              </a:r>
              <a:endParaRPr lang="en-US" altLang="zh-CN" sz="2800" b="1"/>
            </a:p>
          </p:txBody>
        </p:sp>
        <p:graphicFrame>
          <p:nvGraphicFramePr>
            <p:cNvPr id="6147" name="Object 67"/>
            <p:cNvGraphicFramePr>
              <a:graphicFrameLocks noChangeAspect="1"/>
            </p:cNvGraphicFramePr>
            <p:nvPr/>
          </p:nvGraphicFramePr>
          <p:xfrm>
            <a:off x="2016" y="3263"/>
            <a:ext cx="187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05" name="公式" r:id="rId3" imgW="977900" imgH="241300" progId="Equation.3">
                    <p:embed/>
                  </p:oleObj>
                </mc:Choice>
                <mc:Fallback>
                  <p:oleObj name="公式" r:id="rId3" imgW="977900" imgH="241300" progId="Equation.3">
                    <p:embed/>
                    <p:pic>
                      <p:nvPicPr>
                        <p:cNvPr id="0" name="图片 12710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263"/>
                          <a:ext cx="1879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344170" y="4454525"/>
            <a:ext cx="1120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建模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8" grpId="0"/>
      <p:bldP spid="620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6753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SIR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1238885" y="1170797"/>
          <a:ext cx="6868244" cy="47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55" name="公式" r:id="rId1" imgW="3302000" imgH="241300" progId="Equation.3">
                  <p:embed/>
                </p:oleObj>
              </mc:Choice>
              <mc:Fallback>
                <p:oleObj name="公式" r:id="rId1" imgW="3302000" imgH="241300" progId="Equation.3">
                  <p:embed/>
                  <p:pic>
                    <p:nvPicPr>
                      <p:cNvPr id="0" name="图片 12825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85" y="1170797"/>
                        <a:ext cx="6868244" cy="476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Text Box 12"/>
          <p:cNvSpPr txBox="1">
            <a:spLocks noChangeArrowheads="1"/>
          </p:cNvSpPr>
          <p:nvPr/>
        </p:nvSpPr>
        <p:spPr bwMode="auto">
          <a:xfrm>
            <a:off x="6018897" y="2729999"/>
            <a:ext cx="311269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 smtClean="0"/>
              <a:t>关于</a:t>
            </a:r>
            <a:r>
              <a:rPr lang="en-US" altLang="zh-CN" sz="2800" b="1" i="1" dirty="0" err="1"/>
              <a:t>i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 smtClean="0"/>
              <a:t>)</a:t>
            </a:r>
            <a:r>
              <a:rPr lang="en-US" altLang="zh-CN" sz="2800" b="1" dirty="0"/>
              <a:t> , </a:t>
            </a:r>
            <a:r>
              <a:rPr lang="en-US" altLang="zh-CN" sz="2800" b="1" i="1" dirty="0" smtClean="0"/>
              <a:t>s</a:t>
            </a:r>
            <a:r>
              <a:rPr lang="en-US" altLang="zh-CN" sz="2800" b="1" dirty="0" smtClean="0"/>
              <a:t>(</a:t>
            </a:r>
            <a:r>
              <a:rPr lang="en-US" altLang="zh-CN" sz="2800" b="1" i="1" dirty="0" smtClean="0"/>
              <a:t>t</a:t>
            </a:r>
            <a:r>
              <a:rPr lang="en-US" altLang="zh-CN" sz="2800" b="1" dirty="0" smtClean="0"/>
              <a:t>) 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非线性</a:t>
            </a:r>
            <a:r>
              <a:rPr lang="zh-CN" altLang="en-US" sz="2800" b="1" dirty="0"/>
              <a:t>微分方程</a:t>
            </a:r>
            <a:r>
              <a:rPr lang="zh-CN" altLang="en-US" sz="2800" b="1" dirty="0" smtClean="0"/>
              <a:t>组，</a:t>
            </a:r>
            <a:endParaRPr lang="en-US" altLang="zh-CN" sz="2800" b="1" dirty="0" smtClean="0"/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 smtClean="0"/>
              <a:t>没有解析解，只能通过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数值计算</a:t>
            </a:r>
            <a:r>
              <a:rPr lang="zh-CN" altLang="zh-CN" sz="2800" b="1" dirty="0" smtClean="0"/>
              <a:t>得到</a:t>
            </a:r>
            <a:r>
              <a:rPr lang="en-US" altLang="zh-CN" sz="2800" b="1" i="1" dirty="0" smtClean="0"/>
              <a:t>s</a:t>
            </a:r>
            <a:r>
              <a:rPr lang="en-US" altLang="zh-CN" sz="2800" b="1" dirty="0" smtClean="0"/>
              <a:t>(</a:t>
            </a:r>
            <a:r>
              <a:rPr lang="en-US" altLang="zh-CN" sz="2800" b="1" i="1" dirty="0" smtClean="0"/>
              <a:t>t</a:t>
            </a:r>
            <a:r>
              <a:rPr lang="en-US" altLang="zh-CN" sz="2800" b="1" dirty="0"/>
              <a:t>), </a:t>
            </a:r>
            <a:r>
              <a:rPr lang="en-US" altLang="zh-CN" sz="2800" b="1" i="1" dirty="0" err="1"/>
              <a:t>i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),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 smtClean="0"/>
              <a:t>)</a:t>
            </a:r>
            <a:r>
              <a:rPr lang="zh-CN" altLang="zh-CN" sz="2800" b="1" dirty="0"/>
              <a:t>的</a:t>
            </a:r>
            <a:r>
              <a:rPr lang="zh-CN" altLang="zh-CN" sz="2800" b="1" dirty="0" smtClean="0"/>
              <a:t>曲线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1238886" y="1847906"/>
          <a:ext cx="5644107" cy="518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56" name="公式" r:id="rId3" imgW="2108200" imgH="203200" progId="Equation.3">
                  <p:embed/>
                </p:oleObj>
              </mc:Choice>
              <mc:Fallback>
                <p:oleObj name="公式" r:id="rId3" imgW="2108200" imgH="203200" progId="Equation.3">
                  <p:embed/>
                  <p:pic>
                    <p:nvPicPr>
                      <p:cNvPr id="0" name="图片 12825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86" y="1847906"/>
                        <a:ext cx="5644107" cy="518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/>
          <p:nvPr/>
        </p:nvGrpSpPr>
        <p:grpSpPr bwMode="auto">
          <a:xfrm>
            <a:off x="1238885" y="2585983"/>
            <a:ext cx="4381500" cy="2975347"/>
            <a:chOff x="432" y="1509"/>
            <a:chExt cx="2832" cy="2117"/>
          </a:xfrm>
          <a:solidFill>
            <a:schemeClr val="bg1"/>
          </a:solidFill>
        </p:grpSpPr>
        <p:graphicFrame>
          <p:nvGraphicFramePr>
            <p:cNvPr id="7173" name="Object 5"/>
            <p:cNvGraphicFramePr>
              <a:graphicFrameLocks noChangeAspect="1"/>
            </p:cNvGraphicFramePr>
            <p:nvPr/>
          </p:nvGraphicFramePr>
          <p:xfrm>
            <a:off x="624" y="1509"/>
            <a:ext cx="2640" cy="2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257" name="Equation" r:id="rId5" imgW="1193800" imgH="1244600" progId="Equation.DSMT4">
                    <p:embed/>
                  </p:oleObj>
                </mc:Choice>
                <mc:Fallback>
                  <p:oleObj name="Equation" r:id="rId5" imgW="1193800" imgH="1244600" progId="Equation.DSMT4">
                    <p:embed/>
                    <p:pic>
                      <p:nvPicPr>
                        <p:cNvPr id="0" name="图片 12825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509"/>
                          <a:ext cx="2640" cy="2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2" name="AutoShape 21"/>
            <p:cNvSpPr>
              <a:spLocks noChangeArrowheads="1"/>
            </p:cNvSpPr>
            <p:nvPr/>
          </p:nvSpPr>
          <p:spPr bwMode="auto">
            <a:xfrm>
              <a:off x="432" y="235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072"/>
          <p:cNvGrpSpPr/>
          <p:nvPr/>
        </p:nvGrpSpPr>
        <p:grpSpPr bwMode="auto">
          <a:xfrm>
            <a:off x="1626235" y="5667693"/>
            <a:ext cx="4319588" cy="555625"/>
            <a:chOff x="748" y="3693"/>
            <a:chExt cx="2721" cy="350"/>
          </a:xfrm>
        </p:grpSpPr>
        <p:graphicFrame>
          <p:nvGraphicFramePr>
            <p:cNvPr id="7172" name="Object 11"/>
            <p:cNvGraphicFramePr>
              <a:graphicFrameLocks noChangeAspect="1"/>
            </p:cNvGraphicFramePr>
            <p:nvPr/>
          </p:nvGraphicFramePr>
          <p:xfrm>
            <a:off x="748" y="3702"/>
            <a:ext cx="952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258" name="公式" r:id="rId7" imgW="647700" imgH="228600" progId="Equation.3">
                    <p:embed/>
                  </p:oleObj>
                </mc:Choice>
                <mc:Fallback>
                  <p:oleObj name="公式" r:id="rId7" imgW="647700" imgH="228600" progId="Equation.3">
                    <p:embed/>
                    <p:pic>
                      <p:nvPicPr>
                        <p:cNvPr id="0" name="图片 12825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702"/>
                          <a:ext cx="952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1" name="Text Box 1071"/>
            <p:cNvSpPr txBox="1">
              <a:spLocks noChangeArrowheads="1"/>
            </p:cNvSpPr>
            <p:nvPr/>
          </p:nvSpPr>
          <p:spPr bwMode="auto">
            <a:xfrm>
              <a:off x="1655" y="3693"/>
              <a:ext cx="18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(</a:t>
              </a:r>
              <a:r>
                <a:rPr lang="zh-CN" altLang="en-US" sz="2800" b="1"/>
                <a:t>通常</a:t>
              </a:r>
              <a:r>
                <a:rPr lang="en-US" altLang="zh-CN" sz="2800" b="1" i="1"/>
                <a:t>r</a:t>
              </a:r>
              <a:r>
                <a:rPr lang="en-US" altLang="zh-CN" sz="2800" b="1"/>
                <a:t>(0)=</a:t>
              </a:r>
              <a:r>
                <a:rPr lang="en-US" altLang="zh-CN" sz="2800" b="1" i="1"/>
                <a:t>r</a:t>
              </a:r>
              <a:r>
                <a:rPr lang="en-US" altLang="zh-CN" sz="2800" b="1" baseline="-25000"/>
                <a:t>0</a:t>
              </a:r>
              <a:r>
                <a:rPr lang="zh-CN" altLang="en-US" sz="2800" b="1"/>
                <a:t>很小</a:t>
              </a:r>
              <a:r>
                <a:rPr lang="en-US" altLang="zh-CN" sz="2800" b="1"/>
                <a:t>)</a:t>
              </a:r>
              <a:endParaRPr lang="en-US" altLang="zh-CN" sz="2800" b="1"/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378968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SIR</a:t>
            </a:r>
            <a:r>
              <a:rPr lang="zh-CN" altLang="en-US" sz="3200" b="1" dirty="0"/>
              <a:t>模型的数值计算</a:t>
            </a:r>
            <a:endParaRPr lang="zh-CN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41605" y="1121410"/>
            <a:ext cx="11660505" cy="6299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4200"/>
              </a:lnSpc>
            </a:pPr>
            <a:r>
              <a:rPr lang="zh-CN" altLang="en-US" sz="2400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设</a:t>
            </a:r>
            <a:r>
              <a:rPr lang="en-US" altLang="zh-CN" sz="2400" b="1" i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400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(0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)=0.99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400" b="1" i="1" kern="1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(0) =0.01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，健康人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，病人</a:t>
            </a:r>
            <a:r>
              <a:rPr lang="en-US" altLang="zh-CN" sz="2400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,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治愈率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endParaRPr lang="en-US" altLang="zh-CN" sz="2400" b="1" i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52164" y="4640436"/>
            <a:ext cx="8352928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单调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单调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都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趋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稳定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i="1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先增后减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趋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12174" y="5792564"/>
            <a:ext cx="493387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i="1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i="1" baseline="-25000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i="1" baseline="-25000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)~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传染病高潮时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的比例</a:t>
            </a:r>
            <a:endParaRPr lang="zh-CN" altLang="en-US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877497" y="5216500"/>
            <a:ext cx="4129474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000" b="1" i="1" baseline="-25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∞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被感染的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66025" y="5194300"/>
            <a:ext cx="3415030" cy="6299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4200"/>
              </a:lnSpc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衡量传染病传播的强度</a:t>
            </a:r>
            <a:endParaRPr lang="zh-CN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270678" y="1751018"/>
            <a:ext cx="3741553" cy="2690713"/>
            <a:chOff x="932733" y="1763718"/>
            <a:chExt cx="3741553" cy="2690713"/>
          </a:xfrm>
        </p:grpSpPr>
        <p:grpSp>
          <p:nvGrpSpPr>
            <p:cNvPr id="47" name="组合 46"/>
            <p:cNvGrpSpPr/>
            <p:nvPr/>
          </p:nvGrpSpPr>
          <p:grpSpPr>
            <a:xfrm>
              <a:off x="932733" y="1763718"/>
              <a:ext cx="3741553" cy="2690713"/>
              <a:chOff x="932733" y="1763718"/>
              <a:chExt cx="3741553" cy="2690713"/>
            </a:xfrm>
          </p:grpSpPr>
          <p:pic>
            <p:nvPicPr>
              <p:cNvPr id="48" name="Picture 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2733" y="1763718"/>
                <a:ext cx="3741553" cy="2690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Text Box 5"/>
              <p:cNvSpPr txBox="1">
                <a:spLocks noChangeArrowheads="1"/>
              </p:cNvSpPr>
              <p:nvPr/>
            </p:nvSpPr>
            <p:spPr bwMode="auto">
              <a:xfrm>
                <a:off x="2627784" y="1988840"/>
                <a:ext cx="1584176" cy="297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16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</a:t>
                </a:r>
                <a:r>
                  <a:rPr lang="en-US" sz="1600" b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=0.6, </a:t>
                </a:r>
                <a:r>
                  <a:rPr lang="en-US" sz="1600" b="1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sz="1600" b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=</a:t>
                </a:r>
                <a:r>
                  <a:rPr lang="en-US" sz="1600" b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0.3 </a:t>
                </a:r>
                <a:endParaRPr lang="en-US" sz="1600" b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50" name="矩形 49"/>
            <p:cNvSpPr/>
            <p:nvPr/>
          </p:nvSpPr>
          <p:spPr>
            <a:xfrm>
              <a:off x="1967893" y="2286020"/>
              <a:ext cx="54356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2339752" y="3501008"/>
              <a:ext cx="54356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b="1" i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555776" y="2708920"/>
              <a:ext cx="54356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b="1" i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b="1" i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028628" y="1751018"/>
            <a:ext cx="3802889" cy="2754617"/>
            <a:chOff x="4690683" y="1763718"/>
            <a:chExt cx="3802889" cy="2754617"/>
          </a:xfrm>
        </p:grpSpPr>
        <p:grpSp>
          <p:nvGrpSpPr>
            <p:cNvPr id="54" name="组合 53"/>
            <p:cNvGrpSpPr/>
            <p:nvPr/>
          </p:nvGrpSpPr>
          <p:grpSpPr>
            <a:xfrm>
              <a:off x="4690683" y="1763718"/>
              <a:ext cx="3802889" cy="2754617"/>
              <a:chOff x="4690683" y="1763718"/>
              <a:chExt cx="3802889" cy="2754617"/>
            </a:xfrm>
          </p:grpSpPr>
          <p:pic>
            <p:nvPicPr>
              <p:cNvPr id="55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90683" y="1763718"/>
                <a:ext cx="3802889" cy="27546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Text Box 6"/>
              <p:cNvSpPr txBox="1">
                <a:spLocks noChangeArrowheads="1"/>
              </p:cNvSpPr>
              <p:nvPr/>
            </p:nvSpPr>
            <p:spPr bwMode="auto">
              <a:xfrm>
                <a:off x="6470154" y="1988840"/>
                <a:ext cx="1702246" cy="297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16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</a:t>
                </a:r>
                <a:r>
                  <a:rPr lang="en-US" sz="1600" b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=0.5, </a:t>
                </a:r>
                <a:r>
                  <a:rPr lang="en-US" sz="1600" b="1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sz="1600" b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=</a:t>
                </a:r>
                <a:r>
                  <a:rPr lang="en-US" sz="1600" b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0.4 </a:t>
                </a:r>
                <a:endParaRPr lang="en-US" sz="1600" b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57" name="矩形 56"/>
            <p:cNvSpPr/>
            <p:nvPr/>
          </p:nvSpPr>
          <p:spPr>
            <a:xfrm>
              <a:off x="5940152" y="2276872"/>
              <a:ext cx="54356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604519" y="3687415"/>
              <a:ext cx="54356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b="1" i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6785277" y="3039343"/>
              <a:ext cx="54356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b="1" i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b="1" i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2093521" y="3560316"/>
            <a:ext cx="1698092" cy="925397"/>
            <a:chOff x="755576" y="3573016"/>
            <a:chExt cx="1698092" cy="925397"/>
          </a:xfrm>
        </p:grpSpPr>
        <p:grpSp>
          <p:nvGrpSpPr>
            <p:cNvPr id="61" name="组合 60"/>
            <p:cNvGrpSpPr/>
            <p:nvPr/>
          </p:nvGrpSpPr>
          <p:grpSpPr>
            <a:xfrm>
              <a:off x="755576" y="3573016"/>
              <a:ext cx="1698092" cy="925397"/>
              <a:chOff x="755576" y="3573016"/>
              <a:chExt cx="1698092" cy="925397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755576" y="3573016"/>
                <a:ext cx="1490846" cy="337185"/>
                <a:chOff x="1043608" y="3573016"/>
                <a:chExt cx="1490846" cy="337185"/>
              </a:xfrm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1043608" y="3573016"/>
                  <a:ext cx="485775" cy="3371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altLang="zh-CN" sz="1600" b="1" i="1" dirty="0" err="1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1600" b="1" i="1" baseline="-25000" dirty="0" err="1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max</a:t>
                  </a:r>
                  <a:endParaRPr lang="en-US" altLang="zh-CN" sz="1600" b="1" i="1" baseline="-25000" dirty="0" err="1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4" name="直接连接符 63"/>
                <p:cNvCxnSpPr/>
                <p:nvPr/>
              </p:nvCxnSpPr>
              <p:spPr bwMode="auto">
                <a:xfrm flipH="1">
                  <a:off x="1731354" y="3789040"/>
                  <a:ext cx="803100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5" name="组合 64"/>
              <p:cNvGrpSpPr/>
              <p:nvPr/>
            </p:nvGrpSpPr>
            <p:grpSpPr>
              <a:xfrm>
                <a:off x="1967893" y="3789040"/>
                <a:ext cx="485775" cy="709373"/>
                <a:chOff x="2255925" y="3789040"/>
                <a:chExt cx="485775" cy="709373"/>
              </a:xfrm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2255925" y="4161228"/>
                  <a:ext cx="485775" cy="3371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altLang="zh-CN" sz="1600" b="1" i="1" dirty="0" err="1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sz="1600" b="1" i="1" baseline="-25000" dirty="0" err="1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max</a:t>
                  </a:r>
                  <a:endParaRPr lang="en-US" altLang="zh-CN" sz="1600" b="1" i="1" baseline="-25000" dirty="0" err="1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67" name="直接连接符 66"/>
                <p:cNvCxnSpPr/>
                <p:nvPr/>
              </p:nvCxnSpPr>
              <p:spPr bwMode="auto">
                <a:xfrm>
                  <a:off x="2534454" y="3789040"/>
                  <a:ext cx="0" cy="36004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cxnSp>
          <p:nvCxnSpPr>
            <p:cNvPr id="68" name="直接连接符 67"/>
            <p:cNvCxnSpPr/>
            <p:nvPr/>
          </p:nvCxnSpPr>
          <p:spPr bwMode="auto">
            <a:xfrm>
              <a:off x="1443322" y="3789040"/>
              <a:ext cx="82208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>
              <a:off x="2265410" y="3789040"/>
              <a:ext cx="0" cy="37218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2" grpId="0"/>
      <p:bldP spid="43" grpId="0"/>
      <p:bldP spid="44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338137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</a:t>
            </a:r>
            <a:r>
              <a:rPr lang="zh-CN" altLang="en-US" sz="3200" b="1" dirty="0"/>
              <a:t>模型代码实现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5465" y="926465"/>
            <a:ext cx="883539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Plots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参数设置</a:t>
            </a:r>
            <a:endParaRPr lang="zh-CN" altLang="en-US"/>
          </a:p>
          <a:p>
            <a:r>
              <a:rPr lang="en-US" altLang="zh-CN"/>
              <a:t>λ = 0.6  # </a:t>
            </a:r>
            <a:r>
              <a:rPr lang="zh-CN" altLang="en-US"/>
              <a:t>接触率</a:t>
            </a:r>
            <a:endParaRPr lang="zh-CN" altLang="en-US"/>
          </a:p>
          <a:p>
            <a:r>
              <a:rPr lang="en-US" altLang="zh-CN"/>
              <a:t>μ = 0.3  # </a:t>
            </a:r>
            <a:r>
              <a:rPr lang="zh-CN" altLang="en-US"/>
              <a:t>治愈率</a:t>
            </a:r>
            <a:endParaRPr lang="zh-CN" altLang="en-US"/>
          </a:p>
          <a:p>
            <a:r>
              <a:rPr lang="en-US" altLang="zh-CN"/>
              <a:t># </a:t>
            </a:r>
            <a:r>
              <a:rPr lang="zh-CN" altLang="en-US"/>
              <a:t>对于右图，只需要把接触率和治愈率改成</a:t>
            </a:r>
            <a:r>
              <a:rPr lang="en-US" altLang="zh-CN"/>
              <a:t>0.5</a:t>
            </a:r>
            <a:r>
              <a:rPr lang="zh-CN" altLang="en-US"/>
              <a:t>和</a:t>
            </a:r>
            <a:r>
              <a:rPr lang="en-US" altLang="zh-CN"/>
              <a:t>0.4</a:t>
            </a:r>
            <a:r>
              <a:rPr lang="zh-CN" altLang="en-US"/>
              <a:t>即可</a:t>
            </a:r>
            <a:endParaRPr lang="zh-CN" altLang="en-US"/>
          </a:p>
          <a:p>
            <a:r>
              <a:rPr lang="en-US" altLang="zh-CN"/>
              <a:t>N = 1000  # </a:t>
            </a:r>
            <a:r>
              <a:rPr lang="zh-CN" altLang="en-US"/>
              <a:t>总人口</a:t>
            </a:r>
            <a:endParaRPr lang="zh-CN" altLang="en-US"/>
          </a:p>
          <a:p>
            <a:r>
              <a:rPr lang="en-US" altLang="zh-CN"/>
              <a:t>I0 = 0.01 * N  # </a:t>
            </a:r>
            <a:r>
              <a:rPr lang="zh-CN" altLang="en-US"/>
              <a:t>初始感染者</a:t>
            </a:r>
            <a:endParaRPr lang="zh-CN" altLang="en-US"/>
          </a:p>
          <a:p>
            <a:r>
              <a:rPr lang="en-US" altLang="zh-CN"/>
              <a:t>R0 = 0         # </a:t>
            </a:r>
            <a:r>
              <a:rPr lang="zh-CN" altLang="en-US"/>
              <a:t>初始恢复者</a:t>
            </a:r>
            <a:endParaRPr lang="zh-CN" altLang="en-US"/>
          </a:p>
          <a:p>
            <a:r>
              <a:rPr lang="en-US" altLang="zh-CN"/>
              <a:t>S0 = 0.99 * N  # </a:t>
            </a:r>
            <a:r>
              <a:rPr lang="zh-CN" altLang="en-US"/>
              <a:t>初始健康者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时间设置</a:t>
            </a:r>
            <a:endParaRPr lang="zh-CN" altLang="en-US"/>
          </a:p>
          <a:p>
            <a:r>
              <a:rPr lang="en-US" altLang="zh-CN"/>
              <a:t>t_total = 50  # </a:t>
            </a:r>
            <a:r>
              <a:rPr lang="zh-CN" altLang="en-US"/>
              <a:t>总时间</a:t>
            </a:r>
            <a:endParaRPr lang="zh-CN" altLang="en-US"/>
          </a:p>
          <a:p>
            <a:r>
              <a:rPr lang="en-US" altLang="zh-CN"/>
              <a:t>dt = 1         # </a:t>
            </a:r>
            <a:r>
              <a:rPr lang="zh-CN" altLang="en-US"/>
              <a:t>时间步长</a:t>
            </a:r>
            <a:endParaRPr lang="zh-CN" altLang="en-US"/>
          </a:p>
          <a:p>
            <a:r>
              <a:rPr lang="en-US" altLang="zh-CN"/>
              <a:t>time = 0:dt:t_total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初始化</a:t>
            </a:r>
            <a:r>
              <a:rPr lang="en-US" altLang="zh-CN"/>
              <a:t>S, I, R</a:t>
            </a:r>
            <a:r>
              <a:rPr lang="zh-CN" altLang="en-US"/>
              <a:t>数组</a:t>
            </a:r>
            <a:endParaRPr lang="zh-CN" altLang="en-US"/>
          </a:p>
          <a:p>
            <a:r>
              <a:rPr lang="en-US" altLang="zh-CN"/>
              <a:t>S = zeros(length(time))</a:t>
            </a:r>
            <a:endParaRPr lang="en-US" altLang="zh-CN"/>
          </a:p>
          <a:p>
            <a:r>
              <a:rPr lang="en-US" altLang="zh-CN"/>
              <a:t>I = zeros(length(time))</a:t>
            </a:r>
            <a:endParaRPr lang="en-US" altLang="zh-CN"/>
          </a:p>
          <a:p>
            <a:r>
              <a:rPr lang="en-US" altLang="zh-CN"/>
              <a:t>R = zeros(length(time))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338137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</a:t>
            </a:r>
            <a:r>
              <a:rPr lang="zh-CN" altLang="en-US" sz="3200" b="1" dirty="0"/>
              <a:t>模型代码实现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初始值</a:t>
            </a:r>
            <a:endParaRPr lang="zh-CN" altLang="en-US"/>
          </a:p>
          <a:p>
            <a:r>
              <a:rPr lang="en-US" altLang="zh-CN"/>
              <a:t>S[1] = S0</a:t>
            </a:r>
            <a:endParaRPr lang="en-US" altLang="zh-CN"/>
          </a:p>
          <a:p>
            <a:r>
              <a:rPr lang="en-US" altLang="zh-CN"/>
              <a:t>I[1] = I0</a:t>
            </a:r>
            <a:endParaRPr lang="en-US" altLang="zh-CN"/>
          </a:p>
          <a:p>
            <a:r>
              <a:rPr lang="en-US" altLang="zh-CN"/>
              <a:t>R[1] = R0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SIR</a:t>
            </a:r>
            <a:r>
              <a:rPr lang="zh-CN" altLang="en-US"/>
              <a:t>模型的迭代</a:t>
            </a:r>
            <a:endParaRPr lang="zh-CN" altLang="en-US"/>
          </a:p>
          <a:p>
            <a:r>
              <a:rPr lang="en-US" altLang="zh-CN"/>
              <a:t>for t in 1:(length(time)-1)</a:t>
            </a:r>
            <a:endParaRPr lang="en-US" altLang="zh-CN"/>
          </a:p>
          <a:p>
            <a:r>
              <a:rPr lang="en-US" altLang="zh-CN"/>
              <a:t>    dS = -λ * S[t] * I[t] / N * dt</a:t>
            </a:r>
            <a:endParaRPr lang="en-US" altLang="zh-CN"/>
          </a:p>
          <a:p>
            <a:r>
              <a:rPr lang="en-US" altLang="zh-CN"/>
              <a:t>    dI = (λ * S[t] * I[t] / N - μ * I[t]) * dt</a:t>
            </a:r>
            <a:endParaRPr lang="en-US" altLang="zh-CN"/>
          </a:p>
          <a:p>
            <a:r>
              <a:rPr lang="en-US" altLang="zh-CN"/>
              <a:t>    dR = μ * I[t] * dt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S[t + 1] = S[t] + dS</a:t>
            </a:r>
            <a:endParaRPr lang="en-US" altLang="zh-CN"/>
          </a:p>
          <a:p>
            <a:r>
              <a:rPr lang="en-US" altLang="zh-CN"/>
              <a:t>    I[t + 1] = I[t] + dI</a:t>
            </a:r>
            <a:endParaRPr lang="en-US" altLang="zh-CN"/>
          </a:p>
          <a:p>
            <a:r>
              <a:rPr lang="en-US" altLang="zh-CN"/>
              <a:t>    R[t + 1] = R[t] + dR</a:t>
            </a:r>
            <a:endParaRPr lang="en-US" altLang="zh-CN"/>
          </a:p>
          <a:p>
            <a:r>
              <a:rPr lang="en-US" altLang="zh-CN"/>
              <a:t>end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338137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</a:t>
            </a:r>
            <a:r>
              <a:rPr lang="zh-CN" altLang="en-US" sz="3200" b="1" dirty="0"/>
              <a:t>模型代码实现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39340" y="994410"/>
            <a:ext cx="751332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计算比例</a:t>
            </a:r>
            <a:endParaRPr lang="zh-CN" altLang="en-US"/>
          </a:p>
          <a:p>
            <a:r>
              <a:rPr lang="en-US" altLang="zh-CN"/>
              <a:t>S_ratio = S ./ N</a:t>
            </a:r>
            <a:endParaRPr lang="en-US" altLang="zh-CN"/>
          </a:p>
          <a:p>
            <a:r>
              <a:rPr lang="en-US" altLang="zh-CN"/>
              <a:t>I_ratio = I ./ N</a:t>
            </a:r>
            <a:endParaRPr lang="en-US" altLang="zh-CN"/>
          </a:p>
          <a:p>
            <a:r>
              <a:rPr lang="en-US" altLang="zh-CN"/>
              <a:t>R_ratio = R ./ 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绘制结果</a:t>
            </a:r>
            <a:endParaRPr lang="zh-CN" altLang="en-US"/>
          </a:p>
          <a:p>
            <a:r>
              <a:rPr lang="en-US" altLang="zh-CN"/>
              <a:t>plot(time, S_ratio, label="s(t)", color=:green)</a:t>
            </a:r>
            <a:endParaRPr lang="en-US" altLang="zh-CN"/>
          </a:p>
          <a:p>
            <a:r>
              <a:rPr lang="en-US" altLang="zh-CN"/>
              <a:t>plot!(time, I_ratio, label="i(t)", color=:blue)</a:t>
            </a:r>
            <a:endParaRPr lang="en-US" altLang="zh-CN"/>
          </a:p>
          <a:p>
            <a:r>
              <a:rPr lang="en-US" altLang="zh-CN"/>
              <a:t>plot!(time, R_ratio, label="r(t)", color=:red)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设置刻度</a:t>
            </a:r>
            <a:endParaRPr lang="zh-CN" altLang="en-US"/>
          </a:p>
          <a:p>
            <a:r>
              <a:rPr lang="en-US" altLang="zh-CN"/>
              <a:t>xticks = 0:5:50</a:t>
            </a:r>
            <a:endParaRPr lang="en-US" altLang="zh-CN"/>
          </a:p>
          <a:p>
            <a:r>
              <a:rPr lang="en-US" altLang="zh-CN"/>
              <a:t>yticks = 0:0.1:1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应用刻度设置</a:t>
            </a:r>
            <a:endParaRPr lang="zh-CN" altLang="en-US"/>
          </a:p>
          <a:p>
            <a:r>
              <a:rPr lang="en-US" altLang="zh-CN"/>
              <a:t>plot!(xticks=xticks, yticks=yticks)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添加标题和参数信息</a:t>
            </a:r>
            <a:endParaRPr lang="zh-CN" altLang="en-US"/>
          </a:p>
          <a:p>
            <a:r>
              <a:rPr lang="en-US" altLang="zh-CN"/>
              <a:t>title!("λ=0.6, μ=0.3")</a:t>
            </a:r>
            <a:endParaRPr lang="en-US" altLang="zh-CN"/>
          </a:p>
          <a:p>
            <a:r>
              <a:rPr lang="en-US" altLang="zh-CN">
                <a:sym typeface="+mn-ea"/>
              </a:rPr>
              <a:t># </a:t>
            </a:r>
            <a:r>
              <a:rPr lang="zh-CN" altLang="en-US">
                <a:sym typeface="+mn-ea"/>
              </a:rPr>
              <a:t>对于右图，只需要把接触率和治愈率改成</a:t>
            </a:r>
            <a:r>
              <a:rPr lang="en-US" altLang="zh-CN">
                <a:sym typeface="+mn-ea"/>
              </a:rPr>
              <a:t>0.5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0.4</a:t>
            </a:r>
            <a:r>
              <a:rPr lang="zh-CN" altLang="en-US">
                <a:sym typeface="+mn-ea"/>
              </a:rPr>
              <a:t>即可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338137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</a:t>
            </a:r>
            <a:r>
              <a:rPr lang="zh-CN" altLang="en-US" sz="3200" b="1" dirty="0"/>
              <a:t>模型代码实现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990" y="1264285"/>
            <a:ext cx="5773857" cy="385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48045" y="1265555"/>
            <a:ext cx="5810885" cy="385064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083310" y="5295900"/>
            <a:ext cx="3955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接触率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0.6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，治愈率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750685" y="5295900"/>
            <a:ext cx="3955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接触率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，治愈率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0.4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1610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结果分析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2088790" y="1307495"/>
            <a:ext cx="7369989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1/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平均传染期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病人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需平均时间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28836" y="1883559"/>
            <a:ext cx="8106008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 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~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感染期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病人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有效接触人数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08713" y="1039039"/>
            <a:ext cx="2514600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接触率</a:t>
            </a:r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, 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治愈率</a:t>
            </a:r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r>
              <a:rPr lang="en-US" altLang="zh-CN" sz="2000" b="1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03695" y="2618740"/>
            <a:ext cx="3896360" cy="6299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pPr>
              <a:lnSpc>
                <a:spcPts val="4200"/>
              </a:lnSpc>
            </a:pP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有助于控制传播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74205" y="5768753"/>
            <a:ext cx="568863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健康人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增加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病人</a:t>
            </a:r>
            <a:r>
              <a:rPr lang="en-US" altLang="zh-CN" sz="2000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28836" y="5788109"/>
            <a:ext cx="2197571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接触数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变小</a:t>
            </a:r>
            <a:endParaRPr lang="zh-CN" altLang="en-US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302575" y="2525534"/>
            <a:ext cx="4059861" cy="404877"/>
            <a:chOff x="1160210" y="2486799"/>
            <a:chExt cx="4059861" cy="404877"/>
          </a:xfrm>
          <a:solidFill>
            <a:schemeClr val="bg1"/>
          </a:solidFill>
        </p:grpSpPr>
        <p:sp>
          <p:nvSpPr>
            <p:cNvPr id="10" name="矩形 9"/>
            <p:cNvSpPr/>
            <p:nvPr/>
          </p:nvSpPr>
          <p:spPr>
            <a:xfrm>
              <a:off x="1160210" y="2492896"/>
              <a:ext cx="4059861" cy="39878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r>
                <a:rPr lang="zh-CN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卫生</a:t>
              </a:r>
              <a:r>
                <a:rPr lang="zh-CN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水平高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zh-CN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接触</a:t>
              </a:r>
              <a:r>
                <a:rPr lang="zh-CN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率</a:t>
              </a:r>
              <a:r>
                <a:rPr lang="en-US" altLang="zh-CN" sz="2000" b="1" i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</a:t>
              </a:r>
              <a:r>
                <a:rPr lang="zh-CN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小</a:t>
              </a:r>
              <a:endPara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右箭头 10"/>
            <p:cNvSpPr/>
            <p:nvPr/>
          </p:nvSpPr>
          <p:spPr bwMode="auto">
            <a:xfrm>
              <a:off x="2700293" y="2486799"/>
              <a:ext cx="144016" cy="40475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329989" y="3173606"/>
            <a:ext cx="4009273" cy="404877"/>
            <a:chOff x="1187624" y="3134871"/>
            <a:chExt cx="4009273" cy="404877"/>
          </a:xfrm>
          <a:solidFill>
            <a:schemeClr val="bg1"/>
          </a:solidFill>
        </p:grpSpPr>
        <p:sp>
          <p:nvSpPr>
            <p:cNvPr id="12" name="矩形 11"/>
            <p:cNvSpPr/>
            <p:nvPr/>
          </p:nvSpPr>
          <p:spPr>
            <a:xfrm>
              <a:off x="1187624" y="3140968"/>
              <a:ext cx="4009273" cy="39878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r>
                <a:rPr lang="zh-CN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医疗</a:t>
              </a:r>
              <a:r>
                <a:rPr lang="zh-CN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水平高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zh-CN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治愈率</a:t>
              </a:r>
              <a:r>
                <a:rPr lang="en-US" altLang="zh-CN" sz="2000" b="1" i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</a:t>
              </a:r>
              <a:r>
                <a:rPr lang="zh-CN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大</a:t>
              </a:r>
              <a:endPara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3" name="右箭头 22"/>
            <p:cNvSpPr/>
            <p:nvPr/>
          </p:nvSpPr>
          <p:spPr bwMode="auto">
            <a:xfrm>
              <a:off x="2700293" y="3134871"/>
              <a:ext cx="144016" cy="40475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088790" y="3827775"/>
            <a:ext cx="7019476" cy="1872208"/>
            <a:chOff x="946425" y="3789040"/>
            <a:chExt cx="7019476" cy="1872208"/>
          </a:xfrm>
        </p:grpSpPr>
        <p:grpSp>
          <p:nvGrpSpPr>
            <p:cNvPr id="31" name="组合 30"/>
            <p:cNvGrpSpPr/>
            <p:nvPr/>
          </p:nvGrpSpPr>
          <p:grpSpPr>
            <a:xfrm>
              <a:off x="946425" y="3789040"/>
              <a:ext cx="7019476" cy="1872208"/>
              <a:chOff x="946425" y="3789040"/>
              <a:chExt cx="7019476" cy="1872208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4788024" y="3799546"/>
                <a:ext cx="3177877" cy="1861702"/>
                <a:chOff x="4788024" y="3818269"/>
                <a:chExt cx="3177877" cy="1861702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4788024" y="3818269"/>
                  <a:ext cx="3177877" cy="1861702"/>
                  <a:chOff x="4690683" y="1763718"/>
                  <a:chExt cx="3802889" cy="2754617"/>
                </a:xfrm>
              </p:grpSpPr>
              <p:pic>
                <p:nvPicPr>
                  <p:cNvPr id="15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690683" y="1763718"/>
                    <a:ext cx="3802889" cy="27546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70154" y="1988840"/>
                    <a:ext cx="1702246" cy="2971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p>
                    <a:pPr algn="just">
                      <a:spcAft>
                        <a:spcPts val="0"/>
                      </a:spcAft>
                    </a:pPr>
                    <a:r>
                      <a:rPr lang="en-US" sz="1400" b="1" i="1" kern="1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Symbol" panose="05050102010706020507"/>
                      </a:rPr>
                      <a:t></a:t>
                    </a:r>
                    <a:r>
                      <a:rPr lang="en-US" sz="14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=0.5, </a:t>
                    </a:r>
                    <a:r>
                      <a:rPr lang="en-US" sz="1400" b="1" i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Symbol" panose="05050102010706020507"/>
                      </a:rPr>
                      <a:t></a:t>
                    </a:r>
                    <a:r>
                      <a:rPr lang="en-US" sz="14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=</a:t>
                    </a:r>
                    <a:r>
                      <a:rPr lang="en-US" sz="1400" b="1" kern="1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0.4 </a:t>
                    </a:r>
                    <a:endParaRPr lang="en-US" sz="1400" b="1" kern="100" dirty="0" smtClean="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5" name="矩形 24"/>
                <p:cNvSpPr/>
                <p:nvPr/>
              </p:nvSpPr>
              <p:spPr>
                <a:xfrm>
                  <a:off x="6641261" y="4335487"/>
                  <a:ext cx="509270" cy="306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altLang="zh-CN" sz="1400" b="1" i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lang="en-US" altLang="zh-CN" sz="1400" b="1" i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6604519" y="5013176"/>
                  <a:ext cx="471170" cy="306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altLang="zh-CN" sz="1400" b="1" i="1" dirty="0" err="1"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lang="en-US" altLang="zh-CN" sz="1400" b="1" i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946425" y="3789040"/>
                <a:ext cx="3126622" cy="1818513"/>
                <a:chOff x="946425" y="3789040"/>
                <a:chExt cx="3126622" cy="1818513"/>
              </a:xfrm>
            </p:grpSpPr>
            <p:grpSp>
              <p:nvGrpSpPr>
                <p:cNvPr id="13" name="组合 12"/>
                <p:cNvGrpSpPr/>
                <p:nvPr/>
              </p:nvGrpSpPr>
              <p:grpSpPr>
                <a:xfrm>
                  <a:off x="946425" y="3789040"/>
                  <a:ext cx="3126622" cy="1818513"/>
                  <a:chOff x="932733" y="1763718"/>
                  <a:chExt cx="3741553" cy="2690713"/>
                </a:xfrm>
              </p:grpSpPr>
              <p:pic>
                <p:nvPicPr>
                  <p:cNvPr id="17" name="Picture 4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32733" y="1763718"/>
                    <a:ext cx="3741553" cy="26907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27782" y="1988840"/>
                    <a:ext cx="1772505" cy="29718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p>
                    <a:pPr algn="just">
                      <a:spcAft>
                        <a:spcPts val="0"/>
                      </a:spcAft>
                    </a:pPr>
                    <a:r>
                      <a:rPr lang="en-US" sz="1400" b="1" i="1" kern="1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Symbol" panose="05050102010706020507"/>
                      </a:rPr>
                      <a:t></a:t>
                    </a:r>
                    <a:r>
                      <a:rPr lang="en-US" sz="14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=0.6</a:t>
                    </a:r>
                    <a:r>
                      <a:rPr lang="en-US" sz="1400" b="1" kern="1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,</a:t>
                    </a:r>
                    <a:r>
                      <a:rPr lang="en-US" sz="1400" b="1" i="1" kern="1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Symbol" panose="05050102010706020507"/>
                      </a:rPr>
                      <a:t></a:t>
                    </a:r>
                    <a:r>
                      <a:rPr lang="en-US" sz="14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=</a:t>
                    </a:r>
                    <a:r>
                      <a:rPr lang="en-US" sz="1400" b="1" kern="1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0.3 </a:t>
                    </a:r>
                    <a:endParaRPr lang="en-US" sz="1400" b="1" kern="100" dirty="0" smtClean="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7" name="矩形 26"/>
                <p:cNvSpPr/>
                <p:nvPr/>
              </p:nvSpPr>
              <p:spPr>
                <a:xfrm>
                  <a:off x="3275856" y="4725144"/>
                  <a:ext cx="509270" cy="306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altLang="zh-CN" sz="1400" b="1" i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s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lang="en-US" altLang="zh-CN" sz="1400" b="1" i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2555776" y="4983559"/>
                  <a:ext cx="471170" cy="306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r>
                    <a:rPr lang="en-US" altLang="zh-CN" sz="1400" b="1" i="1" dirty="0" err="1"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lang="en-US" altLang="zh-CN" sz="1400" b="1" i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" name="矩形 18"/>
              <p:cNvSpPr/>
              <p:nvPr/>
            </p:nvSpPr>
            <p:spPr>
              <a:xfrm>
                <a:off x="2699792" y="4375169"/>
                <a:ext cx="6019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r>
                  <a:rPr lang="en-US" altLang="zh-CN" sz="1600" b="1" i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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=2</a:t>
                </a:r>
                <a:endParaRPr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22" name="矩形 21"/>
            <p:cNvSpPr/>
            <p:nvPr/>
          </p:nvSpPr>
          <p:spPr>
            <a:xfrm>
              <a:off x="5580112" y="4365104"/>
              <a:ext cx="924560" cy="33718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600" b="1" i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</a:t>
              </a:r>
              <a:r>
                <a:rPr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=1.25</a:t>
              </a:r>
              <a:endPara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 bldLvl="0" animBg="1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1610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结果分析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1809115" y="1002665"/>
            <a:ext cx="8752840" cy="6299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42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健康人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病人</a:t>
            </a:r>
            <a:r>
              <a:rPr lang="en-US" altLang="zh-CN" sz="2800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).</a:t>
            </a:r>
            <a:r>
              <a:rPr lang="en-US" altLang="zh-CN" sz="28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</a:t>
            </a:r>
            <a:r>
              <a:rPr lang="en-US" altLang="zh-CN" sz="28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altLang="zh-CN" sz="28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~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接触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3301" y="5614040"/>
            <a:ext cx="8878232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预防接种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使群体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免疫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提高</a:t>
            </a:r>
            <a:r>
              <a:rPr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(0)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</a:t>
            </a:r>
            <a:r>
              <a:rPr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(0)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减小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满足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(0)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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29132" y="1905788"/>
            <a:ext cx="1135380" cy="46037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4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=1.25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45428" y="1736637"/>
            <a:ext cx="3168352" cy="1961159"/>
            <a:chOff x="1403648" y="1405802"/>
            <a:chExt cx="3168352" cy="1961159"/>
          </a:xfrm>
        </p:grpSpPr>
        <p:pic>
          <p:nvPicPr>
            <p:cNvPr id="6" name="图片 5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1405802"/>
              <a:ext cx="3168352" cy="1961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2920302" y="1693834"/>
              <a:ext cx="1223010" cy="368300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just">
                <a:spcAft>
                  <a:spcPts val="0"/>
                </a:spcAft>
              </a:pPr>
              <a:r>
                <a:rPr lang="en-US" altLang="zh-CN" b="1" i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s</a:t>
              </a:r>
              <a:r>
                <a:rPr lang="en-US" altLang="zh-CN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(0</a:t>
              </a:r>
              <a:r>
                <a:rPr lang="en-US" altLang="zh-CN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)=</a:t>
              </a:r>
              <a:r>
                <a:rPr lang="en-US" altLang="zh-CN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0.99</a:t>
              </a:r>
              <a:endParaRPr lang="en-US" altLang="zh-CN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683259" y="1761121"/>
            <a:ext cx="2922613" cy="1912189"/>
            <a:chOff x="5141479" y="1430286"/>
            <a:chExt cx="2922613" cy="1912189"/>
          </a:xfrm>
        </p:grpSpPr>
        <p:pic>
          <p:nvPicPr>
            <p:cNvPr id="11" name="图片 10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479" y="1430286"/>
              <a:ext cx="2922613" cy="1912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矩形 11"/>
            <p:cNvSpPr/>
            <p:nvPr/>
          </p:nvSpPr>
          <p:spPr>
            <a:xfrm>
              <a:off x="6205142" y="1712837"/>
              <a:ext cx="1223010" cy="368300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just">
                <a:spcAft>
                  <a:spcPts val="0"/>
                </a:spcAft>
              </a:pPr>
              <a:r>
                <a:rPr lang="en-US" altLang="zh-CN" b="1" i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s</a:t>
              </a:r>
              <a:r>
                <a:rPr lang="en-US" altLang="zh-CN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(0</a:t>
              </a:r>
              <a:r>
                <a:rPr lang="en-US" altLang="zh-CN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)=</a:t>
              </a:r>
              <a:r>
                <a:rPr lang="en-US" altLang="zh-CN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0.70</a:t>
              </a:r>
              <a:endParaRPr lang="en-US" altLang="zh-CN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934630" y="3668663"/>
            <a:ext cx="3435350" cy="4603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p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(0)&gt;1, </a:t>
            </a:r>
            <a:r>
              <a:rPr lang="en-US" altLang="zh-CN" sz="2400" b="1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先增后减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01514" y="3668663"/>
            <a:ext cx="3449320" cy="460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p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(0)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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 </a:t>
            </a:r>
            <a:r>
              <a:rPr lang="en-US" altLang="zh-CN" sz="2400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单调减少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72638" y="4290116"/>
            <a:ext cx="1866900" cy="4603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传染病蔓延</a:t>
            </a:r>
            <a:endParaRPr lang="zh-CN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49883" y="4262191"/>
            <a:ext cx="2172970" cy="460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传染病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蔓延</a:t>
            </a:r>
            <a:endParaRPr lang="zh-CN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93300" y="4938194"/>
            <a:ext cx="6725768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一般情况下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(0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≈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控制蔓延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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3" grpId="0" bldLvl="0" animBg="1"/>
      <p:bldP spid="14" grpId="0" bldLvl="0" animBg="1"/>
      <p:bldP spid="15" grpId="0" bldLvl="0" animBg="1"/>
      <p:bldP spid="16" grpId="0" bldLvl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343154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SARS </a:t>
            </a:r>
            <a:r>
              <a:rPr lang="zh-CN" altLang="en-US" sz="3200" b="1" dirty="0"/>
              <a:t>的传播模型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794385" y="1335405"/>
            <a:ext cx="10603865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2003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SARS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爆发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初期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，处于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几乎不受制约的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自然传播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形式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后期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传播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则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受到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严格控制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4385" y="3922395"/>
            <a:ext cx="10620375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越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复杂的模型包含的参数越多，为确定这些参数所需要的疫情数据就越全面，而实际上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能够得到的数据是有限的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4385" y="2541270"/>
            <a:ext cx="10319385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虽然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影响因素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众多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，不只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有健康人、病人、移除者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个人群，但是仍然可以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用愈后免疫的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SIR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模型来描述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537273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模型一</a:t>
            </a:r>
            <a:r>
              <a:rPr lang="en-US" altLang="zh-CN" sz="3200" b="1" dirty="0"/>
              <a:t>   </a:t>
            </a:r>
            <a:r>
              <a:rPr lang="zh-CN" altLang="en-US" sz="3200" b="1" dirty="0"/>
              <a:t>参数时变的</a:t>
            </a:r>
            <a:r>
              <a:rPr lang="en-US" altLang="zh-CN" sz="3200" b="1" dirty="0"/>
              <a:t>SIR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67335" y="1308735"/>
            <a:ext cx="1964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模型建立</a:t>
            </a:r>
            <a:endParaRPr lang="zh-CN" altLang="en-US" sz="28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031365" y="3255010"/>
                <a:ext cx="6038850" cy="62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Symbol" panose="05050102010706020507"/>
                      </a:rPr>
                      <m:t></m:t>
                    </m:r>
                  </m:oMath>
                </a14:m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s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 -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 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65" y="3255010"/>
                <a:ext cx="6038850" cy="6248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995584" y="4263246"/>
                <a:ext cx="3348328" cy="993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Symbol" panose="05050102010706020507"/>
                      </a:rPr>
                      <m:t></m:t>
                    </m:r>
                  </m:oMath>
                </a14:m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 -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  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84" y="4263246"/>
                <a:ext cx="3348328" cy="993775"/>
              </a:xfrm>
              <a:prstGeom prst="rect">
                <a:avLst/>
              </a:prstGeom>
              <a:blipFill rotWithShape="1">
                <a:blip r:embed="rId2"/>
                <a:stretch>
                  <a:fillRect l="-12" t="-49" r="1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995584" y="5199350"/>
                <a:ext cx="2160240" cy="62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 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 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84" y="5199350"/>
                <a:ext cx="2160240" cy="624840"/>
              </a:xfrm>
              <a:prstGeom prst="rect">
                <a:avLst/>
              </a:prstGeom>
              <a:blipFill rotWithShape="1">
                <a:blip r:embed="rId3"/>
                <a:stretch>
                  <a:fillRect l="-19" t="-97" r="-1187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3238150" y="3937565"/>
            <a:ext cx="4999702" cy="460375"/>
            <a:chOff x="2034190" y="4327455"/>
            <a:chExt cx="4999702" cy="460375"/>
          </a:xfrm>
        </p:grpSpPr>
        <p:sp>
          <p:nvSpPr>
            <p:cNvPr id="13" name="矩形 12"/>
            <p:cNvSpPr/>
            <p:nvPr/>
          </p:nvSpPr>
          <p:spPr>
            <a:xfrm>
              <a:off x="2960401" y="4327455"/>
              <a:ext cx="4073491" cy="46037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s</a:t>
              </a:r>
              <a:r>
                <a:rPr lang="zh-CN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远大</a:t>
              </a:r>
              <a:r>
                <a:rPr lang="zh-CN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于</a:t>
              </a:r>
              <a:r>
                <a:rPr lang="en-US" altLang="zh-CN" sz="2400" b="1" i="1" dirty="0" err="1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, </a:t>
              </a:r>
              <a:r>
                <a:rPr lang="en-US" altLang="zh-CN" sz="2400" b="1" i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r</a:t>
              </a:r>
              <a:r>
                <a:rPr lang="zh-CN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，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s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视为</a:t>
              </a:r>
              <a:r>
                <a:rPr lang="zh-CN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常数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.</a:t>
              </a:r>
              <a:endPara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下箭头 19"/>
            <p:cNvSpPr/>
            <p:nvPr/>
          </p:nvSpPr>
          <p:spPr bwMode="auto">
            <a:xfrm>
              <a:off x="2034190" y="4486485"/>
              <a:ext cx="720080" cy="193185"/>
            </a:xfrm>
            <a:prstGeom prst="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278927" y="4456106"/>
            <a:ext cx="3329939" cy="1269901"/>
            <a:chOff x="4013372" y="4975536"/>
            <a:chExt cx="3329939" cy="1269901"/>
          </a:xfrm>
        </p:grpSpPr>
        <p:sp>
          <p:nvSpPr>
            <p:cNvPr id="19" name="矩形 18"/>
            <p:cNvSpPr/>
            <p:nvPr/>
          </p:nvSpPr>
          <p:spPr>
            <a:xfrm>
              <a:off x="4556931" y="5373007"/>
              <a:ext cx="2786380" cy="4603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zh-CN" altLang="zh-CN" sz="24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参数</a:t>
              </a:r>
              <a:r>
                <a:rPr lang="zh-CN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时变的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SIR</a:t>
              </a:r>
              <a:r>
                <a:rPr lang="zh-CN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模型</a:t>
              </a:r>
              <a:endPara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4" name="右大括号 23"/>
            <p:cNvSpPr/>
            <p:nvPr/>
          </p:nvSpPr>
          <p:spPr bwMode="auto">
            <a:xfrm>
              <a:off x="4013372" y="4975536"/>
              <a:ext cx="576064" cy="1269901"/>
            </a:xfrm>
            <a:prstGeom prst="rightBrac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804706" y="1408326"/>
            <a:ext cx="7964098" cy="9772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2400" b="1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~ 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天健康人、病人、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移除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病愈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与死亡之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数量，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)+ </a:t>
            </a:r>
            <a:r>
              <a:rPr lang="en-US" altLang="zh-CN" sz="2400" b="1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)+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)=</a:t>
            </a: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65283" y="2632462"/>
            <a:ext cx="8424936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天感染率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治愈率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与死亡率之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ldLvl="0" animBg="1"/>
      <p:bldP spid="18" grpId="0" bldLvl="0" animBg="1"/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304101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参数估计与拟合</a:t>
            </a:r>
            <a:endParaRPr lang="zh-CN" altLang="en-US" sz="3200" b="1" dirty="0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1591945" y="1017905"/>
          <a:ext cx="9007475" cy="2057400"/>
        </p:xfrm>
        <a:graphic>
          <a:graphicData uri="http://schemas.openxmlformats.org/drawingml/2006/table">
            <a:tbl>
              <a:tblPr/>
              <a:tblGrid>
                <a:gridCol w="1308735"/>
                <a:gridCol w="2134870"/>
                <a:gridCol w="1826895"/>
                <a:gridCol w="1325245"/>
                <a:gridCol w="2411730"/>
              </a:tblGrid>
              <a:tr h="4114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日期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已确诊病例累计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现有疑似病例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死亡累计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治愈出院累计</a:t>
                      </a:r>
                      <a:endParaRPr lang="zh-CN" sz="20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</a:t>
                      </a:r>
                      <a:endParaRPr 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339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402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18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33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21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</a:t>
                      </a:r>
                      <a:endParaRPr 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482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610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25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43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….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23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日</a:t>
                      </a:r>
                      <a:endParaRPr 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2521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191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2277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218149" y="3861048"/>
            <a:ext cx="7754613" cy="2306704"/>
            <a:chOff x="379189" y="3861048"/>
            <a:chExt cx="7754613" cy="2306704"/>
          </a:xfrm>
        </p:grpSpPr>
        <p:pic>
          <p:nvPicPr>
            <p:cNvPr id="133122" name="图片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189" y="3861048"/>
              <a:ext cx="7754613" cy="2306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2961851" y="4365104"/>
              <a:ext cx="640080" cy="368300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i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zh-CN" altLang="zh-CN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580112" y="4365104"/>
              <a:ext cx="595035" cy="46166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i="1" dirty="0"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zh-CN" altLang="zh-CN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8881255" y="3288795"/>
            <a:ext cx="769763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=r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12394" y="3292417"/>
            <a:ext cx="1673856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b="1" kern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死亡</a:t>
            </a:r>
            <a:r>
              <a:rPr lang="en-US" altLang="zh-CN" b="1" kern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</a:t>
            </a:r>
            <a:r>
              <a:rPr lang="zh-CN" altLang="zh-CN" b="1" kern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28838" y="3292416"/>
            <a:ext cx="734496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b="1" i="1" dirty="0" err="1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0680" y="3284984"/>
            <a:ext cx="1393330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b="1" kern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确诊</a:t>
            </a:r>
            <a:r>
              <a:rPr lang="en-US" altLang="zh-CN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 r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304101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参数估计与拟合</a:t>
            </a:r>
            <a:endParaRPr lang="zh-CN" alt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948680" y="991870"/>
                <a:ext cx="4315460" cy="62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Symbol" panose="05050102010706020507"/>
                      </a:rPr>
                      <m:t></m:t>
                    </m:r>
                  </m:oMath>
                </a14:m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)-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680" y="991870"/>
                <a:ext cx="4315460" cy="6248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572510" y="961390"/>
                <a:ext cx="2703830" cy="62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4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4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4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510" y="961390"/>
                <a:ext cx="2703830" cy="6248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433445" y="1950720"/>
            <a:ext cx="299402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)/</a:t>
            </a:r>
            <a:r>
              <a:rPr lang="en-US" altLang="zh-CN" sz="2400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76290" y="1955165"/>
            <a:ext cx="449643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)=(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</a:t>
            </a:r>
            <a:r>
              <a:rPr lang="en-US" altLang="zh-CN" sz="2400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)+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))/</a:t>
            </a:r>
            <a:r>
              <a:rPr lang="en-US" altLang="zh-CN" sz="2400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400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357505" y="1501140"/>
            <a:ext cx="9387840" cy="337185"/>
            <a:chOff x="1022978" y="1323128"/>
            <a:chExt cx="6501350" cy="337185"/>
          </a:xfrm>
        </p:grpSpPr>
        <p:sp>
          <p:nvSpPr>
            <p:cNvPr id="9" name="矩形 8"/>
            <p:cNvSpPr/>
            <p:nvPr/>
          </p:nvSpPr>
          <p:spPr>
            <a:xfrm>
              <a:off x="1022978" y="1323128"/>
              <a:ext cx="2425378" cy="33718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endPara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下箭头 13"/>
            <p:cNvSpPr/>
            <p:nvPr/>
          </p:nvSpPr>
          <p:spPr bwMode="auto">
            <a:xfrm>
              <a:off x="4139952" y="1456793"/>
              <a:ext cx="484632" cy="194336"/>
            </a:xfrm>
            <a:prstGeom prst="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下箭头 18"/>
            <p:cNvSpPr/>
            <p:nvPr/>
          </p:nvSpPr>
          <p:spPr bwMode="auto">
            <a:xfrm>
              <a:off x="7039696" y="1438977"/>
              <a:ext cx="484632" cy="194336"/>
            </a:xfrm>
            <a:prstGeom prst="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91285" y="1586230"/>
            <a:ext cx="19380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取</a:t>
            </a:r>
            <a:r>
              <a:rPr lang="zh-CN" altLang="zh-CN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差分近似导数</a:t>
            </a:r>
            <a:endParaRPr lang="zh-CN" altLang="zh-CN" sz="1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47433" y="2478043"/>
            <a:ext cx="8280920" cy="2469046"/>
            <a:chOff x="395536" y="2276872"/>
            <a:chExt cx="8280920" cy="2469046"/>
          </a:xfrm>
        </p:grpSpPr>
        <p:pic>
          <p:nvPicPr>
            <p:cNvPr id="131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36" y="2276872"/>
              <a:ext cx="8280920" cy="2469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/>
            <p:cNvSpPr/>
            <p:nvPr/>
          </p:nvSpPr>
          <p:spPr>
            <a:xfrm>
              <a:off x="2195736" y="2996952"/>
              <a:ext cx="1571264" cy="46166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zh-CN" b="1" dirty="0">
                  <a:solidFill>
                    <a:srgbClr val="FF0000"/>
                  </a:solidFill>
                </a:rPr>
                <a:t>感染率</a:t>
              </a:r>
              <a:r>
                <a:rPr lang="en-US" altLang="zh-CN" i="1" dirty="0" smtClean="0">
                  <a:solidFill>
                    <a:srgbClr val="FF0000"/>
                  </a:solidFill>
                  <a:sym typeface="Symbol" panose="05050102010706020507"/>
                </a:rPr>
                <a:t></a:t>
              </a:r>
              <a:r>
                <a:rPr lang="en-US" altLang="zh-CN" dirty="0">
                  <a:solidFill>
                    <a:srgbClr val="FF0000"/>
                  </a:solidFill>
                </a:rPr>
                <a:t>(</a:t>
              </a:r>
              <a:r>
                <a:rPr lang="en-US" altLang="zh-CN" i="1" dirty="0">
                  <a:solidFill>
                    <a:srgbClr val="FF0000"/>
                  </a:solidFill>
                </a:rPr>
                <a:t>t</a:t>
              </a:r>
              <a:r>
                <a:rPr lang="en-US" altLang="zh-CN" dirty="0">
                  <a:solidFill>
                    <a:srgbClr val="FF0000"/>
                  </a:solidFill>
                </a:rPr>
                <a:t>)</a:t>
              </a:r>
              <a:endParaRPr lang="zh-CN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39312" y="2996952"/>
              <a:ext cx="1580882" cy="46166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zh-CN" b="1" dirty="0">
                  <a:solidFill>
                    <a:srgbClr val="FF0000"/>
                  </a:solidFill>
                </a:rPr>
                <a:t>移除率</a:t>
              </a:r>
              <a:r>
                <a:rPr lang="en-US" altLang="zh-CN" i="1" dirty="0" smtClean="0">
                  <a:solidFill>
                    <a:srgbClr val="FF0000"/>
                  </a:solidFill>
                  <a:sym typeface="Symbol" panose="05050102010706020507"/>
                </a:rPr>
                <a:t></a:t>
              </a:r>
              <a:r>
                <a:rPr lang="en-US" altLang="zh-CN" dirty="0">
                  <a:solidFill>
                    <a:srgbClr val="FF0000"/>
                  </a:solidFill>
                </a:rPr>
                <a:t>(</a:t>
              </a:r>
              <a:r>
                <a:rPr lang="en-US" altLang="zh-CN" i="1" dirty="0">
                  <a:solidFill>
                    <a:srgbClr val="FF0000"/>
                  </a:solidFill>
                </a:rPr>
                <a:t>t</a:t>
              </a:r>
              <a:r>
                <a:rPr lang="en-US" altLang="zh-CN" dirty="0">
                  <a:solidFill>
                    <a:srgbClr val="FF0000"/>
                  </a:solidFill>
                </a:rPr>
                <a:t>)</a:t>
              </a:r>
              <a:endParaRPr lang="zh-CN" altLang="zh-CN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9160088" y="3197622"/>
            <a:ext cx="1365885" cy="64516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图中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圆点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624" y="6169661"/>
            <a:ext cx="3353309" cy="516849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766" y="6162926"/>
            <a:ext cx="3203523" cy="518217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21" name="矩形 20"/>
          <p:cNvSpPr/>
          <p:nvPr/>
        </p:nvSpPr>
        <p:spPr>
          <a:xfrm>
            <a:off x="1476624" y="5593597"/>
            <a:ext cx="3231975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b="1" dirty="0"/>
              <a:t>用</a:t>
            </a:r>
            <a:r>
              <a:rPr lang="en-US" altLang="zh-CN" b="1" i="1" dirty="0"/>
              <a:t>t</a:t>
            </a:r>
            <a:r>
              <a:rPr lang="en-US" altLang="zh-CN" b="1" dirty="0"/>
              <a:t>=1~20</a:t>
            </a:r>
            <a:r>
              <a:rPr lang="zh-CN" altLang="zh-CN" b="1" dirty="0"/>
              <a:t>的</a:t>
            </a:r>
            <a:r>
              <a:rPr lang="zh-CN" altLang="zh-CN" b="1" dirty="0" smtClean="0"/>
              <a:t>数据拟合</a:t>
            </a:r>
            <a:r>
              <a:rPr lang="zh-CN" altLang="en-US" b="1" dirty="0" smtClean="0"/>
              <a:t>得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5477758" y="5595830"/>
            <a:ext cx="3385863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b="1" dirty="0"/>
              <a:t>用</a:t>
            </a:r>
            <a:r>
              <a:rPr lang="en-US" altLang="zh-CN" b="1" i="1" dirty="0"/>
              <a:t>t</a:t>
            </a:r>
            <a:r>
              <a:rPr lang="en-US" altLang="zh-CN" b="1" dirty="0"/>
              <a:t>=20~50</a:t>
            </a:r>
            <a:r>
              <a:rPr lang="zh-CN" altLang="zh-CN" b="1" dirty="0"/>
              <a:t>的</a:t>
            </a:r>
            <a:r>
              <a:rPr lang="zh-CN" altLang="zh-CN" b="1" dirty="0" smtClean="0"/>
              <a:t>数据拟合</a:t>
            </a:r>
            <a:r>
              <a:rPr lang="zh-CN" altLang="en-US" b="1" dirty="0" smtClean="0"/>
              <a:t>得</a:t>
            </a:r>
            <a:endParaRPr lang="zh-CN" altLang="en-US" b="1" dirty="0"/>
          </a:p>
        </p:txBody>
      </p:sp>
      <p:grpSp>
        <p:nvGrpSpPr>
          <p:cNvPr id="24" name="组合 23"/>
          <p:cNvGrpSpPr/>
          <p:nvPr/>
        </p:nvGrpSpPr>
        <p:grpSpPr>
          <a:xfrm>
            <a:off x="2255203" y="4809916"/>
            <a:ext cx="2646878" cy="682075"/>
            <a:chOff x="1781493" y="4432726"/>
            <a:chExt cx="2646878" cy="682075"/>
          </a:xfrm>
        </p:grpSpPr>
        <p:sp>
          <p:nvSpPr>
            <p:cNvPr id="25" name="矩形 24"/>
            <p:cNvSpPr/>
            <p:nvPr/>
          </p:nvSpPr>
          <p:spPr>
            <a:xfrm>
              <a:off x="1781493" y="4653136"/>
              <a:ext cx="2646878" cy="46166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zh-CN" b="1" dirty="0" smtClean="0">
                  <a:solidFill>
                    <a:srgbClr val="FF0000"/>
                  </a:solidFill>
                </a:rPr>
                <a:t>疫情受到</a:t>
              </a:r>
              <a:r>
                <a:rPr lang="zh-CN" altLang="zh-CN" b="1" dirty="0">
                  <a:solidFill>
                    <a:srgbClr val="FF0000"/>
                  </a:solidFill>
                </a:rPr>
                <a:t>有力制约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下箭头 26"/>
            <p:cNvSpPr/>
            <p:nvPr/>
          </p:nvSpPr>
          <p:spPr bwMode="auto">
            <a:xfrm>
              <a:off x="2330526" y="4432726"/>
              <a:ext cx="484632" cy="194336"/>
            </a:xfrm>
            <a:prstGeom prst="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766285" y="4736118"/>
            <a:ext cx="3570208" cy="683865"/>
            <a:chOff x="5292575" y="4358928"/>
            <a:chExt cx="3570208" cy="683865"/>
          </a:xfrm>
        </p:grpSpPr>
        <p:sp>
          <p:nvSpPr>
            <p:cNvPr id="37" name="矩形 36"/>
            <p:cNvSpPr/>
            <p:nvPr/>
          </p:nvSpPr>
          <p:spPr>
            <a:xfrm>
              <a:off x="5292575" y="4581128"/>
              <a:ext cx="3570208" cy="46166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zh-CN" b="1" dirty="0">
                  <a:solidFill>
                    <a:srgbClr val="FF0000"/>
                  </a:solidFill>
                </a:rPr>
                <a:t>高潮时的大量病人被治愈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下箭头 37"/>
            <p:cNvSpPr/>
            <p:nvPr/>
          </p:nvSpPr>
          <p:spPr bwMode="auto">
            <a:xfrm>
              <a:off x="6805669" y="4358928"/>
              <a:ext cx="484632" cy="194336"/>
            </a:xfrm>
            <a:prstGeom prst="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8" grpId="0" bldLvl="0" animBg="1"/>
      <p:bldP spid="17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304101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模型求解与检验</a:t>
            </a:r>
            <a:endParaRPr lang="zh-CN" altLang="en-US" sz="3200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150" y="1030605"/>
            <a:ext cx="3027045" cy="391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815" y="1030605"/>
            <a:ext cx="2891790" cy="3930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994150" y="1609090"/>
                <a:ext cx="3557270" cy="534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Symbol" panose="05050102010706020507"/>
                      </a:rPr>
                      <m:t></m:t>
                    </m:r>
                  </m:oMath>
                </a14:m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0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)-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0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994150" y="1609090"/>
                <a:ext cx="3557270" cy="53403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646035" y="1609090"/>
                <a:ext cx="2229485" cy="534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(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2000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2000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n-US" altLang="zh-CN" sz="2000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t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3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7646035" y="1609090"/>
                <a:ext cx="2229485" cy="53403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200660" y="2287270"/>
            <a:ext cx="326263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lang="en-US" altLang="zh-CN" sz="2000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的数值解</a:t>
            </a:r>
            <a:endParaRPr lang="zh-CN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04720" y="1739900"/>
            <a:ext cx="106997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  <a:endParaRPr lang="zh-CN" altLang="en-US" sz="1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1690028" y="2572524"/>
            <a:ext cx="8971412" cy="2882665"/>
            <a:chOff x="65084" y="2710098"/>
            <a:chExt cx="8971412" cy="2882665"/>
          </a:xfrm>
        </p:grpSpPr>
        <p:pic>
          <p:nvPicPr>
            <p:cNvPr id="132098" name="图片 4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84" y="2710098"/>
              <a:ext cx="8971412" cy="2882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6"/>
            <p:cNvSpPr/>
            <p:nvPr>
              <p:custDataLst>
                <p:tags r:id="rId13"/>
              </p:custDataLst>
            </p:nvPr>
          </p:nvSpPr>
          <p:spPr>
            <a:xfrm>
              <a:off x="2915816" y="3140968"/>
              <a:ext cx="538480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i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6228184" y="3200401"/>
              <a:ext cx="442595" cy="30670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1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827287" y="5452844"/>
            <a:ext cx="7204264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的计算值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整体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，且</a:t>
            </a:r>
            <a:r>
              <a:rPr lang="en-US" altLang="zh-CN" sz="20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=50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后下降过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快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6618" y="5884377"/>
            <a:ext cx="7204264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模型构造、参数拟合等方面仍需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改进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3" grpId="0" bldLvl="0" animBg="1"/>
      <p:bldP spid="14" grpId="0"/>
      <p:bldP spid="15" grpId="0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923480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模型二</a:t>
            </a:r>
            <a:r>
              <a:rPr lang="en-US" altLang="zh-CN" sz="3200" b="1" dirty="0"/>
              <a:t>    </a:t>
            </a:r>
            <a:r>
              <a:rPr lang="zh-CN" altLang="en-US" sz="3200" b="1" dirty="0"/>
              <a:t>引入不可控带菌者和疑似已感染者的模型</a:t>
            </a:r>
            <a:endParaRPr lang="zh-CN" altLang="en-US" sz="3200" b="1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640848" y="1628899"/>
            <a:ext cx="5328592" cy="2088232"/>
            <a:chOff x="2086" y="1"/>
            <a:chExt cx="2287858" cy="849312"/>
          </a:xfrm>
          <a:noFill/>
        </p:grpSpPr>
        <p:sp>
          <p:nvSpPr>
            <p:cNvPr id="7" name="Text Box 39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80708" y="617538"/>
              <a:ext cx="398145" cy="231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lnSpc>
                  <a:spcPts val="1000"/>
                </a:lnSpc>
                <a:spcAft>
                  <a:spcPts val="0"/>
                </a:spcAft>
              </a:pPr>
              <a:r>
                <a:rPr lang="en-US" sz="2400" b="1" i="1" kern="100" dirty="0" err="1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γe</a:t>
              </a:r>
              <a:endParaRPr lang="en-US" sz="2400" b="1" i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8" name="Text Box 3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43177" y="412532"/>
              <a:ext cx="542925" cy="231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lnSpc>
                  <a:spcPts val="1000"/>
                </a:lnSpc>
                <a:spcAft>
                  <a:spcPts val="0"/>
                </a:spcAft>
              </a:pPr>
              <a:r>
                <a:rPr lang="en-US" sz="2400" b="1" i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λ</a:t>
              </a:r>
              <a:r>
                <a:rPr lang="en-US" sz="2400" b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α</a:t>
              </a:r>
              <a:r>
                <a:rPr lang="en-US" sz="2400" b="1" i="1" kern="100" dirty="0" err="1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cs</a:t>
              </a:r>
              <a:endParaRPr lang="en-US" sz="2400" b="1" i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9" name="Text Box 39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38700" y="617538"/>
              <a:ext cx="398145" cy="231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lnSpc>
                  <a:spcPts val="1000"/>
                </a:lnSpc>
                <a:spcAft>
                  <a:spcPts val="0"/>
                </a:spcAft>
              </a:pPr>
              <a:r>
                <a:rPr lang="en-US" sz="2400" b="1" i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βe</a:t>
              </a:r>
              <a:endParaRPr lang="en-US" sz="2400" b="1" i="1" kern="10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2086" y="1"/>
              <a:ext cx="2287858" cy="476209"/>
              <a:chOff x="2086" y="0"/>
              <a:chExt cx="2288676" cy="476568"/>
            </a:xfrm>
            <a:grpFill/>
          </p:grpSpPr>
          <p:sp>
            <p:nvSpPr>
              <p:cNvPr id="11" name="Text Box 39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741338" y="177912"/>
                <a:ext cx="363855" cy="23241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lnSpc>
                    <a:spcPts val="1000"/>
                  </a:lnSpc>
                  <a:spcAft>
                    <a:spcPts val="0"/>
                  </a:spcAft>
                </a:pPr>
                <a:r>
                  <a:rPr lang="en-US" sz="24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𝜇 </a:t>
                </a:r>
                <a:r>
                  <a:rPr lang="en-US" sz="2400" b="1" i="1" kern="100" dirty="0" err="1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endParaRPr lang="en-US" sz="2400" b="1" i="1" kern="100" dirty="0" err="1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2" name="Text Box 39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53705" y="175852"/>
                <a:ext cx="363855" cy="23241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lnSpc>
                    <a:spcPts val="1000"/>
                  </a:lnSpc>
                  <a:spcAft>
                    <a:spcPts val="0"/>
                  </a:spcAft>
                </a:pPr>
                <a:r>
                  <a:rPr lang="en-US" sz="2400" b="1" i="1" kern="10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ε</a:t>
                </a:r>
                <a:r>
                  <a:rPr lang="en-US" sz="2400" b="1" kern="10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c</a:t>
                </a:r>
                <a:endParaRPr lang="zh-CN" sz="2400" b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algn="just">
                  <a:lnSpc>
                    <a:spcPts val="1000"/>
                  </a:lnSpc>
                  <a:spcAft>
                    <a:spcPts val="0"/>
                  </a:spcAft>
                </a:pPr>
                <a:r>
                  <a:rPr lang="en-US" sz="2400" b="1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 </a:t>
                </a:r>
                <a:endParaRPr lang="en-US" sz="2400" b="1" i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grpSp>
            <p:nvGrpSpPr>
              <p:cNvPr id="23" name="Group 122"/>
              <p:cNvGrpSpPr/>
              <p:nvPr/>
            </p:nvGrpSpPr>
            <p:grpSpPr bwMode="auto">
              <a:xfrm>
                <a:off x="2086" y="13653"/>
                <a:ext cx="909254" cy="462915"/>
                <a:chOff x="3543" y="7638"/>
                <a:chExt cx="1138" cy="635"/>
              </a:xfrm>
              <a:grpFill/>
            </p:grpSpPr>
            <p:sp>
              <p:nvSpPr>
                <p:cNvPr id="25" name="Text Box 39"/>
                <p:cNvSpPr txBox="1"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4182" y="7897"/>
                  <a:ext cx="499" cy="31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p>
                  <a:pPr algn="just">
                    <a:lnSpc>
                      <a:spcPts val="1000"/>
                    </a:lnSpc>
                    <a:spcAft>
                      <a:spcPts val="0"/>
                    </a:spcAft>
                  </a:pPr>
                  <a:r>
                    <a:rPr lang="en-US" sz="2400" b="1" i="1" kern="10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/>
                    </a:rPr>
                    <a:t>λcs</a:t>
                  </a:r>
                  <a:endParaRPr lang="en-US" sz="2400" b="1" i="1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  <p:sp>
              <p:nvSpPr>
                <p:cNvPr id="2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543" y="8270"/>
                  <a:ext cx="1" cy="3"/>
                </a:xfrm>
                <a:prstGeom prst="rect">
                  <a:avLst/>
                </a:prstGeom>
                <a:grpFill/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p>
                  <a:pPr algn="just">
                    <a:spcAft>
                      <a:spcPts val="0"/>
                    </a:spcAft>
                  </a:pPr>
                  <a:r>
                    <a:rPr lang="en-US" sz="2400" b="1" kern="10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/>
                    </a:rPr>
                    <a:t> </a:t>
                  </a:r>
                  <a:endParaRPr lang="en-US" sz="2400" b="1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  <p:sp>
              <p:nvSpPr>
                <p:cNvPr id="27" name="Text Box 13"/>
                <p:cNvSpPr txBox="1">
                  <a:spLocks noChangeArrowheads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3834" y="7638"/>
                  <a:ext cx="300" cy="376"/>
                </a:xfrm>
                <a:prstGeom prst="rect">
                  <a:avLst/>
                </a:prstGeom>
                <a:grpFill/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p>
                  <a:pPr algn="just">
                    <a:spcAft>
                      <a:spcPts val="0"/>
                    </a:spcAft>
                  </a:pPr>
                  <a:r>
                    <a:rPr lang="en-US" sz="2400" b="1" i="1" kern="100" dirty="0" smtClean="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/>
                    </a:rPr>
                    <a:t> s</a:t>
                  </a:r>
                  <a:endParaRPr lang="en-US" sz="24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21" name="Text Box 13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57250" y="14288"/>
                <a:ext cx="219075" cy="273685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24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:r>
                  <a:rPr lang="en-US" sz="2400" b="1" i="1" kern="100" dirty="0" smtClean="0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c</a:t>
                </a:r>
                <a:endParaRPr lang="en-US" sz="2400" b="1" i="1" kern="100" dirty="0" smtClean="0"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466850" y="0"/>
                <a:ext cx="219075" cy="273685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24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:r>
                  <a:rPr lang="en-US" sz="2400" b="1" i="1" kern="100" dirty="0" err="1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i</a:t>
                </a:r>
                <a:endParaRPr lang="en-US" sz="2400" b="1" i="1" kern="100" dirty="0" err="1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24" name="Text Box 13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071687" y="0"/>
                <a:ext cx="219075" cy="273685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24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 r</a:t>
                </a:r>
                <a:endParaRPr lang="en-US" sz="2400" b="1" i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cxnSp>
            <p:nvCxnSpPr>
              <p:cNvPr id="28" name="直接箭头连接符 27"/>
              <p:cNvCxnSpPr/>
              <p:nvPr>
                <p:custDataLst>
                  <p:tags r:id="rId12"/>
                </p:custDataLst>
              </p:nvPr>
            </p:nvCxnSpPr>
            <p:spPr>
              <a:xfrm flipV="1">
                <a:off x="466725" y="142875"/>
                <a:ext cx="390525" cy="9525"/>
              </a:xfrm>
              <a:prstGeom prst="straightConnector1">
                <a:avLst/>
              </a:prstGeom>
              <a:grp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9" name="直接箭头连接符 28"/>
              <p:cNvCxnSpPr/>
              <p:nvPr>
                <p:custDataLst>
                  <p:tags r:id="rId13"/>
                </p:custDataLst>
              </p:nvPr>
            </p:nvCxnSpPr>
            <p:spPr>
              <a:xfrm flipV="1">
                <a:off x="1076325" y="133350"/>
                <a:ext cx="390525" cy="9525"/>
              </a:xfrm>
              <a:prstGeom prst="straightConnector1">
                <a:avLst/>
              </a:prstGeom>
              <a:grp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0" name="直接箭头连接符 29"/>
              <p:cNvCxnSpPr/>
              <p:nvPr>
                <p:custDataLst>
                  <p:tags r:id="rId14"/>
                </p:custDataLst>
              </p:nvPr>
            </p:nvCxnSpPr>
            <p:spPr>
              <a:xfrm flipV="1">
                <a:off x="1685925" y="123825"/>
                <a:ext cx="390525" cy="9525"/>
              </a:xfrm>
              <a:prstGeom prst="straightConnector1">
                <a:avLst/>
              </a:prstGeom>
              <a:grp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31" name="Text Box 1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38200" y="576263"/>
              <a:ext cx="219075" cy="273050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spcAft>
                  <a:spcPts val="0"/>
                </a:spcAft>
              </a:pPr>
              <a:r>
                <a:rPr lang="en-US" sz="2400" b="1" i="1" kern="100" dirty="0" smtClean="0"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 e</a:t>
              </a:r>
              <a:endParaRPr lang="en-US" sz="2400" b="1" i="1" kern="10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cxnSp>
          <p:nvCxnSpPr>
            <p:cNvPr id="32" name="直接连接符 31"/>
            <p:cNvCxnSpPr/>
            <p:nvPr>
              <p:custDataLst>
                <p:tags r:id="rId16"/>
              </p:custDataLst>
            </p:nvPr>
          </p:nvCxnSpPr>
          <p:spPr>
            <a:xfrm flipV="1">
              <a:off x="328612" y="704850"/>
              <a:ext cx="500063" cy="4763"/>
            </a:xfrm>
            <a:prstGeom prst="line">
              <a:avLst/>
            </a:prstGeom>
            <a:grp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17"/>
              </p:custDataLst>
            </p:nvPr>
          </p:nvCxnSpPr>
          <p:spPr>
            <a:xfrm flipV="1">
              <a:off x="328612" y="285750"/>
              <a:ext cx="0" cy="416346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18"/>
              </p:custDataLst>
            </p:nvPr>
          </p:nvCxnSpPr>
          <p:spPr>
            <a:xfrm>
              <a:off x="957262" y="285750"/>
              <a:ext cx="0" cy="290195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19"/>
              </p:custDataLst>
            </p:nvPr>
          </p:nvCxnSpPr>
          <p:spPr>
            <a:xfrm flipV="1">
              <a:off x="1057275" y="704850"/>
              <a:ext cx="499745" cy="4445"/>
            </a:xfrm>
            <a:prstGeom prst="line">
              <a:avLst/>
            </a:prstGeom>
            <a:grp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0"/>
              </p:custDataLst>
            </p:nvPr>
          </p:nvCxnSpPr>
          <p:spPr>
            <a:xfrm flipV="1">
              <a:off x="1557337" y="276225"/>
              <a:ext cx="0" cy="415925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sp>
        <p:nvSpPr>
          <p:cNvPr id="37" name="矩形 36"/>
          <p:cNvSpPr/>
          <p:nvPr/>
        </p:nvSpPr>
        <p:spPr>
          <a:xfrm>
            <a:off x="1538605" y="1343025"/>
            <a:ext cx="318452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)~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感染者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472565" y="2865755"/>
            <a:ext cx="36093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不可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带菌者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472565" y="3380105"/>
            <a:ext cx="354330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疑似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感染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557020" y="4084320"/>
            <a:ext cx="749236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~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不可控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带菌者收治前每天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有效感染的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人数</a:t>
            </a:r>
            <a:endParaRPr lang="zh-CN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74800" y="4563745"/>
            <a:ext cx="262445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~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中可以控制的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46225" y="5161280"/>
            <a:ext cx="715264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~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不可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控带菌者每天转化为已感染者的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546225" y="5737860"/>
            <a:ext cx="555053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~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疑似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已感染者每天被排除的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38595" y="5748020"/>
            <a:ext cx="243205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~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每天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被确诊的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30985" y="1822450"/>
            <a:ext cx="313626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)~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已感染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472565" y="2361565"/>
            <a:ext cx="254635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)~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移除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bldLvl="0" animBg="1"/>
      <p:bldP spid="39" grpId="0" bldLvl="0" animBg="1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1610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3200" b="1" dirty="0"/>
              <a:t>模型建立</a:t>
            </a:r>
            <a:endParaRPr lang="zh-CN" altLang="en-US" sz="3200" b="1" dirty="0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5856982" y="892413"/>
          <a:ext cx="3672408" cy="40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9" name="公式" r:id="rId1" imgW="1892300" imgH="203200" progId="Equation.3">
                  <p:embed/>
                </p:oleObj>
              </mc:Choice>
              <mc:Fallback>
                <p:oleObj name="公式" r:id="rId1" imgW="1892300" imgH="203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982" y="892413"/>
                        <a:ext cx="3672408" cy="4011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组合 63"/>
          <p:cNvGrpSpPr/>
          <p:nvPr/>
        </p:nvGrpSpPr>
        <p:grpSpPr>
          <a:xfrm>
            <a:off x="610682" y="1030965"/>
            <a:ext cx="4680520" cy="1800200"/>
            <a:chOff x="2086" y="1"/>
            <a:chExt cx="2287858" cy="849312"/>
          </a:xfrm>
          <a:noFill/>
        </p:grpSpPr>
        <p:sp>
          <p:nvSpPr>
            <p:cNvPr id="65" name="Text Box 39"/>
            <p:cNvSpPr txBox="1">
              <a:spLocks noChangeArrowheads="1"/>
            </p:cNvSpPr>
            <p:nvPr/>
          </p:nvSpPr>
          <p:spPr bwMode="auto">
            <a:xfrm>
              <a:off x="1180708" y="617538"/>
              <a:ext cx="398145" cy="231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lnSpc>
                  <a:spcPts val="1000"/>
                </a:lnSpc>
                <a:spcAft>
                  <a:spcPts val="0"/>
                </a:spcAft>
              </a:pPr>
              <a:r>
                <a:rPr lang="en-US" sz="1000" b="1" i="1" kern="100" dirty="0" err="1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γe</a:t>
              </a:r>
              <a:endParaRPr lang="en-US" sz="1000" b="1" i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943177" y="412532"/>
              <a:ext cx="542925" cy="231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lnSpc>
                  <a:spcPts val="1000"/>
                </a:lnSpc>
                <a:spcAft>
                  <a:spcPts val="0"/>
                </a:spcAft>
              </a:pPr>
              <a:r>
                <a:rPr lang="en-US" sz="1000" b="1" i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λ</a:t>
              </a:r>
              <a:r>
                <a:rPr lang="en-US" sz="1000" b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α</a:t>
              </a:r>
              <a:r>
                <a:rPr lang="en-US" sz="1000" b="1" i="1" kern="100" dirty="0" err="1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cs</a:t>
              </a:r>
              <a:endParaRPr lang="en-US" sz="1000" b="1" i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67" name="Text Box 39"/>
            <p:cNvSpPr txBox="1">
              <a:spLocks noChangeArrowheads="1"/>
            </p:cNvSpPr>
            <p:nvPr/>
          </p:nvSpPr>
          <p:spPr bwMode="auto">
            <a:xfrm>
              <a:off x="438700" y="617538"/>
              <a:ext cx="398145" cy="231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lnSpc>
                  <a:spcPts val="1000"/>
                </a:lnSpc>
                <a:spcAft>
                  <a:spcPts val="0"/>
                </a:spcAft>
              </a:pPr>
              <a:r>
                <a:rPr lang="en-US" sz="1000" b="1" i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βe</a:t>
              </a:r>
              <a:endParaRPr lang="en-US" sz="1000" b="1" i="1" kern="10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2086" y="1"/>
              <a:ext cx="2287858" cy="476209"/>
              <a:chOff x="2086" y="0"/>
              <a:chExt cx="2288676" cy="476568"/>
            </a:xfrm>
            <a:grpFill/>
          </p:grpSpPr>
          <p:sp>
            <p:nvSpPr>
              <p:cNvPr id="69" name="Text Box 39"/>
              <p:cNvSpPr txBox="1">
                <a:spLocks noChangeArrowheads="1"/>
              </p:cNvSpPr>
              <p:nvPr/>
            </p:nvSpPr>
            <p:spPr bwMode="auto">
              <a:xfrm>
                <a:off x="1741338" y="177912"/>
                <a:ext cx="363855" cy="23241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lnSpc>
                    <a:spcPts val="1000"/>
                  </a:lnSpc>
                  <a:spcAft>
                    <a:spcPts val="0"/>
                  </a:spcAft>
                </a:pPr>
                <a:r>
                  <a:rPr lang="en-US" sz="10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𝜇 </a:t>
                </a:r>
                <a:r>
                  <a:rPr lang="en-US" sz="1000" b="1" i="1" kern="100" dirty="0" err="1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endParaRPr lang="en-US" sz="1000" b="1" i="1" kern="100" dirty="0" err="1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0" name="Text Box 39"/>
              <p:cNvSpPr txBox="1">
                <a:spLocks noChangeArrowheads="1"/>
              </p:cNvSpPr>
              <p:nvPr/>
            </p:nvSpPr>
            <p:spPr bwMode="auto">
              <a:xfrm>
                <a:off x="1153705" y="175852"/>
                <a:ext cx="363855" cy="23241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lnSpc>
                    <a:spcPts val="1000"/>
                  </a:lnSpc>
                  <a:spcAft>
                    <a:spcPts val="0"/>
                  </a:spcAft>
                </a:pPr>
                <a:r>
                  <a:rPr lang="en-US" sz="1000" b="1" i="1" kern="10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ε</a:t>
                </a:r>
                <a:r>
                  <a:rPr lang="en-US" sz="1000" b="1" kern="10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c</a:t>
                </a:r>
                <a:endParaRPr lang="zh-CN" sz="1000" b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algn="just">
                  <a:lnSpc>
                    <a:spcPts val="1000"/>
                  </a:lnSpc>
                  <a:spcAft>
                    <a:spcPts val="0"/>
                  </a:spcAft>
                </a:pPr>
                <a:r>
                  <a:rPr lang="en-US" sz="1000" b="1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 </a:t>
                </a:r>
                <a:endParaRPr lang="en-US" sz="1000" b="1" i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grpSp>
            <p:nvGrpSpPr>
              <p:cNvPr id="71" name="Group 122"/>
              <p:cNvGrpSpPr/>
              <p:nvPr/>
            </p:nvGrpSpPr>
            <p:grpSpPr bwMode="auto">
              <a:xfrm>
                <a:off x="2086" y="13653"/>
                <a:ext cx="909254" cy="462915"/>
                <a:chOff x="3543" y="7638"/>
                <a:chExt cx="1138" cy="635"/>
              </a:xfrm>
              <a:grpFill/>
            </p:grpSpPr>
            <p:sp>
              <p:nvSpPr>
                <p:cNvPr id="72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182" y="7897"/>
                  <a:ext cx="499" cy="31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p>
                  <a:pPr algn="just">
                    <a:lnSpc>
                      <a:spcPts val="1000"/>
                    </a:lnSpc>
                    <a:spcAft>
                      <a:spcPts val="0"/>
                    </a:spcAft>
                  </a:pPr>
                  <a:r>
                    <a:rPr lang="en-US" sz="1000" b="1" i="1" kern="10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/>
                    </a:rPr>
                    <a:t>λcs</a:t>
                  </a:r>
                  <a:endParaRPr lang="en-US" sz="1000" b="1" i="1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  <p:sp>
              <p:nvSpPr>
                <p:cNvPr id="7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543" y="8270"/>
                  <a:ext cx="1" cy="3"/>
                </a:xfrm>
                <a:prstGeom prst="rect">
                  <a:avLst/>
                </a:prstGeom>
                <a:grpFill/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p>
                  <a:pPr algn="just">
                    <a:spcAft>
                      <a:spcPts val="0"/>
                    </a:spcAft>
                  </a:pPr>
                  <a:r>
                    <a:rPr lang="en-US" sz="1000" b="1" kern="10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/>
                    </a:rPr>
                    <a:t> </a:t>
                  </a:r>
                  <a:endParaRPr lang="en-US" sz="1000" b="1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  <p:sp>
              <p:nvSpPr>
                <p:cNvPr id="7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834" y="7638"/>
                  <a:ext cx="300" cy="376"/>
                </a:xfrm>
                <a:prstGeom prst="rect">
                  <a:avLst/>
                </a:prstGeom>
                <a:grpFill/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p>
                  <a:pPr algn="just">
                    <a:spcAft>
                      <a:spcPts val="0"/>
                    </a:spcAft>
                  </a:pPr>
                  <a:r>
                    <a:rPr lang="en-US" sz="1000" b="1" i="1" kern="100" dirty="0" smtClean="0"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/>
                    </a:rPr>
                    <a:t> s</a:t>
                  </a:r>
                  <a:endParaRPr lang="en-US" sz="10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75" name="Text Box 13"/>
              <p:cNvSpPr txBox="1">
                <a:spLocks noChangeArrowheads="1"/>
              </p:cNvSpPr>
              <p:nvPr/>
            </p:nvSpPr>
            <p:spPr bwMode="auto">
              <a:xfrm>
                <a:off x="857250" y="14288"/>
                <a:ext cx="219075" cy="273685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10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 c</a:t>
                </a:r>
                <a:endParaRPr lang="en-US" sz="1000" b="1" i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76" name="Text Box 13"/>
              <p:cNvSpPr txBox="1">
                <a:spLocks noChangeArrowheads="1"/>
              </p:cNvSpPr>
              <p:nvPr/>
            </p:nvSpPr>
            <p:spPr bwMode="auto">
              <a:xfrm>
                <a:off x="1466850" y="0"/>
                <a:ext cx="219075" cy="273685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10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:r>
                  <a:rPr lang="en-US" sz="1000" b="1" i="1" kern="100" dirty="0" err="1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i</a:t>
                </a:r>
                <a:endParaRPr lang="en-US" sz="1000" b="1" i="1" kern="100" dirty="0" err="1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77" name="Text Box 13"/>
              <p:cNvSpPr txBox="1">
                <a:spLocks noChangeArrowheads="1"/>
              </p:cNvSpPr>
              <p:nvPr/>
            </p:nvSpPr>
            <p:spPr bwMode="auto">
              <a:xfrm>
                <a:off x="2071687" y="0"/>
                <a:ext cx="219075" cy="273685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p>
                <a:pPr algn="just">
                  <a:spcAft>
                    <a:spcPts val="0"/>
                  </a:spcAft>
                </a:pPr>
                <a:r>
                  <a:rPr lang="en-US" sz="1000" b="1" i="1" kern="100" dirty="0" smtClean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 r</a:t>
                </a:r>
                <a:endParaRPr lang="en-US" sz="1000" b="1" i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cxnSp>
            <p:nvCxnSpPr>
              <p:cNvPr id="78" name="直接箭头连接符 77"/>
              <p:cNvCxnSpPr/>
              <p:nvPr/>
            </p:nvCxnSpPr>
            <p:spPr>
              <a:xfrm flipV="1">
                <a:off x="466725" y="142875"/>
                <a:ext cx="390525" cy="9525"/>
              </a:xfrm>
              <a:prstGeom prst="straightConnector1">
                <a:avLst/>
              </a:prstGeom>
              <a:grp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9" name="直接箭头连接符 78"/>
              <p:cNvCxnSpPr/>
              <p:nvPr/>
            </p:nvCxnSpPr>
            <p:spPr>
              <a:xfrm flipV="1">
                <a:off x="1076325" y="133350"/>
                <a:ext cx="390525" cy="9525"/>
              </a:xfrm>
              <a:prstGeom prst="straightConnector1">
                <a:avLst/>
              </a:prstGeom>
              <a:grp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0" name="直接箭头连接符 79"/>
              <p:cNvCxnSpPr/>
              <p:nvPr/>
            </p:nvCxnSpPr>
            <p:spPr>
              <a:xfrm flipV="1">
                <a:off x="1685925" y="123825"/>
                <a:ext cx="390525" cy="9525"/>
              </a:xfrm>
              <a:prstGeom prst="straightConnector1">
                <a:avLst/>
              </a:prstGeom>
              <a:grp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81" name="Text Box 13"/>
            <p:cNvSpPr txBox="1">
              <a:spLocks noChangeArrowheads="1"/>
            </p:cNvSpPr>
            <p:nvPr/>
          </p:nvSpPr>
          <p:spPr bwMode="auto">
            <a:xfrm>
              <a:off x="838200" y="576263"/>
              <a:ext cx="219075" cy="273050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p>
              <a:pPr algn="just">
                <a:spcAft>
                  <a:spcPts val="0"/>
                </a:spcAft>
              </a:pPr>
              <a:r>
                <a:rPr lang="en-US" sz="1000" b="1" i="1" kern="100" dirty="0" smtClean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rPr>
                <a:t> e</a:t>
              </a:r>
              <a:endParaRPr lang="en-US" sz="1000" b="1" i="1" kern="10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V="1">
              <a:off x="328612" y="704850"/>
              <a:ext cx="500063" cy="4763"/>
            </a:xfrm>
            <a:prstGeom prst="line">
              <a:avLst/>
            </a:prstGeom>
            <a:grp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>
            <a:xfrm flipV="1">
              <a:off x="328612" y="285750"/>
              <a:ext cx="0" cy="416346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>
            <a:xfrm>
              <a:off x="957262" y="285750"/>
              <a:ext cx="0" cy="290195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/>
          </p:nvCxnSpPr>
          <p:spPr>
            <a:xfrm flipV="1">
              <a:off x="1057275" y="704850"/>
              <a:ext cx="499745" cy="4445"/>
            </a:xfrm>
            <a:prstGeom prst="line">
              <a:avLst/>
            </a:prstGeom>
            <a:grp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6" name="直接箭头连接符 85"/>
            <p:cNvCxnSpPr/>
            <p:nvPr/>
          </p:nvCxnSpPr>
          <p:spPr>
            <a:xfrm flipV="1">
              <a:off x="1557337" y="276225"/>
              <a:ext cx="0" cy="415925"/>
            </a:xfrm>
            <a:prstGeom prst="straightConnector1">
              <a:avLst/>
            </a:prstGeom>
            <a:grpFill/>
            <a:ln w="952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sp>
        <p:nvSpPr>
          <p:cNvPr id="87" name="矩形 86"/>
          <p:cNvSpPr/>
          <p:nvPr/>
        </p:nvSpPr>
        <p:spPr>
          <a:xfrm>
            <a:off x="5786184" y="1636225"/>
            <a:ext cx="4572000" cy="108775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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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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,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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,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 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确定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后，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由任意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个方程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及任意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初值计算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类人群的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b="1" i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).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884582" y="4095779"/>
            <a:ext cx="4572000" cy="1198880"/>
          </a:xfrm>
          <a:prstGeom prst="rect">
            <a:avLst/>
          </a:prstGeom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经验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估计初值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，代入模型计算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，根据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计算值与实际值的偏差调整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估计值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884272" y="2861522"/>
            <a:ext cx="1102360" cy="3683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参数估计</a:t>
            </a:r>
            <a:endParaRPr lang="zh-CN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884457" y="3478722"/>
            <a:ext cx="2696210" cy="398780"/>
          </a:xfrm>
          <a:prstGeom prst="rect">
            <a:avLst/>
          </a:prstGeom>
        </p:spPr>
        <p:txBody>
          <a:bodyPr wrap="non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直接利用实际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40"/>
              <p:cNvSpPr txBox="1"/>
              <p:nvPr/>
            </p:nvSpPr>
            <p:spPr>
              <a:xfrm>
                <a:off x="1393367" y="5097693"/>
                <a:ext cx="2660895" cy="44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 </m:t>
                    </m:r>
                    <m:r>
                      <a:rPr lang="el-GR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𝜺</m:t>
                    </m:r>
                    <m:r>
                      <m:rPr>
                        <m:nor/>
                      </m:rPr>
                      <a:rPr lang="en-US" altLang="zh-CN" sz="16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-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</a:t>
                </a:r>
                <a:r>
                  <a:rPr lang="en-US" altLang="zh-CN" sz="1600" b="1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+</a:t>
                </a:r>
                <a:r>
                  <a:rPr lang="el-GR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γ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e</a:t>
                </a:r>
                <a:endParaRPr lang="en-US" altLang="zh-CN" sz="1600" b="1" i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67" y="5097693"/>
                <a:ext cx="2660895" cy="444500"/>
              </a:xfrm>
              <a:prstGeom prst="rect">
                <a:avLst/>
              </a:prstGeom>
              <a:blipFill rotWithShape="1">
                <a:blip r:embed="rId3"/>
                <a:stretch>
                  <a:fillRect l="-7" t="-123" r="16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41"/>
              <p:cNvSpPr txBox="1"/>
              <p:nvPr/>
            </p:nvSpPr>
            <p:spPr>
              <a:xfrm>
                <a:off x="1408289" y="5816801"/>
                <a:ext cx="1308408" cy="44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𝒅𝒓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 </a:t>
                </a:r>
                <a:r>
                  <a:rPr lang="en-US" altLang="zh-CN" sz="1600" b="1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endParaRPr lang="en-US" altLang="zh-CN" sz="1600" b="1" i="1" dirty="0" err="1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289" y="5816801"/>
                <a:ext cx="1308408" cy="444500"/>
              </a:xfrm>
              <a:prstGeom prst="rect">
                <a:avLst/>
              </a:prstGeom>
              <a:blipFill rotWithShape="1">
                <a:blip r:embed="rId4"/>
                <a:stretch>
                  <a:fillRect l="-38" t="-45" r="1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42"/>
              <p:cNvSpPr txBox="1"/>
              <p:nvPr/>
            </p:nvSpPr>
            <p:spPr>
              <a:xfrm>
                <a:off x="1408289" y="4305605"/>
                <a:ext cx="3045301" cy="44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𝒅𝒆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-</a:t>
                </a:r>
                <a:r>
                  <a:rPr lang="en-US" altLang="zh-CN" sz="1600" b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el-GR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β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r>
                  <a:rPr lang="el-GR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γ</a:t>
                </a:r>
                <a:r>
                  <a:rPr lang="en-US" altLang="zh-CN" sz="1600" b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e+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</a:t>
                </a:r>
                <a:r>
                  <a:rPr lang="en-US" altLang="zh-CN" sz="1600" b="1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cs</a:t>
                </a:r>
                <a:endParaRPr lang="en-US" altLang="zh-CN" sz="1600" b="1" i="1" dirty="0" err="1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289" y="4305605"/>
                <a:ext cx="3045301" cy="444500"/>
              </a:xfrm>
              <a:prstGeom prst="rect">
                <a:avLst/>
              </a:prstGeom>
              <a:blipFill rotWithShape="1">
                <a:blip r:embed="rId5"/>
                <a:stretch>
                  <a:fillRect l="-16" t="-69" r="1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43"/>
              <p:cNvSpPr txBox="1"/>
              <p:nvPr/>
            </p:nvSpPr>
            <p:spPr>
              <a:xfrm>
                <a:off x="1402770" y="3585525"/>
                <a:ext cx="2886809" cy="44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𝒅𝒄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600" b="1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Symbol" panose="05050102010706020507"/>
                      </a:rPr>
                      <m:t></m:t>
                    </m:r>
                  </m:oMath>
                </a14:m>
                <a:r>
                  <a:rPr lang="en-US" altLang="zh-CN" sz="1600" b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(1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-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</a:t>
                </a:r>
                <a:r>
                  <a:rPr lang="en-US" altLang="zh-CN" sz="1600" b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)</a:t>
                </a:r>
                <a:r>
                  <a:rPr lang="en-US" altLang="zh-CN" sz="1600" b="1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cs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-</a:t>
                </a:r>
                <a14:m>
                  <m:oMath xmlns:m="http://schemas.openxmlformats.org/officeDocument/2006/math">
                    <m:r>
                      <a:rPr lang="el-GR" altLang="zh-CN" sz="1600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𝜺</m:t>
                    </m:r>
                    <m:r>
                      <m:rPr>
                        <m:nor/>
                      </m:rPr>
                      <a:rPr lang="en-US" altLang="zh-CN" sz="1600" b="1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  <a:endParaRPr lang="en-US" altLang="zh-CN" sz="1600" b="1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70" y="3585525"/>
                <a:ext cx="2886809" cy="444500"/>
              </a:xfrm>
              <a:prstGeom prst="rect">
                <a:avLst/>
              </a:prstGeom>
              <a:blipFill rotWithShape="1">
                <a:blip r:embed="rId6"/>
                <a:stretch>
                  <a:fillRect l="-2" t="-71" r="5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44"/>
              <p:cNvSpPr txBox="1"/>
              <p:nvPr/>
            </p:nvSpPr>
            <p:spPr>
              <a:xfrm>
                <a:off x="1402770" y="2865445"/>
                <a:ext cx="2086084" cy="44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𝒅𝒔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l-GR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β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e</a:t>
                </a:r>
                <a:r>
                  <a:rPr lang="en-US" altLang="zh-CN" sz="1600" b="1" i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-</a:t>
                </a:r>
                <a:r>
                  <a:rPr lang="en-US" altLang="zh-CN" sz="1600" b="1" i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</a:t>
                </a:r>
                <a:r>
                  <a:rPr lang="en-US" altLang="zh-CN" sz="1600" b="1" i="1" dirty="0" err="1" smtClean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cs</a:t>
                </a:r>
                <a:endParaRPr lang="en-US" altLang="zh-CN" sz="1600" b="1" i="1" dirty="0" err="1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70" y="2865445"/>
                <a:ext cx="2086084" cy="444500"/>
              </a:xfrm>
              <a:prstGeom prst="rect">
                <a:avLst/>
              </a:prstGeom>
              <a:blipFill rotWithShape="1">
                <a:blip r:embed="rId7"/>
                <a:stretch>
                  <a:fillRect l="-3" t="-73" r="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 bldLvl="0" animBg="1"/>
      <p:bldP spid="90" grpId="0"/>
      <p:bldP spid="91" grpId="0"/>
      <p:bldP spid="92" grpId="0"/>
      <p:bldP spid="93" grpId="0"/>
      <p:bldP spid="94" grpId="0"/>
      <p:bldP spid="9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923480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/>
              <a:t>模型三</a:t>
            </a:r>
            <a:r>
              <a:rPr lang="en-US" altLang="zh-CN" sz="3200" b="1" dirty="0"/>
              <a:t>    </a:t>
            </a:r>
            <a:r>
              <a:rPr lang="zh-CN" altLang="en-US" sz="3200" b="1" dirty="0"/>
              <a:t>引入尚未隔离和已经隔离已感染者的模型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17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797" y="959285"/>
            <a:ext cx="4893190" cy="23020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1187381" y="1065431"/>
            <a:ext cx="360040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处于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潜伏期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的已感染者，有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弱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7381" y="4175549"/>
            <a:ext cx="5500308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~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传染性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免疫性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381" y="1921975"/>
            <a:ext cx="3366120" cy="83099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隔离的已感染者，有强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52509" y="2807964"/>
            <a:ext cx="3779288" cy="830997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发病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隔离、未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治疗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的已感染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无传染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55769" y="3681056"/>
            <a:ext cx="7913069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~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隔离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正治疗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的已感染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无传染性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9681" y="4737839"/>
            <a:ext cx="1962397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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~ 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感染率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07661" y="4737838"/>
            <a:ext cx="4800654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 ~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折合成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的分值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指传染性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51885" y="5271512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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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~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分别转入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的比例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51885" y="5755662"/>
            <a:ext cx="4572000" cy="4616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b="1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θ,σ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~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分别转入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的比例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88294" y="5241895"/>
            <a:ext cx="3491880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γ ~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15805" y="5755661"/>
            <a:ext cx="2790616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 ~ 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的死亡率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bldLvl="0" animBg="1"/>
      <p:bldP spid="7" grpId="0"/>
      <p:bldP spid="8" grpId="0" bldLvl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1816100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/>
              <a:t>模型</a:t>
            </a:r>
            <a:r>
              <a:rPr lang="zh-CN" altLang="en-US" sz="3200" b="1" dirty="0"/>
              <a:t>建立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134110" y="2510155"/>
          <a:ext cx="3170555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3" name="公式" r:id="rId1" imgW="2132965" imgH="406400" progId="Equation.3">
                  <p:embed/>
                </p:oleObj>
              </mc:Choice>
              <mc:Fallback>
                <p:oleObj name="公式" r:id="rId1" imgW="2132965" imgH="406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110" y="2510155"/>
                        <a:ext cx="3170555" cy="5988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34110" y="3378200"/>
          <a:ext cx="209550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4" name="公式" r:id="rId3" imgW="1409065" imgH="406400" progId="Equation.3">
                  <p:embed/>
                </p:oleObj>
              </mc:Choice>
              <mc:Fallback>
                <p:oleObj name="公式" r:id="rId3" imgW="1409065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110" y="3378200"/>
                        <a:ext cx="2095500" cy="5988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34110" y="4139565"/>
          <a:ext cx="1552575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5" name="公式" r:id="rId5" imgW="1040765" imgH="406400" progId="Equation.3">
                  <p:embed/>
                </p:oleObj>
              </mc:Choice>
              <mc:Fallback>
                <p:oleObj name="公式" r:id="rId5" imgW="1040765" imgH="40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110" y="4139565"/>
                        <a:ext cx="1552575" cy="5988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34110" y="4869815"/>
          <a:ext cx="271780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6" name="公式" r:id="rId7" imgW="1828800" imgH="406400" progId="Equation.3">
                  <p:embed/>
                </p:oleObj>
              </mc:Choice>
              <mc:Fallback>
                <p:oleObj name="公式" r:id="rId7" imgW="1828800" imgH="40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110" y="4869815"/>
                        <a:ext cx="2717800" cy="5988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34110" y="5538470"/>
          <a:ext cx="939800" cy="59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7" name="公式" r:id="rId9" imgW="635000" imgH="406400" progId="Equation.3">
                  <p:embed/>
                </p:oleObj>
              </mc:Choice>
              <mc:Fallback>
                <p:oleObj name="公式" r:id="rId9" imgW="635000" imgH="40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110" y="5538470"/>
                        <a:ext cx="939800" cy="599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953135"/>
            <a:ext cx="3385820" cy="147129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矩形 14"/>
          <p:cNvSpPr/>
          <p:nvPr/>
        </p:nvSpPr>
        <p:spPr>
          <a:xfrm>
            <a:off x="6095786" y="1432972"/>
            <a:ext cx="3781197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潜伏期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天强传染</a:t>
            </a:r>
            <a:endParaRPr lang="zh-CN" altLang="zh-CN" sz="1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3406" y="936283"/>
            <a:ext cx="1203960" cy="398780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p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参数估计</a:t>
            </a:r>
            <a:endParaRPr lang="zh-CN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88165" y="2355994"/>
            <a:ext cx="3493165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 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转入</a:t>
            </a: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 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比例为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2:3</a:t>
            </a:r>
            <a:endParaRPr lang="en-US" altLang="zh-CN" sz="1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8291" y="3478401"/>
            <a:ext cx="3185323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 </a:t>
            </a:r>
            <a:r>
              <a:rPr lang="zh-CN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均约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天后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转入</a:t>
            </a: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endParaRPr lang="en-US" altLang="zh-CN" sz="1400" b="1" i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88613" y="4421996"/>
            <a:ext cx="1691640" cy="306705"/>
          </a:xfrm>
          <a:prstGeom prst="rect">
            <a:avLst/>
          </a:prstGeom>
        </p:spPr>
        <p:txBody>
          <a:bodyPr wrap="non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 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</a:t>
            </a:r>
            <a:r>
              <a:rPr lang="zh-CN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治愈</a:t>
            </a:r>
            <a:endParaRPr lang="zh-CN" altLang="zh-CN" sz="1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636610" y="1758593"/>
            <a:ext cx="1152891" cy="484948"/>
            <a:chOff x="5725385" y="1802433"/>
            <a:chExt cx="1152891" cy="484948"/>
          </a:xfrm>
          <a:noFill/>
        </p:grpSpPr>
        <p:sp>
          <p:nvSpPr>
            <p:cNvPr id="20" name="矩形 19"/>
            <p:cNvSpPr/>
            <p:nvPr/>
          </p:nvSpPr>
          <p:spPr>
            <a:xfrm>
              <a:off x="6067381" y="1802433"/>
              <a:ext cx="810895" cy="30670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p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</a:t>
              </a:r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+</a:t>
              </a:r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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=1/3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右箭头 27"/>
            <p:cNvSpPr/>
            <p:nvPr/>
          </p:nvSpPr>
          <p:spPr bwMode="auto">
            <a:xfrm>
              <a:off x="5725385" y="1802749"/>
              <a:ext cx="184295" cy="48463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629003" y="2661930"/>
            <a:ext cx="1884398" cy="700656"/>
            <a:chOff x="5724128" y="2708920"/>
            <a:chExt cx="1884398" cy="700656"/>
          </a:xfrm>
          <a:noFill/>
        </p:grpSpPr>
        <p:sp>
          <p:nvSpPr>
            <p:cNvPr id="21" name="矩形 20"/>
            <p:cNvSpPr/>
            <p:nvPr/>
          </p:nvSpPr>
          <p:spPr>
            <a:xfrm>
              <a:off x="6067381" y="2708920"/>
              <a:ext cx="1541145" cy="52197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p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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=1/3⨉</a:t>
              </a:r>
              <a:r>
                <a:rPr lang="en-US" altLang="zh-CN" sz="1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2/5=2/15</a:t>
              </a:r>
              <a:endPara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1400" b="1" i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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=1/3⨉3/5=3/15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" name="右箭头 28"/>
            <p:cNvSpPr/>
            <p:nvPr/>
          </p:nvSpPr>
          <p:spPr bwMode="auto">
            <a:xfrm>
              <a:off x="5724128" y="2924944"/>
              <a:ext cx="184295" cy="48463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671136" y="4710502"/>
            <a:ext cx="1159808" cy="522382"/>
            <a:chOff x="5754831" y="5119442"/>
            <a:chExt cx="1159808" cy="522382"/>
          </a:xfrm>
          <a:noFill/>
        </p:grpSpPr>
        <p:sp>
          <p:nvSpPr>
            <p:cNvPr id="25" name="矩形 24"/>
            <p:cNvSpPr/>
            <p:nvPr/>
          </p:nvSpPr>
          <p:spPr>
            <a:xfrm>
              <a:off x="6101839" y="5119442"/>
              <a:ext cx="812800" cy="30670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p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γ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=1/21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右箭头 3"/>
            <p:cNvSpPr/>
            <p:nvPr/>
          </p:nvSpPr>
          <p:spPr bwMode="auto">
            <a:xfrm>
              <a:off x="5754831" y="5157192"/>
              <a:ext cx="184295" cy="48463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644159" y="3776717"/>
            <a:ext cx="1317069" cy="527089"/>
            <a:chOff x="5758969" y="4077072"/>
            <a:chExt cx="1317069" cy="527089"/>
          </a:xfrm>
          <a:noFill/>
        </p:grpSpPr>
        <p:sp>
          <p:nvSpPr>
            <p:cNvPr id="23" name="矩形 22"/>
            <p:cNvSpPr/>
            <p:nvPr/>
          </p:nvSpPr>
          <p:spPr>
            <a:xfrm>
              <a:off x="6084168" y="4077072"/>
              <a:ext cx="991870" cy="30670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p>
              <a:r>
                <a:rPr lang="en-US" altLang="zh-CN" sz="1400" b="1" i="1" dirty="0">
                  <a:latin typeface="宋体" panose="02010600030101010101" pitchFamily="2" charset="-122"/>
                  <a:ea typeface="宋体" panose="02010600030101010101" pitchFamily="2" charset="-122"/>
                </a:rPr>
                <a:t>θ=σ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=1/3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右箭头 5"/>
            <p:cNvSpPr/>
            <p:nvPr/>
          </p:nvSpPr>
          <p:spPr bwMode="auto">
            <a:xfrm>
              <a:off x="5758969" y="4119529"/>
              <a:ext cx="184295" cy="48463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6103620" y="5365750"/>
            <a:ext cx="338772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1600" dirty="0" smtClean="0">
                <a:solidFill>
                  <a:srgbClr val="FF0000"/>
                </a:solidFill>
              </a:rPr>
              <a:t>取</a:t>
            </a:r>
            <a:r>
              <a:rPr lang="en-US" altLang="zh-CN" sz="1600" i="1" dirty="0" smtClean="0">
                <a:solidFill>
                  <a:srgbClr val="FF0000"/>
                </a:solidFill>
              </a:rPr>
              <a:t>δ</a:t>
            </a:r>
            <a:r>
              <a:rPr lang="en-US" altLang="zh-CN" sz="1600" dirty="0" smtClean="0">
                <a:solidFill>
                  <a:srgbClr val="FF0000"/>
                </a:solidFill>
              </a:rPr>
              <a:t>=1/21</a:t>
            </a:r>
            <a:r>
              <a:rPr lang="en-US" altLang="zh-CN" sz="1600" dirty="0">
                <a:solidFill>
                  <a:srgbClr val="FF0000"/>
                </a:solidFill>
              </a:rPr>
              <a:t>⨉</a:t>
            </a:r>
            <a:r>
              <a:rPr lang="en-US" altLang="zh-CN" sz="1600" dirty="0" smtClean="0">
                <a:solidFill>
                  <a:srgbClr val="FF0000"/>
                </a:solidFill>
              </a:rPr>
              <a:t>15/100</a:t>
            </a:r>
            <a:endParaRPr lang="en-US" altLang="zh-CN" sz="1600" dirty="0" smtClean="0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20183" y="5787862"/>
            <a:ext cx="126174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rgbClr val="FF0000"/>
                </a:solidFill>
              </a:rPr>
              <a:t>取</a:t>
            </a:r>
            <a:r>
              <a:rPr lang="en-US" altLang="zh-CN" sz="1600" i="1" dirty="0">
                <a:solidFill>
                  <a:srgbClr val="FF0000"/>
                </a:solidFill>
              </a:rPr>
              <a:t>k</a:t>
            </a:r>
            <a:r>
              <a:rPr lang="en-US" altLang="zh-CN" sz="1600" dirty="0">
                <a:solidFill>
                  <a:srgbClr val="FF0000"/>
                </a:solidFill>
              </a:rPr>
              <a:t>=0.1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bldLvl="0" animBg="1"/>
      <p:bldP spid="19" grpId="0"/>
      <p:bldP spid="22" grpId="0"/>
      <p:bldP spid="24" grpId="0"/>
      <p:bldP spid="26" grpId="0" bldLvl="0" animBg="1"/>
      <p:bldP spid="27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1816100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/>
              <a:t>参数估计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6910" y="1429385"/>
            <a:ext cx="8522335" cy="138366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zh-CN" sz="2800" b="1" dirty="0"/>
              <a:t>在严格控制措施</a:t>
            </a:r>
            <a:r>
              <a:rPr lang="zh-CN" altLang="zh-CN" sz="2800" b="1" dirty="0" smtClean="0"/>
              <a:t>下</a:t>
            </a:r>
            <a:r>
              <a:rPr lang="zh-CN" altLang="zh-CN" sz="2800" b="1" dirty="0"/>
              <a:t>感染率</a:t>
            </a:r>
            <a:r>
              <a:rPr lang="en-US" altLang="zh-CN" sz="2800" b="1" i="1" dirty="0" smtClean="0">
                <a:sym typeface="Symbol" panose="05050102010706020507"/>
              </a:rPr>
              <a:t></a:t>
            </a:r>
            <a:r>
              <a:rPr lang="zh-CN" altLang="zh-CN" sz="2800" b="1" dirty="0"/>
              <a:t>是</a:t>
            </a:r>
            <a:r>
              <a:rPr lang="en-US" altLang="zh-CN" sz="2800" b="1" i="1" dirty="0"/>
              <a:t>t</a:t>
            </a:r>
            <a:r>
              <a:rPr lang="zh-CN" altLang="zh-CN" sz="2800" b="1" dirty="0"/>
              <a:t>的减函数，</a:t>
            </a:r>
            <a:r>
              <a:rPr lang="zh-CN" altLang="en-US" sz="2800" b="1" dirty="0">
                <a:sym typeface="+mn-ea"/>
              </a:rPr>
              <a:t>经过多次数</a:t>
            </a:r>
            <a:endParaRPr lang="zh-CN" altLang="en-US" sz="2800" b="1" dirty="0">
              <a:sym typeface="+mn-ea"/>
            </a:endParaRPr>
          </a:p>
          <a:p>
            <a:pPr algn="l"/>
            <a:endParaRPr lang="zh-CN" altLang="en-US" sz="2800" b="1" dirty="0">
              <a:sym typeface="+mn-ea"/>
            </a:endParaRPr>
          </a:p>
          <a:p>
            <a:pPr algn="l"/>
            <a:r>
              <a:rPr lang="zh-CN" altLang="en-US" sz="2800" b="1" dirty="0">
                <a:sym typeface="+mn-ea"/>
              </a:rPr>
              <a:t>值计算确定</a:t>
            </a:r>
            <a:endParaRPr lang="zh-CN" altLang="en-US" sz="2800" b="1" dirty="0"/>
          </a:p>
        </p:txBody>
      </p:sp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237" y="2099260"/>
            <a:ext cx="1880679" cy="8750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76910" y="3130550"/>
            <a:ext cx="2221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模型求解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80752" y="5788132"/>
            <a:ext cx="385572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实际数据与计算值相当接近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20893" y="4057147"/>
            <a:ext cx="3628861" cy="14204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i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(0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 = 477, 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(0) = 286,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 Q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(0) = 191, 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(0) = 848, 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(0) =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1213.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96373" y="2949559"/>
            <a:ext cx="3435652" cy="9772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2003.4.21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各个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人群的数量为初始值：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89054" y="5762151"/>
            <a:ext cx="3876724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各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zh-CN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endParaRPr lang="zh-CN" altLang="en-US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993770" y="2487181"/>
            <a:ext cx="4748287" cy="3096344"/>
            <a:chOff x="4211960" y="2981729"/>
            <a:chExt cx="4748287" cy="3096344"/>
          </a:xfrm>
        </p:grpSpPr>
        <p:pic>
          <p:nvPicPr>
            <p:cNvPr id="137218" name="图片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960" y="2981729"/>
              <a:ext cx="4748287" cy="3096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/>
            <p:cNvSpPr/>
            <p:nvPr/>
          </p:nvSpPr>
          <p:spPr>
            <a:xfrm>
              <a:off x="5220072" y="3262921"/>
              <a:ext cx="2332990" cy="33718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正治疗的已感染</a:t>
              </a:r>
              <a:r>
                <a:rPr lang="zh-CN" altLang="zh-CN" sz="16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者</a:t>
              </a:r>
              <a:r>
                <a:rPr lang="en-US" altLang="zh-CN" sz="16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J </a:t>
              </a:r>
              <a:r>
                <a:rPr lang="en-US" altLang="zh-CN" sz="16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altLang="zh-CN" sz="16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ldLvl="0" animBg="1"/>
      <p:bldP spid="7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222440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/>
              <a:t>小结与评注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4350" y="3421380"/>
            <a:ext cx="10798810" cy="114871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人群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的细分必然要引进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更多的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如果参数很难估计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 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即便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模型很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精细也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得不到好的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9750" y="1268730"/>
            <a:ext cx="10764520" cy="61912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SIR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模型基础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建立的模型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差别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在于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人群划分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参数定义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750" y="2080260"/>
            <a:ext cx="10956290" cy="114871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求解结果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是否与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实际吻合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关键在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参数估计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而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参数估计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的结果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于是否有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充分的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750" y="4762500"/>
            <a:ext cx="10668000" cy="114871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传染病传播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过程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大多是变化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根据数据拟合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参数的时间</a:t>
            </a:r>
            <a:r>
              <a:rPr lang="zh-CN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 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再用</a:t>
            </a:r>
            <a:r>
              <a:rPr lang="zh-CN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模型计算</a:t>
            </a:r>
            <a:r>
              <a:rPr lang="en-US" altLang="zh-CN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338137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</a:t>
            </a:r>
            <a:r>
              <a:rPr lang="zh-CN" altLang="en-US" sz="3200" b="1" dirty="0"/>
              <a:t>模型代码实现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3.7,&quot;left&quot;:13.7,&quot;top&quot;:99.55,&quot;width&quot;:912.2}"/>
</p:tagLst>
</file>

<file path=ppt/tags/tag2.xml><?xml version="1.0" encoding="utf-8"?>
<p:tagLst xmlns:p="http://schemas.openxmlformats.org/presentationml/2006/main">
  <p:tag name="KSO_WM_DIAGRAM_VIRTUALLY_FRAME" val="{&quot;height&quot;:353.7,&quot;left&quot;:13.7,&quot;top&quot;:99.55,&quot;width&quot;:912.2}"/>
</p:tagLst>
</file>

<file path=ppt/tags/tag3.xml><?xml version="1.0" encoding="utf-8"?>
<p:tagLst xmlns:p="http://schemas.openxmlformats.org/presentationml/2006/main">
  <p:tag name="KSO_WM_DIAGRAM_VIRTUALLY_FRAME" val="{&quot;height&quot;:353.7,&quot;left&quot;:13.7,&quot;top&quot;:99.55,&quot;width&quot;:912.2}"/>
</p:tagLst>
</file>

<file path=ppt/tags/tag4.xml><?xml version="1.0" encoding="utf-8"?>
<p:tagLst xmlns:p="http://schemas.openxmlformats.org/presentationml/2006/main">
  <p:tag name="KSO_WM_DIAGRAM_VIRTUALLY_FRAME" val="{&quot;height&quot;:353.7,&quot;left&quot;:13.7,&quot;top&quot;:99.55,&quot;width&quot;:912.2}"/>
</p:tagLst>
</file>

<file path=ppt/tags/tag5.xml><?xml version="1.0" encoding="utf-8"?>
<p:tagLst xmlns:p="http://schemas.openxmlformats.org/presentationml/2006/main">
  <p:tag name="TABLE_ENDDRAG_ORIGIN_RECT" val="709*161"/>
  <p:tag name="TABLE_ENDDRAG_RECT" val="142*80*709*161"/>
</p:tagLst>
</file>

<file path=ppt/tags/tag6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7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8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9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10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11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12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13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14.xml><?xml version="1.0" encoding="utf-8"?>
<p:tagLst xmlns:p="http://schemas.openxmlformats.org/presentationml/2006/main">
  <p:tag name="KSO_WM_DIAGRAM_VIRTUALLY_FRAME" val="{&quot;height&quot;:374.57763779527556,&quot;left&quot;:-1.8769291338582677,&quot;top&quot;:54.3648031496063,&quot;width&quot;:706.4103937007874}"/>
</p:tagLst>
</file>

<file path=ppt/tags/tag15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16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17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18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19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0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1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2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3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4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5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6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7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8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29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30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31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32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33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ags/tag34.xml><?xml version="1.0" encoding="utf-8"?>
<p:tagLst xmlns:p="http://schemas.openxmlformats.org/presentationml/2006/main">
  <p:tag name="KSO_WM_DIAGRAM_VIRTUALLY_FRAME" val="{&quot;height&quot;:164.42771653543304,&quot;left&quot;:280.62110236220474,&quot;top&quot;:130.60976377952755,&quot;width&quot;:419.57417322834647}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5163</Words>
  <Application>WPS 演示</Application>
  <PresentationFormat>宽屏</PresentationFormat>
  <Paragraphs>678</Paragraphs>
  <Slides>33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33</vt:i4>
      </vt:variant>
    </vt:vector>
  </HeadingPairs>
  <TitlesOfParts>
    <vt:vector size="73" baseType="lpstr">
      <vt:lpstr>Arial</vt:lpstr>
      <vt:lpstr>宋体</vt:lpstr>
      <vt:lpstr>Wingdings</vt:lpstr>
      <vt:lpstr>Tahoma</vt:lpstr>
      <vt:lpstr>ESSTIXThirteen</vt:lpstr>
      <vt:lpstr>Segoe Print</vt:lpstr>
      <vt:lpstr>微软雅黑</vt:lpstr>
      <vt:lpstr>Times New Roman</vt:lpstr>
      <vt:lpstr>Times New Roman</vt:lpstr>
      <vt:lpstr>Symbol</vt:lpstr>
      <vt:lpstr>Arial Unicode MS</vt:lpstr>
      <vt:lpstr>等线</vt:lpstr>
      <vt:lpstr>Symbol</vt:lpstr>
      <vt:lpstr>Cambria Math</vt:lpstr>
      <vt:lpstr>MS Mincho</vt:lpstr>
      <vt:lpstr>Blends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英杰 范</dc:creator>
  <cp:lastModifiedBy>风华正茂Dango.</cp:lastModifiedBy>
  <cp:revision>53</cp:revision>
  <dcterms:created xsi:type="dcterms:W3CDTF">2024-12-25T11:23:00Z</dcterms:created>
  <dcterms:modified xsi:type="dcterms:W3CDTF">2024-12-30T08:08:28Z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1DB064B3CF08452FB3A974CE20ACECC5_12</vt:lpwstr>
  </property>
  <property fmtid="{D5CDD505-2E9C-101B-9397-08002B2CF9AE}" pid="3" name="KSOProductBuildVer">
    <vt:lpwstr>2052-12.1.0.19770</vt:lpwstr>
  </property>
</Properties>
</file>