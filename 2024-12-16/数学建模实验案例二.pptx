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427" r:id="rId3"/>
    <p:sldId id="451" r:id="rId5"/>
    <p:sldId id="450" r:id="rId6"/>
    <p:sldId id="481" r:id="rId7"/>
    <p:sldId id="482" r:id="rId8"/>
    <p:sldId id="491" r:id="rId9"/>
    <p:sldId id="492" r:id="rId10"/>
    <p:sldId id="493" r:id="rId11"/>
    <p:sldId id="490" r:id="rId12"/>
    <p:sldId id="483" r:id="rId13"/>
    <p:sldId id="448" r:id="rId14"/>
    <p:sldId id="513" r:id="rId15"/>
    <p:sldId id="511" r:id="rId16"/>
    <p:sldId id="514" r:id="rId17"/>
    <p:sldId id="515" r:id="rId18"/>
    <p:sldId id="516" r:id="rId19"/>
    <p:sldId id="484" r:id="rId20"/>
    <p:sldId id="485" r:id="rId21"/>
    <p:sldId id="518" r:id="rId22"/>
    <p:sldId id="512" r:id="rId23"/>
    <p:sldId id="517" r:id="rId24"/>
    <p:sldId id="519" r:id="rId25"/>
    <p:sldId id="520" r:id="rId26"/>
    <p:sldId id="521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  <a:srgbClr val="ACC4E2"/>
    <a:srgbClr val="AC0000"/>
    <a:srgbClr val="ACECFF"/>
    <a:srgbClr val="0066CC"/>
    <a:srgbClr val="3366FF"/>
    <a:srgbClr val="3399FF"/>
    <a:srgbClr val="CCECFF"/>
    <a:srgbClr val="99CCFF"/>
    <a:srgbClr val="63A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93" autoAdjust="0"/>
  </p:normalViewPr>
  <p:slideViewPr>
    <p:cSldViewPr snapToGrid="0">
      <p:cViewPr varScale="1">
        <p:scale>
          <a:sx n="103" d="100"/>
          <a:sy n="103" d="100"/>
        </p:scale>
        <p:origin x="91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246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99BCC-28D2-400C-B4C5-03AB5D6765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F0BFA-928B-4766-805F-B52709DC18A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402536-601D-4846-A2C4-23D77D4A1C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A57155-E3C6-4F2E-B0D8-7E8340E399A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1"/>
          <p:cNvSpPr>
            <a:spLocks noGrp="1"/>
          </p:cNvSpPr>
          <p:nvPr>
            <p:ph type="dt" sz="half" idx="2"/>
          </p:nvPr>
        </p:nvSpPr>
        <p:spPr>
          <a:xfrm>
            <a:off x="912813" y="6243638"/>
            <a:ext cx="3551238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45516B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621C1B-9B12-4B87-AE8A-1E39D47D37F2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5516B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5516B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9169400" y="6243638"/>
            <a:ext cx="27606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EDE836-9165-420B-BD50-9F340EB63492}" type="slidenum">
              <a: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464050" y="6243638"/>
            <a:ext cx="4319588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数学实验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ESSTIXThirteen" pitchFamily="2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8265039" y="80929"/>
            <a:ext cx="3763685" cy="800421"/>
            <a:chOff x="12972" y="363"/>
            <a:chExt cx="6981" cy="1355"/>
          </a:xfrm>
        </p:grpSpPr>
        <p:pic>
          <p:nvPicPr>
            <p:cNvPr id="6" name="图片 5"/>
            <p:cNvPicPr/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12972" y="431"/>
              <a:ext cx="1446" cy="1287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>
              <p:custDataLst>
                <p:tags r:id="rId4"/>
              </p:custDataLst>
            </p:nvPr>
          </p:nvSpPr>
          <p:spPr>
            <a:xfrm>
              <a:off x="13934" y="363"/>
              <a:ext cx="6019" cy="1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500" b="1" dirty="0">
                  <a:solidFill>
                    <a:srgbClr val="28569F"/>
                  </a:solidFill>
                  <a:latin typeface="华文新魏" panose="02010800040101010101" charset="-122"/>
                  <a:ea typeface="华文新魏" panose="02010800040101010101" charset="-122"/>
                </a:rPr>
                <a:t>数</a:t>
              </a:r>
              <a:r>
                <a:rPr lang="en-US" altLang="zh-CN" sz="3500" b="1" dirty="0">
                  <a:solidFill>
                    <a:srgbClr val="28569F"/>
                  </a:solidFill>
                  <a:latin typeface="华文新魏" panose="02010800040101010101" charset="-122"/>
                  <a:ea typeface="华文新魏" panose="02010800040101010101" charset="-122"/>
                </a:rPr>
                <a:t> </a:t>
              </a:r>
              <a:r>
                <a:rPr lang="zh-CN" altLang="en-US" sz="3500" b="1" dirty="0">
                  <a:solidFill>
                    <a:srgbClr val="28569F"/>
                  </a:solidFill>
                  <a:latin typeface="华文新魏" panose="02010800040101010101" charset="-122"/>
                  <a:ea typeface="华文新魏" panose="02010800040101010101" charset="-122"/>
                </a:rPr>
                <a:t>理</a:t>
              </a:r>
              <a:r>
                <a:rPr lang="en-US" altLang="zh-CN" sz="3500" b="1" dirty="0">
                  <a:solidFill>
                    <a:srgbClr val="28569F"/>
                  </a:solidFill>
                  <a:latin typeface="华文新魏" panose="02010800040101010101" charset="-122"/>
                  <a:ea typeface="华文新魏" panose="02010800040101010101" charset="-122"/>
                </a:rPr>
                <a:t> </a:t>
              </a:r>
              <a:r>
                <a:rPr lang="zh-CN" altLang="en-US" sz="3500" b="1" dirty="0">
                  <a:solidFill>
                    <a:srgbClr val="28569F"/>
                  </a:solidFill>
                  <a:latin typeface="华文新魏" panose="02010800040101010101" charset="-122"/>
                  <a:ea typeface="华文新魏" panose="02010800040101010101" charset="-122"/>
                </a:rPr>
                <a:t>学</a:t>
              </a:r>
              <a:r>
                <a:rPr lang="en-US" altLang="zh-CN" sz="3500" b="1" dirty="0">
                  <a:solidFill>
                    <a:srgbClr val="28569F"/>
                  </a:solidFill>
                  <a:latin typeface="华文新魏" panose="02010800040101010101" charset="-122"/>
                  <a:ea typeface="华文新魏" panose="02010800040101010101" charset="-122"/>
                </a:rPr>
                <a:t> </a:t>
              </a:r>
              <a:r>
                <a:rPr lang="zh-CN" altLang="en-US" sz="3500" b="1" dirty="0">
                  <a:solidFill>
                    <a:srgbClr val="28569F"/>
                  </a:solidFill>
                  <a:latin typeface="华文新魏" panose="02010800040101010101" charset="-122"/>
                  <a:ea typeface="华文新魏" panose="02010800040101010101" charset="-122"/>
                </a:rPr>
                <a:t>院</a:t>
              </a:r>
              <a:endParaRPr lang="zh-CN" altLang="en-US" sz="3600" b="1" dirty="0">
                <a:solidFill>
                  <a:srgbClr val="28569F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  <a:p>
              <a:pPr algn="ctr"/>
              <a:r>
                <a:rPr lang="en-US" altLang="zh-CN" sz="1500" b="1" dirty="0">
                  <a:solidFill>
                    <a:srgbClr val="28569F"/>
                  </a:solidFill>
                  <a:latin typeface="Times New Roman" panose="02020603050405020304" charset="0"/>
                  <a:ea typeface="华文新魏" panose="02010800040101010101" charset="-122"/>
                  <a:cs typeface="Times New Roman" panose="02020603050405020304" charset="0"/>
                  <a:sym typeface="+mn-ea"/>
                </a:rPr>
                <a:t>School of Mathematics &amp; Physics</a:t>
              </a:r>
              <a:endParaRPr lang="en-US" altLang="zh-CN" sz="1500" b="1" dirty="0">
                <a:solidFill>
                  <a:srgbClr val="28569F"/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 userDrawn="1"/>
        </p:nvGrpSpPr>
        <p:grpSpPr>
          <a:xfrm>
            <a:off x="239713" y="115888"/>
            <a:ext cx="11388725" cy="1052512"/>
            <a:chOff x="0" y="0"/>
            <a:chExt cx="5381" cy="663"/>
          </a:xfrm>
        </p:grpSpPr>
        <p:sp>
          <p:nvSpPr>
            <p:cNvPr id="1030" name="Rectangle 3"/>
            <p:cNvSpPr>
              <a:spLocks noChangeArrowheads="1"/>
            </p:cNvSpPr>
            <p:nvPr/>
          </p:nvSpPr>
          <p:spPr bwMode="auto">
            <a:xfrm>
              <a:off x="183" y="68"/>
              <a:ext cx="27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1" name="Rectangle 4"/>
            <p:cNvSpPr>
              <a:spLocks noChangeArrowheads="1"/>
            </p:cNvSpPr>
            <p:nvPr/>
          </p:nvSpPr>
          <p:spPr bwMode="auto">
            <a:xfrm>
              <a:off x="424" y="68"/>
              <a:ext cx="207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261" y="334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494" y="334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199" y="498"/>
              <a:ext cx="5182" cy="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7" name="Rectangle 10"/>
          <p:cNvSpPr>
            <a:spLocks noGrp="1"/>
          </p:cNvSpPr>
          <p:nvPr>
            <p:ph type="title"/>
          </p:nvPr>
        </p:nvSpPr>
        <p:spPr>
          <a:xfrm>
            <a:off x="1535113" y="214313"/>
            <a:ext cx="10390187" cy="98266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8" name="Rectangle 11"/>
          <p:cNvSpPr>
            <a:spLocks noGrp="1"/>
          </p:cNvSpPr>
          <p:nvPr>
            <p:ph type="body" idx="1"/>
          </p:nvPr>
        </p:nvSpPr>
        <p:spPr>
          <a:xfrm>
            <a:off x="1576388" y="1341438"/>
            <a:ext cx="10363200" cy="47910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029" name="Rectangle 15"/>
          <p:cNvSpPr>
            <a:spLocks noChangeArrowheads="1"/>
          </p:cNvSpPr>
          <p:nvPr/>
        </p:nvSpPr>
        <p:spPr bwMode="auto">
          <a:xfrm>
            <a:off x="877888" y="6237288"/>
            <a:ext cx="109696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609600" indent="-609600" algn="l" rtl="0" eaLnBrk="0" fontAlgn="base" hangingPunct="0">
        <a:spcBef>
          <a:spcPct val="20000"/>
        </a:spcBef>
        <a:spcAft>
          <a:spcPct val="0"/>
        </a:spcAft>
        <a:buClr>
          <a:srgbClr val="4D009A"/>
        </a:buClr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5334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371600" indent="-4572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Ø"/>
        <a:defRPr sz="2400">
          <a:solidFill>
            <a:schemeClr val="tx1"/>
          </a:solidFill>
          <a:latin typeface="+mn-lt"/>
          <a:ea typeface="+mn-ea"/>
        </a:defRPr>
      </a:lvl3pPr>
      <a:lvl4pPr marL="1752600" indent="-3810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4pPr>
      <a:lvl5pPr marL="2209800" indent="-3810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5pPr>
      <a:lvl6pPr marL="2667000" indent="-3810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6pPr>
      <a:lvl7pPr marL="3124200" indent="-3810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7pPr>
      <a:lvl8pPr marL="3581400" indent="-3810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8pPr>
      <a:lvl9pPr marL="4038600" indent="-3810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1" Type="http://schemas.openxmlformats.org/officeDocument/2006/relationships/notesSlide" Target="../notesSlides/notesSlide4.xml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9.wmf"/><Relationship Id="rId1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3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9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9.wmf"/><Relationship Id="rId11" Type="http://schemas.openxmlformats.org/officeDocument/2006/relationships/notesSlide" Target="../notesSlides/notesSlide9.xml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15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4953" y="2298279"/>
            <a:ext cx="11949533" cy="2064401"/>
          </a:xfrm>
          <a:prstGeom prst="rect">
            <a:avLst/>
          </a:prstGeom>
          <a:solidFill>
            <a:srgbClr val="132A8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4" tIns="25717" rIns="51434" bIns="25717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70" b="0" i="0" u="none" strike="noStrike" kern="1200" cap="none" spc="0" normalizeH="0" baseline="0" noProof="1">
                <a:ln>
                  <a:noFill/>
                </a:ln>
                <a:solidFill>
                  <a:srgbClr val="1B0F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070" b="0" i="0" u="none" strike="noStrike" kern="1200" cap="none" spc="0" normalizeH="0" baseline="0" noProof="1">
              <a:ln>
                <a:noFill/>
              </a:ln>
              <a:solidFill>
                <a:srgbClr val="1B0FB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1507" name="组合 8"/>
          <p:cNvGrpSpPr/>
          <p:nvPr/>
        </p:nvGrpSpPr>
        <p:grpSpPr>
          <a:xfrm>
            <a:off x="136066" y="2458617"/>
            <a:ext cx="11893451" cy="1738810"/>
            <a:chOff x="0" y="3256"/>
            <a:chExt cx="19198" cy="2751"/>
          </a:xfrm>
        </p:grpSpPr>
        <p:sp>
          <p:nvSpPr>
            <p:cNvPr id="21510" name="TextBox 22"/>
            <p:cNvSpPr txBox="1"/>
            <p:nvPr/>
          </p:nvSpPr>
          <p:spPr>
            <a:xfrm>
              <a:off x="1023" y="3256"/>
              <a:ext cx="16592" cy="249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1434" tIns="25717" rIns="51434" bIns="25717">
              <a:spAutoFit/>
            </a:bodyPr>
            <a:lstStyle/>
            <a:p>
              <a:pPr algn="ctr" eaLnBrk="1" hangingPunct="1"/>
              <a:r>
                <a:rPr lang="zh-CN" altLang="en-US" sz="3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数学建模实验案例二</a:t>
              </a:r>
              <a:endParaRPr lang="en-US" altLang="zh-CN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endParaRPr lang="en-US" altLang="zh-CN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3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SIR</a:t>
              </a:r>
              <a:r>
                <a:rPr lang="zh-CN" altLang="en-US" sz="3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模型的</a:t>
              </a:r>
              <a:r>
                <a:rPr lang="en-US" altLang="zh-CN" sz="3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MWORKS</a:t>
              </a:r>
              <a:r>
                <a:rPr lang="zh-CN" altLang="en-US" sz="3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求解</a:t>
              </a:r>
              <a:endParaRPr lang="zh-CN" altLang="en-US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1511" name="直接连接符 10"/>
            <p:cNvCxnSpPr/>
            <p:nvPr/>
          </p:nvCxnSpPr>
          <p:spPr>
            <a:xfrm>
              <a:off x="0" y="6007"/>
              <a:ext cx="19198" cy="0"/>
            </a:xfrm>
            <a:prstGeom prst="line">
              <a:avLst/>
            </a:prstGeom>
            <a:ln w="190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1512" name="直接连接符 11"/>
            <p:cNvCxnSpPr/>
            <p:nvPr/>
          </p:nvCxnSpPr>
          <p:spPr>
            <a:xfrm>
              <a:off x="0" y="3256"/>
              <a:ext cx="19198" cy="0"/>
            </a:xfrm>
            <a:prstGeom prst="line">
              <a:avLst/>
            </a:prstGeom>
            <a:ln w="190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cxnSp>
      </p:grpSp>
      <p:pic>
        <p:nvPicPr>
          <p:cNvPr id="21509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603" y="0"/>
            <a:ext cx="4640511" cy="8262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Tm="6483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898277" cy="5847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/>
              <a:t>实验背景</a:t>
            </a:r>
            <a:endParaRPr lang="zh-CN" altLang="en-US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568778" y="1480742"/>
            <a:ext cx="11054443" cy="388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>
              <a:lnSpc>
                <a:spcPct val="150000"/>
              </a:lnSpc>
            </a:pP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  SIR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模型是一种经典的传染病模型，用于描述易感者（</a:t>
            </a: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Susceptible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）、感染者（</a:t>
            </a: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Infected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）和康复者（</a:t>
            </a: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Recovered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）三类人群在传染病传播过程中的动态变化。该模型由</a:t>
            </a: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W. O. Kermack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和</a:t>
            </a: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A.G.McKendrick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在</a:t>
            </a: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1927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年提出，是传染病动力学研究的基础，已成为最成功、最著名的传染病传播模型之一。各国的健康卫生机构针对各类流行病的特点拓展了各种升级版的</a:t>
            </a: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SIR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模型，其在流行病预防和控制决策起到了重要作用。</a:t>
            </a:r>
            <a:endParaRPr lang="zh-CN" altLang="en-US" sz="2800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 advTm="6483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832553" cy="5847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/>
              <a:t>实验要求</a:t>
            </a:r>
            <a:endParaRPr lang="zh-CN" altLang="en-US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104899" y="1803907"/>
            <a:ext cx="1003315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>
              <a:lnSpc>
                <a:spcPct val="150000"/>
              </a:lnSpc>
            </a:pP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熟练掌握</a:t>
            </a: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MWORKS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软件的科学计算及绘图的相关功能；</a:t>
            </a:r>
            <a:endParaRPr lang="zh-CN" altLang="en-US" sz="2800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indent="267970" algn="just">
              <a:lnSpc>
                <a:spcPct val="150000"/>
              </a:lnSpc>
            </a:pP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结合参考教材</a:t>
            </a: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5.10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（传染病模型和</a:t>
            </a: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SARS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的传播），建立经典</a:t>
            </a: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SIR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模型，要求给出建模全过程；</a:t>
            </a:r>
            <a:endParaRPr lang="zh-CN" altLang="en-US" sz="2800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indent="267970" algn="just">
              <a:lnSpc>
                <a:spcPct val="150000"/>
              </a:lnSpc>
            </a:pP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3. 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利用</a:t>
            </a: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MWORKS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求解</a:t>
            </a: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SIR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模型，结合教材内容，讨论参数变化时各类人群的变化规律，要求给出数值结果、变化曲线图。</a:t>
            </a:r>
            <a:endParaRPr lang="zh-CN" altLang="en-US" sz="2800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 advTm="6483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572260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3200" b="1" dirty="0"/>
              <a:t>SI </a:t>
            </a:r>
            <a:r>
              <a:rPr lang="zh-CN" altLang="en-US" sz="3200" b="1" dirty="0"/>
              <a:t>模型</a:t>
            </a:r>
            <a:endParaRPr lang="zh-CN" altLang="en-US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1104265"/>
            <a:ext cx="11849735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>
              <a:lnSpc>
                <a:spcPct val="150000"/>
              </a:lnSpc>
            </a:pP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将人群分为两类：易感染者</a:t>
            </a: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(Susceptible,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健康人</a:t>
            </a: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)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和已感染者</a:t>
            </a: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(Infective, </a:t>
            </a:r>
            <a:r>
              <a:rPr lang="zh-CN" altLang="en-US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病人</a:t>
            </a:r>
            <a:r>
              <a:rPr lang="en-US" altLang="zh-CN" sz="2800" kern="100" dirty="0">
                <a:effectLst/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zh-CN" sz="2800" kern="10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8445" y="1841500"/>
            <a:ext cx="20593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假设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8445" y="3888105"/>
            <a:ext cx="10369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sym typeface="+mn-ea"/>
              </a:rPr>
              <a:t>建模</a:t>
            </a:r>
            <a:endParaRPr lang="zh-CN" altLang="en-US" sz="28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95400" y="1733550"/>
            <a:ext cx="10474960" cy="1081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1.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总人数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不变，时刻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健康人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病人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所占比例分别为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s(t)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(t)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,  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有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s(t)+</a:t>
            </a:r>
            <a:r>
              <a:rPr lang="en-US" altLang="zh-CN" sz="2800" b="1" dirty="0" err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(t)=1.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</a:t>
            </a:r>
            <a:endParaRPr lang="zh-CN" altLang="en-US" sz="28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95400" y="2796540"/>
            <a:ext cx="8722360" cy="10769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1" hangingPunct="1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2.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每个病人每天有效接触人数为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 pitchFamily="18" charset="2"/>
              </a:rPr>
              <a:t>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 pitchFamily="18" charset="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 pitchFamily="18" charset="2"/>
              </a:rPr>
              <a:t>日接触率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 pitchFamily="18" charset="2"/>
              </a:rPr>
              <a:t>),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 pitchFamily="18" charset="2"/>
              </a:rPr>
              <a:t>且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使接触的健康人致病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.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2063" name="Object 15"/>
          <p:cNvGraphicFramePr>
            <a:graphicFrameLocks noChangeAspect="1"/>
          </p:cNvGraphicFramePr>
          <p:nvPr/>
        </p:nvGraphicFramePr>
        <p:xfrm>
          <a:off x="1295331" y="3990850"/>
          <a:ext cx="5176936" cy="5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公式" r:id="rId1" imgW="2070100" imgH="203200" progId="Equation.3">
                  <p:embed/>
                </p:oleObj>
              </mc:Choice>
              <mc:Fallback>
                <p:oleObj name="公式" r:id="rId1" imgW="2070100" imgH="203200" progId="Equation.3">
                  <p:embed/>
                  <p:pic>
                    <p:nvPicPr>
                      <p:cNvPr id="0" name="图片 13029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331" y="3990850"/>
                        <a:ext cx="5176936" cy="5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295618" y="4563565"/>
          <a:ext cx="1734195" cy="94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" name="Equation" r:id="rId3" imgW="546100" imgH="393700" progId="Equation.DSMT4">
                  <p:embed/>
                </p:oleObj>
              </mc:Choice>
              <mc:Fallback>
                <p:oleObj name="Equation" r:id="rId3" imgW="546100" imgH="393700" progId="Equation.DSMT4">
                  <p:embed/>
                  <p:pic>
                    <p:nvPicPr>
                      <p:cNvPr id="0" name="图片 13029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618" y="4563565"/>
                        <a:ext cx="1734195" cy="94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1295331" y="5708997"/>
          <a:ext cx="2167092" cy="47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公式" r:id="rId5" imgW="989965" imgH="241300" progId="Equation.3">
                  <p:embed/>
                </p:oleObj>
              </mc:Choice>
              <mc:Fallback>
                <p:oleObj name="公式" r:id="rId5" imgW="989965" imgH="241300" progId="Equation.3">
                  <p:embed/>
                  <p:pic>
                    <p:nvPicPr>
                      <p:cNvPr id="0" name="图片 13029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331" y="5708997"/>
                        <a:ext cx="2167092" cy="47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7"/>
          <p:cNvGrpSpPr/>
          <p:nvPr/>
        </p:nvGrpSpPr>
        <p:grpSpPr bwMode="auto">
          <a:xfrm>
            <a:off x="6482085" y="4402613"/>
            <a:ext cx="3443288" cy="1382713"/>
            <a:chOff x="3216" y="2732"/>
            <a:chExt cx="2169" cy="871"/>
          </a:xfrm>
        </p:grpSpPr>
        <p:graphicFrame>
          <p:nvGraphicFramePr>
            <p:cNvPr id="2053" name="Object 4"/>
            <p:cNvGraphicFramePr>
              <a:graphicFrameLocks noChangeAspect="1"/>
            </p:cNvGraphicFramePr>
            <p:nvPr/>
          </p:nvGraphicFramePr>
          <p:xfrm>
            <a:off x="3783" y="2732"/>
            <a:ext cx="1602" cy="8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9" name="Equation" r:id="rId7" imgW="889000" imgH="660400" progId="Equation.DSMT4">
                    <p:embed/>
                  </p:oleObj>
                </mc:Choice>
                <mc:Fallback>
                  <p:oleObj name="Equation" r:id="rId7" imgW="889000" imgH="660400" progId="Equation.DSMT4">
                    <p:embed/>
                    <p:pic>
                      <p:nvPicPr>
                        <p:cNvPr id="0" name="图片 13029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3" y="2732"/>
                          <a:ext cx="1602" cy="871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4" name="AutoShape 16"/>
            <p:cNvSpPr>
              <a:spLocks noChangeArrowheads="1"/>
            </p:cNvSpPr>
            <p:nvPr/>
          </p:nvSpPr>
          <p:spPr bwMode="auto">
            <a:xfrm>
              <a:off x="3216" y="3024"/>
              <a:ext cx="192" cy="288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572260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3200" b="1" dirty="0"/>
              <a:t>SI </a:t>
            </a:r>
            <a:r>
              <a:rPr lang="zh-CN" altLang="en-US" sz="3200" b="1" dirty="0"/>
              <a:t>模型</a:t>
            </a:r>
            <a:endParaRPr lang="zh-CN" altLang="en-US" sz="3200" b="1" dirty="0"/>
          </a:p>
        </p:txBody>
      </p:sp>
      <p:graphicFrame>
        <p:nvGraphicFramePr>
          <p:cNvPr id="3109" name="Object 37"/>
          <p:cNvGraphicFramePr>
            <a:graphicFrameLocks noChangeAspect="1"/>
          </p:cNvGraphicFramePr>
          <p:nvPr/>
        </p:nvGraphicFramePr>
        <p:xfrm>
          <a:off x="1813719" y="1007745"/>
          <a:ext cx="2543175" cy="138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Equation" r:id="rId1" imgW="889000" imgH="660400" progId="Equation.DSMT4">
                  <p:embed/>
                </p:oleObj>
              </mc:Choice>
              <mc:Fallback>
                <p:oleObj name="Equation" r:id="rId1" imgW="889000" imgH="660400" progId="Equation.DSMT4">
                  <p:embed/>
                  <p:pic>
                    <p:nvPicPr>
                      <p:cNvPr id="0" name="图片 12403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3719" y="1007745"/>
                        <a:ext cx="2543175" cy="1382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0"/>
          <p:cNvGrpSpPr/>
          <p:nvPr/>
        </p:nvGrpSpPr>
        <p:grpSpPr bwMode="auto">
          <a:xfrm>
            <a:off x="4890626" y="1439546"/>
            <a:ext cx="2438400" cy="519113"/>
            <a:chOff x="3744" y="645"/>
            <a:chExt cx="1536" cy="327"/>
          </a:xfrm>
        </p:grpSpPr>
        <p:sp>
          <p:nvSpPr>
            <p:cNvPr id="3087" name="Text Box 40"/>
            <p:cNvSpPr txBox="1">
              <a:spLocks noChangeArrowheads="1"/>
            </p:cNvSpPr>
            <p:nvPr/>
          </p:nvSpPr>
          <p:spPr bwMode="auto">
            <a:xfrm>
              <a:off x="3888" y="645"/>
              <a:ext cx="13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/>
                <a:t>logistic </a:t>
              </a:r>
              <a:r>
                <a:rPr lang="zh-CN" altLang="en-US" sz="2800" b="1" dirty="0"/>
                <a:t>模型</a:t>
              </a:r>
              <a:endParaRPr lang="zh-CN" altLang="en-US" sz="2800" b="1" dirty="0"/>
            </a:p>
          </p:txBody>
        </p:sp>
        <p:sp>
          <p:nvSpPr>
            <p:cNvPr id="3088" name="AutoShape 49"/>
            <p:cNvSpPr>
              <a:spLocks noChangeArrowheads="1"/>
            </p:cNvSpPr>
            <p:nvPr/>
          </p:nvSpPr>
          <p:spPr bwMode="auto">
            <a:xfrm>
              <a:off x="3744" y="684"/>
              <a:ext cx="144" cy="288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55"/>
          <p:cNvGrpSpPr/>
          <p:nvPr/>
        </p:nvGrpSpPr>
        <p:grpSpPr bwMode="auto">
          <a:xfrm>
            <a:off x="1543933" y="2468666"/>
            <a:ext cx="3879850" cy="3033713"/>
            <a:chOff x="436" y="960"/>
            <a:chExt cx="2444" cy="1911"/>
          </a:xfrm>
        </p:grpSpPr>
        <p:sp>
          <p:nvSpPr>
            <p:cNvPr id="3089" name="Line 3"/>
            <p:cNvSpPr>
              <a:spLocks noChangeShapeType="1"/>
            </p:cNvSpPr>
            <p:nvPr/>
          </p:nvSpPr>
          <p:spPr bwMode="auto">
            <a:xfrm>
              <a:off x="635" y="2594"/>
              <a:ext cx="19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0" name="Line 4"/>
            <p:cNvSpPr>
              <a:spLocks noChangeShapeType="1"/>
            </p:cNvSpPr>
            <p:nvPr/>
          </p:nvSpPr>
          <p:spPr bwMode="auto">
            <a:xfrm flipV="1">
              <a:off x="635" y="1059"/>
              <a:ext cx="0" cy="1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1" name="Arc 8"/>
            <p:cNvSpPr/>
            <p:nvPr/>
          </p:nvSpPr>
          <p:spPr bwMode="auto">
            <a:xfrm flipV="1">
              <a:off x="635" y="1920"/>
              <a:ext cx="499" cy="377"/>
            </a:xfrm>
            <a:custGeom>
              <a:avLst/>
              <a:gdLst>
                <a:gd name="T0" fmla="*/ 0 w 21600"/>
                <a:gd name="T1" fmla="*/ 0 h 21600"/>
                <a:gd name="T2" fmla="*/ 12 w 21600"/>
                <a:gd name="T3" fmla="*/ 7 h 21600"/>
                <a:gd name="T4" fmla="*/ 0 w 21600"/>
                <a:gd name="T5" fmla="*/ 7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2" name="Arc 9"/>
            <p:cNvSpPr/>
            <p:nvPr/>
          </p:nvSpPr>
          <p:spPr bwMode="auto">
            <a:xfrm flipH="1">
              <a:off x="1132" y="1356"/>
              <a:ext cx="932" cy="737"/>
            </a:xfrm>
            <a:custGeom>
              <a:avLst/>
              <a:gdLst>
                <a:gd name="T0" fmla="*/ 5 w 21226"/>
                <a:gd name="T1" fmla="*/ 0 h 21448"/>
                <a:gd name="T2" fmla="*/ 41 w 21226"/>
                <a:gd name="T3" fmla="*/ 21 h 21448"/>
                <a:gd name="T4" fmla="*/ 0 w 21226"/>
                <a:gd name="T5" fmla="*/ 25 h 21448"/>
                <a:gd name="T6" fmla="*/ 0 60000 65536"/>
                <a:gd name="T7" fmla="*/ 0 60000 65536"/>
                <a:gd name="T8" fmla="*/ 0 60000 65536"/>
                <a:gd name="T9" fmla="*/ 0 w 21226"/>
                <a:gd name="T10" fmla="*/ 0 h 21448"/>
                <a:gd name="T11" fmla="*/ 21226 w 21226"/>
                <a:gd name="T12" fmla="*/ 21448 h 214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226" h="21448" fill="none" extrusionOk="0">
                  <a:moveTo>
                    <a:pt x="2555" y="-1"/>
                  </a:moveTo>
                  <a:cubicBezTo>
                    <a:pt x="11919" y="1115"/>
                    <a:pt x="19478" y="8177"/>
                    <a:pt x="21225" y="17445"/>
                  </a:cubicBezTo>
                </a:path>
                <a:path w="21226" h="21448" stroke="0" extrusionOk="0">
                  <a:moveTo>
                    <a:pt x="2555" y="-1"/>
                  </a:moveTo>
                  <a:cubicBezTo>
                    <a:pt x="11919" y="1115"/>
                    <a:pt x="19478" y="8177"/>
                    <a:pt x="21225" y="17445"/>
                  </a:cubicBezTo>
                  <a:lnTo>
                    <a:pt x="0" y="21448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3" name="Text Box 10"/>
            <p:cNvSpPr txBox="1">
              <a:spLocks noChangeArrowheads="1"/>
            </p:cNvSpPr>
            <p:nvPr/>
          </p:nvSpPr>
          <p:spPr bwMode="auto">
            <a:xfrm>
              <a:off x="685" y="960"/>
              <a:ext cx="3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b="1" i="1"/>
            </a:p>
          </p:txBody>
        </p:sp>
        <p:sp>
          <p:nvSpPr>
            <p:cNvPr id="3094" name="Text Box 11"/>
            <p:cNvSpPr txBox="1">
              <a:spLocks noChangeArrowheads="1"/>
            </p:cNvSpPr>
            <p:nvPr/>
          </p:nvSpPr>
          <p:spPr bwMode="auto">
            <a:xfrm>
              <a:off x="436" y="2148"/>
              <a:ext cx="4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baseline="-25000"/>
                <a:t>0</a:t>
              </a:r>
              <a:endParaRPr lang="en-US" altLang="zh-CN" b="1"/>
            </a:p>
          </p:txBody>
        </p:sp>
        <p:sp>
          <p:nvSpPr>
            <p:cNvPr id="3095" name="Text Box 14"/>
            <p:cNvSpPr txBox="1">
              <a:spLocks noChangeArrowheads="1"/>
            </p:cNvSpPr>
            <p:nvPr/>
          </p:nvSpPr>
          <p:spPr bwMode="auto">
            <a:xfrm>
              <a:off x="486" y="1208"/>
              <a:ext cx="2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1</a:t>
              </a:r>
              <a:endParaRPr lang="en-US" altLang="zh-CN" b="1"/>
            </a:p>
          </p:txBody>
        </p:sp>
        <p:sp>
          <p:nvSpPr>
            <p:cNvPr id="3096" name="Text Box 15"/>
            <p:cNvSpPr txBox="1">
              <a:spLocks noChangeArrowheads="1"/>
            </p:cNvSpPr>
            <p:nvPr/>
          </p:nvSpPr>
          <p:spPr bwMode="auto">
            <a:xfrm>
              <a:off x="486" y="2534"/>
              <a:ext cx="3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0</a:t>
              </a:r>
              <a:endParaRPr lang="en-US" altLang="zh-CN" b="1"/>
            </a:p>
          </p:txBody>
        </p:sp>
        <p:sp>
          <p:nvSpPr>
            <p:cNvPr id="3097" name="Text Box 17"/>
            <p:cNvSpPr txBox="1">
              <a:spLocks noChangeArrowheads="1"/>
            </p:cNvSpPr>
            <p:nvPr/>
          </p:nvSpPr>
          <p:spPr bwMode="auto">
            <a:xfrm>
              <a:off x="2431" y="2583"/>
              <a:ext cx="4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t</a:t>
              </a:r>
              <a:endParaRPr lang="en-US" altLang="zh-CN" b="1" i="1"/>
            </a:p>
          </p:txBody>
        </p:sp>
        <p:sp>
          <p:nvSpPr>
            <p:cNvPr id="3098" name="Line 41"/>
            <p:cNvSpPr>
              <a:spLocks noChangeShapeType="1"/>
            </p:cNvSpPr>
            <p:nvPr/>
          </p:nvSpPr>
          <p:spPr bwMode="auto">
            <a:xfrm flipH="1">
              <a:off x="635" y="1307"/>
              <a:ext cx="14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120" name="Object 48"/>
          <p:cNvGraphicFramePr>
            <a:graphicFrameLocks noChangeAspect="1"/>
          </p:cNvGraphicFramePr>
          <p:nvPr/>
        </p:nvGraphicFramePr>
        <p:xfrm>
          <a:off x="1813808" y="5493622"/>
          <a:ext cx="2434697" cy="489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公式" r:id="rId3" imgW="977265" imgH="203200" progId="Equation.3">
                  <p:embed/>
                </p:oleObj>
              </mc:Choice>
              <mc:Fallback>
                <p:oleObj name="公式" r:id="rId3" imgW="977265" imgH="203200" progId="Equation.3">
                  <p:embed/>
                  <p:pic>
                    <p:nvPicPr>
                      <p:cNvPr id="0" name="图片 12403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3808" y="5493622"/>
                        <a:ext cx="2434697" cy="489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269865" y="55587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没有考虑病人可以治愈！</a:t>
            </a:r>
            <a:endParaRPr lang="zh-CN" altLang="en-US" sz="28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3128" name="Text Box 56"/>
          <p:cNvSpPr txBox="1">
            <a:spLocks noChangeArrowheads="1"/>
          </p:cNvSpPr>
          <p:nvPr/>
        </p:nvSpPr>
        <p:spPr bwMode="auto">
          <a:xfrm>
            <a:off x="6182058" y="2713776"/>
            <a:ext cx="2809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t=t</a:t>
            </a:r>
            <a:r>
              <a:rPr lang="en-US" altLang="zh-CN" sz="2800" b="1" baseline="-25000" dirty="0"/>
              <a:t>m</a:t>
            </a:r>
            <a:r>
              <a:rPr lang="en-US" altLang="zh-CN" sz="2800" b="1" dirty="0"/>
              <a:t>, di/dt </a:t>
            </a:r>
            <a:r>
              <a:rPr lang="zh-CN" altLang="zh-CN" sz="2800" b="1" dirty="0"/>
              <a:t>最大</a:t>
            </a:r>
            <a:endParaRPr lang="zh-CN" altLang="en-US" sz="2800" b="1" dirty="0"/>
          </a:p>
        </p:txBody>
      </p:sp>
      <p:sp>
        <p:nvSpPr>
          <p:cNvPr id="3116" name="Text Box 44"/>
          <p:cNvSpPr txBox="1">
            <a:spLocks noChangeArrowheads="1"/>
          </p:cNvSpPr>
          <p:nvPr/>
        </p:nvSpPr>
        <p:spPr bwMode="auto">
          <a:xfrm>
            <a:off x="6026043" y="3746128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t</a:t>
            </a:r>
            <a:r>
              <a:rPr lang="en-US" altLang="zh-CN" sz="2800" b="1" baseline="-25000" dirty="0"/>
              <a:t>m</a:t>
            </a:r>
            <a:r>
              <a:rPr lang="en-US" altLang="zh-CN" sz="2800" b="1" dirty="0"/>
              <a:t>~</a:t>
            </a:r>
            <a:r>
              <a:rPr lang="zh-CN" altLang="en-US" sz="2800" b="1" dirty="0"/>
              <a:t>传染病高潮到来时刻</a:t>
            </a:r>
            <a:endParaRPr lang="zh-CN" altLang="en-US" sz="2800" b="1" dirty="0"/>
          </a:p>
        </p:txBody>
      </p:sp>
      <p:sp>
        <p:nvSpPr>
          <p:cNvPr id="3118" name="Text Box 46"/>
          <p:cNvSpPr txBox="1">
            <a:spLocks noChangeArrowheads="1"/>
          </p:cNvSpPr>
          <p:nvPr/>
        </p:nvSpPr>
        <p:spPr bwMode="auto">
          <a:xfrm>
            <a:off x="6026043" y="4778319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ym typeface="Symbol" panose="05050102010706020507" pitchFamily="18" charset="2"/>
              </a:rPr>
              <a:t> (</a:t>
            </a:r>
            <a:r>
              <a:rPr lang="zh-CN" altLang="en-US" sz="2800" b="1" dirty="0">
                <a:sym typeface="Symbol" panose="05050102010706020507" pitchFamily="18" charset="2"/>
              </a:rPr>
              <a:t>日接触率</a:t>
            </a:r>
            <a:r>
              <a:rPr lang="en-US" altLang="zh-CN" sz="2800" b="1" dirty="0">
                <a:sym typeface="Symbol" panose="05050102010706020507" pitchFamily="18" charset="2"/>
              </a:rPr>
              <a:t>)    </a:t>
            </a:r>
            <a:r>
              <a:rPr lang="en-US" altLang="zh-CN" sz="2800" b="1" dirty="0"/>
              <a:t>t</a:t>
            </a:r>
            <a:r>
              <a:rPr lang="en-US" altLang="zh-CN" sz="2800" b="1" baseline="-25000" dirty="0"/>
              <a:t>m</a:t>
            </a:r>
            <a:r>
              <a:rPr lang="en-US" altLang="zh-CN" sz="2800" b="1" dirty="0">
                <a:sym typeface="Symbol" panose="05050102010706020507" pitchFamily="18" charset="2"/>
              </a:rPr>
              <a:t></a:t>
            </a:r>
            <a:endParaRPr lang="en-US" altLang="zh-CN" sz="2800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1000"/>
                                        <p:tgtEl>
                                          <p:spTgt spid="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8" grpId="0" autoUpdateAnimBg="0"/>
      <p:bldP spid="3116" grpId="0" autoUpdateAnimBg="0"/>
      <p:bldP spid="311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829435" cy="5835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3200" b="1" dirty="0"/>
              <a:t>SIS </a:t>
            </a:r>
            <a:r>
              <a:rPr lang="zh-CN" altLang="en-US" sz="3200" b="1" dirty="0"/>
              <a:t>模型</a:t>
            </a:r>
            <a:endParaRPr lang="zh-CN" altLang="en-US" sz="3200" b="1" dirty="0"/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381635" y="1296035"/>
            <a:ext cx="11133455" cy="112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/>
              <a:t>传染病</a:t>
            </a:r>
            <a:r>
              <a:rPr lang="zh-CN" altLang="en-US" sz="2800" b="1" dirty="0">
                <a:solidFill>
                  <a:srgbClr val="FF0000"/>
                </a:solidFill>
              </a:rPr>
              <a:t>无免疫性</a:t>
            </a:r>
            <a:r>
              <a:rPr lang="zh-CN" altLang="en-US" sz="2800" b="1" dirty="0"/>
              <a:t>如伤风、痢疾等</a:t>
            </a:r>
            <a:r>
              <a:rPr lang="en-US" altLang="zh-CN" sz="2800" b="1" dirty="0"/>
              <a:t>——</a:t>
            </a:r>
            <a:r>
              <a:rPr lang="zh-CN" altLang="en-US" sz="2800" b="1" dirty="0"/>
              <a:t>病人治愈成为健康人，</a:t>
            </a:r>
            <a:r>
              <a:rPr lang="zh-CN" altLang="en-US" sz="2800" b="1" dirty="0">
                <a:solidFill>
                  <a:srgbClr val="FF0000"/>
                </a:solidFill>
              </a:rPr>
              <a:t>健康人可再次被感染</a:t>
            </a:r>
            <a:r>
              <a:rPr lang="en-US" altLang="zh-CN" sz="2800" b="1" dirty="0"/>
              <a:t>.</a:t>
            </a:r>
            <a:endParaRPr lang="en-US" altLang="zh-CN" sz="28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419100" y="2707150"/>
            <a:ext cx="53244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增加假设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2153285" y="2700020"/>
            <a:ext cx="6623248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cs typeface="Times New Roman" panose="02020603050405020304" charset="0"/>
              </a:rPr>
              <a:t>3.  </a:t>
            </a:r>
            <a:r>
              <a:rPr lang="zh-CN" altLang="en-US" sz="2800" b="1" dirty="0">
                <a:cs typeface="Times New Roman" panose="02020603050405020304" charset="0"/>
              </a:rPr>
              <a:t>病人每天治愈的比例为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charset="0"/>
                <a:sym typeface="Symbol" panose="05050102010706020507" pitchFamily="18" charset="2"/>
              </a:rPr>
              <a:t> </a:t>
            </a:r>
            <a:r>
              <a:rPr lang="en-US" altLang="zh-CN" sz="2800" b="1" dirty="0">
                <a:solidFill>
                  <a:srgbClr val="FF0000"/>
                </a:solidFill>
                <a:cs typeface="Times New Roman" panose="02020603050405020304" charset="0"/>
                <a:sym typeface="Symbol" panose="05050102010706020507" pitchFamily="18" charset="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charset="0"/>
                <a:sym typeface="Symbol" panose="05050102010706020507" pitchFamily="18" charset="2"/>
              </a:rPr>
              <a:t>日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charset="0"/>
              </a:rPr>
              <a:t>治愈率</a:t>
            </a:r>
            <a:r>
              <a:rPr lang="en-US" altLang="zh-CN" sz="2800" b="1" dirty="0">
                <a:solidFill>
                  <a:srgbClr val="FF0000"/>
                </a:solidFill>
                <a:cs typeface="Times New Roman" panose="02020603050405020304" charset="0"/>
              </a:rPr>
              <a:t>)</a:t>
            </a:r>
            <a:endParaRPr lang="zh-CN" altLang="en-US" sz="2800" b="1" dirty="0">
              <a:solidFill>
                <a:srgbClr val="FF0000"/>
              </a:solidFill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1635" y="3539490"/>
            <a:ext cx="53244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</a:rPr>
              <a:t>建模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graphicFrame>
        <p:nvGraphicFramePr>
          <p:cNvPr id="4107" name="Object 11"/>
          <p:cNvGraphicFramePr>
            <a:graphicFrameLocks noChangeAspect="1"/>
          </p:cNvGraphicFramePr>
          <p:nvPr/>
        </p:nvGraphicFramePr>
        <p:xfrm>
          <a:off x="1619885" y="3539490"/>
          <a:ext cx="76898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公式" r:id="rId1" imgW="3302000" imgH="241300" progId="Equation.3">
                  <p:embed/>
                </p:oleObj>
              </mc:Choice>
              <mc:Fallback>
                <p:oleObj name="公式" r:id="rId1" imgW="3302000" imgH="241300" progId="Equation.3">
                  <p:embed/>
                  <p:pic>
                    <p:nvPicPr>
                      <p:cNvPr id="0" name="图片 1251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885" y="3539490"/>
                        <a:ext cx="76898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065"/>
          <p:cNvGrpSpPr/>
          <p:nvPr/>
        </p:nvGrpSpPr>
        <p:grpSpPr bwMode="auto">
          <a:xfrm>
            <a:off x="923925" y="4178300"/>
            <a:ext cx="3636963" cy="1416050"/>
            <a:chOff x="340" y="2248"/>
            <a:chExt cx="2291" cy="892"/>
          </a:xfrm>
        </p:grpSpPr>
        <p:graphicFrame>
          <p:nvGraphicFramePr>
            <p:cNvPr id="4100" name="Object 4"/>
            <p:cNvGraphicFramePr>
              <a:graphicFrameLocks noChangeAspect="1"/>
            </p:cNvGraphicFramePr>
            <p:nvPr/>
          </p:nvGraphicFramePr>
          <p:xfrm>
            <a:off x="720" y="2248"/>
            <a:ext cx="1911" cy="8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Equation" r:id="rId3" imgW="1168400" imgH="660400" progId="Equation.DSMT4">
                    <p:embed/>
                  </p:oleObj>
                </mc:Choice>
                <mc:Fallback>
                  <p:oleObj name="Equation" r:id="rId3" imgW="1168400" imgH="660400" progId="Equation.DSMT4">
                    <p:embed/>
                    <p:pic>
                      <p:nvPicPr>
                        <p:cNvPr id="0" name="图片 12511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248"/>
                          <a:ext cx="1911" cy="8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21" name="AutoShape 18"/>
            <p:cNvSpPr>
              <a:spLocks noChangeArrowheads="1"/>
            </p:cNvSpPr>
            <p:nvPr/>
          </p:nvSpPr>
          <p:spPr bwMode="auto">
            <a:xfrm>
              <a:off x="340" y="2529"/>
              <a:ext cx="125" cy="294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aphicFrame>
        <p:nvGraphicFramePr>
          <p:cNvPr id="53256" name="Object 2056"/>
          <p:cNvGraphicFramePr>
            <a:graphicFrameLocks noChangeAspect="1"/>
          </p:cNvGraphicFramePr>
          <p:nvPr/>
        </p:nvGraphicFramePr>
        <p:xfrm>
          <a:off x="4730477" y="4178300"/>
          <a:ext cx="27305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公式" r:id="rId5" imgW="1066165" imgH="393700" progId="Equation.3">
                  <p:embed/>
                </p:oleObj>
              </mc:Choice>
              <mc:Fallback>
                <p:oleObj name="公式" r:id="rId5" imgW="1066165" imgH="393700" progId="Equation.3">
                  <p:embed/>
                  <p:pic>
                    <p:nvPicPr>
                      <p:cNvPr id="0" name="图片 1251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477" y="4178300"/>
                        <a:ext cx="273050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2066"/>
          <p:cNvGrpSpPr/>
          <p:nvPr/>
        </p:nvGrpSpPr>
        <p:grpSpPr bwMode="auto">
          <a:xfrm>
            <a:off x="5700713" y="5091430"/>
            <a:ext cx="1325562" cy="750888"/>
            <a:chOff x="2517" y="2704"/>
            <a:chExt cx="835" cy="473"/>
          </a:xfrm>
        </p:grpSpPr>
        <p:sp>
          <p:nvSpPr>
            <p:cNvPr id="13" name="AutoShape 2057"/>
            <p:cNvSpPr>
              <a:spLocks noChangeArrowheads="1"/>
            </p:cNvSpPr>
            <p:nvPr/>
          </p:nvSpPr>
          <p:spPr bwMode="auto">
            <a:xfrm>
              <a:off x="2744" y="2704"/>
              <a:ext cx="227" cy="136"/>
            </a:xfrm>
            <a:prstGeom prst="up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4114" name="Group 2059"/>
            <p:cNvGrpSpPr>
              <a:grpSpLocks noChangeAspect="1"/>
            </p:cNvGrpSpPr>
            <p:nvPr/>
          </p:nvGrpSpPr>
          <p:grpSpPr bwMode="auto">
            <a:xfrm>
              <a:off x="2517" y="2854"/>
              <a:ext cx="835" cy="323"/>
              <a:chOff x="2517" y="2854"/>
              <a:chExt cx="835" cy="323"/>
            </a:xfrm>
          </p:grpSpPr>
          <p:sp>
            <p:nvSpPr>
              <p:cNvPr id="4115" name="AutoShape 2058"/>
              <p:cNvSpPr>
                <a:spLocks noChangeAspect="1" noChangeArrowheads="1" noTextEdit="1"/>
              </p:cNvSpPr>
              <p:nvPr/>
            </p:nvSpPr>
            <p:spPr bwMode="auto">
              <a:xfrm>
                <a:off x="2517" y="2886"/>
                <a:ext cx="81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16" name="Rectangle 2060"/>
              <p:cNvSpPr>
                <a:spLocks noChangeArrowheads="1"/>
              </p:cNvSpPr>
              <p:nvPr/>
            </p:nvSpPr>
            <p:spPr bwMode="auto">
              <a:xfrm>
                <a:off x="3170" y="2854"/>
                <a:ext cx="182" cy="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900">
                    <a:solidFill>
                      <a:srgbClr val="FF33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</a:t>
                </a:r>
                <a:endParaRPr lang="en-US" altLang="zh-CN">
                  <a:solidFill>
                    <a:srgbClr val="FF33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117" name="Rectangle 2061"/>
              <p:cNvSpPr>
                <a:spLocks noChangeArrowheads="1"/>
              </p:cNvSpPr>
              <p:nvPr/>
            </p:nvSpPr>
            <p:spPr bwMode="auto">
              <a:xfrm>
                <a:off x="2906" y="2854"/>
                <a:ext cx="65" cy="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900">
                    <a:solidFill>
                      <a:srgbClr val="FF33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l</a:t>
                </a:r>
                <a:endParaRPr lang="en-US" altLang="zh-CN">
                  <a:solidFill>
                    <a:srgbClr val="FF33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118" name="Rectangle 2062"/>
              <p:cNvSpPr>
                <a:spLocks noChangeArrowheads="1"/>
              </p:cNvSpPr>
              <p:nvPr/>
            </p:nvSpPr>
            <p:spPr bwMode="auto">
              <a:xfrm>
                <a:off x="2526" y="2854"/>
                <a:ext cx="91" cy="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900">
                    <a:solidFill>
                      <a:srgbClr val="FF33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s</a:t>
                </a:r>
                <a:endParaRPr lang="en-US" altLang="zh-CN">
                  <a:solidFill>
                    <a:srgbClr val="FF33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119" name="Rectangle 2063"/>
              <p:cNvSpPr>
                <a:spLocks noChangeArrowheads="1"/>
              </p:cNvSpPr>
              <p:nvPr/>
            </p:nvSpPr>
            <p:spPr bwMode="auto">
              <a:xfrm>
                <a:off x="3070" y="2880"/>
                <a:ext cx="65" cy="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900">
                    <a:solidFill>
                      <a:srgbClr val="FF33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/</a:t>
                </a:r>
                <a:endParaRPr lang="en-US" altLang="zh-CN">
                  <a:solidFill>
                    <a:srgbClr val="FF33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120" name="Rectangle 2064"/>
              <p:cNvSpPr>
                <a:spLocks noChangeArrowheads="1"/>
              </p:cNvSpPr>
              <p:nvPr/>
            </p:nvSpPr>
            <p:spPr bwMode="auto">
              <a:xfrm>
                <a:off x="2740" y="2854"/>
                <a:ext cx="133" cy="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900">
                    <a:solidFill>
                      <a:srgbClr val="FF33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=</a:t>
                </a:r>
                <a:endParaRPr lang="en-US" altLang="zh-CN">
                  <a:solidFill>
                    <a:srgbClr val="FF33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</p:grpSp>
      <p:sp>
        <p:nvSpPr>
          <p:cNvPr id="14" name="文本框 13"/>
          <p:cNvSpPr txBox="1"/>
          <p:nvPr/>
        </p:nvSpPr>
        <p:spPr>
          <a:xfrm>
            <a:off x="7321550" y="5380355"/>
            <a:ext cx="460248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FF3300"/>
                </a:solidFill>
                <a:latin typeface="Times New Roman" panose="02020603050405020304" charset="0"/>
                <a:cs typeface="Times New Roman" panose="02020603050405020304" charset="0"/>
                <a:sym typeface="Symbol" panose="05050102010706020507" pitchFamily="18" charset="2"/>
              </a:rPr>
              <a:t> </a:t>
            </a:r>
            <a:r>
              <a:rPr lang="zh-CN" altLang="en-US" sz="2000" dirty="0">
                <a:solidFill>
                  <a:srgbClr val="FF3300"/>
                </a:solidFill>
                <a:latin typeface="Times New Roman" panose="02020603050405020304" charset="0"/>
                <a:cs typeface="Times New Roman" panose="02020603050405020304" charset="0"/>
                <a:sym typeface="Symbol" panose="05050102010706020507" pitchFamily="18" charset="2"/>
              </a:rPr>
              <a:t>：</a:t>
            </a:r>
            <a:r>
              <a:rPr lang="zh-CN" altLang="en-US" sz="2000" dirty="0">
                <a:latin typeface="Times New Roman" panose="02020603050405020304" charset="0"/>
                <a:cs typeface="Times New Roman" panose="02020603050405020304" charset="0"/>
                <a:sym typeface="Symbol" panose="05050102010706020507" pitchFamily="18" charset="2"/>
              </a:rPr>
              <a:t>一个感染期内</a:t>
            </a:r>
            <a:r>
              <a:rPr lang="zh-CN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每个病人的有效接触人数，称为</a:t>
            </a:r>
            <a:r>
              <a:rPr lang="zh-CN" altLang="en-US" sz="2000" dirty="0">
                <a:solidFill>
                  <a:srgbClr val="FF33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接触数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795338" y="5594033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cs typeface="Times New Roman" panose="02020603050405020304" charset="0"/>
                <a:sym typeface="Symbol" panose="05050102010706020507" pitchFamily="18" charset="2"/>
              </a:rPr>
              <a:t> ~ </a:t>
            </a:r>
            <a:r>
              <a:rPr lang="zh-CN" altLang="en-US" sz="2800" dirty="0">
                <a:cs typeface="Times New Roman" panose="02020603050405020304" charset="0"/>
                <a:sym typeface="Symbol" panose="05050102010706020507" pitchFamily="18" charset="2"/>
              </a:rPr>
              <a:t>日接触率</a:t>
            </a:r>
            <a:endParaRPr lang="zh-CN" altLang="en-US" sz="2800" dirty="0">
              <a:cs typeface="Times New Roman" panose="02020603050405020304" charset="0"/>
              <a:sym typeface="Symbol" panose="05050102010706020507" pitchFamily="18" charset="2"/>
            </a:endParaRPr>
          </a:p>
        </p:txBody>
      </p:sp>
      <p:sp>
        <p:nvSpPr>
          <p:cNvPr id="4112" name="Text Box 16"/>
          <p:cNvSpPr txBox="1">
            <a:spLocks noChangeArrowheads="1"/>
          </p:cNvSpPr>
          <p:nvPr/>
        </p:nvSpPr>
        <p:spPr bwMode="auto">
          <a:xfrm>
            <a:off x="3081338" y="5594350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cs typeface="Times New Roman" panose="02020603050405020304" charset="0"/>
                <a:sym typeface="Symbol" panose="05050102010706020507" pitchFamily="18" charset="2"/>
              </a:rPr>
              <a:t>1/ ~</a:t>
            </a:r>
            <a:r>
              <a:rPr lang="zh-CN" altLang="en-US" sz="2800" dirty="0">
                <a:cs typeface="Times New Roman" panose="02020603050405020304" charset="0"/>
                <a:sym typeface="Symbol" panose="05050102010706020507" pitchFamily="18" charset="2"/>
              </a:rPr>
              <a:t>感染期</a:t>
            </a:r>
            <a:endParaRPr lang="zh-CN" altLang="en-US" sz="2800" dirty="0">
              <a:cs typeface="Times New Roman" panose="02020603050405020304" charset="0"/>
            </a:endParaRPr>
          </a:p>
        </p:txBody>
      </p: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10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10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" grpId="0" autoUpdateAnimBg="0"/>
      <p:bldP spid="4105" grpId="0" autoUpdateAnimBg="0"/>
      <p:bldP spid="4111" grpId="0" autoUpdateAnimBg="0"/>
      <p:bldP spid="411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726755" cy="5847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SIS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模型</a:t>
            </a: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8698573" y="1373269"/>
          <a:ext cx="2892297" cy="855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Equation" r:id="rId1" imgW="1244600" imgH="393700" progId="Equation.DSMT4">
                  <p:embed/>
                </p:oleObj>
              </mc:Choice>
              <mc:Fallback>
                <p:oleObj name="Equation" r:id="rId1" imgW="1244600" imgH="393700" progId="Equation.DSMT4">
                  <p:embed/>
                  <p:pic>
                    <p:nvPicPr>
                      <p:cNvPr id="0" name="图片 12613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8573" y="1373269"/>
                        <a:ext cx="2892297" cy="8558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46" name="Text Box 126"/>
          <p:cNvSpPr txBox="1">
            <a:spLocks noChangeArrowheads="1"/>
          </p:cNvSpPr>
          <p:nvPr/>
        </p:nvSpPr>
        <p:spPr bwMode="auto">
          <a:xfrm>
            <a:off x="9206429" y="2710122"/>
            <a:ext cx="18713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cs typeface="Times New Roman" panose="02020603050405020304" charset="0"/>
                <a:sym typeface="Symbol" panose="05050102010706020507" pitchFamily="18" charset="2"/>
              </a:rPr>
              <a:t> </a:t>
            </a:r>
            <a:r>
              <a:rPr lang="en-US" altLang="zh-CN" sz="2800" dirty="0">
                <a:cs typeface="Times New Roman" panose="02020603050405020304" charset="0"/>
                <a:sym typeface="Symbol" panose="05050102010706020507" pitchFamily="18" charset="2"/>
              </a:rPr>
              <a:t>~</a:t>
            </a:r>
            <a:r>
              <a:rPr lang="zh-CN" altLang="en-US" sz="2800" dirty="0">
                <a:cs typeface="Times New Roman" panose="02020603050405020304" charset="0"/>
              </a:rPr>
              <a:t>接触数</a:t>
            </a:r>
            <a:endParaRPr lang="en-US" altLang="zh-CN" sz="2800" dirty="0">
              <a:cs typeface="Times New Roman" panose="02020603050405020304" charset="0"/>
            </a:endParaRPr>
          </a:p>
        </p:txBody>
      </p:sp>
      <p:grpSp>
        <p:nvGrpSpPr>
          <p:cNvPr id="7" name="Group 91"/>
          <p:cNvGrpSpPr/>
          <p:nvPr/>
        </p:nvGrpSpPr>
        <p:grpSpPr bwMode="auto">
          <a:xfrm>
            <a:off x="1957904" y="2292087"/>
            <a:ext cx="2098675" cy="914400"/>
            <a:chOff x="2197" y="1440"/>
            <a:chExt cx="1322" cy="576"/>
          </a:xfrm>
        </p:grpSpPr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2352" y="1440"/>
              <a:ext cx="1167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" name="Group 84"/>
            <p:cNvGrpSpPr/>
            <p:nvPr/>
          </p:nvGrpSpPr>
          <p:grpSpPr bwMode="auto">
            <a:xfrm>
              <a:off x="2352" y="1536"/>
              <a:ext cx="975" cy="322"/>
              <a:chOff x="2385" y="1592"/>
              <a:chExt cx="975" cy="322"/>
            </a:xfrm>
          </p:grpSpPr>
          <p:sp>
            <p:nvSpPr>
              <p:cNvPr id="11" name="Arc 10"/>
              <p:cNvSpPr/>
              <p:nvPr/>
            </p:nvSpPr>
            <p:spPr bwMode="auto">
              <a:xfrm rot="21213641" flipH="1">
                <a:off x="2612" y="1592"/>
                <a:ext cx="748" cy="215"/>
              </a:xfrm>
              <a:custGeom>
                <a:avLst/>
                <a:gdLst>
                  <a:gd name="T0" fmla="*/ 0 w 21529"/>
                  <a:gd name="T1" fmla="*/ 0 h 21600"/>
                  <a:gd name="T2" fmla="*/ 26 w 21529"/>
                  <a:gd name="T3" fmla="*/ 2 h 21600"/>
                  <a:gd name="T4" fmla="*/ 0 w 21529"/>
                  <a:gd name="T5" fmla="*/ 2 h 21600"/>
                  <a:gd name="T6" fmla="*/ 0 60000 65536"/>
                  <a:gd name="T7" fmla="*/ 0 60000 65536"/>
                  <a:gd name="T8" fmla="*/ 0 60000 65536"/>
                  <a:gd name="T9" fmla="*/ 0 w 21529"/>
                  <a:gd name="T10" fmla="*/ 0 h 21600"/>
                  <a:gd name="T11" fmla="*/ 21529 w 2152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29" h="21600" fill="none" extrusionOk="0">
                    <a:moveTo>
                      <a:pt x="-1" y="0"/>
                    </a:moveTo>
                    <a:cubicBezTo>
                      <a:pt x="11253" y="0"/>
                      <a:pt x="20620" y="8639"/>
                      <a:pt x="21529" y="19855"/>
                    </a:cubicBezTo>
                  </a:path>
                  <a:path w="21529" h="21600" stroke="0" extrusionOk="0">
                    <a:moveTo>
                      <a:pt x="-1" y="0"/>
                    </a:moveTo>
                    <a:cubicBezTo>
                      <a:pt x="11253" y="0"/>
                      <a:pt x="20620" y="8639"/>
                      <a:pt x="21529" y="19855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Arc 11"/>
              <p:cNvSpPr/>
              <p:nvPr/>
            </p:nvSpPr>
            <p:spPr bwMode="auto">
              <a:xfrm flipV="1">
                <a:off x="2385" y="1776"/>
                <a:ext cx="255" cy="138"/>
              </a:xfrm>
              <a:custGeom>
                <a:avLst/>
                <a:gdLst>
                  <a:gd name="T0" fmla="*/ 0 w 21191"/>
                  <a:gd name="T1" fmla="*/ 0 h 21600"/>
                  <a:gd name="T2" fmla="*/ 3 w 21191"/>
                  <a:gd name="T3" fmla="*/ 1 h 21600"/>
                  <a:gd name="T4" fmla="*/ 0 w 21191"/>
                  <a:gd name="T5" fmla="*/ 1 h 21600"/>
                  <a:gd name="T6" fmla="*/ 0 60000 65536"/>
                  <a:gd name="T7" fmla="*/ 0 60000 65536"/>
                  <a:gd name="T8" fmla="*/ 0 60000 65536"/>
                  <a:gd name="T9" fmla="*/ 0 w 21191"/>
                  <a:gd name="T10" fmla="*/ 0 h 21600"/>
                  <a:gd name="T11" fmla="*/ 21191 w 2119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191" h="21600" fill="none" extrusionOk="0">
                    <a:moveTo>
                      <a:pt x="-1" y="0"/>
                    </a:moveTo>
                    <a:cubicBezTo>
                      <a:pt x="10317" y="0"/>
                      <a:pt x="19193" y="7296"/>
                      <a:pt x="21191" y="17417"/>
                    </a:cubicBezTo>
                  </a:path>
                  <a:path w="21191" h="21600" stroke="0" extrusionOk="0">
                    <a:moveTo>
                      <a:pt x="-1" y="0"/>
                    </a:moveTo>
                    <a:cubicBezTo>
                      <a:pt x="10317" y="0"/>
                      <a:pt x="19193" y="7296"/>
                      <a:pt x="21191" y="1741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2197" y="1728"/>
              <a:ext cx="2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dirty="0" err="1"/>
                <a:t>i</a:t>
              </a:r>
              <a:r>
                <a:rPr lang="en-US" altLang="zh-CN" sz="2000" b="1" baseline="-25000" dirty="0" err="1"/>
                <a:t>0</a:t>
              </a:r>
              <a:endParaRPr lang="en-US" altLang="zh-CN" b="1" dirty="0"/>
            </a:p>
          </p:txBody>
        </p:sp>
      </p:grpSp>
      <p:grpSp>
        <p:nvGrpSpPr>
          <p:cNvPr id="14" name="Group 92"/>
          <p:cNvGrpSpPr/>
          <p:nvPr/>
        </p:nvGrpSpPr>
        <p:grpSpPr bwMode="auto">
          <a:xfrm>
            <a:off x="1899166" y="1377687"/>
            <a:ext cx="1755775" cy="854075"/>
            <a:chOff x="2160" y="864"/>
            <a:chExt cx="1106" cy="538"/>
          </a:xfrm>
        </p:grpSpPr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2160" y="864"/>
              <a:ext cx="2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dirty="0" err="1">
                  <a:solidFill>
                    <a:srgbClr val="FF3300"/>
                  </a:solidFill>
                </a:rPr>
                <a:t>i</a:t>
              </a:r>
              <a:r>
                <a:rPr lang="en-US" altLang="zh-CN" sz="2000" b="1" baseline="-25000" dirty="0" err="1">
                  <a:solidFill>
                    <a:srgbClr val="FF3300"/>
                  </a:solidFill>
                </a:rPr>
                <a:t>0</a:t>
              </a:r>
              <a:endParaRPr lang="en-US" altLang="zh-CN" b="1" dirty="0">
                <a:solidFill>
                  <a:srgbClr val="FF3300"/>
                </a:solidFill>
              </a:endParaRPr>
            </a:p>
          </p:txBody>
        </p:sp>
        <p:sp>
          <p:nvSpPr>
            <p:cNvPr id="16" name="Arc 19"/>
            <p:cNvSpPr/>
            <p:nvPr/>
          </p:nvSpPr>
          <p:spPr bwMode="auto">
            <a:xfrm flipH="1" flipV="1">
              <a:off x="2400" y="864"/>
              <a:ext cx="866" cy="538"/>
            </a:xfrm>
            <a:custGeom>
              <a:avLst/>
              <a:gdLst>
                <a:gd name="T0" fmla="*/ 0 w 22988"/>
                <a:gd name="T1" fmla="*/ 0 h 21600"/>
                <a:gd name="T2" fmla="*/ 33 w 22988"/>
                <a:gd name="T3" fmla="*/ 10 h 21600"/>
                <a:gd name="T4" fmla="*/ 3 w 22988"/>
                <a:gd name="T5" fmla="*/ 13 h 21600"/>
                <a:gd name="T6" fmla="*/ 0 60000 65536"/>
                <a:gd name="T7" fmla="*/ 0 60000 65536"/>
                <a:gd name="T8" fmla="*/ 0 60000 65536"/>
                <a:gd name="T9" fmla="*/ 0 w 22988"/>
                <a:gd name="T10" fmla="*/ 0 h 21600"/>
                <a:gd name="T11" fmla="*/ 22988 w 229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88" h="21600" fill="none" extrusionOk="0">
                  <a:moveTo>
                    <a:pt x="-1" y="102"/>
                  </a:moveTo>
                  <a:cubicBezTo>
                    <a:pt x="698" y="34"/>
                    <a:pt x="1400" y="-1"/>
                    <a:pt x="2103" y="0"/>
                  </a:cubicBezTo>
                  <a:cubicBezTo>
                    <a:pt x="11909" y="0"/>
                    <a:pt x="20485" y="6606"/>
                    <a:pt x="22987" y="16088"/>
                  </a:cubicBezTo>
                </a:path>
                <a:path w="22988" h="21600" stroke="0" extrusionOk="0">
                  <a:moveTo>
                    <a:pt x="-1" y="102"/>
                  </a:moveTo>
                  <a:cubicBezTo>
                    <a:pt x="698" y="34"/>
                    <a:pt x="1400" y="-1"/>
                    <a:pt x="2103" y="0"/>
                  </a:cubicBezTo>
                  <a:cubicBezTo>
                    <a:pt x="11909" y="0"/>
                    <a:pt x="20485" y="6606"/>
                    <a:pt x="22987" y="16088"/>
                  </a:cubicBezTo>
                  <a:lnTo>
                    <a:pt x="2103" y="21600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90"/>
          <p:cNvGrpSpPr/>
          <p:nvPr/>
        </p:nvGrpSpPr>
        <p:grpSpPr bwMode="auto">
          <a:xfrm>
            <a:off x="1518166" y="996687"/>
            <a:ext cx="3159125" cy="2790825"/>
            <a:chOff x="1920" y="624"/>
            <a:chExt cx="1990" cy="1758"/>
          </a:xfrm>
        </p:grpSpPr>
        <p:sp>
          <p:nvSpPr>
            <p:cNvPr id="18" name="Line 7"/>
            <p:cNvSpPr>
              <a:spLocks noChangeShapeType="1"/>
            </p:cNvSpPr>
            <p:nvPr/>
          </p:nvSpPr>
          <p:spPr bwMode="auto">
            <a:xfrm flipV="1">
              <a:off x="2400" y="2112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auto">
            <a:xfrm flipV="1">
              <a:off x="2385" y="696"/>
              <a:ext cx="0" cy="14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2309" y="2122"/>
              <a:ext cx="30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/>
                <a:t>O</a:t>
              </a:r>
              <a:endParaRPr lang="en-US" altLang="zh-CN" sz="2000" b="1" dirty="0"/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3648" y="2094"/>
              <a:ext cx="2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dirty="0"/>
                <a:t>t</a:t>
              </a:r>
              <a:endParaRPr lang="en-US" altLang="zh-CN" b="1" dirty="0"/>
            </a:p>
          </p:txBody>
        </p:sp>
        <p:sp>
          <p:nvSpPr>
            <p:cNvPr id="22" name="Text Box 18"/>
            <p:cNvSpPr txBox="1">
              <a:spLocks noChangeArrowheads="1"/>
            </p:cNvSpPr>
            <p:nvPr/>
          </p:nvSpPr>
          <p:spPr bwMode="auto">
            <a:xfrm>
              <a:off x="2208" y="624"/>
              <a:ext cx="3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 err="1"/>
                <a:t>i</a:t>
              </a:r>
              <a:endParaRPr lang="en-US" altLang="zh-CN" b="1" i="1" dirty="0"/>
            </a:p>
          </p:txBody>
        </p:sp>
        <p:sp>
          <p:nvSpPr>
            <p:cNvPr id="23" name="Text Box 85"/>
            <p:cNvSpPr txBox="1">
              <a:spLocks noChangeArrowheads="1"/>
            </p:cNvSpPr>
            <p:nvPr/>
          </p:nvSpPr>
          <p:spPr bwMode="auto">
            <a:xfrm>
              <a:off x="2928" y="864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ym typeface="Symbol" panose="05050102010706020507" pitchFamily="18" charset="2"/>
                </a:rPr>
                <a:t> &gt;</a:t>
              </a:r>
              <a:r>
                <a:rPr lang="en-US" altLang="zh-CN" b="1" dirty="0">
                  <a:sym typeface="Symbol" panose="05050102010706020507" pitchFamily="18" charset="2"/>
                </a:rPr>
                <a:t>1</a:t>
              </a:r>
              <a:endParaRPr lang="en-US" altLang="zh-CN" b="1" dirty="0"/>
            </a:p>
          </p:txBody>
        </p:sp>
        <p:sp>
          <p:nvSpPr>
            <p:cNvPr id="24" name="Text Box 87"/>
            <p:cNvSpPr txBox="1">
              <a:spLocks noChangeArrowheads="1"/>
            </p:cNvSpPr>
            <p:nvPr/>
          </p:nvSpPr>
          <p:spPr bwMode="auto">
            <a:xfrm>
              <a:off x="1920" y="1344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/>
                <a:t>1-1/</a:t>
              </a:r>
              <a:r>
                <a:rPr lang="en-US" altLang="zh-CN" sz="2000" b="1" dirty="0">
                  <a:sym typeface="Symbol" panose="05050102010706020507" pitchFamily="18" charset="2"/>
                </a:rPr>
                <a:t></a:t>
              </a:r>
              <a:endParaRPr lang="en-US" altLang="zh-CN" sz="2000" b="1" dirty="0"/>
            </a:p>
          </p:txBody>
        </p:sp>
        <p:sp>
          <p:nvSpPr>
            <p:cNvPr id="3" name="Text Box 18"/>
            <p:cNvSpPr txBox="1">
              <a:spLocks noChangeArrowheads="1"/>
            </p:cNvSpPr>
            <p:nvPr/>
          </p:nvSpPr>
          <p:spPr bwMode="auto">
            <a:xfrm>
              <a:off x="2220" y="624"/>
              <a:ext cx="3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zh-CN" dirty="0"/>
            </a:p>
          </p:txBody>
        </p:sp>
        <p:sp>
          <p:nvSpPr>
            <p:cNvPr id="4" name="Text Box 85"/>
            <p:cNvSpPr txBox="1">
              <a:spLocks noChangeArrowheads="1"/>
            </p:cNvSpPr>
            <p:nvPr/>
          </p:nvSpPr>
          <p:spPr bwMode="auto">
            <a:xfrm>
              <a:off x="2940" y="864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ym typeface="Symbol" panose="05050102010706020507" pitchFamily="18" charset="2"/>
                </a:rPr>
                <a:t> &gt;1</a:t>
              </a:r>
              <a:endParaRPr lang="en-US" altLang="zh-CN" b="1" dirty="0"/>
            </a:p>
          </p:txBody>
        </p:sp>
      </p:grpSp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1517968" y="3724171"/>
          <a:ext cx="3313112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公式" r:id="rId3" imgW="1587500" imgH="787400" progId="Equation.3">
                  <p:embed/>
                </p:oleObj>
              </mc:Choice>
              <mc:Fallback>
                <p:oleObj name="公式" r:id="rId3" imgW="1587500" imgH="787400" progId="Equation.3">
                  <p:embed/>
                  <p:pic>
                    <p:nvPicPr>
                      <p:cNvPr id="0" name="图片 12613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968" y="3724171"/>
                        <a:ext cx="3313112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96"/>
          <p:cNvGrpSpPr/>
          <p:nvPr/>
        </p:nvGrpSpPr>
        <p:grpSpPr bwMode="auto">
          <a:xfrm>
            <a:off x="5552004" y="1882512"/>
            <a:ext cx="2159000" cy="1438275"/>
            <a:chOff x="3936" y="1104"/>
            <a:chExt cx="1360" cy="906"/>
          </a:xfrm>
        </p:grpSpPr>
        <p:sp>
          <p:nvSpPr>
            <p:cNvPr id="28" name="Arc 71"/>
            <p:cNvSpPr/>
            <p:nvPr/>
          </p:nvSpPr>
          <p:spPr bwMode="auto">
            <a:xfrm flipH="1" flipV="1">
              <a:off x="4176" y="1248"/>
              <a:ext cx="1120" cy="762"/>
            </a:xfrm>
            <a:custGeom>
              <a:avLst/>
              <a:gdLst>
                <a:gd name="T0" fmla="*/ 5 w 21600"/>
                <a:gd name="T1" fmla="*/ 0 h 21511"/>
                <a:gd name="T2" fmla="*/ 58 w 21600"/>
                <a:gd name="T3" fmla="*/ 27 h 21511"/>
                <a:gd name="T4" fmla="*/ 0 w 21600"/>
                <a:gd name="T5" fmla="*/ 27 h 215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11"/>
                <a:gd name="T11" fmla="*/ 21600 w 21600"/>
                <a:gd name="T12" fmla="*/ 21511 h 215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11" fill="none" extrusionOk="0">
                  <a:moveTo>
                    <a:pt x="1955" y="-1"/>
                  </a:moveTo>
                  <a:cubicBezTo>
                    <a:pt x="13080" y="1010"/>
                    <a:pt x="21600" y="10339"/>
                    <a:pt x="21600" y="21511"/>
                  </a:cubicBezTo>
                </a:path>
                <a:path w="21600" h="21511" stroke="0" extrusionOk="0">
                  <a:moveTo>
                    <a:pt x="1955" y="-1"/>
                  </a:moveTo>
                  <a:cubicBezTo>
                    <a:pt x="13080" y="1010"/>
                    <a:pt x="21600" y="10339"/>
                    <a:pt x="21600" y="21511"/>
                  </a:cubicBezTo>
                  <a:lnTo>
                    <a:pt x="0" y="21511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Text Box 76"/>
            <p:cNvSpPr txBox="1">
              <a:spLocks noChangeArrowheads="1"/>
            </p:cNvSpPr>
            <p:nvPr/>
          </p:nvSpPr>
          <p:spPr bwMode="auto">
            <a:xfrm>
              <a:off x="3936" y="110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dirty="0" err="1"/>
                <a:t>i</a:t>
              </a:r>
              <a:r>
                <a:rPr lang="en-US" altLang="zh-CN" b="1" baseline="-25000" dirty="0" err="1"/>
                <a:t>0</a:t>
              </a:r>
              <a:endParaRPr lang="en-US" altLang="zh-CN" b="1" dirty="0"/>
            </a:p>
          </p:txBody>
        </p:sp>
      </p:grpSp>
      <p:grpSp>
        <p:nvGrpSpPr>
          <p:cNvPr id="30" name="Group 99"/>
          <p:cNvGrpSpPr/>
          <p:nvPr/>
        </p:nvGrpSpPr>
        <p:grpSpPr bwMode="auto">
          <a:xfrm>
            <a:off x="5704405" y="1196712"/>
            <a:ext cx="2459038" cy="2574925"/>
            <a:chOff x="4032" y="672"/>
            <a:chExt cx="1549" cy="1622"/>
          </a:xfrm>
        </p:grpSpPr>
        <p:sp>
          <p:nvSpPr>
            <p:cNvPr id="5147" name="Line 69"/>
            <p:cNvSpPr>
              <a:spLocks noChangeShapeType="1"/>
            </p:cNvSpPr>
            <p:nvPr/>
          </p:nvSpPr>
          <p:spPr bwMode="auto">
            <a:xfrm>
              <a:off x="4160" y="2047"/>
              <a:ext cx="1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8" name="Line 70"/>
            <p:cNvSpPr>
              <a:spLocks noChangeShapeType="1"/>
            </p:cNvSpPr>
            <p:nvPr/>
          </p:nvSpPr>
          <p:spPr bwMode="auto">
            <a:xfrm flipV="1">
              <a:off x="4160" y="755"/>
              <a:ext cx="0" cy="12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9" name="Text Box 73"/>
            <p:cNvSpPr txBox="1">
              <a:spLocks noChangeArrowheads="1"/>
            </p:cNvSpPr>
            <p:nvPr/>
          </p:nvSpPr>
          <p:spPr bwMode="auto">
            <a:xfrm>
              <a:off x="4032" y="67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dirty="0" err="1"/>
                <a:t>i</a:t>
              </a:r>
              <a:endParaRPr lang="en-US" altLang="zh-CN" b="1" dirty="0"/>
            </a:p>
          </p:txBody>
        </p:sp>
        <p:sp>
          <p:nvSpPr>
            <p:cNvPr id="5150" name="Text Box 74"/>
            <p:cNvSpPr txBox="1">
              <a:spLocks noChangeArrowheads="1"/>
            </p:cNvSpPr>
            <p:nvPr/>
          </p:nvSpPr>
          <p:spPr bwMode="auto">
            <a:xfrm>
              <a:off x="4096" y="2039"/>
              <a:ext cx="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/>
                <a:t>O</a:t>
              </a:r>
              <a:endParaRPr lang="en-US" altLang="zh-CN" sz="2000" b="1" dirty="0"/>
            </a:p>
          </p:txBody>
        </p:sp>
        <p:sp>
          <p:nvSpPr>
            <p:cNvPr id="5151" name="Text Box 75"/>
            <p:cNvSpPr txBox="1">
              <a:spLocks noChangeArrowheads="1"/>
            </p:cNvSpPr>
            <p:nvPr/>
          </p:nvSpPr>
          <p:spPr bwMode="auto">
            <a:xfrm>
              <a:off x="5389" y="200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t</a:t>
              </a:r>
              <a:endParaRPr lang="en-US" altLang="zh-CN" b="1"/>
            </a:p>
          </p:txBody>
        </p:sp>
        <p:sp>
          <p:nvSpPr>
            <p:cNvPr id="5152" name="Text Box 94"/>
            <p:cNvSpPr txBox="1">
              <a:spLocks noChangeArrowheads="1"/>
            </p:cNvSpPr>
            <p:nvPr/>
          </p:nvSpPr>
          <p:spPr bwMode="auto">
            <a:xfrm>
              <a:off x="4704" y="864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ym typeface="Symbol" panose="05050102010706020507" pitchFamily="18" charset="2"/>
                </a:rPr>
                <a:t> </a:t>
              </a:r>
              <a:r>
                <a:rPr lang="en-US" altLang="zh-CN" b="1" dirty="0">
                  <a:sym typeface="Symbol" panose="05050102010706020507" pitchFamily="18" charset="2"/>
                </a:rPr>
                <a:t>1</a:t>
              </a:r>
              <a:endParaRPr lang="en-US" altLang="zh-CN" b="1" dirty="0"/>
            </a:p>
          </p:txBody>
        </p:sp>
      </p:grpSp>
      <p:grpSp>
        <p:nvGrpSpPr>
          <p:cNvPr id="31" name="Group 102"/>
          <p:cNvGrpSpPr/>
          <p:nvPr/>
        </p:nvGrpSpPr>
        <p:grpSpPr bwMode="auto">
          <a:xfrm>
            <a:off x="6618804" y="2034913"/>
            <a:ext cx="1643222" cy="982663"/>
            <a:chOff x="4608" y="1200"/>
            <a:chExt cx="768" cy="619"/>
          </a:xfrm>
        </p:grpSpPr>
        <p:sp>
          <p:nvSpPr>
            <p:cNvPr id="32" name="Text Box 100"/>
            <p:cNvSpPr txBox="1">
              <a:spLocks noChangeArrowheads="1"/>
            </p:cNvSpPr>
            <p:nvPr/>
          </p:nvSpPr>
          <p:spPr bwMode="auto">
            <a:xfrm>
              <a:off x="4608" y="1296"/>
              <a:ext cx="76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cs typeface="Times New Roman" panose="02020603050405020304" charset="0"/>
                </a:rPr>
                <a:t>di/dt &lt; 0</a:t>
              </a:r>
              <a:endParaRPr lang="en-US" altLang="zh-CN" b="1" dirty="0">
                <a:cs typeface="Times New Roman" panose="02020603050405020304" charset="0"/>
              </a:endParaRPr>
            </a:p>
          </p:txBody>
        </p:sp>
        <p:sp>
          <p:nvSpPr>
            <p:cNvPr id="33" name="AutoShape 101"/>
            <p:cNvSpPr>
              <a:spLocks noChangeArrowheads="1"/>
            </p:cNvSpPr>
            <p:nvPr/>
          </p:nvSpPr>
          <p:spPr bwMode="auto">
            <a:xfrm>
              <a:off x="4800" y="1200"/>
              <a:ext cx="306" cy="96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36" name="Rectangle 121"/>
          <p:cNvSpPr>
            <a:spLocks noChangeArrowheads="1"/>
          </p:cNvSpPr>
          <p:nvPr/>
        </p:nvSpPr>
        <p:spPr bwMode="auto">
          <a:xfrm>
            <a:off x="1894403" y="5069800"/>
            <a:ext cx="2447925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Symbol" panose="05050102010706020507" pitchFamily="18" charset="2"/>
              </a:rPr>
              <a:t> &gt;1, </a:t>
            </a:r>
            <a:r>
              <a:rPr lang="en-US" altLang="zh-CN" sz="2800" b="1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altLang="zh-CN" sz="2800" b="1" baseline="-25000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&lt; 1-1/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Symbol" panose="05050102010706020507" pitchFamily="18" charset="2"/>
              </a:rPr>
              <a:t>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Symbol" panose="05050102010706020507" pitchFamily="18" charset="2"/>
            </a:endParaRPr>
          </a:p>
        </p:txBody>
      </p:sp>
      <p:sp>
        <p:nvSpPr>
          <p:cNvPr id="38" name="Rectangle 122"/>
          <p:cNvSpPr>
            <a:spLocks noChangeArrowheads="1"/>
          </p:cNvSpPr>
          <p:nvPr/>
        </p:nvSpPr>
        <p:spPr bwMode="auto">
          <a:xfrm>
            <a:off x="1754991" y="5692342"/>
            <a:ext cx="3168650" cy="5191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(t)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按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形曲线增长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66" name="Text Box 46"/>
          <p:cNvSpPr txBox="1">
            <a:spLocks noChangeArrowheads="1"/>
          </p:cNvSpPr>
          <p:nvPr/>
        </p:nvSpPr>
        <p:spPr bwMode="auto">
          <a:xfrm>
            <a:off x="5425004" y="5671239"/>
            <a:ext cx="3048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cs typeface="Times New Roman" panose="02020603050405020304" charset="0"/>
              </a:rPr>
              <a:t>接触数</a:t>
            </a:r>
            <a:r>
              <a:rPr lang="zh-CN" altLang="en-US" sz="2800" b="1" dirty="0">
                <a:solidFill>
                  <a:srgbClr val="FF3300"/>
                </a:solidFill>
                <a:cs typeface="Times New Roman" panose="02020603050405020304" charset="0"/>
                <a:sym typeface="Symbol" panose="05050102010706020507" pitchFamily="18" charset="2"/>
              </a:rPr>
              <a:t> </a:t>
            </a:r>
            <a:r>
              <a:rPr lang="en-US" altLang="zh-CN" sz="2800" b="1" dirty="0">
                <a:solidFill>
                  <a:srgbClr val="FF3300"/>
                </a:solidFill>
                <a:cs typeface="Times New Roman" panose="02020603050405020304" charset="0"/>
                <a:sym typeface="Symbol" panose="05050102010706020507" pitchFamily="18" charset="2"/>
              </a:rPr>
              <a:t>=1 </a:t>
            </a:r>
            <a:r>
              <a:rPr lang="en-US" altLang="zh-CN" sz="2800" b="1" dirty="0">
                <a:solidFill>
                  <a:srgbClr val="FF3300"/>
                </a:solidFill>
                <a:cs typeface="Times New Roman" panose="02020603050405020304" charset="0"/>
              </a:rPr>
              <a:t>~ </a:t>
            </a:r>
            <a:r>
              <a:rPr lang="zh-CN" altLang="en-US" sz="2800" b="1" dirty="0">
                <a:solidFill>
                  <a:srgbClr val="FF3300"/>
                </a:solidFill>
                <a:cs typeface="Times New Roman" panose="02020603050405020304" charset="0"/>
              </a:rPr>
              <a:t>阈值</a:t>
            </a:r>
            <a:endParaRPr lang="zh-CN" altLang="en-US" sz="2800" b="1" dirty="0">
              <a:solidFill>
                <a:srgbClr val="FF3300"/>
              </a:solidFill>
              <a:cs typeface="Times New Roman" panose="02020603050405020304" charset="0"/>
            </a:endParaRPr>
          </a:p>
        </p:txBody>
      </p:sp>
      <p:graphicFrame>
        <p:nvGraphicFramePr>
          <p:cNvPr id="5169" name="Object 49"/>
          <p:cNvGraphicFramePr>
            <a:graphicFrameLocks noChangeAspect="1"/>
          </p:cNvGraphicFramePr>
          <p:nvPr/>
        </p:nvGraphicFramePr>
        <p:xfrm>
          <a:off x="5310075" y="4065959"/>
          <a:ext cx="795020" cy="398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公式" r:id="rId5" imgW="355600" imgH="177165" progId="Equation.3">
                  <p:embed/>
                </p:oleObj>
              </mc:Choice>
              <mc:Fallback>
                <p:oleObj name="公式" r:id="rId5" imgW="355600" imgH="177165" progId="Equation.3">
                  <p:embed/>
                  <p:pic>
                    <p:nvPicPr>
                      <p:cNvPr id="0" name="图片 126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075" y="4065959"/>
                        <a:ext cx="795020" cy="398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75" name="Text Box 55"/>
          <p:cNvSpPr txBox="1">
            <a:spLocks noChangeArrowheads="1"/>
          </p:cNvSpPr>
          <p:nvPr/>
        </p:nvSpPr>
        <p:spPr bwMode="auto">
          <a:xfrm>
            <a:off x="5292994" y="4666004"/>
            <a:ext cx="4897438" cy="946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ym typeface="Symbol" panose="05050102010706020507" pitchFamily="18" charset="2"/>
              </a:rPr>
              <a:t>感染期内</a:t>
            </a:r>
            <a:r>
              <a:rPr lang="zh-CN" altLang="en-US" sz="2800" b="1" dirty="0"/>
              <a:t>有效接触使健康者感染的人数不超过原有的病人数</a:t>
            </a:r>
            <a:endParaRPr lang="zh-CN" altLang="en-US" sz="2800" b="1" dirty="0"/>
          </a:p>
        </p:txBody>
      </p:sp>
      <p:grpSp>
        <p:nvGrpSpPr>
          <p:cNvPr id="40" name="Group 131"/>
          <p:cNvGrpSpPr/>
          <p:nvPr/>
        </p:nvGrpSpPr>
        <p:grpSpPr bwMode="auto">
          <a:xfrm>
            <a:off x="6213045" y="3964832"/>
            <a:ext cx="2303463" cy="523874"/>
            <a:chOff x="3606" y="2423"/>
            <a:chExt cx="1451" cy="330"/>
          </a:xfrm>
          <a:solidFill>
            <a:schemeClr val="bg1"/>
          </a:solidFill>
        </p:grpSpPr>
        <p:sp>
          <p:nvSpPr>
            <p:cNvPr id="5141" name="Rectangle 129"/>
            <p:cNvSpPr>
              <a:spLocks noChangeArrowheads="1"/>
            </p:cNvSpPr>
            <p:nvPr/>
          </p:nvSpPr>
          <p:spPr bwMode="auto">
            <a:xfrm>
              <a:off x="3742" y="2423"/>
              <a:ext cx="1315" cy="3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 err="1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(t)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单调下降</a:t>
              </a:r>
              <a:endParaRPr lang="zh-CN" altLang="en-US" sz="28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142" name="AutoShape 130"/>
            <p:cNvSpPr>
              <a:spLocks noChangeArrowheads="1"/>
            </p:cNvSpPr>
            <p:nvPr/>
          </p:nvSpPr>
          <p:spPr bwMode="auto">
            <a:xfrm>
              <a:off x="3606" y="2432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1000"/>
                                        <p:tgtEl>
                                          <p:spTgt spid="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7" dur="1000"/>
                                        <p:tgtEl>
                                          <p:spTgt spid="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1000"/>
                                        <p:tgtEl>
                                          <p:spTgt spid="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46" grpId="0"/>
      <p:bldP spid="36" grpId="0" bldLvl="0" animBg="1"/>
      <p:bldP spid="5166" grpId="0"/>
      <p:bldP spid="5175" grpId="0" bldLvl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1795684" cy="5847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SIR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模型</a:t>
            </a: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215" y="1110615"/>
            <a:ext cx="118027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267970" algn="l">
              <a:lnSpc>
                <a:spcPct val="150000"/>
              </a:lnSpc>
            </a:pPr>
            <a:r>
              <a:rPr lang="zh-CN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传染病有免疫性如天花、麻疹等</a:t>
            </a:r>
            <a:r>
              <a:rPr lang="en-US" altLang="zh-CN" sz="24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——</a:t>
            </a:r>
            <a:r>
              <a:rPr lang="zh-CN" altLang="en-US" sz="24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病人治愈后移出感染系统，称移出者</a:t>
            </a:r>
            <a:r>
              <a:rPr lang="en-US" altLang="zh-CN" sz="2400" kern="1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(Removed)</a:t>
            </a:r>
            <a:endParaRPr lang="en-US" altLang="zh-CN" sz="2400" kern="100" dirty="0"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3220" y="1843722"/>
            <a:ext cx="1101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假设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6158" name="Text Box 59"/>
          <p:cNvSpPr txBox="1">
            <a:spLocks noChangeArrowheads="1"/>
          </p:cNvSpPr>
          <p:nvPr/>
        </p:nvSpPr>
        <p:spPr bwMode="auto">
          <a:xfrm>
            <a:off x="1676400" y="1827212"/>
            <a:ext cx="6925443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marL="514350" indent="-514350" eaLnBrk="1" hangingPunct="1">
              <a:lnSpc>
                <a:spcPct val="120000"/>
              </a:lnSpc>
              <a:spcBef>
                <a:spcPts val="0"/>
              </a:spcBef>
              <a:buAutoNum type="arabicPeriod"/>
            </a:pPr>
            <a:r>
              <a:rPr lang="zh-CN" altLang="en-US" sz="2800" b="1" dirty="0"/>
              <a:t>总人数</a:t>
            </a:r>
            <a:r>
              <a:rPr lang="en-US" altLang="zh-CN" sz="2800" b="1" dirty="0"/>
              <a:t>N</a:t>
            </a:r>
            <a:r>
              <a:rPr lang="zh-CN" altLang="en-US" sz="2800" b="1" dirty="0"/>
              <a:t>不变，</a:t>
            </a:r>
            <a:r>
              <a:rPr lang="zh-CN" altLang="en-US" sz="2800" b="1" dirty="0">
                <a:solidFill>
                  <a:srgbClr val="FF0000"/>
                </a:solidFill>
              </a:rPr>
              <a:t>健康人、病人和移出者</a:t>
            </a:r>
            <a:r>
              <a:rPr lang="zh-CN" altLang="en-US" sz="2800" b="1" dirty="0"/>
              <a:t>的比例分别为 </a:t>
            </a:r>
            <a:r>
              <a:rPr lang="en-US" altLang="zh-CN" sz="2800" b="1" dirty="0">
                <a:solidFill>
                  <a:srgbClr val="FF0000"/>
                </a:solidFill>
              </a:rPr>
              <a:t>s(t), </a:t>
            </a:r>
            <a:r>
              <a:rPr lang="en-US" altLang="zh-CN" sz="2800" b="1" dirty="0" err="1">
                <a:solidFill>
                  <a:srgbClr val="FF0000"/>
                </a:solidFill>
              </a:rPr>
              <a:t>i</a:t>
            </a:r>
            <a:r>
              <a:rPr lang="en-US" altLang="zh-CN" sz="2800" b="1" dirty="0">
                <a:solidFill>
                  <a:srgbClr val="FF0000"/>
                </a:solidFill>
              </a:rPr>
              <a:t>(t), r(t).</a:t>
            </a:r>
            <a:r>
              <a:rPr lang="zh-CN" altLang="en-US" sz="2800" b="1" dirty="0"/>
              <a:t>                        </a:t>
            </a:r>
            <a:endParaRPr lang="en-US" altLang="zh-CN" sz="2800" b="1" dirty="0"/>
          </a:p>
        </p:txBody>
      </p:sp>
      <p:sp>
        <p:nvSpPr>
          <p:cNvPr id="6206" name="Text Box 62"/>
          <p:cNvSpPr txBox="1">
            <a:spLocks noChangeArrowheads="1"/>
          </p:cNvSpPr>
          <p:nvPr/>
        </p:nvSpPr>
        <p:spPr bwMode="auto">
          <a:xfrm>
            <a:off x="1676400" y="3158144"/>
            <a:ext cx="6997452" cy="1040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marL="514350" indent="-514350" eaLnBrk="1" hangingPunct="1">
              <a:spcBef>
                <a:spcPct val="20000"/>
              </a:spcBef>
              <a:buAutoNum type="arabicPeriod" startAt="2"/>
            </a:pPr>
            <a:r>
              <a:rPr lang="zh-CN" altLang="en-US" sz="2800" b="1" dirty="0">
                <a:sym typeface="Symbol" panose="05050102010706020507" pitchFamily="18" charset="2"/>
              </a:rPr>
              <a:t>病人的日接触率为 </a:t>
            </a:r>
            <a:r>
              <a:rPr lang="en-US" altLang="zh-CN" sz="2800" b="1" dirty="0"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sym typeface="Symbol" panose="05050102010706020507" pitchFamily="18" charset="2"/>
              </a:rPr>
              <a:t>日</a:t>
            </a:r>
            <a:r>
              <a:rPr lang="zh-CN" altLang="en-US" sz="2800" b="1" dirty="0"/>
              <a:t>治愈率为</a:t>
            </a:r>
            <a:r>
              <a:rPr lang="zh-CN" altLang="en-US" sz="2800" b="1" dirty="0">
                <a:sym typeface="Symbol" panose="05050102010706020507" pitchFamily="18" charset="2"/>
              </a:rPr>
              <a:t></a:t>
            </a:r>
            <a:r>
              <a:rPr lang="en-US" altLang="zh-CN" sz="2800" b="1" dirty="0">
                <a:sym typeface="Symbol" panose="05050102010706020507" pitchFamily="18" charset="2"/>
              </a:rPr>
              <a:t>, </a:t>
            </a:r>
            <a:r>
              <a:rPr lang="zh-CN" altLang="en-US" sz="2800" b="1" dirty="0"/>
              <a:t>接触</a:t>
            </a:r>
            <a:endParaRPr lang="en-US" altLang="zh-CN" sz="2800" b="1" dirty="0"/>
          </a:p>
          <a:p>
            <a:pPr eaLnBrk="1" hangingPunct="1">
              <a:spcBef>
                <a:spcPct val="20000"/>
              </a:spcBef>
            </a:pPr>
            <a:r>
              <a:rPr lang="en-US" altLang="zh-CN" sz="2800" b="1" dirty="0"/>
              <a:t>     </a:t>
            </a:r>
            <a:r>
              <a:rPr lang="zh-CN" altLang="en-US" sz="2800" b="1" dirty="0"/>
              <a:t> 数 </a:t>
            </a:r>
            <a:r>
              <a:rPr lang="zh-CN" altLang="en-US" sz="2800" b="1" dirty="0">
                <a:sym typeface="Symbol" panose="05050102010706020507" pitchFamily="18" charset="2"/>
              </a:rPr>
              <a:t> </a:t>
            </a:r>
            <a:r>
              <a:rPr lang="en-US" altLang="zh-CN" sz="2800" b="1" dirty="0">
                <a:sym typeface="Symbol" panose="05050102010706020507" pitchFamily="18" charset="2"/>
              </a:rPr>
              <a:t>=  /  .</a:t>
            </a:r>
            <a:endParaRPr lang="en-US" altLang="zh-CN" sz="2800" b="1" dirty="0">
              <a:sym typeface="Symbol" panose="05050102010706020507" pitchFamily="18" charset="2"/>
            </a:endParaRPr>
          </a:p>
        </p:txBody>
      </p:sp>
      <p:graphicFrame>
        <p:nvGraphicFramePr>
          <p:cNvPr id="6208" name="Object 64"/>
          <p:cNvGraphicFramePr>
            <a:graphicFrameLocks noChangeAspect="1"/>
          </p:cNvGraphicFramePr>
          <p:nvPr/>
        </p:nvGraphicFramePr>
        <p:xfrm>
          <a:off x="1676400" y="4402744"/>
          <a:ext cx="4192488" cy="574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" name="公式" r:id="rId1" imgW="1447800" imgH="241300" progId="Equation.3">
                  <p:embed/>
                </p:oleObj>
              </mc:Choice>
              <mc:Fallback>
                <p:oleObj name="公式" r:id="rId1" imgW="1447800" imgH="241300" progId="Equation.3">
                  <p:embed/>
                  <p:pic>
                    <p:nvPicPr>
                      <p:cNvPr id="0" name="图片 12710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402744"/>
                        <a:ext cx="4192488" cy="574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0"/>
          <p:cNvGrpSpPr/>
          <p:nvPr/>
        </p:nvGrpSpPr>
        <p:grpSpPr bwMode="auto">
          <a:xfrm>
            <a:off x="1676400" y="5181254"/>
            <a:ext cx="6248400" cy="534670"/>
            <a:chOff x="1248" y="3263"/>
            <a:chExt cx="3936" cy="337"/>
          </a:xfrm>
        </p:grpSpPr>
        <p:sp>
          <p:nvSpPr>
            <p:cNvPr id="6157" name="Text Box 66"/>
            <p:cNvSpPr txBox="1">
              <a:spLocks noChangeArrowheads="1"/>
            </p:cNvSpPr>
            <p:nvPr/>
          </p:nvSpPr>
          <p:spPr bwMode="auto">
            <a:xfrm>
              <a:off x="1248" y="3263"/>
              <a:ext cx="39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cs typeface="Times New Roman" panose="02020603050405020304" charset="0"/>
                </a:rPr>
                <a:t>需建立                                   的两个方程</a:t>
              </a:r>
              <a:r>
                <a:rPr lang="en-US" altLang="zh-CN" sz="2800" b="1">
                  <a:cs typeface="Times New Roman" panose="02020603050405020304" charset="0"/>
                </a:rPr>
                <a:t>.</a:t>
              </a:r>
              <a:endParaRPr lang="en-US" altLang="zh-CN" sz="2800" b="1">
                <a:cs typeface="Times New Roman" panose="02020603050405020304" charset="0"/>
              </a:endParaRPr>
            </a:p>
          </p:txBody>
        </p:sp>
        <p:graphicFrame>
          <p:nvGraphicFramePr>
            <p:cNvPr id="6147" name="Object 67"/>
            <p:cNvGraphicFramePr>
              <a:graphicFrameLocks noChangeAspect="1"/>
            </p:cNvGraphicFramePr>
            <p:nvPr/>
          </p:nvGraphicFramePr>
          <p:xfrm>
            <a:off x="2016" y="3263"/>
            <a:ext cx="1879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3" name="公式" r:id="rId3" imgW="977900" imgH="241300" progId="Equation.3">
                    <p:embed/>
                  </p:oleObj>
                </mc:Choice>
                <mc:Fallback>
                  <p:oleObj name="公式" r:id="rId3" imgW="977900" imgH="241300" progId="Equation.3">
                    <p:embed/>
                    <p:pic>
                      <p:nvPicPr>
                        <p:cNvPr id="0" name="图片 12710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3263"/>
                          <a:ext cx="1879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8"/>
          <p:cNvSpPr txBox="1"/>
          <p:nvPr/>
        </p:nvSpPr>
        <p:spPr>
          <a:xfrm>
            <a:off x="363220" y="4332640"/>
            <a:ext cx="1120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建模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8" grpId="0"/>
      <p:bldP spid="620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4670" y="188821"/>
            <a:ext cx="5892960" cy="5847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dirty="0"/>
              <a:t>SIR </a:t>
            </a:r>
            <a:r>
              <a:rPr lang="zh-CN" altLang="en-US" sz="3200" b="1" dirty="0"/>
              <a:t>模型的</a:t>
            </a:r>
            <a:r>
              <a:rPr lang="en-US" altLang="zh-CN" sz="3200" b="1" dirty="0"/>
              <a:t>MWORKS</a:t>
            </a:r>
            <a:r>
              <a:rPr lang="zh-CN" altLang="en-US" sz="3200" b="1" dirty="0"/>
              <a:t>求解分析</a:t>
            </a:r>
            <a:endParaRPr lang="zh-CN" altLang="en-US" sz="3200" b="1" dirty="0"/>
          </a:p>
        </p:txBody>
      </p:sp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1238885" y="1170797"/>
          <a:ext cx="6868244" cy="476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" name="公式" r:id="rId1" imgW="3302000" imgH="241300" progId="Equation.3">
                  <p:embed/>
                </p:oleObj>
              </mc:Choice>
              <mc:Fallback>
                <p:oleObj name="公式" r:id="rId1" imgW="3302000" imgH="241300" progId="Equation.3">
                  <p:embed/>
                  <p:pic>
                    <p:nvPicPr>
                      <p:cNvPr id="0" name="图片 12825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885" y="1170797"/>
                        <a:ext cx="6868244" cy="476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3" name="Text Box 12"/>
          <p:cNvSpPr txBox="1">
            <a:spLocks noChangeArrowheads="1"/>
          </p:cNvSpPr>
          <p:nvPr/>
        </p:nvSpPr>
        <p:spPr bwMode="auto">
          <a:xfrm>
            <a:off x="6360419" y="2796101"/>
            <a:ext cx="5548815" cy="164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cs typeface="Times New Roman" panose="02020603050405020304" charset="0"/>
              </a:rPr>
              <a:t>关于</a:t>
            </a:r>
            <a:r>
              <a:rPr lang="en-US" altLang="zh-CN" sz="2800" b="1" dirty="0" err="1">
                <a:cs typeface="Times New Roman" panose="02020603050405020304" charset="0"/>
              </a:rPr>
              <a:t>i</a:t>
            </a:r>
            <a:r>
              <a:rPr lang="en-US" altLang="zh-CN" sz="2800" b="1" dirty="0">
                <a:cs typeface="Times New Roman" panose="02020603050405020304" charset="0"/>
              </a:rPr>
              <a:t>(t) , s(t) </a:t>
            </a:r>
            <a:r>
              <a:rPr lang="zh-CN" altLang="en-US" sz="2800" b="1" dirty="0">
                <a:cs typeface="Times New Roman" panose="02020603050405020304" charset="0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charset="0"/>
              </a:rPr>
              <a:t>非线性</a:t>
            </a:r>
            <a:r>
              <a:rPr lang="zh-CN" altLang="en-US" sz="2800" b="1" dirty="0">
                <a:cs typeface="Times New Roman" panose="02020603050405020304" charset="0"/>
              </a:rPr>
              <a:t>微分方程组，没有解析解，基于</a:t>
            </a:r>
            <a:r>
              <a:rPr lang="en-US" altLang="zh-CN" sz="2800" b="1" dirty="0">
                <a:solidFill>
                  <a:srgbClr val="FF0000"/>
                </a:solidFill>
                <a:cs typeface="Times New Roman" panose="02020603050405020304" charset="0"/>
              </a:rPr>
              <a:t>MWORKS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charset="0"/>
              </a:rPr>
              <a:t>数值计算</a:t>
            </a:r>
            <a:r>
              <a:rPr lang="zh-CN" altLang="zh-CN" sz="2800" b="1" dirty="0">
                <a:cs typeface="Times New Roman" panose="02020603050405020304" charset="0"/>
              </a:rPr>
              <a:t>得</a:t>
            </a:r>
            <a:r>
              <a:rPr lang="en-US" altLang="zh-CN" sz="2800" b="1" dirty="0">
                <a:cs typeface="Times New Roman" panose="02020603050405020304" charset="0"/>
              </a:rPr>
              <a:t>s(t), </a:t>
            </a:r>
            <a:r>
              <a:rPr lang="en-US" altLang="zh-CN" sz="2800" b="1" dirty="0" err="1">
                <a:cs typeface="Times New Roman" panose="02020603050405020304" charset="0"/>
              </a:rPr>
              <a:t>i</a:t>
            </a:r>
            <a:r>
              <a:rPr lang="en-US" altLang="zh-CN" sz="2800" b="1" dirty="0">
                <a:cs typeface="Times New Roman" panose="02020603050405020304" charset="0"/>
              </a:rPr>
              <a:t>(t), r(t)</a:t>
            </a:r>
            <a:r>
              <a:rPr lang="zh-CN" altLang="zh-CN" sz="2800" b="1" dirty="0">
                <a:cs typeface="Times New Roman" panose="02020603050405020304" charset="0"/>
              </a:rPr>
              <a:t>的曲线</a:t>
            </a:r>
            <a:r>
              <a:rPr lang="en-US" altLang="zh-CN" sz="2800" b="1" dirty="0">
                <a:cs typeface="Times New Roman" panose="02020603050405020304" charset="0"/>
              </a:rPr>
              <a:t>.</a:t>
            </a:r>
            <a:endParaRPr lang="zh-CN" altLang="en-US" sz="2800" b="1" dirty="0">
              <a:cs typeface="Times New Roman" panose="02020603050405020304" charset="0"/>
            </a:endParaRPr>
          </a:p>
        </p:txBody>
      </p:sp>
      <p:graphicFrame>
        <p:nvGraphicFramePr>
          <p:cNvPr id="7188" name="Object 20"/>
          <p:cNvGraphicFramePr>
            <a:graphicFrameLocks noChangeAspect="1"/>
          </p:cNvGraphicFramePr>
          <p:nvPr/>
        </p:nvGraphicFramePr>
        <p:xfrm>
          <a:off x="1238886" y="1847906"/>
          <a:ext cx="5644107" cy="518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7" name="公式" r:id="rId3" imgW="2108200" imgH="203200" progId="Equation.3">
                  <p:embed/>
                </p:oleObj>
              </mc:Choice>
              <mc:Fallback>
                <p:oleObj name="公式" r:id="rId3" imgW="2108200" imgH="203200" progId="Equation.3">
                  <p:embed/>
                  <p:pic>
                    <p:nvPicPr>
                      <p:cNvPr id="0" name="图片 12825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886" y="1847906"/>
                        <a:ext cx="5644107" cy="5189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2"/>
          <p:cNvGrpSpPr/>
          <p:nvPr/>
        </p:nvGrpSpPr>
        <p:grpSpPr bwMode="auto">
          <a:xfrm>
            <a:off x="1238885" y="2585983"/>
            <a:ext cx="4381500" cy="2975347"/>
            <a:chOff x="432" y="1509"/>
            <a:chExt cx="2832" cy="2117"/>
          </a:xfrm>
          <a:solidFill>
            <a:schemeClr val="bg1"/>
          </a:solidFill>
        </p:grpSpPr>
        <p:graphicFrame>
          <p:nvGraphicFramePr>
            <p:cNvPr id="7173" name="Object 5"/>
            <p:cNvGraphicFramePr>
              <a:graphicFrameLocks noChangeAspect="1"/>
            </p:cNvGraphicFramePr>
            <p:nvPr/>
          </p:nvGraphicFramePr>
          <p:xfrm>
            <a:off x="624" y="1509"/>
            <a:ext cx="2640" cy="2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08" name="Equation" r:id="rId5" imgW="1193800" imgH="1244600" progId="Equation.DSMT4">
                    <p:embed/>
                  </p:oleObj>
                </mc:Choice>
                <mc:Fallback>
                  <p:oleObj name="Equation" r:id="rId5" imgW="1193800" imgH="1244600" progId="Equation.DSMT4">
                    <p:embed/>
                    <p:pic>
                      <p:nvPicPr>
                        <p:cNvPr id="0" name="图片 12825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1509"/>
                          <a:ext cx="2640" cy="2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2" name="AutoShape 21"/>
            <p:cNvSpPr>
              <a:spLocks noChangeArrowheads="1"/>
            </p:cNvSpPr>
            <p:nvPr/>
          </p:nvSpPr>
          <p:spPr bwMode="auto">
            <a:xfrm>
              <a:off x="432" y="2352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" name="Group 1072"/>
          <p:cNvGrpSpPr/>
          <p:nvPr/>
        </p:nvGrpSpPr>
        <p:grpSpPr bwMode="auto">
          <a:xfrm>
            <a:off x="1626235" y="5667693"/>
            <a:ext cx="4319588" cy="555625"/>
            <a:chOff x="748" y="3693"/>
            <a:chExt cx="2721" cy="350"/>
          </a:xfrm>
        </p:grpSpPr>
        <p:graphicFrame>
          <p:nvGraphicFramePr>
            <p:cNvPr id="7172" name="Object 11"/>
            <p:cNvGraphicFramePr>
              <a:graphicFrameLocks noChangeAspect="1"/>
            </p:cNvGraphicFramePr>
            <p:nvPr/>
          </p:nvGraphicFramePr>
          <p:xfrm>
            <a:off x="748" y="3702"/>
            <a:ext cx="952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09" name="公式" r:id="rId7" imgW="647700" imgH="228600" progId="Equation.3">
                    <p:embed/>
                  </p:oleObj>
                </mc:Choice>
                <mc:Fallback>
                  <p:oleObj name="公式" r:id="rId7" imgW="647700" imgH="228600" progId="Equation.3">
                    <p:embed/>
                    <p:pic>
                      <p:nvPicPr>
                        <p:cNvPr id="0" name="图片 12825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3702"/>
                          <a:ext cx="952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1" name="Text Box 1071"/>
            <p:cNvSpPr txBox="1">
              <a:spLocks noChangeArrowheads="1"/>
            </p:cNvSpPr>
            <p:nvPr/>
          </p:nvSpPr>
          <p:spPr bwMode="auto">
            <a:xfrm>
              <a:off x="1655" y="3693"/>
              <a:ext cx="18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cs typeface="Times New Roman" panose="02020603050405020304" charset="0"/>
                </a:rPr>
                <a:t>(</a:t>
              </a:r>
              <a:r>
                <a:rPr lang="zh-CN" altLang="en-US" sz="2800" b="1" dirty="0">
                  <a:cs typeface="Times New Roman" panose="02020603050405020304" charset="0"/>
                </a:rPr>
                <a:t>通常</a:t>
              </a:r>
              <a:r>
                <a:rPr lang="en-US" altLang="zh-CN" sz="2800" b="1" dirty="0">
                  <a:cs typeface="Times New Roman" panose="02020603050405020304" charset="0"/>
                </a:rPr>
                <a:t>r(0)=</a:t>
              </a:r>
              <a:r>
                <a:rPr lang="en-US" altLang="zh-CN" sz="2800" b="1" dirty="0" err="1">
                  <a:cs typeface="Times New Roman" panose="02020603050405020304" charset="0"/>
                </a:rPr>
                <a:t>r</a:t>
              </a:r>
              <a:r>
                <a:rPr lang="en-US" altLang="zh-CN" sz="2800" b="1" baseline="-25000" dirty="0" err="1">
                  <a:cs typeface="Times New Roman" panose="02020603050405020304" charset="0"/>
                </a:rPr>
                <a:t>0</a:t>
              </a:r>
              <a:r>
                <a:rPr lang="zh-CN" altLang="en-US" sz="2800" b="1" dirty="0">
                  <a:cs typeface="Times New Roman" panose="02020603050405020304" charset="0"/>
                </a:rPr>
                <a:t>很小</a:t>
              </a:r>
              <a:r>
                <a:rPr lang="en-US" altLang="zh-CN" sz="2800" b="1" dirty="0">
                  <a:cs typeface="Times New Roman" panose="02020603050405020304" charset="0"/>
                </a:rPr>
                <a:t>)</a:t>
              </a:r>
              <a:endParaRPr lang="en-US" altLang="zh-CN" sz="2800" b="1" dirty="0"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809571" y="1110644"/>
            <a:ext cx="11660505" cy="564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</a:pPr>
            <a:r>
              <a:rPr lang="zh-CN" altLang="en-US" sz="2400" kern="1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设</a:t>
            </a:r>
            <a:r>
              <a:rPr lang="en-US" altLang="zh-CN" sz="2400" kern="1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s(0)=0.99</a:t>
            </a:r>
            <a:r>
              <a:rPr lang="zh-CN" altLang="en-US" sz="2400" kern="1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</a:t>
            </a:r>
            <a:r>
              <a:rPr lang="en-US" altLang="zh-CN" sz="2400" kern="100" dirty="0" err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2400" kern="1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(0) =0.01</a:t>
            </a:r>
            <a:r>
              <a:rPr lang="zh-CN" altLang="en-US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，健康人</a:t>
            </a:r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s(t)</a:t>
            </a:r>
            <a:r>
              <a:rPr lang="zh-CN" altLang="en-US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，病人</a:t>
            </a:r>
            <a:r>
              <a:rPr lang="en-US" altLang="zh-CN" sz="2400" dirty="0" err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</a:t>
            </a:r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(t)</a:t>
            </a:r>
            <a:r>
              <a:rPr lang="zh-CN" altLang="en-US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lang="zh-CN" altLang="zh-CN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移除者</a:t>
            </a:r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r(t)</a:t>
            </a:r>
            <a:r>
              <a:rPr lang="zh-CN" altLang="en-US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。</a:t>
            </a:r>
            <a:r>
              <a:rPr lang="zh-CN" altLang="zh-CN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接触率</a:t>
            </a:r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,</a:t>
            </a:r>
            <a:r>
              <a:rPr lang="zh-CN" altLang="zh-CN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治愈率</a:t>
            </a:r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</a:t>
            </a:r>
            <a:endParaRPr lang="en-US" altLang="zh-CN" sz="2400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Symbol" panose="05050102010706020507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614420" y="4792284"/>
            <a:ext cx="8352928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s(t)</a:t>
            </a:r>
            <a:r>
              <a:rPr lang="zh-CN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单调减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,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r(t)</a:t>
            </a:r>
            <a:r>
              <a:rPr lang="zh-CN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单调增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,</a:t>
            </a:r>
            <a:r>
              <a:rPr lang="zh-CN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都</a:t>
            </a:r>
            <a:r>
              <a:rPr lang="zh-CN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趋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于</a:t>
            </a:r>
            <a:r>
              <a:rPr lang="zh-CN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稳定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,</a:t>
            </a:r>
            <a:r>
              <a:rPr lang="zh-CN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(t)</a:t>
            </a:r>
            <a:r>
              <a:rPr lang="zh-CN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先增后减</a:t>
            </a:r>
            <a:r>
              <a:rPr lang="zh-CN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趋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于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0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.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614420" y="5795119"/>
            <a:ext cx="493387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</a:t>
            </a:r>
            <a:r>
              <a:rPr lang="en-US" altLang="zh-CN" sz="2000" b="1" baseline="-25000" dirty="0" err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max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</a:t>
            </a:r>
            <a:r>
              <a:rPr lang="en-US" altLang="zh-CN" sz="2000" b="1" baseline="-25000" dirty="0" err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max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)~</a:t>
            </a:r>
            <a:r>
              <a:rPr lang="zh-CN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传染病高潮时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的比例</a:t>
            </a:r>
            <a:endParaRPr lang="zh-CN" altLang="en-US" sz="2000" b="1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661410" y="5301988"/>
            <a:ext cx="412947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∞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~</a:t>
            </a:r>
            <a:r>
              <a:rPr lang="zh-CN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最终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未</a:t>
            </a:r>
            <a:r>
              <a:rPr lang="zh-CN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被感染的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比例</a:t>
            </a:r>
            <a:endParaRPr lang="zh-CN" altLang="en-US" sz="2000" b="1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889292" y="5280201"/>
            <a:ext cx="3415030" cy="629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</a:pP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衡量传染病传播的强度</a:t>
            </a:r>
            <a:endParaRPr lang="zh-CN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944670" y="188821"/>
            <a:ext cx="5892960" cy="5847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dirty="0"/>
              <a:t>SIR </a:t>
            </a:r>
            <a:r>
              <a:rPr lang="zh-CN" altLang="en-US" sz="3200" b="1" dirty="0"/>
              <a:t>模型的</a:t>
            </a:r>
            <a:r>
              <a:rPr lang="en-US" altLang="zh-CN" sz="3200" b="1" dirty="0"/>
              <a:t>MWORKS</a:t>
            </a:r>
            <a:r>
              <a:rPr lang="zh-CN" altLang="en-US" sz="3200" b="1" dirty="0"/>
              <a:t>求解分析</a:t>
            </a:r>
            <a:endParaRPr lang="zh-CN" altLang="en-US" sz="32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020570"/>
            <a:ext cx="3628046" cy="2426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010" y="2020570"/>
            <a:ext cx="3564137" cy="2426400"/>
          </a:xfrm>
          <a:prstGeom prst="rect">
            <a:avLst/>
          </a:prstGeom>
        </p:spPr>
      </p:pic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2" grpId="0"/>
      <p:bldP spid="43" grpId="0"/>
      <p:bldP spid="44" grpId="0"/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900597" y="165100"/>
            <a:ext cx="747204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/>
              <a:t>SIR </a:t>
            </a:r>
            <a:r>
              <a:rPr lang="zh-CN" altLang="en-US" sz="3200" b="1" dirty="0"/>
              <a:t>模型的</a:t>
            </a:r>
            <a:r>
              <a:rPr lang="en-US" altLang="zh-CN" sz="3200" b="1" dirty="0"/>
              <a:t>MWORKS</a:t>
            </a:r>
            <a:r>
              <a:rPr lang="zh-CN" altLang="en-US" sz="3200" b="1" dirty="0"/>
              <a:t>求解代码（</a:t>
            </a:r>
            <a:r>
              <a:rPr lang="zh-CN" altLang="en-US" sz="3200" b="1" dirty="0"/>
              <a:t>左图）</a:t>
            </a:r>
            <a:endParaRPr lang="zh-CN" altLang="en-US" sz="3200" b="1" dirty="0"/>
          </a:p>
        </p:txBody>
      </p:sp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15465" y="1041400"/>
            <a:ext cx="883539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using Plots</a:t>
            </a:r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参数设置</a:t>
            </a:r>
            <a:endParaRPr lang="zh-CN" altLang="en-US"/>
          </a:p>
          <a:p>
            <a:r>
              <a:rPr lang="en-US" altLang="zh-CN"/>
              <a:t>λ = 0.6  # </a:t>
            </a:r>
            <a:r>
              <a:rPr lang="zh-CN" altLang="en-US"/>
              <a:t>接触率</a:t>
            </a:r>
            <a:endParaRPr lang="zh-CN" altLang="en-US"/>
          </a:p>
          <a:p>
            <a:r>
              <a:rPr lang="en-US" altLang="zh-CN"/>
              <a:t>μ = 0.3  # </a:t>
            </a:r>
            <a:r>
              <a:rPr lang="zh-CN" altLang="en-US"/>
              <a:t>治愈率</a:t>
            </a:r>
            <a:endParaRPr lang="zh-CN" altLang="en-US"/>
          </a:p>
          <a:p>
            <a:r>
              <a:rPr lang="en-US" altLang="zh-CN"/>
              <a:t>N = 1000  # </a:t>
            </a:r>
            <a:r>
              <a:rPr lang="zh-CN" altLang="en-US"/>
              <a:t>总人口</a:t>
            </a:r>
            <a:endParaRPr lang="zh-CN" altLang="en-US"/>
          </a:p>
          <a:p>
            <a:r>
              <a:rPr lang="en-US" altLang="zh-CN"/>
              <a:t>I0 = 0.01 * N  # </a:t>
            </a:r>
            <a:r>
              <a:rPr lang="zh-CN" altLang="en-US"/>
              <a:t>初始感染者</a:t>
            </a:r>
            <a:endParaRPr lang="zh-CN" altLang="en-US"/>
          </a:p>
          <a:p>
            <a:r>
              <a:rPr lang="en-US" altLang="zh-CN"/>
              <a:t>R0 = 0         # </a:t>
            </a:r>
            <a:r>
              <a:rPr lang="zh-CN" altLang="en-US"/>
              <a:t>初始恢复者</a:t>
            </a:r>
            <a:endParaRPr lang="zh-CN" altLang="en-US"/>
          </a:p>
          <a:p>
            <a:r>
              <a:rPr lang="en-US" altLang="zh-CN"/>
              <a:t>S0 = 0.99 * N  # </a:t>
            </a:r>
            <a:r>
              <a:rPr lang="zh-CN" altLang="en-US"/>
              <a:t>初始健康者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时间设置</a:t>
            </a:r>
            <a:endParaRPr lang="zh-CN" altLang="en-US"/>
          </a:p>
          <a:p>
            <a:r>
              <a:rPr lang="en-US" altLang="zh-CN"/>
              <a:t>t_total = 50  # </a:t>
            </a:r>
            <a:r>
              <a:rPr lang="zh-CN" altLang="en-US"/>
              <a:t>总时间</a:t>
            </a:r>
            <a:endParaRPr lang="zh-CN" altLang="en-US"/>
          </a:p>
          <a:p>
            <a:r>
              <a:rPr lang="en-US" altLang="zh-CN"/>
              <a:t>dt = 1         # </a:t>
            </a:r>
            <a:r>
              <a:rPr lang="zh-CN" altLang="en-US"/>
              <a:t>时间步长</a:t>
            </a:r>
            <a:endParaRPr lang="zh-CN" altLang="en-US"/>
          </a:p>
          <a:p>
            <a:r>
              <a:rPr lang="en-US" altLang="zh-CN"/>
              <a:t>time = 0:dt:t_total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初始化</a:t>
            </a:r>
            <a:r>
              <a:rPr lang="en-US" altLang="zh-CN"/>
              <a:t>S, I, R</a:t>
            </a:r>
            <a:r>
              <a:rPr lang="zh-CN" altLang="en-US"/>
              <a:t>数组</a:t>
            </a:r>
            <a:endParaRPr lang="zh-CN" altLang="en-US"/>
          </a:p>
          <a:p>
            <a:r>
              <a:rPr lang="en-US" altLang="zh-CN"/>
              <a:t>S = zeros(length(time))</a:t>
            </a:r>
            <a:endParaRPr lang="en-US" altLang="zh-CN"/>
          </a:p>
          <a:p>
            <a:r>
              <a:rPr lang="en-US" altLang="zh-CN"/>
              <a:t>I = zeros(length(time))</a:t>
            </a:r>
            <a:endParaRPr lang="en-US" altLang="zh-CN"/>
          </a:p>
          <a:p>
            <a:r>
              <a:rPr lang="en-US" altLang="zh-CN"/>
              <a:t>R = zeros(length(time))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900597" y="165100"/>
            <a:ext cx="747204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3200" b="1" dirty="0"/>
              <a:t>SIR </a:t>
            </a:r>
            <a:r>
              <a:rPr lang="zh-CN" altLang="en-US" sz="3200" b="1" dirty="0"/>
              <a:t>模型的</a:t>
            </a:r>
            <a:r>
              <a:rPr lang="en-US" altLang="zh-CN" sz="3200" b="1" dirty="0"/>
              <a:t>MWORKS</a:t>
            </a:r>
            <a:r>
              <a:rPr lang="zh-CN" altLang="en-US" sz="3200" b="1" dirty="0"/>
              <a:t>求解代码</a:t>
            </a:r>
            <a:r>
              <a:rPr lang="zh-CN" altLang="en-US" sz="3200" b="1" dirty="0">
                <a:sym typeface="+mn-ea"/>
              </a:rPr>
              <a:t>（左图）</a:t>
            </a:r>
            <a:endParaRPr lang="zh-CN" altLang="en-US" sz="3200" b="1" dirty="0"/>
          </a:p>
        </p:txBody>
      </p:sp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48000" y="1305560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# </a:t>
            </a:r>
            <a:r>
              <a:rPr lang="zh-CN" altLang="en-US"/>
              <a:t>初始值</a:t>
            </a:r>
            <a:endParaRPr lang="zh-CN" altLang="en-US"/>
          </a:p>
          <a:p>
            <a:r>
              <a:rPr lang="en-US" altLang="zh-CN"/>
              <a:t>S[1] = S0</a:t>
            </a:r>
            <a:endParaRPr lang="en-US" altLang="zh-CN"/>
          </a:p>
          <a:p>
            <a:r>
              <a:rPr lang="en-US" altLang="zh-CN"/>
              <a:t>I[1] = I0</a:t>
            </a:r>
            <a:endParaRPr lang="en-US" altLang="zh-CN"/>
          </a:p>
          <a:p>
            <a:r>
              <a:rPr lang="en-US" altLang="zh-CN"/>
              <a:t>R[1] = R0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SIR</a:t>
            </a:r>
            <a:r>
              <a:rPr lang="zh-CN" altLang="en-US"/>
              <a:t>模型的迭代</a:t>
            </a:r>
            <a:endParaRPr lang="zh-CN" altLang="en-US"/>
          </a:p>
          <a:p>
            <a:r>
              <a:rPr lang="en-US" altLang="zh-CN"/>
              <a:t>for t in 1:(length(time)-1)</a:t>
            </a:r>
            <a:endParaRPr lang="en-US" altLang="zh-CN"/>
          </a:p>
          <a:p>
            <a:r>
              <a:rPr lang="en-US" altLang="zh-CN"/>
              <a:t>    dS = -λ * S[t] * I[t] / N * dt</a:t>
            </a:r>
            <a:endParaRPr lang="en-US" altLang="zh-CN"/>
          </a:p>
          <a:p>
            <a:r>
              <a:rPr lang="en-US" altLang="zh-CN"/>
              <a:t>    dI = (λ * S[t] * I[t] / N - μ * I[t]) * dt</a:t>
            </a:r>
            <a:endParaRPr lang="en-US" altLang="zh-CN"/>
          </a:p>
          <a:p>
            <a:r>
              <a:rPr lang="en-US" altLang="zh-CN"/>
              <a:t>    dR = μ * I[t] * dt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S[t + 1] = S[t] + dS</a:t>
            </a:r>
            <a:endParaRPr lang="en-US" altLang="zh-CN"/>
          </a:p>
          <a:p>
            <a:r>
              <a:rPr lang="en-US" altLang="zh-CN"/>
              <a:t>    I[t + 1] = I[t] + dI</a:t>
            </a:r>
            <a:endParaRPr lang="en-US" altLang="zh-CN"/>
          </a:p>
          <a:p>
            <a:r>
              <a:rPr lang="en-US" altLang="zh-CN"/>
              <a:t>    R[t + 1] = R[t] + dR</a:t>
            </a:r>
            <a:endParaRPr lang="en-US" altLang="zh-CN"/>
          </a:p>
          <a:p>
            <a:r>
              <a:rPr lang="en-US" altLang="zh-CN"/>
              <a:t>end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900597" y="165100"/>
            <a:ext cx="747204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3200" b="1" dirty="0"/>
              <a:t>SIR </a:t>
            </a:r>
            <a:r>
              <a:rPr lang="zh-CN" altLang="en-US" sz="3200" b="1" dirty="0"/>
              <a:t>模型的</a:t>
            </a:r>
            <a:r>
              <a:rPr lang="en-US" altLang="zh-CN" sz="3200" b="1" dirty="0"/>
              <a:t>MWORKS</a:t>
            </a:r>
            <a:r>
              <a:rPr lang="zh-CN" altLang="en-US" sz="3200" b="1" dirty="0"/>
              <a:t>求解代码</a:t>
            </a:r>
            <a:r>
              <a:rPr lang="zh-CN" altLang="en-US" sz="3200" b="1" dirty="0">
                <a:sym typeface="+mn-ea"/>
              </a:rPr>
              <a:t>（左图）</a:t>
            </a:r>
            <a:endParaRPr lang="zh-CN" altLang="en-US" sz="32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2339340" y="1029335"/>
            <a:ext cx="751332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# </a:t>
            </a:r>
            <a:r>
              <a:rPr lang="zh-CN" altLang="en-US"/>
              <a:t>计算比例</a:t>
            </a:r>
            <a:endParaRPr lang="zh-CN" altLang="en-US"/>
          </a:p>
          <a:p>
            <a:r>
              <a:rPr lang="en-US" altLang="zh-CN"/>
              <a:t>S_ratio = S ./ N</a:t>
            </a:r>
            <a:endParaRPr lang="en-US" altLang="zh-CN"/>
          </a:p>
          <a:p>
            <a:r>
              <a:rPr lang="en-US" altLang="zh-CN"/>
              <a:t>I_ratio = I ./ N</a:t>
            </a:r>
            <a:endParaRPr lang="en-US" altLang="zh-CN"/>
          </a:p>
          <a:p>
            <a:r>
              <a:rPr lang="en-US" altLang="zh-CN"/>
              <a:t>R_ratio = R ./ N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绘制结果</a:t>
            </a:r>
            <a:endParaRPr lang="zh-CN" altLang="en-US"/>
          </a:p>
          <a:p>
            <a:r>
              <a:rPr lang="en-US" altLang="zh-CN"/>
              <a:t>plot(time, S_ratio, label="s(t)", color=:green)</a:t>
            </a:r>
            <a:endParaRPr lang="en-US" altLang="zh-CN"/>
          </a:p>
          <a:p>
            <a:r>
              <a:rPr lang="en-US" altLang="zh-CN"/>
              <a:t>plot!(time, I_ratio, label="i(t)", color=:blue)</a:t>
            </a:r>
            <a:endParaRPr lang="en-US" altLang="zh-CN"/>
          </a:p>
          <a:p>
            <a:r>
              <a:rPr lang="en-US" altLang="zh-CN"/>
              <a:t>plot!(time, R_ratio, label="r(t)", color=:red)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设置刻度</a:t>
            </a:r>
            <a:endParaRPr lang="zh-CN" altLang="en-US"/>
          </a:p>
          <a:p>
            <a:r>
              <a:rPr lang="en-US" altLang="zh-CN"/>
              <a:t>xticks = 0:5:50</a:t>
            </a:r>
            <a:endParaRPr lang="en-US" altLang="zh-CN"/>
          </a:p>
          <a:p>
            <a:r>
              <a:rPr lang="en-US" altLang="zh-CN"/>
              <a:t>yticks = 0:0.1:1</a:t>
            </a:r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应用刻度设置</a:t>
            </a:r>
            <a:endParaRPr lang="zh-CN" altLang="en-US"/>
          </a:p>
          <a:p>
            <a:r>
              <a:rPr lang="en-US" altLang="zh-CN"/>
              <a:t>plot!(xticks=xticks, yticks=yticks)</a:t>
            </a:r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添加标题和参数信息</a:t>
            </a:r>
            <a:endParaRPr lang="zh-CN" altLang="en-US"/>
          </a:p>
          <a:p>
            <a:r>
              <a:rPr lang="en-US" altLang="zh-CN"/>
              <a:t>title!("λ=0.6, μ=0.3")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900597" y="165100"/>
            <a:ext cx="747204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/>
              <a:t>SIR </a:t>
            </a:r>
            <a:r>
              <a:rPr lang="zh-CN" altLang="en-US" sz="3200" b="1" dirty="0"/>
              <a:t>模型的</a:t>
            </a:r>
            <a:r>
              <a:rPr lang="en-US" altLang="zh-CN" sz="3200" b="1" dirty="0"/>
              <a:t>MWORKS</a:t>
            </a:r>
            <a:r>
              <a:rPr lang="zh-CN" altLang="en-US" sz="3200" b="1" dirty="0"/>
              <a:t>求解代码（</a:t>
            </a:r>
            <a:r>
              <a:rPr lang="zh-CN" altLang="en-US" sz="3200" b="1" dirty="0"/>
              <a:t>右图）</a:t>
            </a:r>
            <a:endParaRPr lang="zh-CN" altLang="en-US" sz="3200" b="1" dirty="0"/>
          </a:p>
        </p:txBody>
      </p:sp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15465" y="926465"/>
            <a:ext cx="8835390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using Plots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参数设置</a:t>
            </a:r>
            <a:endParaRPr lang="zh-CN" altLang="en-US"/>
          </a:p>
          <a:p>
            <a:r>
              <a:rPr lang="en-US" altLang="zh-CN"/>
              <a:t>λ = 0.5  # </a:t>
            </a:r>
            <a:r>
              <a:rPr lang="zh-CN" altLang="en-US"/>
              <a:t>接触率</a:t>
            </a:r>
            <a:endParaRPr lang="zh-CN" altLang="en-US"/>
          </a:p>
          <a:p>
            <a:r>
              <a:rPr lang="en-US" altLang="zh-CN"/>
              <a:t>μ = 0.4  # </a:t>
            </a:r>
            <a:r>
              <a:rPr lang="zh-CN" altLang="en-US"/>
              <a:t>治愈率</a:t>
            </a:r>
            <a:endParaRPr lang="zh-CN" altLang="en-US"/>
          </a:p>
          <a:p>
            <a:r>
              <a:rPr lang="en-US" altLang="zh-CN"/>
              <a:t>N = 1000  # </a:t>
            </a:r>
            <a:r>
              <a:rPr lang="zh-CN" altLang="en-US"/>
              <a:t>总人口</a:t>
            </a:r>
            <a:endParaRPr lang="zh-CN" altLang="en-US"/>
          </a:p>
          <a:p>
            <a:r>
              <a:rPr lang="en-US" altLang="zh-CN"/>
              <a:t>I0 = 0.01 * N  # </a:t>
            </a:r>
            <a:r>
              <a:rPr lang="zh-CN" altLang="en-US"/>
              <a:t>初始感染者</a:t>
            </a:r>
            <a:endParaRPr lang="zh-CN" altLang="en-US"/>
          </a:p>
          <a:p>
            <a:r>
              <a:rPr lang="en-US" altLang="zh-CN"/>
              <a:t>R0 = 0         # </a:t>
            </a:r>
            <a:r>
              <a:rPr lang="zh-CN" altLang="en-US"/>
              <a:t>初始恢复者</a:t>
            </a:r>
            <a:endParaRPr lang="zh-CN" altLang="en-US"/>
          </a:p>
          <a:p>
            <a:r>
              <a:rPr lang="en-US" altLang="zh-CN"/>
              <a:t>S0 = 0.99 * N  # </a:t>
            </a:r>
            <a:r>
              <a:rPr lang="zh-CN" altLang="en-US"/>
              <a:t>初始健康者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时间设置</a:t>
            </a:r>
            <a:endParaRPr lang="zh-CN" altLang="en-US"/>
          </a:p>
          <a:p>
            <a:r>
              <a:rPr lang="en-US" altLang="zh-CN"/>
              <a:t>t_total = 50  # </a:t>
            </a:r>
            <a:r>
              <a:rPr lang="zh-CN" altLang="en-US"/>
              <a:t>总时间</a:t>
            </a:r>
            <a:endParaRPr lang="zh-CN" altLang="en-US"/>
          </a:p>
          <a:p>
            <a:r>
              <a:rPr lang="en-US" altLang="zh-CN"/>
              <a:t>dt = 1         # </a:t>
            </a:r>
            <a:r>
              <a:rPr lang="zh-CN" altLang="en-US"/>
              <a:t>时间步长</a:t>
            </a:r>
            <a:endParaRPr lang="zh-CN" altLang="en-US"/>
          </a:p>
          <a:p>
            <a:r>
              <a:rPr lang="en-US" altLang="zh-CN"/>
              <a:t>time = 0:dt:t_total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初始化</a:t>
            </a:r>
            <a:r>
              <a:rPr lang="en-US" altLang="zh-CN"/>
              <a:t>S, I, R</a:t>
            </a:r>
            <a:r>
              <a:rPr lang="zh-CN" altLang="en-US"/>
              <a:t>数组</a:t>
            </a:r>
            <a:endParaRPr lang="zh-CN" altLang="en-US"/>
          </a:p>
          <a:p>
            <a:r>
              <a:rPr lang="en-US" altLang="zh-CN"/>
              <a:t>S = zeros(length(time))</a:t>
            </a:r>
            <a:endParaRPr lang="en-US" altLang="zh-CN"/>
          </a:p>
          <a:p>
            <a:r>
              <a:rPr lang="en-US" altLang="zh-CN"/>
              <a:t>I = zeros(length(time))</a:t>
            </a:r>
            <a:endParaRPr lang="en-US" altLang="zh-CN"/>
          </a:p>
          <a:p>
            <a:r>
              <a:rPr lang="en-US" altLang="zh-CN"/>
              <a:t>R = zeros(length(time))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900597" y="165100"/>
            <a:ext cx="747204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3200" b="1" dirty="0"/>
              <a:t>SIR </a:t>
            </a:r>
            <a:r>
              <a:rPr lang="zh-CN" altLang="en-US" sz="3200" b="1" dirty="0"/>
              <a:t>模型的</a:t>
            </a:r>
            <a:r>
              <a:rPr lang="en-US" altLang="zh-CN" sz="3200" b="1" dirty="0"/>
              <a:t>MWORKS</a:t>
            </a:r>
            <a:r>
              <a:rPr lang="zh-CN" altLang="en-US" sz="3200" b="1" dirty="0"/>
              <a:t>求解代码</a:t>
            </a:r>
            <a:r>
              <a:rPr lang="zh-CN" altLang="en-US" sz="3200" b="1" dirty="0">
                <a:sym typeface="+mn-ea"/>
              </a:rPr>
              <a:t>（</a:t>
            </a:r>
            <a:r>
              <a:rPr lang="zh-CN" altLang="en-US" sz="3200" b="1" dirty="0">
                <a:sym typeface="+mn-ea"/>
              </a:rPr>
              <a:t>右图）</a:t>
            </a:r>
            <a:endParaRPr lang="zh-CN" altLang="en-US" sz="3200" b="1" dirty="0"/>
          </a:p>
        </p:txBody>
      </p:sp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48000" y="1305560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# </a:t>
            </a:r>
            <a:r>
              <a:rPr lang="zh-CN" altLang="en-US"/>
              <a:t>初始值</a:t>
            </a:r>
            <a:endParaRPr lang="zh-CN" altLang="en-US"/>
          </a:p>
          <a:p>
            <a:r>
              <a:rPr lang="en-US" altLang="zh-CN"/>
              <a:t>S[1] = S0</a:t>
            </a:r>
            <a:endParaRPr lang="en-US" altLang="zh-CN"/>
          </a:p>
          <a:p>
            <a:r>
              <a:rPr lang="en-US" altLang="zh-CN"/>
              <a:t>I[1] = I0</a:t>
            </a:r>
            <a:endParaRPr lang="en-US" altLang="zh-CN"/>
          </a:p>
          <a:p>
            <a:r>
              <a:rPr lang="en-US" altLang="zh-CN"/>
              <a:t>R[1] = R0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SIR</a:t>
            </a:r>
            <a:r>
              <a:rPr lang="zh-CN" altLang="en-US"/>
              <a:t>模型的迭代</a:t>
            </a:r>
            <a:endParaRPr lang="zh-CN" altLang="en-US"/>
          </a:p>
          <a:p>
            <a:r>
              <a:rPr lang="en-US" altLang="zh-CN"/>
              <a:t>for t in 1:(length(time)-1)</a:t>
            </a:r>
            <a:endParaRPr lang="en-US" altLang="zh-CN"/>
          </a:p>
          <a:p>
            <a:r>
              <a:rPr lang="en-US" altLang="zh-CN"/>
              <a:t>    dS = -λ * S[t] * I[t] / N * dt</a:t>
            </a:r>
            <a:endParaRPr lang="en-US" altLang="zh-CN"/>
          </a:p>
          <a:p>
            <a:r>
              <a:rPr lang="en-US" altLang="zh-CN"/>
              <a:t>    dI = (λ * S[t] * I[t] / N - μ * I[t]) * dt</a:t>
            </a:r>
            <a:endParaRPr lang="en-US" altLang="zh-CN"/>
          </a:p>
          <a:p>
            <a:r>
              <a:rPr lang="en-US" altLang="zh-CN"/>
              <a:t>    dR = μ * I[t] * dt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S[t + 1] = S[t] + dS</a:t>
            </a:r>
            <a:endParaRPr lang="en-US" altLang="zh-CN"/>
          </a:p>
          <a:p>
            <a:r>
              <a:rPr lang="en-US" altLang="zh-CN"/>
              <a:t>    I[t + 1] = I[t] + dI</a:t>
            </a:r>
            <a:endParaRPr lang="en-US" altLang="zh-CN"/>
          </a:p>
          <a:p>
            <a:r>
              <a:rPr lang="en-US" altLang="zh-CN"/>
              <a:t>    R[t + 1] = R[t] + dR</a:t>
            </a:r>
            <a:endParaRPr lang="en-US" altLang="zh-CN"/>
          </a:p>
          <a:p>
            <a:r>
              <a:rPr lang="en-US" altLang="zh-CN"/>
              <a:t>end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900597" y="165100"/>
            <a:ext cx="747204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3200" b="1" dirty="0"/>
              <a:t>SIR </a:t>
            </a:r>
            <a:r>
              <a:rPr lang="zh-CN" altLang="en-US" sz="3200" b="1" dirty="0"/>
              <a:t>模型的</a:t>
            </a:r>
            <a:r>
              <a:rPr lang="en-US" altLang="zh-CN" sz="3200" b="1" dirty="0"/>
              <a:t>MWORKS</a:t>
            </a:r>
            <a:r>
              <a:rPr lang="zh-CN" altLang="en-US" sz="3200" b="1" dirty="0"/>
              <a:t>求解代码</a:t>
            </a:r>
            <a:r>
              <a:rPr lang="zh-CN" altLang="en-US" sz="3200" b="1" dirty="0">
                <a:sym typeface="+mn-ea"/>
              </a:rPr>
              <a:t>（</a:t>
            </a:r>
            <a:r>
              <a:rPr lang="zh-CN" altLang="en-US" sz="3200" b="1" dirty="0">
                <a:sym typeface="+mn-ea"/>
              </a:rPr>
              <a:t>右图）</a:t>
            </a:r>
            <a:endParaRPr lang="zh-CN" altLang="en-US" sz="32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2339340" y="1029335"/>
            <a:ext cx="751332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# </a:t>
            </a:r>
            <a:r>
              <a:rPr lang="zh-CN" altLang="en-US"/>
              <a:t>计算比例</a:t>
            </a:r>
            <a:endParaRPr lang="zh-CN" altLang="en-US"/>
          </a:p>
          <a:p>
            <a:r>
              <a:rPr lang="en-US" altLang="zh-CN"/>
              <a:t>S_ratio = S ./ N</a:t>
            </a:r>
            <a:endParaRPr lang="en-US" altLang="zh-CN"/>
          </a:p>
          <a:p>
            <a:r>
              <a:rPr lang="en-US" altLang="zh-CN"/>
              <a:t>I_ratio = I ./ N</a:t>
            </a:r>
            <a:endParaRPr lang="en-US" altLang="zh-CN"/>
          </a:p>
          <a:p>
            <a:r>
              <a:rPr lang="en-US" altLang="zh-CN"/>
              <a:t>R_ratio = R ./ N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绘制结果</a:t>
            </a:r>
            <a:endParaRPr lang="zh-CN" altLang="en-US"/>
          </a:p>
          <a:p>
            <a:r>
              <a:rPr lang="en-US" altLang="zh-CN"/>
              <a:t>plot(time, S_ratio, label="s(t)", color=:green)</a:t>
            </a:r>
            <a:endParaRPr lang="en-US" altLang="zh-CN"/>
          </a:p>
          <a:p>
            <a:r>
              <a:rPr lang="en-US" altLang="zh-CN"/>
              <a:t>plot!(time, I_ratio, label="i(t)", color=:blue)</a:t>
            </a:r>
            <a:endParaRPr lang="en-US" altLang="zh-CN"/>
          </a:p>
          <a:p>
            <a:r>
              <a:rPr lang="en-US" altLang="zh-CN"/>
              <a:t>plot!(time, R_ratio, label="r(t)", color=:red)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设置刻度</a:t>
            </a:r>
            <a:endParaRPr lang="zh-CN" altLang="en-US"/>
          </a:p>
          <a:p>
            <a:r>
              <a:rPr lang="en-US" altLang="zh-CN"/>
              <a:t>xticks = 0:5:50</a:t>
            </a:r>
            <a:endParaRPr lang="en-US" altLang="zh-CN"/>
          </a:p>
          <a:p>
            <a:r>
              <a:rPr lang="en-US" altLang="zh-CN"/>
              <a:t>yticks = 0:0.1:1</a:t>
            </a:r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应用刻度设置</a:t>
            </a:r>
            <a:endParaRPr lang="zh-CN" altLang="en-US"/>
          </a:p>
          <a:p>
            <a:r>
              <a:rPr lang="en-US" altLang="zh-CN"/>
              <a:t>plot!(xticks=xticks, yticks=yticks)</a:t>
            </a:r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添加标题和参数信息</a:t>
            </a:r>
            <a:endParaRPr lang="zh-CN" altLang="en-US"/>
          </a:p>
          <a:p>
            <a:r>
              <a:rPr lang="en-US" altLang="zh-CN"/>
              <a:t>title!("λ=0.5, μ=0.4")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530417" y="1232924"/>
            <a:ext cx="7369989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1/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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~</a:t>
            </a:r>
            <a:r>
              <a:rPr lang="zh-CN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平均传染期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病人</a:t>
            </a:r>
            <a:r>
              <a:rPr lang="zh-CN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治愈所需平均时间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)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08044" y="1817236"/>
            <a:ext cx="8106008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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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/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~</a:t>
            </a:r>
            <a:r>
              <a:rPr lang="zh-CN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接触数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</a:t>
            </a:r>
            <a:r>
              <a:rPr lang="zh-CN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感染期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内</a:t>
            </a:r>
            <a:r>
              <a:rPr lang="zh-CN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每个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病人</a:t>
            </a:r>
            <a:r>
              <a:rPr lang="zh-CN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有效接触人数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)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39454" y="1436305"/>
            <a:ext cx="22781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接触率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, </a:t>
            </a:r>
            <a:r>
              <a:rPr lang="zh-CN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治愈率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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620503" y="2830678"/>
            <a:ext cx="3896360" cy="63094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</a:pPr>
            <a:r>
              <a:rPr lang="zh-CN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接触数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</a:t>
            </a:r>
            <a:r>
              <a:rPr lang="zh-CN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小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----</a:t>
            </a:r>
            <a:r>
              <a:rPr lang="zh-CN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有助于控制传播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041105" y="2375673"/>
            <a:ext cx="56886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健康人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s(t)</a:t>
            </a:r>
            <a:r>
              <a:rPr lang="zh-CN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增加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, 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病人</a:t>
            </a:r>
            <a:r>
              <a:rPr lang="en-US" altLang="zh-CN" sz="2000" b="1" dirty="0" err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(t)</a:t>
            </a:r>
            <a:r>
              <a:rPr lang="zh-CN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减少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.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371112" y="2382783"/>
            <a:ext cx="2197571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接触数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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变小，</a:t>
            </a:r>
            <a:endParaRPr lang="zh-CN" altLang="en-US" sz="2000" b="1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Symbol" panose="05050102010706020507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695248" y="2345624"/>
            <a:ext cx="4478405" cy="413463"/>
            <a:chOff x="1245925" y="2479458"/>
            <a:chExt cx="4478405" cy="413463"/>
          </a:xfrm>
          <a:solidFill>
            <a:schemeClr val="bg1"/>
          </a:solidFill>
        </p:grpSpPr>
        <p:sp>
          <p:nvSpPr>
            <p:cNvPr id="10" name="矩形 9"/>
            <p:cNvSpPr/>
            <p:nvPr/>
          </p:nvSpPr>
          <p:spPr>
            <a:xfrm>
              <a:off x="1245925" y="2479458"/>
              <a:ext cx="4478405" cy="39878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zh-CN" sz="2000" b="1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卫生水平高</a:t>
              </a:r>
              <a:r>
                <a:rPr lang="en-US" altLang="zh-CN" sz="2000" b="1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    </a:t>
              </a:r>
              <a:r>
                <a:rPr lang="zh-CN" altLang="zh-CN" sz="2000" b="1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接触率</a:t>
              </a:r>
              <a:r>
                <a:rPr lang="en-US" altLang="zh-CN" sz="2000" b="1" i="1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Symbol" panose="05050102010706020507"/>
                </a:rPr>
                <a:t></a:t>
              </a:r>
              <a:r>
                <a:rPr lang="zh-CN" altLang="zh-CN" sz="2000" b="1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小</a:t>
              </a:r>
              <a:endParaRPr lang="zh-CN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11" name="右箭头 10"/>
            <p:cNvSpPr/>
            <p:nvPr/>
          </p:nvSpPr>
          <p:spPr bwMode="auto">
            <a:xfrm>
              <a:off x="2987824" y="2488169"/>
              <a:ext cx="144016" cy="404752"/>
            </a:xfrm>
            <a:prstGeom prst="rightArrow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622621" y="2853172"/>
            <a:ext cx="4478405" cy="424669"/>
            <a:chOff x="1245925" y="3140679"/>
            <a:chExt cx="4009273" cy="424669"/>
          </a:xfrm>
          <a:solidFill>
            <a:schemeClr val="bg1"/>
          </a:solidFill>
        </p:grpSpPr>
        <p:sp>
          <p:nvSpPr>
            <p:cNvPr id="12" name="矩形 11"/>
            <p:cNvSpPr/>
            <p:nvPr/>
          </p:nvSpPr>
          <p:spPr>
            <a:xfrm>
              <a:off x="1245925" y="3140679"/>
              <a:ext cx="4009273" cy="39878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zh-CN" sz="2000" b="1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医疗水平高</a:t>
              </a:r>
              <a:r>
                <a:rPr lang="en-US" altLang="zh-CN" sz="2000" b="1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    </a:t>
              </a:r>
              <a:r>
                <a:rPr lang="zh-CN" altLang="zh-CN" sz="2000" b="1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治愈率</a:t>
              </a:r>
              <a:r>
                <a:rPr lang="en-US" altLang="zh-CN" sz="2000" b="1" i="1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Symbol" panose="05050102010706020507"/>
                </a:rPr>
                <a:t></a:t>
              </a:r>
              <a:r>
                <a:rPr lang="zh-CN" altLang="zh-CN" sz="2000" b="1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大</a:t>
              </a:r>
              <a:endParaRPr lang="zh-CN" altLang="zh-CN" sz="20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23" name="右箭头 22"/>
            <p:cNvSpPr/>
            <p:nvPr/>
          </p:nvSpPr>
          <p:spPr bwMode="auto">
            <a:xfrm>
              <a:off x="2821057" y="3160596"/>
              <a:ext cx="144016" cy="404752"/>
            </a:xfrm>
            <a:prstGeom prst="rightArrow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285750" marR="0" indent="-28575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</a:pPr>
              <a:endParaRPr kumimoji="1" lang="zh-CN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</p:grpSp>
      <p:sp>
        <p:nvSpPr>
          <p:cNvPr id="32" name="矩形 31"/>
          <p:cNvSpPr/>
          <p:nvPr/>
        </p:nvSpPr>
        <p:spPr>
          <a:xfrm>
            <a:off x="1944670" y="188821"/>
            <a:ext cx="5892960" cy="5847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dirty="0"/>
              <a:t>SIR </a:t>
            </a:r>
            <a:r>
              <a:rPr lang="zh-CN" altLang="en-US" sz="3200" b="1" dirty="0"/>
              <a:t>模型的</a:t>
            </a:r>
            <a:r>
              <a:rPr lang="en-US" altLang="zh-CN" sz="3200" b="1" dirty="0"/>
              <a:t>MWORKS</a:t>
            </a:r>
            <a:r>
              <a:rPr lang="zh-CN" altLang="en-US" sz="3200" b="1" dirty="0"/>
              <a:t>求解分析</a:t>
            </a:r>
            <a:endParaRPr lang="zh-CN" altLang="en-US" sz="32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450" y="3458210"/>
            <a:ext cx="3588853" cy="234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510" y="3510915"/>
            <a:ext cx="3503676" cy="2340000"/>
          </a:xfrm>
          <a:prstGeom prst="rect">
            <a:avLst/>
          </a:prstGeom>
        </p:spPr>
      </p:pic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 bldLvl="0" animBg="1"/>
      <p:bldP spid="20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09115" y="1002665"/>
            <a:ext cx="8752840" cy="576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</a:pP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健康人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s(t), 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病人</a:t>
            </a:r>
            <a:r>
              <a:rPr lang="en-US" altLang="zh-CN" sz="2800" b="1" dirty="0" err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(t).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  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=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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/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~</a:t>
            </a:r>
            <a:r>
              <a:rPr lang="zh-CN" altLang="zh-CN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接触数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.</a:t>
            </a:r>
            <a:endParaRPr lang="zh-CN" altLang="zh-CN" sz="2800" b="1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3301" y="5614040"/>
            <a:ext cx="8878232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预防接种使群体免疫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,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提高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r(0)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使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s(0)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减小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,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满足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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s(0)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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1.</a:t>
            </a:r>
            <a:endParaRPr lang="en-US" altLang="zh-CN" sz="2400" b="1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04737" y="1587735"/>
            <a:ext cx="10839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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=1.25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1833267" y="3911242"/>
            <a:ext cx="2945037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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s(0)&gt;1, </a:t>
            </a:r>
            <a:r>
              <a:rPr lang="en-US" altLang="zh-CN" sz="2400" b="1" dirty="0" err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(t)</a:t>
            </a: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先增后减</a:t>
            </a:r>
            <a:endParaRPr lang="zh-CN" altLang="zh-CN" sz="2400" b="1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7389261" y="3993021"/>
            <a:ext cx="293862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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s(0)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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1, </a:t>
            </a:r>
            <a:r>
              <a:rPr lang="en-US" altLang="zh-CN" sz="2400" b="1" dirty="0" err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(t)</a:t>
            </a: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单调减少</a:t>
            </a:r>
            <a:endParaRPr lang="zh-CN" altLang="zh-CN" sz="2400" b="1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2571275" y="4532695"/>
            <a:ext cx="1731564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传染病蔓延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7837630" y="4586549"/>
            <a:ext cx="204094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传染病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蔓延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93301" y="5075358"/>
            <a:ext cx="672576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一般情况下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s(0)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≈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1, </a:t>
            </a:r>
            <a:r>
              <a:rPr lang="zh-CN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控制蔓延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需要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Symbol" panose="05050102010706020507"/>
              </a:rPr>
              <a:t>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&lt;1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.</a:t>
            </a:r>
            <a:endParaRPr lang="en-US" altLang="zh-CN" sz="2400" b="1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944670" y="188821"/>
            <a:ext cx="5892960" cy="5847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dirty="0"/>
              <a:t>SIR </a:t>
            </a:r>
            <a:r>
              <a:rPr lang="zh-CN" altLang="en-US" sz="3200" b="1" dirty="0"/>
              <a:t>模型的</a:t>
            </a:r>
            <a:r>
              <a:rPr lang="en-US" altLang="zh-CN" sz="3200" b="1" dirty="0"/>
              <a:t>MWORKS</a:t>
            </a:r>
            <a:r>
              <a:rPr lang="zh-CN" altLang="en-US" sz="3200" b="1" dirty="0"/>
              <a:t>求解分析</a:t>
            </a:r>
            <a:endParaRPr lang="zh-CN" altLang="en-US" sz="32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5930" y="1611630"/>
            <a:ext cx="3521704" cy="23004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8515" y="1610995"/>
            <a:ext cx="3533775" cy="2301875"/>
          </a:xfrm>
          <a:prstGeom prst="rect">
            <a:avLst/>
          </a:prstGeom>
        </p:spPr>
      </p:pic>
    </p:spTree>
  </p:cSld>
  <p:clrMapOvr>
    <a:masterClrMapping/>
  </p:clrMapOvr>
  <p:transition advTm="64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13" grpId="0" bldLvl="0" animBg="1"/>
      <p:bldP spid="14" grpId="0" bldLvl="0" animBg="1"/>
      <p:bldP spid="15" grpId="0" bldLvl="0" animBg="1"/>
      <p:bldP spid="16" grpId="0" bldLvl="0" animBg="1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900597" y="165100"/>
            <a:ext cx="747204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/>
              <a:t>SIR </a:t>
            </a:r>
            <a:r>
              <a:rPr lang="zh-CN" altLang="en-US" sz="3200" b="1" dirty="0"/>
              <a:t>模型的</a:t>
            </a:r>
            <a:r>
              <a:rPr lang="en-US" altLang="zh-CN" sz="3200" b="1" dirty="0"/>
              <a:t>MWORKS</a:t>
            </a:r>
            <a:r>
              <a:rPr lang="zh-CN" altLang="en-US" sz="3200" b="1" dirty="0"/>
              <a:t>求解代码（</a:t>
            </a:r>
            <a:r>
              <a:rPr lang="zh-CN" altLang="en-US" sz="3200" b="1" dirty="0"/>
              <a:t>左图）</a:t>
            </a:r>
            <a:endParaRPr lang="zh-CN" altLang="en-US" sz="32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3048000" y="914400"/>
            <a:ext cx="6096000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using Plots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参数设置</a:t>
            </a:r>
            <a:endParaRPr lang="zh-CN" altLang="en-US"/>
          </a:p>
          <a:p>
            <a:r>
              <a:rPr lang="en-US" altLang="zh-CN"/>
              <a:t>λ = 0.5  # </a:t>
            </a:r>
            <a:r>
              <a:rPr lang="zh-CN" altLang="en-US"/>
              <a:t>接触率</a:t>
            </a:r>
            <a:endParaRPr lang="zh-CN" altLang="en-US"/>
          </a:p>
          <a:p>
            <a:r>
              <a:rPr lang="en-US" altLang="zh-CN"/>
              <a:t>μ = 0.4  # </a:t>
            </a:r>
            <a:r>
              <a:rPr lang="zh-CN" altLang="en-US"/>
              <a:t>治愈率</a:t>
            </a:r>
            <a:endParaRPr lang="zh-CN" altLang="en-US"/>
          </a:p>
          <a:p>
            <a:r>
              <a:rPr lang="en-US" altLang="zh-CN"/>
              <a:t>N = 1000  # </a:t>
            </a:r>
            <a:r>
              <a:rPr lang="zh-CN" altLang="en-US"/>
              <a:t>总人口</a:t>
            </a:r>
            <a:endParaRPr lang="zh-CN" altLang="en-US"/>
          </a:p>
          <a:p>
            <a:r>
              <a:rPr lang="en-US" altLang="zh-CN"/>
              <a:t>I0 = 0.01 * N  # </a:t>
            </a:r>
            <a:r>
              <a:rPr lang="zh-CN" altLang="en-US"/>
              <a:t>初始感染者</a:t>
            </a:r>
            <a:endParaRPr lang="zh-CN" altLang="en-US"/>
          </a:p>
          <a:p>
            <a:r>
              <a:rPr lang="en-US" altLang="zh-CN"/>
              <a:t>R0 = 0         # </a:t>
            </a:r>
            <a:r>
              <a:rPr lang="zh-CN" altLang="en-US"/>
              <a:t>初始恢复者</a:t>
            </a:r>
            <a:endParaRPr lang="zh-CN" altLang="en-US"/>
          </a:p>
          <a:p>
            <a:r>
              <a:rPr lang="en-US" altLang="zh-CN"/>
              <a:t>S0 = 0.99 * N  # </a:t>
            </a:r>
            <a:r>
              <a:rPr lang="zh-CN" altLang="en-US"/>
              <a:t>初始健康者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时间设置</a:t>
            </a:r>
            <a:endParaRPr lang="zh-CN" altLang="en-US"/>
          </a:p>
          <a:p>
            <a:r>
              <a:rPr lang="en-US" altLang="zh-CN"/>
              <a:t>t_total = 80  # </a:t>
            </a:r>
            <a:r>
              <a:rPr lang="zh-CN" altLang="en-US"/>
              <a:t>总时间</a:t>
            </a:r>
            <a:endParaRPr lang="zh-CN" altLang="en-US"/>
          </a:p>
          <a:p>
            <a:r>
              <a:rPr lang="en-US" altLang="zh-CN"/>
              <a:t>dt = 1         # </a:t>
            </a:r>
            <a:r>
              <a:rPr lang="zh-CN" altLang="en-US"/>
              <a:t>时间步长</a:t>
            </a:r>
            <a:endParaRPr lang="zh-CN" altLang="en-US"/>
          </a:p>
          <a:p>
            <a:r>
              <a:rPr lang="en-US" altLang="zh-CN"/>
              <a:t>time = 0:dt:t_total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初始化</a:t>
            </a:r>
            <a:r>
              <a:rPr lang="en-US" altLang="zh-CN"/>
              <a:t>S, I, R</a:t>
            </a:r>
            <a:r>
              <a:rPr lang="zh-CN" altLang="en-US"/>
              <a:t>数组</a:t>
            </a:r>
            <a:endParaRPr lang="zh-CN" altLang="en-US"/>
          </a:p>
          <a:p>
            <a:r>
              <a:rPr lang="en-US" altLang="zh-CN"/>
              <a:t>S = zeros(length(time))</a:t>
            </a:r>
            <a:endParaRPr lang="en-US" altLang="zh-CN"/>
          </a:p>
          <a:p>
            <a:r>
              <a:rPr lang="en-US" altLang="zh-CN"/>
              <a:t>I = zeros(length(time))</a:t>
            </a:r>
            <a:endParaRPr lang="en-US" altLang="zh-CN"/>
          </a:p>
          <a:p>
            <a:r>
              <a:rPr lang="en-US" altLang="zh-CN"/>
              <a:t>R = zeros(length(time))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900597" y="165100"/>
            <a:ext cx="747204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3200" b="1" dirty="0"/>
              <a:t>SIR </a:t>
            </a:r>
            <a:r>
              <a:rPr lang="zh-CN" altLang="en-US" sz="3200" b="1" dirty="0"/>
              <a:t>模型的</a:t>
            </a:r>
            <a:r>
              <a:rPr lang="en-US" altLang="zh-CN" sz="3200" b="1" dirty="0"/>
              <a:t>MWORKS</a:t>
            </a:r>
            <a:r>
              <a:rPr lang="zh-CN" altLang="en-US" sz="3200" b="1" dirty="0"/>
              <a:t>求解代码</a:t>
            </a:r>
            <a:r>
              <a:rPr lang="zh-CN" altLang="en-US" sz="3200" b="1" dirty="0">
                <a:sym typeface="+mn-ea"/>
              </a:rPr>
              <a:t>（左图）</a:t>
            </a:r>
            <a:endParaRPr lang="zh-CN" altLang="en-US" sz="32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3048000" y="1305560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# </a:t>
            </a:r>
            <a:r>
              <a:rPr lang="zh-CN" altLang="en-US"/>
              <a:t>初始值</a:t>
            </a:r>
            <a:endParaRPr lang="zh-CN" altLang="en-US"/>
          </a:p>
          <a:p>
            <a:r>
              <a:rPr lang="en-US" altLang="zh-CN"/>
              <a:t>S[1] = S0</a:t>
            </a:r>
            <a:endParaRPr lang="en-US" altLang="zh-CN"/>
          </a:p>
          <a:p>
            <a:r>
              <a:rPr lang="en-US" altLang="zh-CN"/>
              <a:t>I[1] = I0</a:t>
            </a:r>
            <a:endParaRPr lang="en-US" altLang="zh-CN"/>
          </a:p>
          <a:p>
            <a:r>
              <a:rPr lang="en-US" altLang="zh-CN"/>
              <a:t>R[1] = R0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SIR</a:t>
            </a:r>
            <a:r>
              <a:rPr lang="zh-CN" altLang="en-US"/>
              <a:t>模型的迭代</a:t>
            </a:r>
            <a:endParaRPr lang="zh-CN" altLang="en-US"/>
          </a:p>
          <a:p>
            <a:r>
              <a:rPr lang="en-US" altLang="zh-CN"/>
              <a:t>for t in 1:(length(time)-1)</a:t>
            </a:r>
            <a:endParaRPr lang="en-US" altLang="zh-CN"/>
          </a:p>
          <a:p>
            <a:r>
              <a:rPr lang="en-US" altLang="zh-CN"/>
              <a:t>    dS = -λ * S[t] * I[t] / N * dt</a:t>
            </a:r>
            <a:endParaRPr lang="en-US" altLang="zh-CN"/>
          </a:p>
          <a:p>
            <a:r>
              <a:rPr lang="en-US" altLang="zh-CN"/>
              <a:t>    dI = (λ * S[t] * I[t] / N - μ * I[t]) * dt</a:t>
            </a:r>
            <a:endParaRPr lang="en-US" altLang="zh-CN"/>
          </a:p>
          <a:p>
            <a:r>
              <a:rPr lang="en-US" altLang="zh-CN"/>
              <a:t>    dR = μ * I[t] * dt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S[t + 1] = S[t] + dS</a:t>
            </a:r>
            <a:endParaRPr lang="en-US" altLang="zh-CN"/>
          </a:p>
          <a:p>
            <a:r>
              <a:rPr lang="en-US" altLang="zh-CN"/>
              <a:t>    I[t + 1] = I[t] + dI</a:t>
            </a:r>
            <a:endParaRPr lang="en-US" altLang="zh-CN"/>
          </a:p>
          <a:p>
            <a:r>
              <a:rPr lang="en-US" altLang="zh-CN"/>
              <a:t>    R[t + 1] = R[t] + dR</a:t>
            </a:r>
            <a:endParaRPr lang="en-US" altLang="zh-CN"/>
          </a:p>
          <a:p>
            <a:r>
              <a:rPr lang="en-US" altLang="zh-CN"/>
              <a:t>end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900597" y="165100"/>
            <a:ext cx="747204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3200" b="1" dirty="0"/>
              <a:t>SIR </a:t>
            </a:r>
            <a:r>
              <a:rPr lang="zh-CN" altLang="en-US" sz="3200" b="1" dirty="0"/>
              <a:t>模型的</a:t>
            </a:r>
            <a:r>
              <a:rPr lang="en-US" altLang="zh-CN" sz="3200" b="1" dirty="0"/>
              <a:t>MWORKS</a:t>
            </a:r>
            <a:r>
              <a:rPr lang="zh-CN" altLang="en-US" sz="3200" b="1" dirty="0"/>
              <a:t>求解代码</a:t>
            </a:r>
            <a:r>
              <a:rPr lang="zh-CN" altLang="en-US" sz="3200" b="1" dirty="0">
                <a:sym typeface="+mn-ea"/>
              </a:rPr>
              <a:t>（左图）</a:t>
            </a:r>
            <a:endParaRPr lang="zh-CN" altLang="en-US" sz="32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3048000" y="1305560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# </a:t>
            </a:r>
            <a:r>
              <a:rPr lang="zh-CN" altLang="en-US"/>
              <a:t>计算比例</a:t>
            </a:r>
            <a:endParaRPr lang="zh-CN" altLang="en-US"/>
          </a:p>
          <a:p>
            <a:r>
              <a:rPr lang="en-US" altLang="zh-CN"/>
              <a:t>I_ratio = I ./ N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绘制结果，只绘制感染者比例</a:t>
            </a:r>
            <a:endParaRPr lang="zh-CN" altLang="en-US"/>
          </a:p>
          <a:p>
            <a:r>
              <a:rPr lang="en-US" altLang="zh-CN"/>
              <a:t>plot(time, I_ratio, label="i(t)", color=:blue)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设置刻度</a:t>
            </a:r>
            <a:endParaRPr lang="zh-CN" altLang="en-US"/>
          </a:p>
          <a:p>
            <a:r>
              <a:rPr lang="en-US" altLang="zh-CN"/>
              <a:t>xticks = 0:10:t_total</a:t>
            </a:r>
            <a:endParaRPr lang="en-US" altLang="zh-CN"/>
          </a:p>
          <a:p>
            <a:r>
              <a:rPr lang="en-US" altLang="zh-CN"/>
              <a:t>yticks = 0:0.005:0.03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应用刻度设置</a:t>
            </a:r>
            <a:endParaRPr lang="zh-CN" altLang="en-US"/>
          </a:p>
          <a:p>
            <a:r>
              <a:rPr lang="en-US" altLang="zh-CN"/>
              <a:t>plot!(xticks=xticks, yticks=yticks)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添加标题和参数信息</a:t>
            </a:r>
            <a:endParaRPr lang="zh-CN" altLang="en-US"/>
          </a:p>
          <a:p>
            <a:r>
              <a:rPr lang="en-US" altLang="zh-CN"/>
              <a:t>title!("s(0)=0.99")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900597" y="165100"/>
            <a:ext cx="747204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3200" b="1" dirty="0"/>
              <a:t>SIR </a:t>
            </a:r>
            <a:r>
              <a:rPr lang="zh-CN" altLang="en-US" sz="3200" b="1" dirty="0"/>
              <a:t>模型的</a:t>
            </a:r>
            <a:r>
              <a:rPr lang="en-US" altLang="zh-CN" sz="3200" b="1" dirty="0"/>
              <a:t>MWORKS</a:t>
            </a:r>
            <a:r>
              <a:rPr lang="zh-CN" altLang="en-US" sz="3200" b="1" dirty="0"/>
              <a:t>求解代码</a:t>
            </a:r>
            <a:r>
              <a:rPr lang="zh-CN" altLang="en-US" sz="3200" b="1" dirty="0">
                <a:sym typeface="+mn-ea"/>
              </a:rPr>
              <a:t>（</a:t>
            </a:r>
            <a:r>
              <a:rPr lang="zh-CN" altLang="en-US" sz="3200" b="1" dirty="0">
                <a:sym typeface="+mn-ea"/>
              </a:rPr>
              <a:t>右图）</a:t>
            </a:r>
            <a:endParaRPr lang="zh-CN" altLang="en-US" sz="32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3048000" y="972185"/>
            <a:ext cx="6096000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using Plots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参数设置</a:t>
            </a:r>
            <a:endParaRPr lang="zh-CN" altLang="en-US"/>
          </a:p>
          <a:p>
            <a:r>
              <a:rPr lang="en-US" altLang="zh-CN"/>
              <a:t>λ = 0.5  # </a:t>
            </a:r>
            <a:r>
              <a:rPr lang="zh-CN" altLang="en-US"/>
              <a:t>接触率</a:t>
            </a:r>
            <a:endParaRPr lang="zh-CN" altLang="en-US"/>
          </a:p>
          <a:p>
            <a:r>
              <a:rPr lang="en-US" altLang="zh-CN"/>
              <a:t>μ = 0.4  # </a:t>
            </a:r>
            <a:r>
              <a:rPr lang="zh-CN" altLang="en-US"/>
              <a:t>治愈率</a:t>
            </a:r>
            <a:endParaRPr lang="zh-CN" altLang="en-US"/>
          </a:p>
          <a:p>
            <a:r>
              <a:rPr lang="en-US" altLang="zh-CN"/>
              <a:t>N = 1000  # </a:t>
            </a:r>
            <a:r>
              <a:rPr lang="zh-CN" altLang="en-US"/>
              <a:t>总人口</a:t>
            </a:r>
            <a:endParaRPr lang="zh-CN" altLang="en-US"/>
          </a:p>
          <a:p>
            <a:r>
              <a:rPr lang="en-US" altLang="zh-CN"/>
              <a:t>I0 = 0.3 * N  # </a:t>
            </a:r>
            <a:r>
              <a:rPr lang="zh-CN" altLang="en-US"/>
              <a:t>初始感染者</a:t>
            </a:r>
            <a:endParaRPr lang="zh-CN" altLang="en-US"/>
          </a:p>
          <a:p>
            <a:r>
              <a:rPr lang="en-US" altLang="zh-CN"/>
              <a:t>R0 = 0         # </a:t>
            </a:r>
            <a:r>
              <a:rPr lang="zh-CN" altLang="en-US"/>
              <a:t>初始恢复者</a:t>
            </a:r>
            <a:endParaRPr lang="zh-CN" altLang="en-US"/>
          </a:p>
          <a:p>
            <a:r>
              <a:rPr lang="en-US" altLang="zh-CN"/>
              <a:t>S0 = 0.7 * N  # </a:t>
            </a:r>
            <a:r>
              <a:rPr lang="zh-CN" altLang="en-US"/>
              <a:t>初始健康者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时间设置</a:t>
            </a:r>
            <a:endParaRPr lang="zh-CN" altLang="en-US"/>
          </a:p>
          <a:p>
            <a:r>
              <a:rPr lang="en-US" altLang="zh-CN"/>
              <a:t>t_total = 40  # </a:t>
            </a:r>
            <a:r>
              <a:rPr lang="zh-CN" altLang="en-US"/>
              <a:t>总时间</a:t>
            </a:r>
            <a:endParaRPr lang="zh-CN" altLang="en-US"/>
          </a:p>
          <a:p>
            <a:r>
              <a:rPr lang="en-US" altLang="zh-CN"/>
              <a:t>dt = 1         # </a:t>
            </a:r>
            <a:r>
              <a:rPr lang="zh-CN" altLang="en-US"/>
              <a:t>时间步长</a:t>
            </a:r>
            <a:endParaRPr lang="zh-CN" altLang="en-US"/>
          </a:p>
          <a:p>
            <a:r>
              <a:rPr lang="en-US" altLang="zh-CN"/>
              <a:t>time = 0:dt:t_total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初始化</a:t>
            </a:r>
            <a:r>
              <a:rPr lang="en-US" altLang="zh-CN"/>
              <a:t>S, I, R</a:t>
            </a:r>
            <a:r>
              <a:rPr lang="zh-CN" altLang="en-US"/>
              <a:t>数组</a:t>
            </a:r>
            <a:endParaRPr lang="zh-CN" altLang="en-US"/>
          </a:p>
          <a:p>
            <a:r>
              <a:rPr lang="en-US" altLang="zh-CN"/>
              <a:t>S = zeros(length(time))</a:t>
            </a:r>
            <a:endParaRPr lang="en-US" altLang="zh-CN"/>
          </a:p>
          <a:p>
            <a:r>
              <a:rPr lang="en-US" altLang="zh-CN"/>
              <a:t>I = zeros(length(time))</a:t>
            </a:r>
            <a:endParaRPr lang="en-US" altLang="zh-CN"/>
          </a:p>
          <a:p>
            <a:r>
              <a:rPr lang="en-US" altLang="zh-CN"/>
              <a:t>R = zeros(length(time))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900597" y="165100"/>
            <a:ext cx="747204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3200" b="1" dirty="0"/>
              <a:t>SIR </a:t>
            </a:r>
            <a:r>
              <a:rPr lang="zh-CN" altLang="en-US" sz="3200" b="1" dirty="0"/>
              <a:t>模型的</a:t>
            </a:r>
            <a:r>
              <a:rPr lang="en-US" altLang="zh-CN" sz="3200" b="1" dirty="0"/>
              <a:t>MWORKS</a:t>
            </a:r>
            <a:r>
              <a:rPr lang="zh-CN" altLang="en-US" sz="3200" b="1" dirty="0"/>
              <a:t>求解代码</a:t>
            </a:r>
            <a:r>
              <a:rPr lang="zh-CN" altLang="en-US" sz="3200" b="1" dirty="0">
                <a:sym typeface="+mn-ea"/>
              </a:rPr>
              <a:t>（</a:t>
            </a:r>
            <a:r>
              <a:rPr lang="zh-CN" altLang="en-US" sz="3200" b="1" dirty="0">
                <a:sym typeface="+mn-ea"/>
              </a:rPr>
              <a:t>右图）</a:t>
            </a:r>
            <a:endParaRPr lang="zh-CN" altLang="en-US" sz="32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3048000" y="1305560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# </a:t>
            </a:r>
            <a:r>
              <a:rPr lang="zh-CN" altLang="en-US"/>
              <a:t>初始值</a:t>
            </a:r>
            <a:endParaRPr lang="zh-CN" altLang="en-US"/>
          </a:p>
          <a:p>
            <a:r>
              <a:rPr lang="en-US" altLang="zh-CN"/>
              <a:t>S[1] = S0</a:t>
            </a:r>
            <a:endParaRPr lang="en-US" altLang="zh-CN"/>
          </a:p>
          <a:p>
            <a:r>
              <a:rPr lang="en-US" altLang="zh-CN"/>
              <a:t>I[1] = I0</a:t>
            </a:r>
            <a:endParaRPr lang="en-US" altLang="zh-CN"/>
          </a:p>
          <a:p>
            <a:r>
              <a:rPr lang="en-US" altLang="zh-CN"/>
              <a:t>R[1] = R0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SIR</a:t>
            </a:r>
            <a:r>
              <a:rPr lang="zh-CN" altLang="en-US"/>
              <a:t>模型的迭代</a:t>
            </a:r>
            <a:endParaRPr lang="zh-CN" altLang="en-US"/>
          </a:p>
          <a:p>
            <a:r>
              <a:rPr lang="en-US" altLang="zh-CN"/>
              <a:t>for t in 1:(length(time)-1)</a:t>
            </a:r>
            <a:endParaRPr lang="en-US" altLang="zh-CN"/>
          </a:p>
          <a:p>
            <a:r>
              <a:rPr lang="en-US" altLang="zh-CN"/>
              <a:t>    dS = -λ * S[t] * I[t] / N * dt</a:t>
            </a:r>
            <a:endParaRPr lang="en-US" altLang="zh-CN"/>
          </a:p>
          <a:p>
            <a:r>
              <a:rPr lang="en-US" altLang="zh-CN"/>
              <a:t>    dI = (λ * S[t] * I[t] / N - μ * I[t]) * dt</a:t>
            </a:r>
            <a:endParaRPr lang="en-US" altLang="zh-CN"/>
          </a:p>
          <a:p>
            <a:r>
              <a:rPr lang="en-US" altLang="zh-CN"/>
              <a:t>    dR = μ * I[t] * dt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S[t + 1] = S[t] + dS</a:t>
            </a:r>
            <a:endParaRPr lang="en-US" altLang="zh-CN"/>
          </a:p>
          <a:p>
            <a:r>
              <a:rPr lang="en-US" altLang="zh-CN"/>
              <a:t>    I[t + 1] = I[t] + dI</a:t>
            </a:r>
            <a:endParaRPr lang="en-US" altLang="zh-CN"/>
          </a:p>
          <a:p>
            <a:r>
              <a:rPr lang="en-US" altLang="zh-CN"/>
              <a:t>    R[t + 1] = R[t] + dR</a:t>
            </a:r>
            <a:endParaRPr lang="en-US" altLang="zh-CN"/>
          </a:p>
          <a:p>
            <a:r>
              <a:rPr lang="en-US" altLang="zh-CN"/>
              <a:t>end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01"/>
          <p:cNvSpPr>
            <a:spLocks noChangeArrowheads="1"/>
          </p:cNvSpPr>
          <p:nvPr/>
        </p:nvSpPr>
        <p:spPr bwMode="auto">
          <a:xfrm>
            <a:off x="163068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Rectangle 161"/>
          <p:cNvSpPr>
            <a:spLocks noChangeArrowheads="1"/>
          </p:cNvSpPr>
          <p:nvPr/>
        </p:nvSpPr>
        <p:spPr bwMode="auto">
          <a:xfrm>
            <a:off x="163068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900597" y="165100"/>
            <a:ext cx="7472045" cy="5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3200" b="1" dirty="0"/>
              <a:t>SIR </a:t>
            </a:r>
            <a:r>
              <a:rPr lang="zh-CN" altLang="en-US" sz="3200" b="1" dirty="0"/>
              <a:t>模型的</a:t>
            </a:r>
            <a:r>
              <a:rPr lang="en-US" altLang="zh-CN" sz="3200" b="1" dirty="0"/>
              <a:t>MWORKS</a:t>
            </a:r>
            <a:r>
              <a:rPr lang="zh-CN" altLang="en-US" sz="3200" b="1" dirty="0"/>
              <a:t>求解代码</a:t>
            </a:r>
            <a:r>
              <a:rPr lang="zh-CN" altLang="en-US" sz="3200" b="1" dirty="0">
                <a:sym typeface="+mn-ea"/>
              </a:rPr>
              <a:t>（</a:t>
            </a:r>
            <a:r>
              <a:rPr lang="zh-CN" altLang="en-US" sz="3200" b="1" dirty="0">
                <a:sym typeface="+mn-ea"/>
              </a:rPr>
              <a:t>右图）</a:t>
            </a:r>
            <a:endParaRPr lang="zh-CN" altLang="en-US" sz="32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3048000" y="1305560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# </a:t>
            </a:r>
            <a:r>
              <a:rPr lang="zh-CN" altLang="en-US"/>
              <a:t>计算比例</a:t>
            </a:r>
            <a:endParaRPr lang="zh-CN" altLang="en-US"/>
          </a:p>
          <a:p>
            <a:r>
              <a:rPr lang="en-US" altLang="zh-CN"/>
              <a:t>I_ratio = I ./ N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绘制结果，只绘制感染者比例</a:t>
            </a:r>
            <a:endParaRPr lang="zh-CN" altLang="en-US"/>
          </a:p>
          <a:p>
            <a:r>
              <a:rPr lang="en-US" altLang="zh-CN"/>
              <a:t>plot(time, I_ratio, label="i(t)", color=:blue)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设置刻度</a:t>
            </a:r>
            <a:endParaRPr lang="zh-CN" altLang="en-US"/>
          </a:p>
          <a:p>
            <a:r>
              <a:rPr lang="en-US" altLang="zh-CN"/>
              <a:t>xticks = 0:5:t_total</a:t>
            </a:r>
            <a:endParaRPr lang="en-US" altLang="zh-CN"/>
          </a:p>
          <a:p>
            <a:r>
              <a:rPr lang="en-US" altLang="zh-CN"/>
              <a:t>yticks = 0:0.05:0.35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应用刻度设置</a:t>
            </a:r>
            <a:endParaRPr lang="zh-CN" altLang="en-US"/>
          </a:p>
          <a:p>
            <a:r>
              <a:rPr lang="en-US" altLang="zh-CN"/>
              <a:t>plot!(xticks=xticks, yticks=yticks)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添加标题和参数信息</a:t>
            </a:r>
            <a:endParaRPr lang="zh-CN" altLang="en-US"/>
          </a:p>
          <a:p>
            <a:r>
              <a:rPr lang="en-US" altLang="zh-CN"/>
              <a:t>title!("s(0)=0.70")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DIAGRAM_VIRTUALLY_FRAME" val="{&quot;height&quot;:273.18850393700785,&quot;left&quot;:143.62582677165352,&quot;top&quot;:124.30866141732284,&quot;width&quot;:688.0241732283464}"/>
</p:tagLst>
</file>

<file path=ppt/tags/tag4.xml><?xml version="1.0" encoding="utf-8"?>
<p:tagLst xmlns:p="http://schemas.openxmlformats.org/presentationml/2006/main">
  <p:tag name="KSO_WM_DIAGRAM_VIRTUALLY_FRAME" val="{&quot;height&quot;:273.18850393700785,&quot;left&quot;:143.62582677165352,&quot;top&quot;:124.30866141732284,&quot;width&quot;:688.0241732283464}"/>
</p:tagLst>
</file>

<file path=ppt/tags/tag5.xml><?xml version="1.0" encoding="utf-8"?>
<p:tagLst xmlns:p="http://schemas.openxmlformats.org/presentationml/2006/main">
  <p:tag name="KSO_WM_DIAGRAM_VIRTUALLY_FRAME" val="{&quot;height&quot;:273.18850393700785,&quot;left&quot;:143.62582677165352,&quot;top&quot;:124.30866141732284,&quot;width&quot;:688.0241732283464}"/>
</p:tagLst>
</file>

<file path=ppt/tags/tag6.xml><?xml version="1.0" encoding="utf-8"?>
<p:tagLst xmlns:p="http://schemas.openxmlformats.org/presentationml/2006/main">
  <p:tag name="KSO_WM_DIAGRAM_VIRTUALLY_FRAME" val="{&quot;height&quot;:273.18850393700785,&quot;left&quot;:143.62582677165352,&quot;top&quot;:124.30866141732284,&quot;width&quot;:688.0241732283464}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4955</Words>
  <Application>WPS 演示</Application>
  <PresentationFormat>宽屏</PresentationFormat>
  <Paragraphs>422</Paragraphs>
  <Slides>24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</vt:i4>
      </vt:variant>
      <vt:variant>
        <vt:lpstr>幻灯片标题</vt:lpstr>
      </vt:variant>
      <vt:variant>
        <vt:i4>24</vt:i4>
      </vt:variant>
    </vt:vector>
  </HeadingPairs>
  <TitlesOfParts>
    <vt:vector size="56" baseType="lpstr">
      <vt:lpstr>Arial</vt:lpstr>
      <vt:lpstr>宋体</vt:lpstr>
      <vt:lpstr>Wingdings</vt:lpstr>
      <vt:lpstr>Tahoma</vt:lpstr>
      <vt:lpstr>ESSTIXThirteen</vt:lpstr>
      <vt:lpstr>Segoe Print</vt:lpstr>
      <vt:lpstr>华文新魏</vt:lpstr>
      <vt:lpstr>Times New Roman</vt:lpstr>
      <vt:lpstr>微软雅黑</vt:lpstr>
      <vt:lpstr>Symbol</vt:lpstr>
      <vt:lpstr>Symbol</vt:lpstr>
      <vt:lpstr>Arial Unicode MS</vt:lpstr>
      <vt:lpstr>等线</vt:lpstr>
      <vt:lpstr>Blends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Equation.3</vt:lpstr>
      <vt:lpstr>Equation.3</vt:lpstr>
      <vt:lpstr>Equation.DSMT4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英杰 范</dc:creator>
  <cp:lastModifiedBy>风华正茂Dango.</cp:lastModifiedBy>
  <cp:revision>72</cp:revision>
  <dcterms:created xsi:type="dcterms:W3CDTF">2024-12-25T11:23:00Z</dcterms:created>
  <dcterms:modified xsi:type="dcterms:W3CDTF">2024-12-30T08:26:10Z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1DB064B3CF08452FB3A974CE20ACECC5_12</vt:lpwstr>
  </property>
  <property fmtid="{D5CDD505-2E9C-101B-9397-08002B2CF9AE}" pid="3" name="KSOProductBuildVer">
    <vt:lpwstr>2052-12.1.0.19770</vt:lpwstr>
  </property>
</Properties>
</file>