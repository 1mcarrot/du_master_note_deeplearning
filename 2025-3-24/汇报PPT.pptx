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59" r:id="rId3"/>
    <p:sldId id="466" r:id="rId5"/>
    <p:sldId id="470" r:id="rId6"/>
    <p:sldId id="500" r:id="rId7"/>
    <p:sldId id="499" r:id="rId8"/>
    <p:sldId id="524" r:id="rId9"/>
    <p:sldId id="510" r:id="rId10"/>
    <p:sldId id="508" r:id="rId11"/>
    <p:sldId id="525" r:id="rId12"/>
    <p:sldId id="526" r:id="rId13"/>
    <p:sldId id="527" r:id="rId14"/>
    <p:sldId id="528" r:id="rId15"/>
    <p:sldId id="529" r:id="rId16"/>
    <p:sldId id="530" r:id="rId17"/>
    <p:sldId id="531" r:id="rId18"/>
    <p:sldId id="532" r:id="rId19"/>
    <p:sldId id="533" r:id="rId20"/>
    <p:sldId id="534" r:id="rId21"/>
    <p:sldId id="537" r:id="rId22"/>
    <p:sldId id="535" r:id="rId23"/>
    <p:sldId id="540" r:id="rId24"/>
    <p:sldId id="539" r:id="rId25"/>
    <p:sldId id="497" r:id="rId26"/>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0" d="100"/>
          <a:sy n="80" d="100"/>
        </p:scale>
        <p:origin x="54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29.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6D8EF-FF10-4018-846A-D712F3478F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B9F13-8F08-49E6-9A2C-1C81E5F408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23" name="矩形 22"/>
          <p:cNvSpPr/>
          <p:nvPr userDrawn="1">
            <p:custDataLst>
              <p:tags r:id="rId7"/>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mn-lt"/>
              <a:ea typeface="+mn-ea"/>
              <a:cs typeface="+mn-cs"/>
            </a:endParaRPr>
          </a:p>
        </p:txBody>
      </p:sp>
      <p:pic>
        <p:nvPicPr>
          <p:cNvPr id="8" name="图片 7" descr="8AAHHGN15TD8ZQ7H5V$9JNL.png"/>
          <p:cNvPicPr>
            <a:picLocks noChangeAspect="1"/>
          </p:cNvPicPr>
          <p:nvPr userDrawn="1">
            <p:custDataLst>
              <p:tags r:id="rId8"/>
            </p:custDataLst>
          </p:nvPr>
        </p:nvPicPr>
        <p:blipFill>
          <a:blip r:embed="rId9"/>
          <a:stretch>
            <a:fillRect/>
          </a:stretch>
        </p:blipFill>
        <p:spPr>
          <a:xfrm>
            <a:off x="11203807" y="-1269"/>
            <a:ext cx="879039" cy="98848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png"/><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png"/><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png"/><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png"/><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28.xml"/><Relationship Id="rId1" Type="http://schemas.openxmlformats.org/officeDocument/2006/relationships/tags" Target="../tags/tag1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516" y="1361217"/>
            <a:ext cx="12130480" cy="1958975"/>
          </a:xfrm>
          <a:prstGeom prst="rect">
            <a:avLst/>
          </a:prstGeom>
          <a:solidFill>
            <a:srgbClr val="132A8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anchor="ct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rPr>
              <a:t> </a:t>
            </a:r>
            <a:endParaRPr kumimoji="0" lang="zh-CN" altLang="en-US"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endParaRPr>
          </a:p>
        </p:txBody>
      </p:sp>
      <p:grpSp>
        <p:nvGrpSpPr>
          <p:cNvPr id="3076" name="组合 8"/>
          <p:cNvGrpSpPr/>
          <p:nvPr/>
        </p:nvGrpSpPr>
        <p:grpSpPr>
          <a:xfrm>
            <a:off x="93626" y="1484991"/>
            <a:ext cx="11943226" cy="1728385"/>
            <a:chOff x="0" y="1397"/>
            <a:chExt cx="19198" cy="4610"/>
          </a:xfrm>
        </p:grpSpPr>
        <p:sp>
          <p:nvSpPr>
            <p:cNvPr id="3078" name="TextBox 22"/>
            <p:cNvSpPr txBox="1"/>
            <p:nvPr/>
          </p:nvSpPr>
          <p:spPr>
            <a:xfrm>
              <a:off x="870" y="2710"/>
              <a:ext cx="17868" cy="1985"/>
            </a:xfrm>
            <a:prstGeom prst="rect">
              <a:avLst/>
            </a:prstGeom>
            <a:noFill/>
            <a:ln w="9525">
              <a:noFill/>
            </a:ln>
          </p:spPr>
          <p:txBody>
            <a:bodyPr wrap="square" lIns="68579" tIns="34289" rIns="68579" bIns="34289">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400" b="1" dirty="0">
                  <a:solidFill>
                    <a:prstClr val="white"/>
                  </a:solidFill>
                  <a:latin typeface="Times New Roman" panose="02020603050405020304" pitchFamily="18" charset="0"/>
                  <a:ea typeface="宋体" panose="02010600030101010101" pitchFamily="2" charset="-122"/>
                  <a:cs typeface="Times New Roman" panose="02020603050405020304" pitchFamily="18" charset="0"/>
                </a:rPr>
                <a:t>TAPE</a:t>
              </a:r>
              <a:r>
                <a:rPr kumimoji="0" lang="zh-CN" altLang="en-US" sz="4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评估蛋白质迁移学习</a:t>
              </a:r>
              <a:endParaRPr kumimoji="0" lang="zh-CN" altLang="en-US" sz="4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79" name="直接连接符 10"/>
            <p:cNvCxnSpPr/>
            <p:nvPr/>
          </p:nvCxnSpPr>
          <p:spPr>
            <a:xfrm>
              <a:off x="0" y="6007"/>
              <a:ext cx="19198" cy="0"/>
            </a:xfrm>
            <a:prstGeom prst="line">
              <a:avLst/>
            </a:prstGeom>
            <a:ln w="19050" cap="flat" cmpd="sng">
              <a:solidFill>
                <a:srgbClr val="FFFFFF"/>
              </a:solidFill>
              <a:prstDash val="solid"/>
              <a:headEnd type="none" w="med" len="med"/>
              <a:tailEnd type="none" w="med" len="med"/>
            </a:ln>
          </p:spPr>
        </p:cxnSp>
        <p:cxnSp>
          <p:nvCxnSpPr>
            <p:cNvPr id="3080" name="直接连接符 11"/>
            <p:cNvCxnSpPr/>
            <p:nvPr/>
          </p:nvCxnSpPr>
          <p:spPr>
            <a:xfrm>
              <a:off x="0" y="1397"/>
              <a:ext cx="19198" cy="0"/>
            </a:xfrm>
            <a:prstGeom prst="line">
              <a:avLst/>
            </a:prstGeom>
            <a:ln w="19050" cap="flat" cmpd="sng">
              <a:solidFill>
                <a:srgbClr val="FFFFFF"/>
              </a:solidFill>
              <a:prstDash val="solid"/>
              <a:headEnd type="none" w="med" len="med"/>
              <a:tailEnd type="none" w="med" len="med"/>
            </a:ln>
          </p:spPr>
        </p:cxnSp>
      </p:grpSp>
      <p:sp>
        <p:nvSpPr>
          <p:cNvPr id="2" name="矩形 2"/>
          <p:cNvSpPr/>
          <p:nvPr/>
        </p:nvSpPr>
        <p:spPr>
          <a:xfrm>
            <a:off x="4321983" y="4166543"/>
            <a:ext cx="4121641" cy="1684244"/>
          </a:xfrm>
          <a:prstGeom prst="rect">
            <a:avLst/>
          </a:prstGeom>
          <a:noFill/>
          <a:ln w="9525">
            <a:noFill/>
          </a:ln>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  告  人：</a:t>
            </a:r>
            <a:r>
              <a:rPr lang="zh-CN" altLang="en-US" sz="2400" b="1" dirty="0">
                <a:solidFill>
                  <a:prstClr val="black"/>
                </a:solidFill>
                <a:latin typeface="Times New Roman" panose="02020603050405020304" pitchFamily="18" charset="0"/>
                <a:ea typeface="宋体" panose="02010600030101010101" pitchFamily="2" charset="-122"/>
              </a:rPr>
              <a:t>杜博</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指导老师：朱善良  </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报告日期：</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2025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年 </a:t>
            </a:r>
            <a:r>
              <a:rPr lang="en-US" altLang="zh-CN" sz="2400" b="1" dirty="0">
                <a:solidFill>
                  <a:prstClr val="black"/>
                </a:solidFill>
                <a:latin typeface="Times New Roman" panose="02020603050405020304" pitchFamily="18" charset="0"/>
                <a:ea typeface="宋体" panose="02010600030101010101" pitchFamily="2" charset="-122"/>
              </a:rPr>
              <a:t>3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月</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lang="en-US" altLang="zh-CN" sz="2400" b="1" dirty="0">
                <a:solidFill>
                  <a:prstClr val="black"/>
                </a:solidFill>
                <a:latin typeface="Times New Roman" panose="02020603050405020304" pitchFamily="18" charset="0"/>
                <a:ea typeface="宋体" panose="02010600030101010101" pitchFamily="2" charset="-122"/>
              </a:rPr>
              <a:t>24</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日</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advTm="6483">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3" name="文本框 2"/>
          <p:cNvSpPr txBox="1"/>
          <p:nvPr/>
        </p:nvSpPr>
        <p:spPr>
          <a:xfrm>
            <a:off x="3573145" y="1870881"/>
            <a:ext cx="8129270" cy="3116238"/>
          </a:xfrm>
          <a:prstGeom prst="rect">
            <a:avLst/>
          </a:prstGeom>
          <a:noFill/>
        </p:spPr>
        <p:txBody>
          <a:bodyPr wrap="square">
            <a:spAutoFit/>
          </a:bodyPr>
          <a:lstStyle/>
          <a:p>
            <a:pPr algn="l" fontAlgn="base">
              <a:lnSpc>
                <a:spcPct val="160000"/>
              </a:lnSpc>
              <a:buFont typeface="+mj-lt"/>
              <a:buAutoNum type="arabicPeriod"/>
            </a:pPr>
            <a:r>
              <a:rPr lang="zh-CN" altLang="en-US" sz="3200" b="1" dirty="0">
                <a:solidFill>
                  <a:schemeClr val="accent1">
                    <a:lumMod val="75000"/>
                  </a:schemeClr>
                </a:solidFill>
                <a:latin typeface="宋体" panose="02010600030101010101" pitchFamily="2" charset="-122"/>
                <a:ea typeface="宋体" panose="02010600030101010101" pitchFamily="2" charset="-122"/>
              </a:rPr>
              <a:t>引言及背景</a:t>
            </a:r>
            <a:endParaRPr lang="en-US" altLang="zh-CN" sz="3200" b="1" i="0" dirty="0">
              <a:solidFill>
                <a:schemeClr val="accent1">
                  <a:lumMod val="75000"/>
                </a:schemeClr>
              </a:solidFill>
              <a:effectLst/>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i="0" dirty="0">
                <a:solidFill>
                  <a:schemeClr val="accent1">
                    <a:lumMod val="75000"/>
                  </a:schemeClr>
                </a:solidFill>
                <a:effectLst/>
                <a:latin typeface="宋体" panose="02010600030101010101" pitchFamily="2" charset="-122"/>
                <a:ea typeface="宋体" panose="02010600030101010101" pitchFamily="2" charset="-122"/>
              </a:rPr>
              <a:t>数据集</a:t>
            </a:r>
            <a:endParaRPr lang="en-US" altLang="zh-CN" sz="3200" b="1" i="0" dirty="0">
              <a:solidFill>
                <a:schemeClr val="accent1">
                  <a:lumMod val="75000"/>
                </a:schemeClr>
              </a:solidFill>
              <a:effectLst/>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dirty="0">
                <a:solidFill>
                  <a:schemeClr val="accent1">
                    <a:lumMod val="75000"/>
                  </a:schemeClr>
                </a:solidFill>
                <a:latin typeface="宋体" panose="02010600030101010101" pitchFamily="2" charset="-122"/>
                <a:ea typeface="宋体" panose="02010600030101010101" pitchFamily="2" charset="-122"/>
              </a:rPr>
              <a:t>模型和实验</a:t>
            </a:r>
            <a:endParaRPr lang="en-US" altLang="zh-CN" sz="3200" b="1" dirty="0">
              <a:solidFill>
                <a:schemeClr val="accent1">
                  <a:lumMod val="75000"/>
                </a:schemeClr>
              </a:solidFill>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i="0" dirty="0">
                <a:solidFill>
                  <a:schemeClr val="accent1">
                    <a:lumMod val="75000"/>
                  </a:schemeClr>
                </a:solidFill>
                <a:effectLst/>
                <a:latin typeface="宋体" panose="02010600030101010101" pitchFamily="2" charset="-122"/>
                <a:ea typeface="宋体" panose="02010600030101010101" pitchFamily="2" charset="-122"/>
              </a:rPr>
              <a:t>结果</a:t>
            </a:r>
            <a:endParaRPr lang="zh-CN" altLang="en-US" sz="3200" b="1" i="0" dirty="0">
              <a:solidFill>
                <a:schemeClr val="accent1">
                  <a:lumMod val="75000"/>
                </a:schemeClr>
              </a:solidFill>
              <a:effectLst/>
              <a:latin typeface="宋体" panose="02010600030101010101" pitchFamily="2" charset="-122"/>
              <a:ea typeface="宋体" panose="02010600030101010101" pitchFamily="2" charset="-122"/>
            </a:endParaRPr>
          </a:p>
        </p:txBody>
      </p:sp>
      <p:sp>
        <p:nvSpPr>
          <p:cNvPr id="4" name="文本框 23"/>
          <p:cNvSpPr txBox="1"/>
          <p:nvPr/>
        </p:nvSpPr>
        <p:spPr>
          <a:xfrm>
            <a:off x="735965" y="2984226"/>
            <a:ext cx="2837180" cy="1260475"/>
          </a:xfrm>
          <a:prstGeom prst="rect">
            <a:avLst/>
          </a:prstGeom>
          <a:noFill/>
          <a:ln w="9525">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rPr>
              <a:t>目录</a:t>
            </a:r>
            <a:endPar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endParaRPr>
          </a:p>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ransition spd="slow" advTm="14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引言</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8" name="文本框 7"/>
          <p:cNvSpPr txBox="1"/>
          <p:nvPr/>
        </p:nvSpPr>
        <p:spPr>
          <a:xfrm>
            <a:off x="1176337" y="1425366"/>
            <a:ext cx="9839326" cy="4772717"/>
          </a:xfrm>
          <a:prstGeom prst="rect">
            <a:avLst/>
          </a:prstGeom>
          <a:noFill/>
        </p:spPr>
        <p:txBody>
          <a:bodyPr wrap="square">
            <a:spAutoFit/>
          </a:bodyPr>
          <a:lstStyle/>
          <a:p>
            <a:pPr>
              <a:lnSpc>
                <a:spcPct val="120000"/>
              </a:lnSpc>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过去几十年，</a:t>
            </a:r>
            <a:r>
              <a:rPr lang="zh-CN" altLang="en-US" sz="2500" b="1" dirty="0">
                <a:latin typeface="宋体" panose="02010600030101010101" pitchFamily="2" charset="-122"/>
                <a:ea typeface="宋体" panose="02010600030101010101" pitchFamily="2" charset="-122"/>
              </a:rPr>
              <a:t>新测序技术导致蛋白质数据库规模呈爆炸性增长</a:t>
            </a:r>
            <a:r>
              <a:rPr lang="zh-CN" altLang="en-US" sz="2500" dirty="0">
                <a:latin typeface="宋体" panose="02010600030101010101" pitchFamily="2" charset="-122"/>
                <a:ea typeface="宋体" panose="02010600030101010101" pitchFamily="2" charset="-122"/>
              </a:rPr>
              <a:t>。这些数据库的序列总数每两年翻一番。然而，为这些序列获取有意义的标签和注释需要大量实验资源和科学专业知识，导致蛋白质序列数据集与带标签子集之间的规模差距呈指数级扩大。</a:t>
            </a:r>
            <a:endParaRPr lang="en-US" altLang="zh-CN" sz="2500" dirty="0">
              <a:latin typeface="宋体" panose="02010600030101010101" pitchFamily="2" charset="-122"/>
              <a:ea typeface="宋体" panose="02010600030101010101" pitchFamily="2" charset="-122"/>
            </a:endParaRPr>
          </a:p>
          <a:p>
            <a:pPr>
              <a:lnSpc>
                <a:spcPct val="120000"/>
              </a:lnSpc>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数十亿年的进化已对与生命相关的蛋白质序列空间进行了采样，因此</a:t>
            </a:r>
            <a:r>
              <a:rPr lang="zh-CN" altLang="en-US" sz="2500" b="1" dirty="0">
                <a:solidFill>
                  <a:srgbClr val="FF0000"/>
                </a:solidFill>
                <a:latin typeface="宋体" panose="02010600030101010101" pitchFamily="2" charset="-122"/>
                <a:ea typeface="宋体" panose="02010600030101010101" pitchFamily="2" charset="-122"/>
              </a:rPr>
              <a:t>大型无标签蛋白质序列数据集</a:t>
            </a:r>
            <a:r>
              <a:rPr lang="zh-CN" altLang="en-US" sz="2500" dirty="0">
                <a:latin typeface="宋体" panose="02010600030101010101" pitchFamily="2" charset="-122"/>
                <a:ea typeface="宋体" panose="02010600030101010101" pitchFamily="2" charset="-122"/>
              </a:rPr>
              <a:t>被认定是包含重要的生物信息的内容。自然语言处理（</a:t>
            </a:r>
            <a:r>
              <a:rPr lang="en-US" altLang="zh-CN" sz="2500" dirty="0">
                <a:latin typeface="宋体" panose="02010600030101010101" pitchFamily="2" charset="-122"/>
                <a:ea typeface="宋体" panose="02010600030101010101" pitchFamily="2" charset="-122"/>
              </a:rPr>
              <a:t>NLP</a:t>
            </a:r>
            <a:r>
              <a:rPr lang="zh-CN" altLang="en-US" sz="2500" dirty="0">
                <a:latin typeface="宋体" panose="02010600030101010101" pitchFamily="2" charset="-122"/>
                <a:ea typeface="宋体" panose="02010600030101010101" pitchFamily="2" charset="-122"/>
              </a:rPr>
              <a:t>）的进步表明，自监督学习是从无标签序列中提取信息的强大工具，这提出了一个引人注目的问题：</a:t>
            </a:r>
            <a:r>
              <a:rPr lang="zh-CN" altLang="en-US" sz="2500" b="1" dirty="0">
                <a:latin typeface="宋体" panose="02010600030101010101" pitchFamily="2" charset="-122"/>
                <a:ea typeface="宋体" panose="02010600030101010101" pitchFamily="2" charset="-122"/>
              </a:rPr>
              <a:t>我们能否将基于</a:t>
            </a:r>
            <a:r>
              <a:rPr lang="en-US" altLang="zh-CN" sz="2500" b="1" dirty="0">
                <a:latin typeface="宋体" panose="02010600030101010101" pitchFamily="2" charset="-122"/>
                <a:ea typeface="宋体" panose="02010600030101010101" pitchFamily="2" charset="-122"/>
              </a:rPr>
              <a:t>NLP</a:t>
            </a:r>
            <a:r>
              <a:rPr lang="zh-CN" altLang="en-US" sz="2500" b="1" dirty="0">
                <a:latin typeface="宋体" panose="02010600030101010101" pitchFamily="2" charset="-122"/>
                <a:ea typeface="宋体" panose="02010600030101010101" pitchFamily="2" charset="-122"/>
              </a:rPr>
              <a:t>的技术应用于海量蛋白质序列数据集，以提取有用的生物信息？</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引言</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1071562" y="1571536"/>
            <a:ext cx="10048876" cy="4647683"/>
          </a:xfrm>
          <a:prstGeom prst="rect">
            <a:avLst/>
          </a:prstGeom>
          <a:noFill/>
        </p:spPr>
        <p:txBody>
          <a:bodyPr wrap="square">
            <a:spAutoFit/>
          </a:bodyPr>
          <a:lstStyle/>
          <a:p>
            <a:pPr>
              <a:lnSpc>
                <a:spcPct val="120000"/>
              </a:lnSpc>
            </a:pPr>
            <a:r>
              <a:rPr lang="en-US" altLang="zh-CN" sz="2500" b="1" dirty="0">
                <a:latin typeface="宋体" panose="02010600030101010101" pitchFamily="2" charset="-122"/>
                <a:ea typeface="宋体" panose="02010600030101010101" pitchFamily="2" charset="-122"/>
              </a:rPr>
              <a:t>	</a:t>
            </a:r>
            <a:r>
              <a:rPr lang="en-US" altLang="zh-CN" sz="2500" b="1" dirty="0">
                <a:solidFill>
                  <a:srgbClr val="FF0000"/>
                </a:solidFill>
                <a:latin typeface="宋体" panose="02010600030101010101" pitchFamily="2" charset="-122"/>
                <a:ea typeface="宋体" panose="02010600030101010101" pitchFamily="2" charset="-122"/>
              </a:rPr>
              <a:t>TAPE</a:t>
            </a:r>
            <a:r>
              <a:rPr lang="en-US" altLang="zh-CN" sz="2500" b="1"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是首次系统评估半监督学习在蛋白质序列上的尝试。</a:t>
            </a:r>
            <a:r>
              <a:rPr lang="en-US" altLang="zh-CN" sz="2500" dirty="0">
                <a:latin typeface="宋体" panose="02010600030101010101" pitchFamily="2" charset="-122"/>
                <a:ea typeface="宋体" panose="02010600030101010101" pitchFamily="2" charset="-122"/>
              </a:rPr>
              <a:t>TAPE</a:t>
            </a:r>
            <a:r>
              <a:rPr lang="zh-CN" altLang="en-US" sz="2500" dirty="0">
                <a:latin typeface="宋体" panose="02010600030101010101" pitchFamily="2" charset="-122"/>
                <a:ea typeface="宋体" panose="02010600030101010101" pitchFamily="2" charset="-122"/>
              </a:rPr>
              <a:t>包括五项生物学相关的监督任务，旨在评估学习到的蛋白质嵌入在蛋白质理解各方面的性能。</a:t>
            </a:r>
            <a:endParaRPr lang="en-US" altLang="zh-CN" sz="2500" dirty="0">
              <a:latin typeface="宋体" panose="02010600030101010101" pitchFamily="2" charset="-122"/>
              <a:ea typeface="宋体" panose="02010600030101010101" pitchFamily="2" charset="-122"/>
            </a:endParaRPr>
          </a:p>
          <a:p>
            <a:pPr>
              <a:lnSpc>
                <a:spcPct val="120000"/>
              </a:lnSpc>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本文选择任务以突出蛋白质生物学的三大领域：</a:t>
            </a:r>
            <a:r>
              <a:rPr lang="zh-CN" altLang="en-US" sz="2500" b="1" dirty="0">
                <a:solidFill>
                  <a:srgbClr val="FF0000"/>
                </a:solidFill>
                <a:latin typeface="宋体" panose="02010600030101010101" pitchFamily="2" charset="-122"/>
                <a:ea typeface="宋体" panose="02010600030101010101" pitchFamily="2" charset="-122"/>
              </a:rPr>
              <a:t>结构预测、远程同源检测和蛋白质工程</a:t>
            </a:r>
            <a:r>
              <a:rPr lang="zh-CN" altLang="en-US" sz="2500" dirty="0">
                <a:latin typeface="宋体" panose="02010600030101010101" pitchFamily="2" charset="-122"/>
                <a:ea typeface="宋体" panose="02010600030101010101" pitchFamily="2" charset="-122"/>
              </a:rPr>
              <a:t>，这些领域可通过自监督学习促进科学进步。文章通过设计数据划分以模拟生物学相关的泛化，例如模型对完全未见序列空间部分的泛化能力，或对序列空间小部分的精细分辨能力。提升这些任务的性能在应用上具有广泛意义，包括设计新抗体、改进癌症诊断，以及在所谓的“暗蛋白质组”（数千万无标签序列，现有的蛋白质相似性检测技术在此失效）中寻找新的抗微生物基因。</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a:t>
            </a:r>
            <a:r>
              <a:rPr lang="en-US" altLang="zh-CN" sz="4265" b="1" dirty="0">
                <a:solidFill>
                  <a:prstClr val="white"/>
                </a:solidFill>
                <a:latin typeface="Times New Roman" panose="02020603050405020304" pitchFamily="18" charset="0"/>
                <a:ea typeface="微软雅黑" panose="020B0503020204020204" charset="-122"/>
              </a:rPr>
              <a:t> </a:t>
            </a:r>
            <a:r>
              <a:rPr lang="zh-CN" altLang="en-US" sz="4265" b="1" dirty="0">
                <a:solidFill>
                  <a:prstClr val="white"/>
                </a:solidFill>
                <a:latin typeface="Times New Roman" panose="02020603050405020304" pitchFamily="18" charset="0"/>
                <a:ea typeface="微软雅黑" panose="020B0503020204020204" charset="-122"/>
              </a:rPr>
              <a:t>蛋白质术语</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701040" y="1768153"/>
            <a:ext cx="10789920" cy="3784600"/>
          </a:xfrm>
          <a:prstGeom prst="rect">
            <a:avLst/>
          </a:prstGeom>
          <a:noFill/>
        </p:spPr>
        <p:txBody>
          <a:bodyPr wrap="square">
            <a:spAutoFit/>
          </a:bodyPr>
          <a:lstStyle/>
          <a:p>
            <a:pPr indent="720090" algn="just">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蛋白质是由共价键连接的氨基酸线性链。我们使用标准的</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字符字母表编码氨基酸：</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20</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个字符表示标准氨基酸，</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个表示非标准氨基酸（硒半胱氨酸和吡咯赖氨酸），</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个表示模糊氨基酸，</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个表示未知氨基酸。长度为𝐿的蛋白质</a:t>
            </a:r>
            <a:r>
              <a:rPr lang="en-US" altLang="zh-CN" sz="2500" dirty="0">
                <a:ea typeface="宋体" panose="02010600030101010101" pitchFamily="2" charset="-122"/>
                <a:cs typeface="+mn-lt"/>
                <a:sym typeface="+mn-ea"/>
              </a:rPr>
              <a:t>x</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表示为固定字母表中的离散氨基酸字符序列 </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𝑥</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𝑥</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𝑥𝐿</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indent="720090" algn="just">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除序列编码外，</a:t>
            </a:r>
            <a:r>
              <a:rPr lang="zh-CN" altLang="en-US" sz="25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蛋白质</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还</a:t>
            </a:r>
            <a:r>
              <a:rPr lang="zh-CN" altLang="en-US" sz="25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具有三维分子结构</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蛋白质结构分为：一级结构（氨基酸序列）、二级结构（局部特征）和三级结构（全局特征）。理解一级序列如何折叠成三级结构是生物化学的基本目标。蛋白质通常由几个进化上保守的大蛋白质域组成，这些域具有明确的功能和折叠。</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spd="slow" advTm="14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a:t>
            </a:r>
            <a:r>
              <a:rPr lang="en-US" altLang="zh-CN" sz="4265" b="1" dirty="0">
                <a:solidFill>
                  <a:prstClr val="white"/>
                </a:solidFill>
                <a:latin typeface="Times New Roman" panose="02020603050405020304" pitchFamily="18" charset="0"/>
                <a:ea typeface="微软雅黑" panose="020B0503020204020204" charset="-122"/>
              </a:rPr>
              <a:t> </a:t>
            </a:r>
            <a:r>
              <a:rPr lang="zh-CN" altLang="en-US" sz="4265" b="1" dirty="0">
                <a:solidFill>
                  <a:prstClr val="white"/>
                </a:solidFill>
                <a:latin typeface="Times New Roman" panose="02020603050405020304" pitchFamily="18" charset="0"/>
                <a:ea typeface="微软雅黑" panose="020B0503020204020204" charset="-122"/>
              </a:rPr>
              <a:t>蛋白质术语</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025366" y="1682428"/>
            <a:ext cx="10141267" cy="4203138"/>
          </a:xfrm>
          <a:prstGeom prst="rect">
            <a:avLst/>
          </a:prstGeom>
          <a:noFill/>
        </p:spPr>
        <p:txBody>
          <a:bodyPr wrap="square">
            <a:spAutoFit/>
          </a:bodyPr>
          <a:lstStyle/>
          <a:p>
            <a:pPr indent="720090" algn="just">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蛋白质间的进化关系源于生物体在进化中需维持特定功能（如复制</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DNA</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）。进化选择出适合这些功能的蛋白质。尽管结构受进化压力约束，序列水平的变化可能很大，不同序列可能具有相似结构。</a:t>
            </a:r>
            <a:r>
              <a:rPr lang="zh-CN" altLang="en-US" sz="25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具有不同序列但存在进化或功能关系的两个蛋白质称为同源物</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indent="720090" algn="just">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量化进化关系对防止数据划分间的信息泄漏至关重要。我们主要依赖序列同一性，即测量蛋白质对齐子序列间精确氨基酸匹配的百分比。例如，在</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序列同一性阈值过滤意味着训练和测试集中任意两个蛋白质的精确匹配不超过</a:t>
            </a:r>
            <a:r>
              <a:rPr lang="en-US" altLang="zh-CN" sz="2500" dirty="0">
                <a:latin typeface="Times New Roman" panose="02020603050405020304" pitchFamily="18" charset="0"/>
                <a:ea typeface="宋体" panose="02010600030101010101" pitchFamily="2" charset="-122"/>
                <a:cs typeface="Times New Roman" panose="02020603050405020304" pitchFamily="18" charset="0"/>
                <a:sym typeface="+mn-ea"/>
              </a:rPr>
              <a:t>25%</a:t>
            </a:r>
            <a:r>
              <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rPr>
              <a:t>。除此之外，还存在其他方法，具体取决于任务测试的泛化类型。</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ransition spd="slow" advTm="14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无标签序列数据集</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1170973" y="2028488"/>
            <a:ext cx="9850054" cy="3262688"/>
          </a:xfrm>
          <a:prstGeom prst="rect">
            <a:avLst/>
          </a:prstGeom>
          <a:noFill/>
        </p:spPr>
        <p:txBody>
          <a:bodyPr wrap="square">
            <a:spAutoFit/>
          </a:bodyPr>
          <a:lstStyle/>
          <a:p>
            <a:pPr>
              <a:lnSpc>
                <a:spcPct val="120000"/>
              </a:lnSpc>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使用广泛应用于生物信息学的</a:t>
            </a:r>
            <a:r>
              <a:rPr lang="en-US" altLang="zh-CN" sz="2500" b="1" dirty="0" err="1">
                <a:latin typeface="宋体" panose="02010600030101010101" pitchFamily="2" charset="-122"/>
                <a:ea typeface="宋体" panose="02010600030101010101" pitchFamily="2" charset="-122"/>
              </a:rPr>
              <a:t>Pfam</a:t>
            </a:r>
            <a:r>
              <a:rPr lang="zh-CN" altLang="en-US" sz="2500" b="1"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一个包含</a:t>
            </a:r>
            <a:r>
              <a:rPr lang="en-US" altLang="zh-CN" sz="2500" dirty="0">
                <a:latin typeface="宋体" panose="02010600030101010101" pitchFamily="2" charset="-122"/>
                <a:ea typeface="宋体" panose="02010600030101010101" pitchFamily="2" charset="-122"/>
              </a:rPr>
              <a:t>3100</a:t>
            </a:r>
            <a:r>
              <a:rPr lang="zh-CN" altLang="en-US" sz="2500" dirty="0">
                <a:latin typeface="宋体" panose="02010600030101010101" pitchFamily="2" charset="-122"/>
                <a:ea typeface="宋体" panose="02010600030101010101" pitchFamily="2" charset="-122"/>
              </a:rPr>
              <a:t>万个蛋白质域的数据库</a:t>
            </a:r>
            <a:r>
              <a:rPr lang="zh-CN" altLang="en-US" sz="2500" b="1"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，作为</a:t>
            </a:r>
            <a:r>
              <a:rPr lang="en-US" altLang="zh-CN" sz="2500" dirty="0">
                <a:latin typeface="宋体" panose="02010600030101010101" pitchFamily="2" charset="-122"/>
                <a:ea typeface="宋体" panose="02010600030101010101" pitchFamily="2" charset="-122"/>
              </a:rPr>
              <a:t>TAPE</a:t>
            </a:r>
            <a:r>
              <a:rPr lang="zh-CN" altLang="en-US" sz="2500" dirty="0">
                <a:latin typeface="宋体" panose="02010600030101010101" pitchFamily="2" charset="-122"/>
                <a:ea typeface="宋体" panose="02010600030101010101" pitchFamily="2" charset="-122"/>
              </a:rPr>
              <a:t>的预训练语料库。</a:t>
            </a:r>
            <a:r>
              <a:rPr lang="en-US" altLang="zh-CN" sz="2500" dirty="0" err="1">
                <a:latin typeface="宋体" panose="02010600030101010101" pitchFamily="2" charset="-122"/>
                <a:ea typeface="宋体" panose="02010600030101010101" pitchFamily="2" charset="-122"/>
              </a:rPr>
              <a:t>Pfam</a:t>
            </a:r>
            <a:r>
              <a:rPr lang="zh-CN" altLang="en-US" sz="2500" dirty="0">
                <a:latin typeface="宋体" panose="02010600030101010101" pitchFamily="2" charset="-122"/>
                <a:ea typeface="宋体" panose="02010600030101010101" pitchFamily="2" charset="-122"/>
              </a:rPr>
              <a:t>中的蛋白质序列被组织成进化相关的家族。为了测试我们的模型，我们制作了一个保留家族的测试集，约占总数据的</a:t>
            </a:r>
            <a:r>
              <a:rPr lang="en-US" altLang="zh-CN" sz="2500" dirty="0">
                <a:latin typeface="宋体" panose="02010600030101010101" pitchFamily="2" charset="-122"/>
                <a:ea typeface="宋体" panose="02010600030101010101" pitchFamily="2" charset="-122"/>
              </a:rPr>
              <a:t>1%</a:t>
            </a:r>
            <a:r>
              <a:rPr lang="zh-CN" altLang="en-US" sz="2500" dirty="0">
                <a:latin typeface="宋体" panose="02010600030101010101" pitchFamily="2" charset="-122"/>
                <a:ea typeface="宋体" panose="02010600030101010101" pitchFamily="2" charset="-122"/>
              </a:rPr>
              <a:t>。其余的数据则随机分为训练集和测试集，比例为</a:t>
            </a:r>
            <a:r>
              <a:rPr lang="en-US" altLang="zh-CN" sz="2500" dirty="0">
                <a:latin typeface="宋体" panose="02010600030101010101" pitchFamily="2" charset="-122"/>
                <a:ea typeface="宋体" panose="02010600030101010101" pitchFamily="2" charset="-122"/>
              </a:rPr>
              <a:t>95%</a:t>
            </a:r>
            <a:r>
              <a:rPr lang="zh-CN" altLang="en-US" sz="2500" dirty="0">
                <a:latin typeface="宋体" panose="02010600030101010101" pitchFamily="2" charset="-122"/>
                <a:ea typeface="宋体" panose="02010600030101010101" pitchFamily="2" charset="-122"/>
              </a:rPr>
              <a:t>对</a:t>
            </a:r>
            <a:r>
              <a:rPr lang="en-US" altLang="zh-CN" sz="2500" dirty="0">
                <a:latin typeface="宋体" panose="02010600030101010101" pitchFamily="2" charset="-122"/>
                <a:ea typeface="宋体" panose="02010600030101010101" pitchFamily="2" charset="-122"/>
              </a:rPr>
              <a:t>5%</a:t>
            </a:r>
            <a:r>
              <a:rPr lang="zh-CN" altLang="en-US" sz="2500" dirty="0">
                <a:latin typeface="宋体" panose="02010600030101010101" pitchFamily="2" charset="-122"/>
                <a:ea typeface="宋体" panose="02010600030101010101" pitchFamily="2" charset="-122"/>
              </a:rPr>
              <a:t>。在评估模型性能时，我们使用随机测试集来衡量模型在已知分布内的表现，而保留的家族测试集则用于检验模型对与训练数据进化上不相关的蛋白质的适应能力。</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 </a:t>
            </a:r>
            <a:r>
              <a:rPr lang="zh-CN" altLang="en-US" sz="4265" b="1" dirty="0">
                <a:solidFill>
                  <a:prstClr val="white"/>
                </a:solidFill>
                <a:latin typeface="Times New Roman" panose="02020603050405020304" pitchFamily="18" charset="0"/>
                <a:ea typeface="微软雅黑" panose="020B0503020204020204" charset="-122"/>
              </a:rPr>
              <a:t>监督数据集</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610235" y="1383978"/>
            <a:ext cx="10789920" cy="3741473"/>
          </a:xfrm>
          <a:prstGeom prst="rect">
            <a:avLst/>
          </a:prstGeom>
          <a:noFill/>
        </p:spPr>
        <p:txBody>
          <a:bodyPr wrap="square">
            <a:spAutoFit/>
          </a:bodyPr>
          <a:lstStyle/>
          <a:p>
            <a:pPr indent="720090" algn="just">
              <a:lnSpc>
                <a:spcPct val="120000"/>
              </a:lnSpc>
            </a:pP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我们提供了五项生物学相关的下游预测任务作为基准，分为结构预测、进化理解和蛋白质工程任务。数据集训练样本量在</a:t>
            </a:r>
            <a:r>
              <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8000</a:t>
            </a: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a:t>
            </a:r>
            <a:r>
              <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万之间。每个任务提供以下内容：</a:t>
            </a:r>
            <a:endPar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indent="720090" algn="just">
              <a:lnSpc>
                <a:spcPct val="120000"/>
              </a:lnSpc>
            </a:pPr>
            <a:endPar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indent="720090" algn="just">
              <a:lnSpc>
                <a:spcPct val="120000"/>
              </a:lnSpc>
            </a:pP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定义：预测问题的正式定义及数据来源。</a:t>
            </a:r>
            <a:endPar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indent="720090" algn="just">
              <a:lnSpc>
                <a:spcPct val="120000"/>
              </a:lnSpc>
            </a:pP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影响：提升性能的影响。</a:t>
            </a:r>
            <a:endPar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indent="720090" algn="just">
              <a:lnSpc>
                <a:spcPct val="120000"/>
              </a:lnSpc>
            </a:pP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泛化：所需的理解和泛化类型。</a:t>
            </a:r>
            <a:endPar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indent="720090" algn="just">
              <a:lnSpc>
                <a:spcPct val="120000"/>
              </a:lnSpc>
            </a:pP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度量：表</a:t>
            </a:r>
            <a:r>
              <a:rPr lang="en-US" altLang="zh-CN"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中报告结果的度量。</a:t>
            </a:r>
            <a:endParaRPr lang="zh-CN" altLang="en-US" sz="25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二级结构（</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SS</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）预测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372435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定义：一个序列到序列任务，每个输入氨基酸</a:t>
                </a:r>
                <a14:m>
                  <m:oMath xmlns:m="http://schemas.openxmlformats.org/officeDocument/2006/math">
                    <m:sSub>
                      <m:sSubPr>
                        <m:ctrlPr>
                          <a:rPr lang="en-US" altLang="zh-CN" sz="2500" b="0" i="1" smtClean="0">
                            <a:latin typeface="Cambria Math" panose="02040503050406030204" pitchFamily="18" charset="0"/>
                            <a:ea typeface="宋体" panose="02010600030101010101" pitchFamily="2" charset="-122"/>
                          </a:rPr>
                        </m:ctrlPr>
                      </m:sSubPr>
                      <m:e>
                        <m:r>
                          <a:rPr lang="en-US" altLang="zh-CN" sz="2500" b="0" i="1" smtClean="0">
                            <a:latin typeface="Cambria Math" panose="02040503050406030204" pitchFamily="18" charset="0"/>
                            <a:ea typeface="宋体" panose="02010600030101010101" pitchFamily="2" charset="-122"/>
                          </a:rPr>
                          <m:t>𝑥</m:t>
                        </m:r>
                      </m:e>
                      <m:sub>
                        <m:r>
                          <a:rPr lang="en-US" altLang="zh-CN" sz="2500" b="0" i="1" smtClean="0">
                            <a:latin typeface="Cambria Math" panose="02040503050406030204" pitchFamily="18" charset="0"/>
                            <a:ea typeface="宋体" panose="02010600030101010101" pitchFamily="2" charset="-122"/>
                          </a:rPr>
                          <m:t>𝑖</m:t>
                        </m:r>
                      </m:sub>
                    </m:sSub>
                  </m:oMath>
                </a14:m>
                <a:r>
                  <a:rPr lang="zh-CN" altLang="en-US" sz="2500" dirty="0">
                    <a:latin typeface="宋体" panose="02010600030101010101" pitchFamily="2" charset="-122"/>
                    <a:ea typeface="宋体" panose="02010600030101010101" pitchFamily="2" charset="-122"/>
                  </a:rPr>
                  <a:t>映射到标签</a:t>
                </a:r>
                <a14:m>
                  <m:oMath xmlns:m="http://schemas.openxmlformats.org/officeDocument/2006/math">
                    <m:sSub>
                      <m:sSubPr>
                        <m:ctrlPr>
                          <a:rPr lang="en-US" altLang="zh-CN" sz="2500" b="0" i="1" smtClean="0">
                            <a:latin typeface="Cambria Math" panose="02040503050406030204" pitchFamily="18" charset="0"/>
                            <a:ea typeface="宋体" panose="02010600030101010101" pitchFamily="2" charset="-122"/>
                          </a:rPr>
                        </m:ctrlPr>
                      </m:sSubPr>
                      <m:e>
                        <m:r>
                          <a:rPr lang="en-US" altLang="zh-CN" sz="2500" b="0" i="1" smtClean="0">
                            <a:latin typeface="Cambria Math" panose="02040503050406030204" pitchFamily="18" charset="0"/>
                            <a:ea typeface="宋体" panose="02010600030101010101" pitchFamily="2" charset="-122"/>
                          </a:rPr>
                          <m:t>𝑦</m:t>
                        </m:r>
                      </m:e>
                      <m:sub>
                        <m:r>
                          <a:rPr lang="en-US" altLang="zh-CN" sz="2500" b="0" i="1" smtClean="0">
                            <a:latin typeface="Cambria Math" panose="02040503050406030204" pitchFamily="18" charset="0"/>
                            <a:ea typeface="宋体" panose="02010600030101010101" pitchFamily="2" charset="-122"/>
                          </a:rPr>
                          <m:t>𝑖</m:t>
                        </m:r>
                      </m:sub>
                    </m:sSub>
                  </m:oMath>
                </a14:m>
                <a:r>
                  <a:rPr lang="zh-CN" altLang="en-US" sz="2500" dirty="0">
                    <a:latin typeface="宋体" panose="02010600030101010101" pitchFamily="2" charset="-122"/>
                    <a:ea typeface="宋体" panose="02010600030101010101" pitchFamily="2" charset="-122"/>
                  </a:rPr>
                  <a:t>∈</a:t>
                </a:r>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螺旋</a:t>
                </a:r>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链</a:t>
                </a:r>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其他</a:t>
                </a:r>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影响：二级结构是理解蛋白质功能的重要特征，尤其当目标蛋白与已知结构蛋白进化无关时。常用于为高级模型创建更丰富输入特征。</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泛化：测试模型学习局部结构的程度。</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度量：准确率。</a:t>
                </a:r>
                <a:endParaRPr lang="zh-CN" altLang="en-US"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3724353"/>
              </a:xfrm>
              <a:prstGeom prst="rect">
                <a:avLst/>
              </a:prstGeom>
              <a:blipFill rotWithShape="1">
                <a:blip r:embed="rId5"/>
                <a:stretch>
                  <a:fillRect l="-3" t="-15" r="3" b="17"/>
                </a:stretch>
              </a:blipFill>
            </p:spPr>
            <p:txBody>
              <a:bodyPr/>
              <a:lstStyle/>
              <a:p>
                <a:r>
                  <a:rPr lang="zh-CN" altLang="en-US">
                    <a:noFill/>
                  </a:rPr>
                  <a:t> </a:t>
                </a:r>
              </a:p>
            </p:txBody>
          </p:sp>
        </mc:Fallback>
      </mc:AlternateContent>
    </p:spTree>
  </p:cSld>
  <p:clrMapOvr>
    <a:masterClrMapping/>
  </p:clrMapOvr>
  <p:transition spd="slow" advTm="14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2.2.2</a:t>
            </a:r>
            <a:r>
              <a:rPr lang="zh-CN" altLang="en-US" sz="4265" b="1" dirty="0">
                <a:solidFill>
                  <a:prstClr val="white"/>
                </a:solidFill>
                <a:latin typeface="Times New Roman" panose="02020603050405020304" pitchFamily="18" charset="0"/>
                <a:ea typeface="微软雅黑" panose="020B0503020204020204" charset="-122"/>
              </a:rPr>
              <a:t> 接触</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预测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376154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定义：一个成对氨基酸任务，序列</a:t>
                </a:r>
                <a:r>
                  <a:rPr lang="en-US" altLang="zh-CN" sz="2500" dirty="0">
                    <a:latin typeface="宋体" panose="02010600030101010101" pitchFamily="2" charset="-122"/>
                    <a:ea typeface="宋体" panose="02010600030101010101" pitchFamily="2" charset="-122"/>
                  </a:rPr>
                  <a:t> </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oMath>
                </a14:m>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中每对</a:t>
                </a:r>
                <a14:m>
                  <m:oMath xmlns:m="http://schemas.openxmlformats.org/officeDocument/2006/math">
                    <m:sSub>
                      <m:sSubPr>
                        <m:ctrlPr>
                          <a:rPr lang="en-US" altLang="zh-CN" sz="2500" b="0" i="1" smtClean="0">
                            <a:latin typeface="Cambria Math" panose="02040503050406030204" pitchFamily="18" charset="0"/>
                            <a:ea typeface="宋体" panose="02010600030101010101" pitchFamily="2" charset="-122"/>
                          </a:rPr>
                        </m:ctrlPr>
                      </m:sSubPr>
                      <m:e>
                        <m:r>
                          <a:rPr lang="en-US" altLang="zh-CN" sz="2500" b="0" i="1" smtClean="0">
                            <a:latin typeface="Cambria Math" panose="02040503050406030204" pitchFamily="18" charset="0"/>
                            <a:ea typeface="宋体" panose="02010600030101010101" pitchFamily="2" charset="-122"/>
                          </a:rPr>
                          <m:t>𝑥</m:t>
                        </m:r>
                      </m:e>
                      <m:sub>
                        <m:r>
                          <a:rPr lang="en-US" altLang="zh-CN" sz="2500" b="0" i="1" smtClean="0">
                            <a:latin typeface="Cambria Math" panose="02040503050406030204" pitchFamily="18" charset="0"/>
                            <a:ea typeface="宋体" panose="02010600030101010101" pitchFamily="2" charset="-122"/>
                          </a:rPr>
                          <m:t>𝑖</m:t>
                        </m:r>
                      </m:sub>
                    </m:sSub>
                    <m:r>
                      <a:rPr lang="zh-CN" altLang="en-US" sz="2500" i="1">
                        <a:latin typeface="Cambria Math" panose="02040503050406030204" pitchFamily="18" charset="0"/>
                        <a:ea typeface="宋体" panose="02010600030101010101" pitchFamily="2" charset="-122"/>
                      </a:rPr>
                      <m:t>、</m:t>
                    </m:r>
                    <m:sSub>
                      <m:sSubPr>
                        <m:ctrlPr>
                          <a:rPr lang="en-US" altLang="zh-CN" sz="2500" b="0" i="1" dirty="0" smtClean="0">
                            <a:latin typeface="Cambria Math" panose="02040503050406030204" pitchFamily="18" charset="0"/>
                            <a:ea typeface="宋体" panose="02010600030101010101" pitchFamily="2" charset="-122"/>
                          </a:rPr>
                        </m:ctrlPr>
                      </m:sSubPr>
                      <m:e>
                        <m:r>
                          <a:rPr lang="en-US" altLang="zh-CN" sz="2500" b="0" i="1" dirty="0" smtClean="0">
                            <a:latin typeface="Cambria Math" panose="02040503050406030204" pitchFamily="18" charset="0"/>
                            <a:ea typeface="宋体" panose="02010600030101010101" pitchFamily="2" charset="-122"/>
                          </a:rPr>
                          <m:t>𝑥</m:t>
                        </m:r>
                      </m:e>
                      <m:sub>
                        <m:r>
                          <a:rPr lang="en-US" altLang="zh-CN" sz="2500" b="0" i="1" dirty="0" smtClean="0">
                            <a:latin typeface="Cambria Math" panose="02040503050406030204" pitchFamily="18" charset="0"/>
                            <a:ea typeface="宋体" panose="02010600030101010101" pitchFamily="2" charset="-122"/>
                          </a:rPr>
                          <m:t>𝑗</m:t>
                        </m:r>
                      </m:sub>
                    </m:sSub>
                  </m:oMath>
                </a14:m>
                <a:r>
                  <a:rPr lang="zh-CN" altLang="en-US" sz="2500" dirty="0">
                    <a:latin typeface="宋体" panose="02010600030101010101" pitchFamily="2" charset="-122"/>
                    <a:ea typeface="宋体" panose="02010600030101010101" pitchFamily="2" charset="-122"/>
                  </a:rPr>
                  <a:t>映射到标签</a:t>
                </a:r>
                <a14:m>
                  <m:oMath xmlns:m="http://schemas.openxmlformats.org/officeDocument/2006/math">
                    <m:sSub>
                      <m:sSubPr>
                        <m:ctrlPr>
                          <a:rPr lang="en-US" altLang="zh-CN" sz="2500" b="0" i="1" smtClean="0">
                            <a:latin typeface="Cambria Math" panose="02040503050406030204" pitchFamily="18" charset="0"/>
                            <a:ea typeface="宋体" panose="02010600030101010101" pitchFamily="2" charset="-122"/>
                          </a:rPr>
                        </m:ctrlPr>
                      </m:sSubPr>
                      <m:e>
                        <m:r>
                          <a:rPr lang="en-US" altLang="zh-CN" sz="2500" b="0" i="1" smtClean="0">
                            <a:latin typeface="Cambria Math" panose="02040503050406030204" pitchFamily="18" charset="0"/>
                            <a:ea typeface="宋体" panose="02010600030101010101" pitchFamily="2" charset="-122"/>
                          </a:rPr>
                          <m:t>𝑦</m:t>
                        </m:r>
                      </m:e>
                      <m:sub>
                        <m:r>
                          <a:rPr lang="en-US" altLang="zh-CN" sz="2500" b="0" i="1" smtClean="0">
                            <a:latin typeface="Cambria Math" panose="02040503050406030204" pitchFamily="18" charset="0"/>
                            <a:ea typeface="宋体" panose="02010600030101010101" pitchFamily="2" charset="-122"/>
                          </a:rPr>
                          <m:t>𝑖𝑗</m:t>
                        </m:r>
                      </m:sub>
                    </m:sSub>
                  </m:oMath>
                </a14:m>
                <a:r>
                  <a:rPr lang="zh-CN" altLang="en-US" sz="2500" dirty="0">
                    <a:latin typeface="宋体" panose="02010600030101010101" pitchFamily="2" charset="-122"/>
                    <a:ea typeface="宋体" panose="02010600030101010101" pitchFamily="2" charset="-122"/>
                  </a:rPr>
                  <a:t>∈</a:t>
                </a:r>
                <a:r>
                  <a:rPr lang="en-US" altLang="zh-CN" sz="2500" dirty="0">
                    <a:latin typeface="宋体" panose="02010600030101010101" pitchFamily="2" charset="-122"/>
                    <a:ea typeface="宋体" panose="02010600030101010101" pitchFamily="2" charset="-122"/>
                  </a:rPr>
                  <a:t>{0,1}</a:t>
                </a:r>
                <a:r>
                  <a:rPr lang="zh-CN" altLang="en-US" sz="2500" dirty="0">
                    <a:latin typeface="宋体" panose="02010600030101010101" pitchFamily="2" charset="-122"/>
                    <a:ea typeface="宋体" panose="02010600030101010101" pitchFamily="2" charset="-122"/>
                  </a:rPr>
                  <a:t>，表示是否“接触”。</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影响：准确的接触图提供强大全局信息。</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泛化：中程和远程接触的丰富性测试模型对全局上下文的理解。</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a:t>
                </a:r>
                <a:r>
                  <a:rPr lang="en-US" altLang="zh-CN" sz="2500" dirty="0">
                    <a:latin typeface="宋体" panose="02010600030101010101" pitchFamily="2" charset="-122"/>
                    <a:ea typeface="宋体" panose="02010600030101010101" pitchFamily="2" charset="-122"/>
                  </a:rPr>
                  <a:t>CASP</a:t>
                </a:r>
                <a:r>
                  <a:rPr lang="zh-CN" altLang="en-US" sz="2500" dirty="0">
                    <a:latin typeface="宋体" panose="02010600030101010101" pitchFamily="2" charset="-122"/>
                    <a:ea typeface="宋体" panose="02010600030101010101" pitchFamily="2" charset="-122"/>
                  </a:rPr>
                  <a:t>标准度量（</a:t>
                </a:r>
                <a:r>
                  <a:rPr lang="en-US" altLang="zh-CN" sz="2500" dirty="0">
                    <a:latin typeface="宋体" panose="02010600030101010101" pitchFamily="2" charset="-122"/>
                    <a:ea typeface="宋体" panose="02010600030101010101" pitchFamily="2" charset="-122"/>
                  </a:rPr>
                  <a:t>CASP</a:t>
                </a:r>
                <a:r>
                  <a:rPr lang="zh-CN" altLang="en-US" sz="2500" dirty="0">
                    <a:latin typeface="宋体" panose="02010600030101010101" pitchFamily="2" charset="-122"/>
                    <a:ea typeface="宋体" panose="02010600030101010101" pitchFamily="2" charset="-122"/>
                  </a:rPr>
                  <a:t>是蛋白质结构预测相关的竞赛）。</a:t>
                </a:r>
                <a:endParaRPr lang="zh-CN" altLang="en-US"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3761543"/>
              </a:xfrm>
              <a:prstGeom prst="rect">
                <a:avLst/>
              </a:prstGeom>
              <a:blipFill rotWithShape="1">
                <a:blip r:embed="rId5"/>
                <a:stretch>
                  <a:fillRect l="-3" t="-15" r="3" b="9"/>
                </a:stretch>
              </a:blipFill>
            </p:spPr>
            <p:txBody>
              <a:bodyPr/>
              <a:lstStyle/>
              <a:p>
                <a:r>
                  <a:rPr lang="zh-CN" altLang="en-US">
                    <a:noFill/>
                  </a:rPr>
                  <a:t> </a:t>
                </a:r>
              </a:p>
            </p:txBody>
          </p:sp>
        </mc:Fallback>
      </mc:AlternateContent>
    </p:spTree>
  </p:cSld>
  <p:clrMapOvr>
    <a:masterClrMapping/>
  </p:clrMapOvr>
  <p:transition spd="slow" advTm="14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2.2.3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远程同源检测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3724353"/>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定义：序列分类任务，每个输入蛋白质</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oMath>
                </a14:m>
                <a:r>
                  <a:rPr lang="zh-CN" altLang="en-US" sz="2500" dirty="0">
                    <a:latin typeface="宋体" panose="02010600030101010101" pitchFamily="2" charset="-122"/>
                    <a:ea typeface="宋体" panose="02010600030101010101" pitchFamily="2" charset="-122"/>
                  </a:rPr>
                  <a:t>映射到标签</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𝑦</m:t>
                    </m:r>
                  </m:oMath>
                </a14:m>
                <a:r>
                  <a:rPr lang="zh-CN" altLang="en-US" sz="2500" dirty="0">
                    <a:latin typeface="宋体" panose="02010600030101010101" pitchFamily="2" charset="-122"/>
                    <a:ea typeface="宋体" panose="02010600030101010101" pitchFamily="2" charset="-122"/>
                  </a:rPr>
                  <a:t>∈</a:t>
                </a:r>
                <a:r>
                  <a:rPr lang="en-US" altLang="zh-CN" sz="2500" dirty="0">
                    <a:latin typeface="宋体" panose="02010600030101010101" pitchFamily="2" charset="-122"/>
                    <a:ea typeface="宋体" panose="02010600030101010101" pitchFamily="2" charset="-122"/>
                  </a:rPr>
                  <a:t>{1,…,1195}</a:t>
                </a:r>
                <a:r>
                  <a:rPr lang="zh-CN" altLang="en-US" sz="2500" dirty="0">
                    <a:latin typeface="宋体" panose="02010600030101010101" pitchFamily="2" charset="-122"/>
                    <a:ea typeface="宋体" panose="02010600030101010101" pitchFamily="2" charset="-122"/>
                  </a:rPr>
                  <a:t>，表示不同蛋白质折叠。</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影响：在微生物学和医学中重要，如检测抗生素耐药基因和发现新</a:t>
                </a:r>
                <a:r>
                  <a:rPr lang="en-US" altLang="zh-CN" sz="2500" dirty="0">
                    <a:latin typeface="宋体" panose="02010600030101010101" pitchFamily="2" charset="-122"/>
                    <a:ea typeface="宋体" panose="02010600030101010101" pitchFamily="2" charset="-122"/>
                  </a:rPr>
                  <a:t>CAS</a:t>
                </a:r>
                <a:r>
                  <a:rPr lang="zh-CN" altLang="en-US" sz="2500" dirty="0">
                    <a:latin typeface="宋体" panose="02010600030101010101" pitchFamily="2" charset="-122"/>
                    <a:ea typeface="宋体" panose="02010600030101010101" pitchFamily="2" charset="-122"/>
                  </a:rPr>
                  <a:t>酶。</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泛化：测试模型检测远距离相关输入中结构相似性的能力。</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度量：准确率。</a:t>
                </a:r>
                <a:endParaRPr lang="en-US" altLang="zh-CN"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3724353"/>
              </a:xfrm>
              <a:prstGeom prst="rect">
                <a:avLst/>
              </a:prstGeom>
              <a:blipFill rotWithShape="1">
                <a:blip r:embed="rId5"/>
                <a:stretch>
                  <a:fillRect l="-3" t="-15" r="3" b="17"/>
                </a:stretch>
              </a:blipFill>
            </p:spPr>
            <p:txBody>
              <a:bodyPr/>
              <a:lstStyle/>
              <a:p>
                <a:r>
                  <a:rPr lang="zh-CN" altLang="en-US">
                    <a:noFill/>
                  </a:rPr>
                  <a:t> </a:t>
                </a:r>
              </a:p>
            </p:txBody>
          </p:sp>
        </mc:Fallback>
      </mc:AlternateContent>
    </p:spTree>
  </p:cSld>
  <p:clrMapOvr>
    <a:masterClrMapping/>
  </p:clrMapOvr>
  <p:transition spd="slow" advTm="14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2.2.4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荧光景观预测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3262688"/>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定义：回归任务，每个输入蛋白质</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r>
                      <a:rPr lang="zh-CN" altLang="en-US" sz="2500" i="1">
                        <a:latin typeface="Cambria Math" panose="02040503050406030204" pitchFamily="18" charset="0"/>
                        <a:ea typeface="宋体" panose="02010600030101010101" pitchFamily="2" charset="-122"/>
                      </a:rPr>
                      <m:t>映射</m:t>
                    </m:r>
                  </m:oMath>
                </a14:m>
                <a:r>
                  <a:rPr lang="zh-CN" altLang="en-US" sz="2500" dirty="0">
                    <a:latin typeface="宋体" panose="02010600030101010101" pitchFamily="2" charset="-122"/>
                    <a:ea typeface="宋体" panose="02010600030101010101" pitchFamily="2" charset="-122"/>
                  </a:rPr>
                  <a:t>到</a:t>
                </a:r>
                <a14:m>
                  <m:oMath xmlns:m="http://schemas.openxmlformats.org/officeDocument/2006/math">
                    <m:r>
                      <a:rPr lang="en-US" altLang="zh-CN" sz="2500" b="0" i="1" dirty="0" smtClean="0">
                        <a:latin typeface="Cambria Math" panose="02040503050406030204" pitchFamily="18" charset="0"/>
                        <a:ea typeface="宋体" panose="02010600030101010101" pitchFamily="2" charset="-122"/>
                      </a:rPr>
                      <m:t>𝑦</m:t>
                    </m:r>
                    <m:r>
                      <a:rPr lang="zh-CN" altLang="en-US" sz="2500" i="1" dirty="0">
                        <a:latin typeface="Cambria Math" panose="02040503050406030204" pitchFamily="18" charset="0"/>
                        <a:ea typeface="宋体" panose="02010600030101010101" pitchFamily="2" charset="-122"/>
                      </a:rPr>
                      <m:t>∈</m:t>
                    </m:r>
                    <m:r>
                      <a:rPr lang="en-US" altLang="zh-CN" sz="2500" b="0" i="1" dirty="0" smtClean="0">
                        <a:latin typeface="Cambria Math" panose="02040503050406030204" pitchFamily="18" charset="0"/>
                        <a:ea typeface="宋体" panose="02010600030101010101" pitchFamily="2" charset="-122"/>
                      </a:rPr>
                      <m:t>𝑅</m:t>
                    </m:r>
                    <m:r>
                      <a:rPr lang="zh-CN" altLang="en-US" sz="2500" i="1" dirty="0">
                        <a:latin typeface="Cambria Math" panose="02040503050406030204" pitchFamily="18" charset="0"/>
                        <a:ea typeface="宋体" panose="02010600030101010101" pitchFamily="2" charset="-122"/>
                      </a:rPr>
                      <m:t>，</m:t>
                    </m:r>
                  </m:oMath>
                </a14:m>
                <a:r>
                  <a:rPr lang="zh-CN" altLang="en-US" sz="2500" dirty="0">
                    <a:latin typeface="宋体" panose="02010600030101010101" pitchFamily="2" charset="-122"/>
                    <a:ea typeface="宋体" panose="02010600030101010101" pitchFamily="2" charset="-122"/>
                  </a:rPr>
                  <a:t>对应对数荧光强度。</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影响：对于长度𝐿的蛋白质，𝑚个突变的可能序列数为𝑂</a:t>
                </a:r>
                <a:r>
                  <a:rPr lang="en-US" altLang="zh-CN" sz="2500" dirty="0">
                    <a:latin typeface="宋体" panose="02010600030101010101" pitchFamily="2" charset="-122"/>
                    <a:ea typeface="宋体" panose="02010600030101010101" pitchFamily="2" charset="-122"/>
                  </a:rPr>
                  <a:t>(</a:t>
                </a:r>
                <a14:m>
                  <m:oMath xmlns:m="http://schemas.openxmlformats.org/officeDocument/2006/math">
                    <m:sSup>
                      <m:sSupPr>
                        <m:ctrlPr>
                          <a:rPr lang="en-US" altLang="zh-CN" sz="2500" i="1" dirty="0" smtClean="0">
                            <a:latin typeface="Cambria Math" panose="02040503050406030204" pitchFamily="18" charset="0"/>
                            <a:ea typeface="宋体" panose="02010600030101010101" pitchFamily="2" charset="-122"/>
                          </a:rPr>
                        </m:ctrlPr>
                      </m:sSupPr>
                      <m:e>
                        <m:r>
                          <a:rPr lang="zh-CN" altLang="en-US" sz="2500" i="1" dirty="0" smtClean="0">
                            <a:latin typeface="Cambria Math" panose="02040503050406030204" pitchFamily="18" charset="0"/>
                            <a:ea typeface="宋体" panose="02010600030101010101" pitchFamily="2" charset="-122"/>
                          </a:rPr>
                          <m:t>𝐿</m:t>
                        </m:r>
                      </m:e>
                      <m:sup>
                        <m:r>
                          <a:rPr lang="zh-CN" altLang="en-US" sz="2500" i="1" dirty="0" smtClean="0">
                            <a:latin typeface="Cambria Math" panose="02040503050406030204" pitchFamily="18" charset="0"/>
                            <a:ea typeface="宋体" panose="02010600030101010101" pitchFamily="2" charset="-122"/>
                          </a:rPr>
                          <m:t>𝑚</m:t>
                        </m:r>
                      </m:sup>
                    </m:sSup>
                  </m:oMath>
                </a14:m>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，实验搜索空间巨大。</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泛化：测试模型区分相似输入及泛化到未见突变组合的能力。</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度量：报告测试集的</a:t>
                </a:r>
                <a:r>
                  <a:rPr lang="en-US" altLang="zh-CN" sz="2500" dirty="0">
                    <a:latin typeface="宋体" panose="02010600030101010101" pitchFamily="2" charset="-122"/>
                    <a:ea typeface="宋体" panose="02010600030101010101" pitchFamily="2" charset="-122"/>
                  </a:rPr>
                  <a:t>spearman</a:t>
                </a:r>
                <a:r>
                  <a:rPr lang="zh-CN" altLang="en-US" sz="2500" dirty="0">
                    <a:latin typeface="宋体" panose="02010600030101010101" pitchFamily="2" charset="-122"/>
                    <a:ea typeface="宋体" panose="02010600030101010101" pitchFamily="2" charset="-122"/>
                  </a:rPr>
                  <a:t>相关系数。</a:t>
                </a:r>
                <a:endParaRPr lang="en-US" altLang="zh-CN"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3262688"/>
              </a:xfrm>
              <a:prstGeom prst="rect">
                <a:avLst/>
              </a:prstGeom>
              <a:blipFill rotWithShape="1">
                <a:blip r:embed="rId5"/>
                <a:stretch>
                  <a:fillRect l="-3" t="-17" r="-1134" b="-118"/>
                </a:stretch>
              </a:blipFill>
            </p:spPr>
            <p:txBody>
              <a:bodyPr/>
              <a:lstStyle/>
              <a:p>
                <a:r>
                  <a:rPr lang="zh-CN" altLang="en-US">
                    <a:noFill/>
                  </a:rPr>
                  <a:t> </a:t>
                </a:r>
              </a:p>
            </p:txBody>
          </p:sp>
        </mc:Fallback>
      </mc:AlternateContent>
    </p:spTree>
  </p:cSld>
  <p:clrMapOvr>
    <a:masterClrMapping/>
  </p:clrMapOvr>
  <p:transition spd="slow" advTm="14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2.2.5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稳定性景观预测</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6" name="文本框 5"/>
              <p:cNvSpPr txBox="1"/>
              <p:nvPr/>
            </p:nvSpPr>
            <p:spPr>
              <a:xfrm>
                <a:off x="204787" y="1857286"/>
                <a:ext cx="11782425" cy="4186018"/>
              </a:xfrm>
              <a:prstGeom prst="rect">
                <a:avLst/>
              </a:prstGeom>
              <a:noFill/>
            </p:spPr>
            <p:txBody>
              <a:bodyPr wrap="square">
                <a:spAutoFit/>
              </a:bodyPr>
              <a:lstStyle/>
              <a:p>
                <a:pPr>
                  <a:lnSpc>
                    <a:spcPct val="120000"/>
                  </a:lnSpc>
                </a:pPr>
                <a:r>
                  <a:rPr lang="zh-CN" altLang="en-US" sz="2500" dirty="0">
                    <a:latin typeface="宋体" panose="02010600030101010101" pitchFamily="2" charset="-122"/>
                    <a:ea typeface="宋体" panose="02010600030101010101" pitchFamily="2" charset="-122"/>
                  </a:rPr>
                  <a:t>定义：回归任务，每个输入蛋白质</a:t>
                </a:r>
                <a14:m>
                  <m:oMath xmlns:m="http://schemas.openxmlformats.org/officeDocument/2006/math">
                    <m:r>
                      <a:rPr lang="en-US" altLang="zh-CN" sz="2500" b="0" i="1" smtClean="0">
                        <a:latin typeface="Cambria Math" panose="02040503050406030204" pitchFamily="18" charset="0"/>
                        <a:ea typeface="宋体" panose="02010600030101010101" pitchFamily="2" charset="-122"/>
                      </a:rPr>
                      <m:t>𝑥</m:t>
                    </m:r>
                    <m:r>
                      <a:rPr lang="zh-CN" altLang="en-US" sz="2500" i="1">
                        <a:latin typeface="Cambria Math" panose="02040503050406030204" pitchFamily="18" charset="0"/>
                        <a:ea typeface="宋体" panose="02010600030101010101" pitchFamily="2" charset="-122"/>
                      </a:rPr>
                      <m:t>映射</m:t>
                    </m:r>
                  </m:oMath>
                </a14:m>
                <a:r>
                  <a:rPr lang="zh-CN" altLang="en-US" sz="2500" dirty="0">
                    <a:latin typeface="宋体" panose="02010600030101010101" pitchFamily="2" charset="-122"/>
                    <a:ea typeface="宋体" panose="02010600030101010101" pitchFamily="2" charset="-122"/>
                  </a:rPr>
                  <a:t>到</a:t>
                </a:r>
                <a14:m>
                  <m:oMath xmlns:m="http://schemas.openxmlformats.org/officeDocument/2006/math">
                    <m:r>
                      <a:rPr lang="en-US" altLang="zh-CN" sz="2500" b="0" i="1" dirty="0" smtClean="0">
                        <a:latin typeface="Cambria Math" panose="02040503050406030204" pitchFamily="18" charset="0"/>
                        <a:ea typeface="宋体" panose="02010600030101010101" pitchFamily="2" charset="-122"/>
                      </a:rPr>
                      <m:t>𝑦</m:t>
                    </m:r>
                    <m:r>
                      <a:rPr lang="zh-CN" altLang="en-US" sz="2500" i="1" dirty="0">
                        <a:latin typeface="Cambria Math" panose="02040503050406030204" pitchFamily="18" charset="0"/>
                        <a:ea typeface="宋体" panose="02010600030101010101" pitchFamily="2" charset="-122"/>
                      </a:rPr>
                      <m:t>∈</m:t>
                    </m:r>
                    <m:r>
                      <a:rPr lang="en-US" altLang="zh-CN" sz="2500" b="0" i="1" dirty="0" smtClean="0">
                        <a:latin typeface="Cambria Math" panose="02040503050406030204" pitchFamily="18" charset="0"/>
                        <a:ea typeface="宋体" panose="02010600030101010101" pitchFamily="2" charset="-122"/>
                      </a:rPr>
                      <m:t>𝑅</m:t>
                    </m:r>
                    <m:r>
                      <a:rPr lang="zh-CN" altLang="en-US" sz="2500" i="1" dirty="0">
                        <a:latin typeface="Cambria Math" panose="02040503050406030204" pitchFamily="18" charset="0"/>
                        <a:ea typeface="宋体" panose="02010600030101010101" pitchFamily="2" charset="-122"/>
                      </a:rPr>
                      <m:t>，</m:t>
                    </m:r>
                  </m:oMath>
                </a14:m>
                <a:r>
                  <a:rPr lang="zh-CN" altLang="en-US" sz="2500" dirty="0">
                    <a:latin typeface="宋体" panose="02010600030101010101" pitchFamily="2" charset="-122"/>
                    <a:ea typeface="宋体" panose="02010600030101010101" pitchFamily="2" charset="-122"/>
                  </a:rPr>
                  <a:t>测量蛋白质在浓度阈值以上保持折叠的最极端条件。</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影响：设计稳定蛋白质对药物递送等至关重要。</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泛化：测试从广泛相关序列样本泛化并定位到少数序列邻域的能力，与荧光任务相反。</a:t>
                </a:r>
                <a:endParaRPr lang="en-US" altLang="zh-CN" sz="2500" dirty="0">
                  <a:latin typeface="宋体" panose="02010600030101010101" pitchFamily="2" charset="-122"/>
                  <a:ea typeface="宋体" panose="02010600030101010101" pitchFamily="2" charset="-122"/>
                </a:endParaRPr>
              </a:p>
              <a:p>
                <a:pPr>
                  <a:lnSpc>
                    <a:spcPct val="120000"/>
                  </a:lnSpc>
                </a:pPr>
                <a:endParaRPr lang="zh-CN" altLang="en-US" sz="2500" dirty="0">
                  <a:latin typeface="宋体" panose="02010600030101010101" pitchFamily="2" charset="-122"/>
                  <a:ea typeface="宋体" panose="02010600030101010101" pitchFamily="2" charset="-122"/>
                </a:endParaRPr>
              </a:p>
              <a:p>
                <a:pPr>
                  <a:lnSpc>
                    <a:spcPct val="120000"/>
                  </a:lnSpc>
                </a:pPr>
                <a:r>
                  <a:rPr lang="zh-CN" altLang="en-US" sz="2500" dirty="0">
                    <a:latin typeface="宋体" panose="02010600030101010101" pitchFamily="2" charset="-122"/>
                    <a:ea typeface="宋体" panose="02010600030101010101" pitchFamily="2" charset="-122"/>
                  </a:rPr>
                  <a:t>度量：报告测试集的</a:t>
                </a:r>
                <a:r>
                  <a:rPr lang="en-US" altLang="zh-CN" sz="2500" dirty="0">
                    <a:latin typeface="宋体" panose="02010600030101010101" pitchFamily="2" charset="-122"/>
                    <a:ea typeface="宋体" panose="02010600030101010101" pitchFamily="2" charset="-122"/>
                  </a:rPr>
                  <a:t>spearman</a:t>
                </a:r>
                <a:r>
                  <a:rPr lang="zh-CN" altLang="en-US" sz="2500" dirty="0">
                    <a:latin typeface="宋体" panose="02010600030101010101" pitchFamily="2" charset="-122"/>
                    <a:ea typeface="宋体" panose="02010600030101010101" pitchFamily="2" charset="-122"/>
                  </a:rPr>
                  <a:t>相关系数。</a:t>
                </a:r>
                <a:endParaRPr lang="en-US" altLang="zh-CN" sz="2500" dirty="0">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04787" y="1857286"/>
                <a:ext cx="11782425" cy="4186018"/>
              </a:xfrm>
              <a:prstGeom prst="rect">
                <a:avLst/>
              </a:prstGeom>
              <a:blipFill rotWithShape="1">
                <a:blip r:embed="rId5"/>
                <a:stretch>
                  <a:fillRect l="-3" t="-13" r="3"/>
                </a:stretch>
              </a:blipFill>
            </p:spPr>
            <p:txBody>
              <a:bodyPr/>
              <a:lstStyle/>
              <a:p>
                <a:r>
                  <a:rPr lang="zh-CN" altLang="en-US">
                    <a:noFill/>
                  </a:rPr>
                  <a:t> </a:t>
                </a:r>
              </a:p>
            </p:txBody>
          </p:sp>
        </mc:Fallback>
      </mc:AlternateContent>
    </p:spTree>
  </p:cSld>
  <p:clrMapOvr>
    <a:masterClrMapping/>
  </p:clrMapOvr>
  <p:transition spd="slow" advTm="14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损失函数</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mc:AlternateContent xmlns:mc="http://schemas.openxmlformats.org/markup-compatibility/2006">
        <mc:Choice xmlns:a14="http://schemas.microsoft.com/office/drawing/2010/main" Requires="a14">
          <p:sp>
            <p:nvSpPr>
              <p:cNvPr id="8" name="文本框 7"/>
              <p:cNvSpPr txBox="1"/>
              <p:nvPr/>
            </p:nvSpPr>
            <p:spPr>
              <a:xfrm>
                <a:off x="916781" y="2252267"/>
                <a:ext cx="10358438" cy="2353465"/>
              </a:xfrm>
              <a:prstGeom prst="rect">
                <a:avLst/>
              </a:prstGeom>
              <a:noFill/>
            </p:spPr>
            <p:txBody>
              <a:bodyPr wrap="square">
                <a:spAutoFit/>
              </a:bodyPr>
              <a:lstStyle/>
              <a:p>
                <a:pPr>
                  <a:lnSpc>
                    <a:spcPct val="120000"/>
                  </a:lnSpc>
                </a:pPr>
                <a:r>
                  <a:rPr lang="en-US" altLang="zh-CN" sz="2500" dirty="0">
                    <a:latin typeface="宋体" panose="02010600030101010101" pitchFamily="2" charset="-122"/>
                    <a:ea typeface="宋体" panose="02010600030101010101" pitchFamily="2" charset="-122"/>
                  </a:rPr>
                  <a:t>NLP</a:t>
                </a:r>
                <a:r>
                  <a:rPr lang="zh-CN" altLang="en-US" sz="2500" dirty="0">
                    <a:latin typeface="宋体" panose="02010600030101010101" pitchFamily="2" charset="-122"/>
                    <a:ea typeface="宋体" panose="02010600030101010101" pitchFamily="2" charset="-122"/>
                  </a:rPr>
                  <a:t>中成功的两种自监督损失：</a:t>
                </a:r>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en-US" altLang="zh-CN" sz="2500" dirty="0">
                    <a:latin typeface="宋体" panose="02010600030101010101" pitchFamily="2" charset="-122"/>
                    <a:ea typeface="宋体" panose="02010600030101010101" pitchFamily="2" charset="-122"/>
                  </a:rPr>
                  <a:t>1.</a:t>
                </a:r>
                <a:r>
                  <a:rPr lang="zh-CN" altLang="en-US" sz="2500" dirty="0">
                    <a:latin typeface="宋体" panose="02010600030101010101" pitchFamily="2" charset="-122"/>
                    <a:ea typeface="宋体" panose="02010600030101010101" pitchFamily="2" charset="-122"/>
                  </a:rPr>
                  <a:t>下一个词预测：建模 </a:t>
                </a:r>
                <a14:m>
                  <m:oMath xmlns:m="http://schemas.openxmlformats.org/officeDocument/2006/math">
                    <m:r>
                      <a:rPr lang="zh-CN" altLang="en-US" sz="2500" i="1" dirty="0" smtClean="0">
                        <a:latin typeface="Cambria Math" panose="02040503050406030204" pitchFamily="18" charset="0"/>
                        <a:ea typeface="宋体" panose="02010600030101010101" pitchFamily="2" charset="-122"/>
                      </a:rPr>
                      <m:t>𝑝</m:t>
                    </m:r>
                    <m:d>
                      <m:dPr>
                        <m:sepChr m:val="∣"/>
                        <m:ctrlPr>
                          <a:rPr lang="en-US" altLang="zh-CN" sz="2500" i="1" dirty="0" smtClean="0">
                            <a:latin typeface="Cambria Math" panose="02040503050406030204" pitchFamily="18" charset="0"/>
                            <a:ea typeface="宋体" panose="02010600030101010101" pitchFamily="2" charset="-122"/>
                          </a:rPr>
                        </m:ctrlPr>
                      </m:dPr>
                      <m:e>
                        <m:sSub>
                          <m:sSubPr>
                            <m:ctrlPr>
                              <a:rPr lang="en-US" altLang="zh-CN" sz="2500" i="1" dirty="0" smtClean="0">
                                <a:latin typeface="Cambria Math" panose="02040503050406030204" pitchFamily="18" charset="0"/>
                                <a:ea typeface="宋体" panose="02010600030101010101" pitchFamily="2" charset="-122"/>
                              </a:rPr>
                            </m:ctrlPr>
                          </m:sSubPr>
                          <m:e>
                            <m:r>
                              <a:rPr lang="zh-CN" altLang="en-US" sz="2500" i="1" dirty="0" smtClean="0">
                                <a:latin typeface="Cambria Math" panose="02040503050406030204" pitchFamily="18" charset="0"/>
                                <a:ea typeface="宋体" panose="02010600030101010101" pitchFamily="2" charset="-122"/>
                              </a:rPr>
                              <m:t>𝑥</m:t>
                            </m:r>
                          </m:e>
                          <m:sub>
                            <m:r>
                              <a:rPr lang="zh-CN" altLang="en-US" sz="2500" i="1" dirty="0" smtClean="0">
                                <a:latin typeface="Cambria Math" panose="02040503050406030204" pitchFamily="18" charset="0"/>
                                <a:ea typeface="宋体" panose="02010600030101010101" pitchFamily="2" charset="-122"/>
                              </a:rPr>
                              <m:t>𝑖</m:t>
                            </m:r>
                          </m:sub>
                        </m:sSub>
                      </m:e>
                      <m:e>
                        <m:sSub>
                          <m:sSubPr>
                            <m:ctrlPr>
                              <a:rPr lang="en-US" altLang="zh-CN" sz="2500" i="1" dirty="0" smtClean="0">
                                <a:latin typeface="Cambria Math" panose="02040503050406030204" pitchFamily="18" charset="0"/>
                                <a:ea typeface="宋体" panose="02010600030101010101" pitchFamily="2" charset="-122"/>
                              </a:rPr>
                            </m:ctrlPr>
                          </m:sSubPr>
                          <m:e>
                            <m:r>
                              <a:rPr lang="zh-CN" altLang="en-US" sz="2500" i="1" dirty="0" smtClean="0">
                                <a:latin typeface="Cambria Math" panose="02040503050406030204" pitchFamily="18" charset="0"/>
                                <a:ea typeface="宋体" panose="02010600030101010101" pitchFamily="2" charset="-122"/>
                              </a:rPr>
                              <m:t>𝑥</m:t>
                            </m:r>
                          </m:e>
                          <m:sub>
                            <m:r>
                              <a:rPr lang="en-US" altLang="zh-CN" sz="2500" i="1" dirty="0" smtClean="0">
                                <a:latin typeface="Cambria Math" panose="02040503050406030204" pitchFamily="18" charset="0"/>
                                <a:ea typeface="宋体" panose="02010600030101010101" pitchFamily="2" charset="-122"/>
                              </a:rPr>
                              <m:t>1</m:t>
                            </m:r>
                          </m:sub>
                        </m:sSub>
                        <m:r>
                          <a:rPr lang="en-US" altLang="zh-CN" sz="2500" i="1" dirty="0" smtClean="0">
                            <a:latin typeface="Cambria Math" panose="02040503050406030204" pitchFamily="18" charset="0"/>
                            <a:ea typeface="宋体" panose="02010600030101010101" pitchFamily="2" charset="-122"/>
                          </a:rPr>
                          <m:t>,…,</m:t>
                        </m:r>
                        <m:sSub>
                          <m:sSubPr>
                            <m:ctrlPr>
                              <a:rPr lang="en-US" altLang="zh-CN" sz="2500" i="1" dirty="0" smtClean="0">
                                <a:latin typeface="Cambria Math" panose="02040503050406030204" pitchFamily="18" charset="0"/>
                                <a:ea typeface="宋体" panose="02010600030101010101" pitchFamily="2" charset="-122"/>
                              </a:rPr>
                            </m:ctrlPr>
                          </m:sSubPr>
                          <m:e>
                            <m:r>
                              <a:rPr lang="zh-CN" altLang="en-US" sz="2500" i="1" dirty="0" smtClean="0">
                                <a:latin typeface="Cambria Math" panose="02040503050406030204" pitchFamily="18" charset="0"/>
                                <a:ea typeface="宋体" panose="02010600030101010101" pitchFamily="2" charset="-122"/>
                              </a:rPr>
                              <m:t>𝑥</m:t>
                            </m:r>
                          </m:e>
                          <m:sub>
                            <m:r>
                              <a:rPr lang="zh-CN" altLang="en-US" sz="2500" i="1" dirty="0" smtClean="0">
                                <a:latin typeface="Cambria Math" panose="02040503050406030204" pitchFamily="18" charset="0"/>
                                <a:ea typeface="宋体" panose="02010600030101010101" pitchFamily="2" charset="-122"/>
                              </a:rPr>
                              <m:t>𝑖</m:t>
                            </m:r>
                          </m:sub>
                        </m:sSub>
                        <m:r>
                          <a:rPr lang="zh-CN" altLang="en-US" sz="2500" i="1" dirty="0" smtClean="0">
                            <a:latin typeface="Cambria Math" panose="02040503050406030204" pitchFamily="18" charset="0"/>
                            <a:ea typeface="宋体" panose="02010600030101010101" pitchFamily="2" charset="-122"/>
                          </a:rPr>
                          <m:t>−</m:t>
                        </m:r>
                        <m:r>
                          <a:rPr lang="en-US" altLang="zh-CN" sz="2500" i="1" dirty="0" smtClean="0">
                            <a:latin typeface="Cambria Math" panose="02040503050406030204" pitchFamily="18" charset="0"/>
                            <a:ea typeface="宋体" panose="02010600030101010101" pitchFamily="2" charset="-122"/>
                          </a:rPr>
                          <m:t>1</m:t>
                        </m:r>
                      </m:e>
                    </m:d>
                  </m:oMath>
                </a14:m>
                <a:endParaRPr lang="en-US" altLang="zh-CN" sz="2500" dirty="0">
                  <a:latin typeface="宋体" panose="02010600030101010101" pitchFamily="2" charset="-122"/>
                  <a:ea typeface="宋体" panose="02010600030101010101" pitchFamily="2" charset="-122"/>
                </a:endParaRPr>
              </a:p>
              <a:p>
                <a:pPr>
                  <a:lnSpc>
                    <a:spcPct val="120000"/>
                  </a:lnSpc>
                </a:pPr>
                <a:endParaRPr lang="en-US" altLang="zh-CN" sz="2500" dirty="0">
                  <a:latin typeface="宋体" panose="02010600030101010101" pitchFamily="2" charset="-122"/>
                  <a:ea typeface="宋体" panose="02010600030101010101" pitchFamily="2" charset="-122"/>
                </a:endParaRPr>
              </a:p>
              <a:p>
                <a:pPr>
                  <a:lnSpc>
                    <a:spcPct val="120000"/>
                  </a:lnSpc>
                </a:pPr>
                <a:r>
                  <a:rPr lang="en-US" altLang="zh-CN" sz="2500" dirty="0">
                    <a:latin typeface="宋体" panose="02010600030101010101" pitchFamily="2" charset="-122"/>
                    <a:ea typeface="宋体" panose="02010600030101010101" pitchFamily="2" charset="-122"/>
                  </a:rPr>
                  <a:t>2.</a:t>
                </a:r>
                <a:r>
                  <a:rPr lang="zh-CN" altLang="en-US" sz="2500" dirty="0">
                    <a:latin typeface="宋体" panose="02010600030101010101" pitchFamily="2" charset="-122"/>
                    <a:ea typeface="宋体" panose="02010600030101010101" pitchFamily="2" charset="-122"/>
                  </a:rPr>
                  <a:t>掩码词预测：通过替换多个位置的词值，建模 </a:t>
                </a:r>
                <a14:m>
                  <m:oMath xmlns:m="http://schemas.openxmlformats.org/officeDocument/2006/math">
                    <m:r>
                      <a:rPr lang="zh-CN" altLang="en-US" sz="2500" i="1" dirty="0" smtClean="0">
                        <a:latin typeface="Cambria Math" panose="02040503050406030204" pitchFamily="18" charset="0"/>
                        <a:ea typeface="宋体" panose="02010600030101010101" pitchFamily="2" charset="-122"/>
                      </a:rPr>
                      <m:t>𝑝</m:t>
                    </m:r>
                    <m:d>
                      <m:dPr>
                        <m:sepChr m:val="∣"/>
                        <m:ctrlPr>
                          <a:rPr lang="en-US" altLang="zh-CN" sz="2500" i="1" dirty="0" smtClean="0">
                            <a:latin typeface="Cambria Math" panose="02040503050406030204" pitchFamily="18" charset="0"/>
                            <a:ea typeface="宋体" panose="02010600030101010101" pitchFamily="2" charset="-122"/>
                          </a:rPr>
                        </m:ctrlPr>
                      </m:dPr>
                      <m:e>
                        <m:sSub>
                          <m:sSubPr>
                            <m:ctrlPr>
                              <a:rPr lang="en-US" altLang="zh-CN" sz="2500" i="1" dirty="0">
                                <a:latin typeface="Cambria Math" panose="02040503050406030204" pitchFamily="18" charset="0"/>
                                <a:ea typeface="宋体" panose="02010600030101010101" pitchFamily="2" charset="-122"/>
                              </a:rPr>
                            </m:ctrlPr>
                          </m:sSubPr>
                          <m:e>
                            <m:r>
                              <a:rPr lang="zh-CN" altLang="en-US" sz="2500" i="1" dirty="0">
                                <a:latin typeface="Cambria Math" panose="02040503050406030204" pitchFamily="18" charset="0"/>
                                <a:ea typeface="宋体" panose="02010600030101010101" pitchFamily="2" charset="-122"/>
                              </a:rPr>
                              <m:t>𝑥</m:t>
                            </m:r>
                          </m:e>
                          <m:sub>
                            <m:r>
                              <a:rPr lang="en-US" altLang="zh-CN" sz="2500" b="0" i="1" dirty="0" smtClean="0">
                                <a:latin typeface="Cambria Math" panose="02040503050406030204" pitchFamily="18" charset="0"/>
                                <a:ea typeface="宋体" panose="02010600030101010101" pitchFamily="2" charset="-122"/>
                              </a:rPr>
                              <m:t>𝑚𝑎𝑠𝑘𝑒𝑑</m:t>
                            </m:r>
                          </m:sub>
                        </m:sSub>
                      </m:e>
                      <m:e>
                        <m:sSub>
                          <m:sSubPr>
                            <m:ctrlPr>
                              <a:rPr lang="en-US" altLang="zh-CN" sz="2500" i="1" dirty="0">
                                <a:latin typeface="Cambria Math" panose="02040503050406030204" pitchFamily="18" charset="0"/>
                                <a:ea typeface="宋体" panose="02010600030101010101" pitchFamily="2" charset="-122"/>
                              </a:rPr>
                            </m:ctrlPr>
                          </m:sSubPr>
                          <m:e>
                            <m:r>
                              <a:rPr lang="zh-CN" altLang="en-US" sz="2500" i="1" dirty="0">
                                <a:latin typeface="Cambria Math" panose="02040503050406030204" pitchFamily="18" charset="0"/>
                                <a:ea typeface="宋体" panose="02010600030101010101" pitchFamily="2" charset="-122"/>
                              </a:rPr>
                              <m:t>𝑥</m:t>
                            </m:r>
                          </m:e>
                          <m:sub>
                            <m:r>
                              <a:rPr lang="en-US" altLang="zh-CN" sz="2500" b="0" i="1" dirty="0" smtClean="0">
                                <a:latin typeface="Cambria Math" panose="02040503050406030204" pitchFamily="18" charset="0"/>
                                <a:ea typeface="宋体" panose="02010600030101010101" pitchFamily="2" charset="-122"/>
                              </a:rPr>
                              <m:t>𝑢𝑛</m:t>
                            </m:r>
                            <m:r>
                              <a:rPr lang="en-US" altLang="zh-CN" sz="2500" i="1" dirty="0">
                                <a:latin typeface="Cambria Math" panose="02040503050406030204" pitchFamily="18" charset="0"/>
                                <a:ea typeface="宋体" panose="02010600030101010101" pitchFamily="2" charset="-122"/>
                              </a:rPr>
                              <m:t>𝑚𝑎𝑠𝑘𝑒𝑑</m:t>
                            </m:r>
                          </m:sub>
                        </m:sSub>
                      </m:e>
                    </m:d>
                  </m:oMath>
                </a14:m>
                <a:endParaRPr lang="zh-CN" altLang="en-US" sz="2500" dirty="0">
                  <a:latin typeface="宋体" panose="02010600030101010101" pitchFamily="2" charset="-122"/>
                  <a:ea typeface="宋体" panose="02010600030101010101"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916781" y="2252267"/>
                <a:ext cx="10358438" cy="2353465"/>
              </a:xfrm>
              <a:prstGeom prst="rect">
                <a:avLst/>
              </a:prstGeom>
              <a:blipFill rotWithShape="1">
                <a:blip r:embed="rId5"/>
                <a:stretch>
                  <a:fillRect l="-5" t="-24" r="2" b="3"/>
                </a:stretch>
              </a:blipFill>
            </p:spPr>
            <p:txBody>
              <a:bodyPr/>
              <a:lstStyle/>
              <a:p>
                <a:r>
                  <a:rPr lang="zh-CN" altLang="en-US">
                    <a:noFill/>
                  </a:rPr>
                  <a:t> </a:t>
                </a:r>
              </a:p>
            </p:txBody>
          </p:sp>
        </mc:Fallback>
      </mc:AlternateContent>
    </p:spTree>
  </p:cSld>
  <p:clrMapOvr>
    <a:masterClrMapping/>
  </p:clrMapOvr>
  <p:transition spd="slow" advTm="14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特定于蛋白质的损失</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8" name="文本框 7"/>
          <p:cNvSpPr txBox="1"/>
          <p:nvPr/>
        </p:nvSpPr>
        <p:spPr>
          <a:xfrm>
            <a:off x="916781" y="2414192"/>
            <a:ext cx="10358438" cy="1877694"/>
          </a:xfrm>
          <a:prstGeom prst="rect">
            <a:avLst/>
          </a:prstGeom>
          <a:noFill/>
        </p:spPr>
        <p:txBody>
          <a:bodyPr wrap="square">
            <a:spAutoFit/>
          </a:bodyPr>
          <a:lstStyle/>
          <a:p>
            <a:pPr>
              <a:lnSpc>
                <a:spcPct val="120000"/>
              </a:lnSpc>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除自监督算法外，我们探索了</a:t>
            </a:r>
            <a:r>
              <a:rPr lang="en-US" altLang="zh-CN" sz="2500" dirty="0" err="1">
                <a:latin typeface="宋体" panose="02010600030101010101" pitchFamily="2" charset="-122"/>
                <a:ea typeface="宋体" panose="02010600030101010101" pitchFamily="2" charset="-122"/>
              </a:rPr>
              <a:t>Bepler</a:t>
            </a:r>
            <a:r>
              <a:rPr lang="zh-CN" altLang="en-US" sz="2500" dirty="0">
                <a:latin typeface="宋体" panose="02010600030101010101" pitchFamily="2" charset="-122"/>
                <a:ea typeface="宋体" panose="02010600030101010101" pitchFamily="2" charset="-122"/>
              </a:rPr>
              <a:t>等人（参考文献</a:t>
            </a:r>
            <a:r>
              <a:rPr lang="en-US" altLang="zh-CN" sz="2500" dirty="0">
                <a:latin typeface="宋体" panose="02010600030101010101" pitchFamily="2" charset="-122"/>
                <a:ea typeface="宋体" panose="02010600030101010101" pitchFamily="2" charset="-122"/>
              </a:rPr>
              <a:t>11</a:t>
            </a:r>
            <a:r>
              <a:rPr lang="zh-CN" altLang="en-US" sz="2500" dirty="0">
                <a:latin typeface="宋体" panose="02010600030101010101" pitchFamily="2" charset="-122"/>
                <a:ea typeface="宋体" panose="02010600030101010101" pitchFamily="2" charset="-122"/>
              </a:rPr>
              <a:t>）提出的蛋白质特定训练方法。他们建议监督预训练可显著提升性能，特别是在接触预测和远程同源检测上，并显示其提升了二级结构预测性能。类似计算机视觉研究表明监督预训练可转移到其他任务。</a:t>
            </a:r>
            <a:endParaRPr lang="en-US" altLang="zh-CN"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.3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架构</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8" name="文本框 7"/>
          <p:cNvSpPr txBox="1"/>
          <p:nvPr/>
        </p:nvSpPr>
        <p:spPr>
          <a:xfrm>
            <a:off x="754856" y="1575992"/>
            <a:ext cx="10358438" cy="4203138"/>
          </a:xfrm>
          <a:prstGeom prst="rect">
            <a:avLst/>
          </a:prstGeom>
          <a:noFill/>
        </p:spPr>
        <p:txBody>
          <a:bodyPr wrap="square">
            <a:spAutoFit/>
          </a:bodyPr>
          <a:lstStyle/>
          <a:p>
            <a:pPr>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实现了三种架构：</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 LSTM</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：两个三层</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LSTM</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，每层</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1024</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个隐藏单元，分前向和后向语言模型，最后一层输出拼接</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2. Transformer</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层，</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512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个隐藏单元，</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个注意力头，参数量</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38M</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3. </a:t>
            </a:r>
            <a:r>
              <a:rPr lang="en-US" altLang="zh-CN" sz="2500" dirty="0" err="1">
                <a:latin typeface="Times New Roman" panose="02020603050405020304" pitchFamily="18" charset="0"/>
                <a:ea typeface="宋体" panose="02010600030101010101" pitchFamily="2" charset="-122"/>
                <a:cs typeface="Times New Roman" panose="02020603050405020304" pitchFamily="18" charset="0"/>
              </a:rPr>
              <a:t>ResNet</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35</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个残差块，每块含两层卷积，</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256</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个滤波器，核大小</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9</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，扩张率</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.3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架构补充</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8" name="文本框 7"/>
          <p:cNvSpPr txBox="1"/>
          <p:nvPr/>
        </p:nvSpPr>
        <p:spPr>
          <a:xfrm>
            <a:off x="754856" y="1575992"/>
            <a:ext cx="10358438" cy="2356479"/>
          </a:xfrm>
          <a:prstGeom prst="rect">
            <a:avLst/>
          </a:prstGeom>
          <a:noFill/>
        </p:spPr>
        <p:txBody>
          <a:bodyPr wrap="square">
            <a:spAutoFit/>
          </a:bodyPr>
          <a:lstStyle/>
          <a:p>
            <a:pPr>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此外，基准测试了两种先前提出的架构：</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2500" dirty="0" err="1">
                <a:latin typeface="Times New Roman" panose="02020603050405020304" pitchFamily="18" charset="0"/>
                <a:ea typeface="宋体" panose="02010600030101010101" pitchFamily="2" charset="-122"/>
                <a:cs typeface="Times New Roman" panose="02020603050405020304" pitchFamily="18" charset="0"/>
              </a:rPr>
              <a:t>Bepler</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等人，两层双向语言模型，即后接三个</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512</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隐藏单元的双向</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LSTM</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2. Alley</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等人，单向</a:t>
            </a:r>
            <a:r>
              <a:rPr lang="en-US" altLang="zh-CN" sz="2500" dirty="0" err="1">
                <a:latin typeface="Times New Roman" panose="02020603050405020304" pitchFamily="18" charset="0"/>
                <a:ea typeface="宋体" panose="02010600030101010101" pitchFamily="2" charset="-122"/>
                <a:cs typeface="Times New Roman" panose="02020603050405020304" pitchFamily="18" charset="0"/>
              </a:rPr>
              <a:t>mLSTM</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1900</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个隐藏单元</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.3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基准架构</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8" name="文本框 7"/>
          <p:cNvSpPr txBox="1"/>
          <p:nvPr/>
        </p:nvSpPr>
        <p:spPr>
          <a:xfrm>
            <a:off x="754856" y="1575992"/>
            <a:ext cx="10358438" cy="2818144"/>
          </a:xfrm>
          <a:prstGeom prst="rect">
            <a:avLst/>
          </a:prstGeom>
          <a:noFill/>
        </p:spPr>
        <p:txBody>
          <a:bodyPr wrap="square">
            <a:spAutoFit/>
          </a:bodyPr>
          <a:lstStyle/>
          <a:p>
            <a:pPr>
              <a:lnSpc>
                <a:spcPct val="120000"/>
              </a:lnSpc>
            </a:pP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此外，基准测试了两种先前提出的架构：</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1. One-hot</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编码：输入氨基酸序列的简单基准。</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基于对齐的特征：最先进的蛋白质建模算法利用对齐或</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HMM</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输入，与</a:t>
            </a:r>
            <a:r>
              <a:rPr lang="en-US" altLang="zh-CN" sz="2500" dirty="0">
                <a:latin typeface="Times New Roman" panose="02020603050405020304" pitchFamily="18" charset="0"/>
                <a:ea typeface="宋体" panose="02010600030101010101" pitchFamily="2" charset="-122"/>
                <a:cs typeface="Times New Roman" panose="02020603050405020304" pitchFamily="18" charset="0"/>
              </a:rPr>
              <a:t>One-hot</a:t>
            </a:r>
            <a:r>
              <a:rPr lang="zh-CN" altLang="en-US" sz="2500" dirty="0">
                <a:latin typeface="Times New Roman" panose="02020603050405020304" pitchFamily="18" charset="0"/>
                <a:ea typeface="宋体" panose="02010600030101010101" pitchFamily="2" charset="-122"/>
                <a:cs typeface="Times New Roman" panose="02020603050405020304" pitchFamily="18" charset="0"/>
              </a:rPr>
              <a:t>编码拼接。</a:t>
            </a:r>
            <a:endParaRPr lang="en-US" altLang="zh-CN"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结果</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592877" y="1546805"/>
            <a:ext cx="11006245" cy="3764389"/>
          </a:xfrm>
          <a:prstGeom prst="rect">
            <a:avLst/>
          </a:prstGeom>
        </p:spPr>
      </p:pic>
    </p:spTree>
  </p:cSld>
  <p:clrMapOvr>
    <a:masterClrMapping/>
  </p:clrMapOvr>
  <p:transition spd="slow" advTm="14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结果</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67064" y="1000767"/>
            <a:ext cx="9718064" cy="5789921"/>
          </a:xfrm>
          <a:prstGeom prst="rect">
            <a:avLst/>
          </a:prstGeom>
        </p:spPr>
      </p:pic>
    </p:spTree>
  </p:cSld>
  <p:clrMapOvr>
    <a:masterClrMapping/>
  </p:clrMapOvr>
  <p:transition spd="slow" advTm="14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结果</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785718" y="1407649"/>
            <a:ext cx="10620564" cy="4964575"/>
          </a:xfrm>
          <a:prstGeom prst="rect">
            <a:avLst/>
          </a:prstGeom>
        </p:spPr>
      </p:pic>
    </p:spTree>
  </p:cSld>
  <p:clrMapOvr>
    <a:masterClrMapping/>
  </p:clrMapOvr>
  <p:transition spd="slow" advTm="14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结果</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573141" y="1019914"/>
            <a:ext cx="6294383" cy="5717859"/>
          </a:xfrm>
          <a:prstGeom prst="rect">
            <a:avLst/>
          </a:prstGeom>
        </p:spPr>
      </p:pic>
      <p:sp>
        <p:nvSpPr>
          <p:cNvPr id="5" name="文本框 4"/>
          <p:cNvSpPr txBox="1"/>
          <p:nvPr/>
        </p:nvSpPr>
        <p:spPr>
          <a:xfrm>
            <a:off x="7172325" y="3678788"/>
            <a:ext cx="4657725" cy="400110"/>
          </a:xfrm>
          <a:prstGeom prst="rect">
            <a:avLst/>
          </a:prstGeom>
          <a:noFill/>
        </p:spPr>
        <p:txBody>
          <a:bodyPr wrap="square">
            <a:spAutoFit/>
          </a:bodyPr>
          <a:lstStyle/>
          <a:p>
            <a:r>
              <a:rPr lang="zh-CN" altLang="en-US" sz="2000" dirty="0">
                <a:latin typeface="宋体" panose="02010600030101010101" pitchFamily="2" charset="-122"/>
                <a:ea typeface="宋体" panose="02010600030101010101" pitchFamily="2" charset="-122"/>
              </a:rPr>
              <a:t>自监督预训练几乎提升了所有模型性能。</a:t>
            </a:r>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109154" y="-108514"/>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2" name="文本框 1"/>
          <p:cNvSpPr txBox="1"/>
          <p:nvPr/>
        </p:nvSpPr>
        <p:spPr>
          <a:xfrm>
            <a:off x="5132810" y="2982050"/>
            <a:ext cx="2464612" cy="893899"/>
          </a:xfrm>
          <a:prstGeom prst="rect">
            <a:avLst/>
          </a:prstGeom>
          <a:noFill/>
        </p:spPr>
        <p:txBody>
          <a:bodyPr wrap="square">
            <a:spAutoFit/>
          </a:bodyPr>
          <a:lstStyle/>
          <a:p>
            <a:pPr marL="0" lvl="1" algn="just" fontAlgn="base">
              <a:lnSpc>
                <a:spcPct val="120000"/>
              </a:lnSpc>
            </a:pPr>
            <a:r>
              <a:rPr lang="zh-CN" altLang="en-US"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谢 谢！</a:t>
            </a:r>
            <a:endParaRPr lang="en-US" altLang="zh-CN"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COMMONDATA" val="eyJoZGlkIjoiYjk4Y2RmYWE5Y2FjZjE1OTMzMDFlYzg5ODNmZmE2ND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2885</Words>
  <Application>WPS 演示</Application>
  <PresentationFormat>宽屏</PresentationFormat>
  <Paragraphs>149</Paragraphs>
  <Slides>23</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vt:lpstr>
      <vt:lpstr>宋体</vt:lpstr>
      <vt:lpstr>Wingdings</vt:lpstr>
      <vt:lpstr>Wingdings</vt:lpstr>
      <vt:lpstr>Arial</vt:lpstr>
      <vt:lpstr>微软雅黑</vt:lpstr>
      <vt:lpstr>Times New Roman</vt:lpstr>
      <vt:lpstr>Cambria Math</vt:lpstr>
      <vt:lpstr>Arial Unicode MS</vt:lpstr>
      <vt:lpstr>等线</vt:lpstr>
      <vt:lpstr>BatangChe</vt:lpstr>
      <vt:lpstr>Segoe Print</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xuechen lan</dc:creator>
  <cp:lastModifiedBy>风华正茂</cp:lastModifiedBy>
  <cp:revision>47</cp:revision>
  <dcterms:created xsi:type="dcterms:W3CDTF">2024-11-16T13:08:00Z</dcterms:created>
  <dcterms:modified xsi:type="dcterms:W3CDTF">2025-03-24T04:53:44Z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F5FF2F86B7124E00BCD8C73738B07681_12</vt:lpwstr>
  </property>
  <property fmtid="{D5CDD505-2E9C-101B-9397-08002B2CF9AE}" pid="3" name="KSOProductBuildVer">
    <vt:lpwstr>2052-12.1.0.20305</vt:lpwstr>
  </property>
</Properties>
</file>