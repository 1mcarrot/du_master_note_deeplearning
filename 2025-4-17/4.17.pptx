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59" r:id="rId3"/>
    <p:sldId id="603" r:id="rId5"/>
    <p:sldId id="645" r:id="rId6"/>
    <p:sldId id="641" r:id="rId7"/>
    <p:sldId id="643" r:id="rId8"/>
    <p:sldId id="648" r:id="rId9"/>
    <p:sldId id="649" r:id="rId10"/>
    <p:sldId id="650" r:id="rId11"/>
    <p:sldId id="651" r:id="rId12"/>
    <p:sldId id="652" r:id="rId13"/>
    <p:sldId id="653" r:id="rId14"/>
    <p:sldId id="654" r:id="rId15"/>
    <p:sldId id="655" r:id="rId16"/>
    <p:sldId id="656" r:id="rId17"/>
    <p:sldId id="658" r:id="rId18"/>
    <p:sldId id="657" r:id="rId19"/>
    <p:sldId id="497" r:id="rId20"/>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60"/>
  </p:normalViewPr>
  <p:slideViewPr>
    <p:cSldViewPr snapToGrid="0">
      <p:cViewPr varScale="1">
        <p:scale>
          <a:sx n="80" d="100"/>
          <a:sy n="80" d="100"/>
        </p:scale>
        <p:origin x="7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154.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6D8EF-FF10-4018-846A-D712F3478F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1B9F13-8F08-49E6-9A2C-1C81E5F408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9E1B693-632D-4080-9CF6-EA28B66DC80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23" name="矩形 22"/>
          <p:cNvSpPr/>
          <p:nvPr userDrawn="1">
            <p:custDataLst>
              <p:tags r:id="rId7"/>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mn-lt"/>
              <a:ea typeface="+mn-ea"/>
              <a:cs typeface="+mn-cs"/>
            </a:endParaRPr>
          </a:p>
        </p:txBody>
      </p:sp>
      <p:pic>
        <p:nvPicPr>
          <p:cNvPr id="8" name="图片 7" descr="8AAHHGN15TD8ZQ7H5V$9JNL.png"/>
          <p:cNvPicPr>
            <a:picLocks noChangeAspect="1"/>
          </p:cNvPicPr>
          <p:nvPr userDrawn="1">
            <p:custDataLst>
              <p:tags r:id="rId8"/>
            </p:custDataLst>
          </p:nvPr>
        </p:nvPicPr>
        <p:blipFill>
          <a:blip r:embed="rId9"/>
          <a:stretch>
            <a:fillRect/>
          </a:stretch>
        </p:blipFill>
        <p:spPr>
          <a:xfrm>
            <a:off x="11203807" y="-1269"/>
            <a:ext cx="879039" cy="988485"/>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4" Type="http://schemas.openxmlformats.org/officeDocument/2006/relationships/slideLayout" Target="../slideLayouts/slideLayout6.xml"/><Relationship Id="rId13" Type="http://schemas.openxmlformats.org/officeDocument/2006/relationships/tags" Target="../tags/tag78.xml"/><Relationship Id="rId12" Type="http://schemas.openxmlformats.org/officeDocument/2006/relationships/image" Target="../media/image1.png"/><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image" Target="../media/image1.png"/><Relationship Id="rId14" Type="http://schemas.openxmlformats.org/officeDocument/2006/relationships/notesSlide" Target="../notesSlides/notesSlide3.xml"/><Relationship Id="rId13" Type="http://schemas.openxmlformats.org/officeDocument/2006/relationships/slideLayout" Target="../slideLayouts/slideLayout6.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9.xml"/></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image" Target="../media/image1.png"/><Relationship Id="rId1" Type="http://schemas.openxmlformats.org/officeDocument/2006/relationships/tags" Target="../tags/tag90.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6.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image" Target="../media/image1.png"/><Relationship Id="rId1" Type="http://schemas.openxmlformats.org/officeDocument/2006/relationships/tags" Target="../tags/tag96.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6.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image" Target="../media/image1.png"/><Relationship Id="rId1" Type="http://schemas.openxmlformats.org/officeDocument/2006/relationships/tags" Target="../tags/tag102.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6.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image" Target="../media/image1.png"/><Relationship Id="rId1" Type="http://schemas.openxmlformats.org/officeDocument/2006/relationships/tags" Target="../tags/tag107.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6.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image" Target="../media/image1.png"/><Relationship Id="rId1" Type="http://schemas.openxmlformats.org/officeDocument/2006/relationships/tags" Target="../tags/tag11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6.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image" Target="../media/image1.png"/><Relationship Id="rId1" Type="http://schemas.openxmlformats.org/officeDocument/2006/relationships/tags" Target="../tags/tag117.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6.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image" Target="../media/image1.png"/><Relationship Id="rId1" Type="http://schemas.openxmlformats.org/officeDocument/2006/relationships/tags" Target="../tags/tag122.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image" Target="../media/image1.png"/><Relationship Id="rId1" Type="http://schemas.openxmlformats.org/officeDocument/2006/relationships/tags" Target="../tags/tag127.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6.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image" Target="../media/image1.png"/><Relationship Id="rId1" Type="http://schemas.openxmlformats.org/officeDocument/2006/relationships/tags" Target="../tags/tag13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6.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image" Target="../media/image1.png"/><Relationship Id="rId1" Type="http://schemas.openxmlformats.org/officeDocument/2006/relationships/tags" Target="../tags/tag137.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6.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image" Target="../media/image1.png"/><Relationship Id="rId1" Type="http://schemas.openxmlformats.org/officeDocument/2006/relationships/tags" Target="../tags/tag142.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6.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image" Target="../media/image1.png"/><Relationship Id="rId1" Type="http://schemas.openxmlformats.org/officeDocument/2006/relationships/tags" Target="../tags/tag147.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153.xml"/><Relationship Id="rId1" Type="http://schemas.openxmlformats.org/officeDocument/2006/relationships/tags" Target="../tags/tag1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516" y="1361217"/>
            <a:ext cx="12130480" cy="1958975"/>
          </a:xfrm>
          <a:prstGeom prst="rect">
            <a:avLst/>
          </a:prstGeom>
          <a:solidFill>
            <a:srgbClr val="132A8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anchor="ct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rPr>
              <a:t> </a:t>
            </a:r>
            <a:endParaRPr kumimoji="0" lang="zh-CN" altLang="en-US"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endParaRPr>
          </a:p>
        </p:txBody>
      </p:sp>
      <p:grpSp>
        <p:nvGrpSpPr>
          <p:cNvPr id="3076" name="组合 8"/>
          <p:cNvGrpSpPr/>
          <p:nvPr/>
        </p:nvGrpSpPr>
        <p:grpSpPr>
          <a:xfrm>
            <a:off x="93626" y="1484991"/>
            <a:ext cx="11943226" cy="1728385"/>
            <a:chOff x="0" y="1397"/>
            <a:chExt cx="19198" cy="4610"/>
          </a:xfrm>
        </p:grpSpPr>
        <p:sp>
          <p:nvSpPr>
            <p:cNvPr id="3078" name="TextBox 22"/>
            <p:cNvSpPr txBox="1"/>
            <p:nvPr/>
          </p:nvSpPr>
          <p:spPr>
            <a:xfrm>
              <a:off x="4432" y="1785"/>
              <a:ext cx="10432" cy="3790"/>
            </a:xfrm>
            <a:prstGeom prst="rect">
              <a:avLst/>
            </a:prstGeom>
            <a:noFill/>
            <a:ln w="9525">
              <a:noFill/>
            </a:ln>
          </p:spPr>
          <p:txBody>
            <a:bodyPr wrap="square" lIns="68579" tIns="34289" rIns="68579" bIns="34289">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组会汇报</a:t>
              </a:r>
              <a:endParaRPr kumimoji="0" lang="zh-CN" altLang="en-US" sz="8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79" name="直接连接符 10"/>
            <p:cNvCxnSpPr/>
            <p:nvPr/>
          </p:nvCxnSpPr>
          <p:spPr>
            <a:xfrm>
              <a:off x="0" y="6007"/>
              <a:ext cx="19198" cy="0"/>
            </a:xfrm>
            <a:prstGeom prst="line">
              <a:avLst/>
            </a:prstGeom>
            <a:ln w="19050" cap="flat" cmpd="sng">
              <a:solidFill>
                <a:srgbClr val="FFFFFF"/>
              </a:solidFill>
              <a:prstDash val="solid"/>
              <a:headEnd type="none" w="med" len="med"/>
              <a:tailEnd type="none" w="med" len="med"/>
            </a:ln>
          </p:spPr>
        </p:cxnSp>
        <p:cxnSp>
          <p:nvCxnSpPr>
            <p:cNvPr id="3080" name="直接连接符 11"/>
            <p:cNvCxnSpPr/>
            <p:nvPr/>
          </p:nvCxnSpPr>
          <p:spPr>
            <a:xfrm>
              <a:off x="0" y="1397"/>
              <a:ext cx="19198" cy="0"/>
            </a:xfrm>
            <a:prstGeom prst="line">
              <a:avLst/>
            </a:prstGeom>
            <a:ln w="19050" cap="flat" cmpd="sng">
              <a:solidFill>
                <a:srgbClr val="FFFFFF"/>
              </a:solidFill>
              <a:prstDash val="solid"/>
              <a:headEnd type="none" w="med" len="med"/>
              <a:tailEnd type="none" w="med" len="med"/>
            </a:ln>
          </p:spPr>
        </p:cxnSp>
      </p:grpSp>
      <p:sp>
        <p:nvSpPr>
          <p:cNvPr id="2" name="矩形 2"/>
          <p:cNvSpPr/>
          <p:nvPr/>
        </p:nvSpPr>
        <p:spPr>
          <a:xfrm>
            <a:off x="4321983" y="4166543"/>
            <a:ext cx="4079240" cy="1753235"/>
          </a:xfrm>
          <a:prstGeom prst="rect">
            <a:avLst/>
          </a:prstGeom>
          <a:noFill/>
          <a:ln w="9525">
            <a:noFill/>
          </a:ln>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  告  人：</a:t>
            </a:r>
            <a:r>
              <a:rPr lang="zh-CN" altLang="en-US" sz="2400" b="1" dirty="0">
                <a:solidFill>
                  <a:prstClr val="black"/>
                </a:solidFill>
                <a:latin typeface="Times New Roman" panose="02020603050405020304" pitchFamily="18" charset="0"/>
                <a:ea typeface="宋体" panose="02010600030101010101" pitchFamily="2" charset="-122"/>
              </a:rPr>
              <a:t>杜博</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指导老师：朱善良  </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报告日期：</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2025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年 </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4</a:t>
            </a:r>
            <a:r>
              <a:rPr lang="en-US" altLang="zh-CN" sz="2400" b="1" dirty="0">
                <a:solidFill>
                  <a:prstClr val="black"/>
                </a:solidFill>
                <a:latin typeface="Times New Roman" panose="02020603050405020304" pitchFamily="18" charset="0"/>
                <a:ea typeface="宋体" panose="02010600030101010101" pitchFamily="2" charset="-122"/>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月</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17</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日</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advTm="6483">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pic>
        <p:nvPicPr>
          <p:cNvPr id="5" name="图片 4"/>
          <p:cNvPicPr>
            <a:picLocks noChangeAspect="1"/>
          </p:cNvPicPr>
          <p:nvPr/>
        </p:nvPicPr>
        <p:blipFill>
          <a:blip r:embed="rId4"/>
          <a:stretch>
            <a:fillRect/>
          </a:stretch>
        </p:blipFill>
        <p:spPr>
          <a:xfrm>
            <a:off x="381000" y="84178"/>
            <a:ext cx="10287000" cy="6689643"/>
          </a:xfrm>
          <a:prstGeom prst="rect">
            <a:avLst/>
          </a:prstGeom>
        </p:spPr>
      </p:pic>
    </p:spTree>
  </p:cSld>
  <p:clrMapOvr>
    <a:masterClrMapping/>
  </p:clrMapOvr>
  <p:transition spd="slow" advTm="14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1.1 摘要</a:t>
            </a:r>
            <a:endParaRPr lang="zh-CN" altLang="en-US"/>
          </a:p>
        </p:txBody>
      </p:sp>
      <p:sp>
        <p:nvSpPr>
          <p:cNvPr id="6" name="圆角矩形 3"/>
          <p:cNvSpPr/>
          <p:nvPr>
            <p:custDataLst>
              <p:tags r:id="rId2"/>
            </p:custDataLst>
          </p:nvPr>
        </p:nvSpPr>
        <p:spPr>
          <a:xfrm>
            <a:off x="787812" y="1743786"/>
            <a:ext cx="3325108" cy="424413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5" name="圆角矩形 3"/>
          <p:cNvSpPr/>
          <p:nvPr>
            <p:custDataLst>
              <p:tags r:id="rId3"/>
            </p:custDataLst>
          </p:nvPr>
        </p:nvSpPr>
        <p:spPr>
          <a:xfrm>
            <a:off x="658337" y="1628274"/>
            <a:ext cx="3352399" cy="4264440"/>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88290" tIns="252095" rIns="288290" bIns="698500" numCol="1" spcCol="0" rtlCol="0" fromWordArt="0" anchor="t" anchorCtr="0" forceAA="0" compatLnSpc="1">
            <a:noAutofit/>
          </a:bodyPr>
          <a:p>
            <a:pPr lvl="0" algn="l">
              <a:lnSpc>
                <a:spcPct val="140000"/>
              </a:lnSpc>
              <a:buClrTx/>
              <a:buSzTx/>
              <a:buFontTx/>
            </a:pPr>
            <a:r>
              <a:rPr lang="zh-CN" altLang="zh-CN" sz="1600" dirty="0">
                <a:solidFill>
                  <a:schemeClr val="tx1">
                    <a:lumMod val="85000"/>
                    <a:lumOff val="15000"/>
                  </a:schemeClr>
                </a:solidFill>
                <a:latin typeface="+mn-ea"/>
                <a:cs typeface="+mn-ea"/>
                <a:sym typeface="+mn-ea"/>
              </a:rPr>
              <a:t>治疗性抗体的优化是一项耗时且资源密集的任务,主要是因为在哺乳动物细胞中表达的全长抗体的低通量筛选通常只能产生少数优化的候选者。</a:t>
            </a:r>
            <a:endParaRPr lang="zh-CN" altLang="zh-CN" sz="1600" dirty="0">
              <a:solidFill>
                <a:schemeClr val="tx1">
                  <a:lumMod val="85000"/>
                  <a:lumOff val="15000"/>
                </a:schemeClr>
              </a:solidFill>
              <a:latin typeface="+mn-ea"/>
              <a:cs typeface="+mn-ea"/>
              <a:sym typeface="+mn-ea"/>
            </a:endParaRPr>
          </a:p>
        </p:txBody>
      </p:sp>
      <p:sp>
        <p:nvSpPr>
          <p:cNvPr id="3" name="圆角矩形 16"/>
          <p:cNvSpPr/>
          <p:nvPr>
            <p:custDataLst>
              <p:tags r:id="rId4"/>
            </p:custDataLst>
          </p:nvPr>
        </p:nvSpPr>
        <p:spPr>
          <a:xfrm>
            <a:off x="872225" y="5212967"/>
            <a:ext cx="490610" cy="493149"/>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buClrTx/>
              <a:buSzTx/>
              <a:buFontTx/>
            </a:pPr>
            <a:r>
              <a:rPr lang="en-US" altLang="zh-CN" sz="1400" b="1">
                <a:solidFill>
                  <a:srgbClr val="FFFFFF"/>
                </a:solidFill>
                <a:latin typeface="+mn-ea"/>
                <a:cs typeface="+mn-ea"/>
                <a:sym typeface="+mn-ea"/>
              </a:rPr>
              <a:t>01</a:t>
            </a:r>
            <a:endParaRPr lang="en-US" altLang="zh-CN" sz="1400" b="1">
              <a:solidFill>
                <a:srgbClr val="FFFFFF"/>
              </a:solidFill>
              <a:latin typeface="+mn-ea"/>
              <a:cs typeface="+mn-ea"/>
              <a:sym typeface="+mn-ea"/>
            </a:endParaRPr>
          </a:p>
        </p:txBody>
      </p:sp>
      <p:sp>
        <p:nvSpPr>
          <p:cNvPr id="48" name="圆角矩形 3"/>
          <p:cNvSpPr/>
          <p:nvPr>
            <p:custDataLst>
              <p:tags r:id="rId5"/>
            </p:custDataLst>
          </p:nvPr>
        </p:nvSpPr>
        <p:spPr>
          <a:xfrm>
            <a:off x="4482940" y="1743786"/>
            <a:ext cx="3325108" cy="424413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useBgFill="1">
        <p:nvSpPr>
          <p:cNvPr id="49" name="圆角矩形 3"/>
          <p:cNvSpPr/>
          <p:nvPr>
            <p:custDataLst>
              <p:tags r:id="rId6"/>
            </p:custDataLst>
          </p:nvPr>
        </p:nvSpPr>
        <p:spPr>
          <a:xfrm>
            <a:off x="4353465" y="1628274"/>
            <a:ext cx="3352399" cy="4264440"/>
          </a:xfrm>
          <a:prstGeom prst="roundRect">
            <a:avLst>
              <a:gd name="adj" fmla="val 6621"/>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88290" tIns="252095" rIns="288290" bIns="698500" numCol="1" spcCol="0" rtlCol="0" fromWordArt="0" anchor="t" anchorCtr="0" forceAA="0" compatLnSpc="1">
            <a:noAutofit/>
          </a:bodyPr>
          <a:p>
            <a:pPr lvl="0" algn="l">
              <a:lnSpc>
                <a:spcPct val="140000"/>
              </a:lnSpc>
              <a:buClrTx/>
              <a:buSzTx/>
              <a:buFontTx/>
            </a:pPr>
            <a:r>
              <a:rPr lang="zh-CN" altLang="en-US" sz="1600" dirty="0">
                <a:solidFill>
                  <a:schemeClr val="tx1">
                    <a:lumMod val="85000"/>
                    <a:lumOff val="15000"/>
                  </a:schemeClr>
                </a:solidFill>
                <a:sym typeface="+mn-ea"/>
              </a:rPr>
              <a:t>文献展示了一种通过预测抗原特异性来识别优化抗体变体的方法,该方法利用了深度学习技术。</a:t>
            </a:r>
            <a:endParaRPr lang="zh-CN" altLang="en-US" sz="1600" dirty="0">
              <a:solidFill>
                <a:schemeClr val="tx1">
                  <a:lumMod val="85000"/>
                  <a:lumOff val="15000"/>
                </a:schemeClr>
              </a:solidFill>
              <a:sym typeface="+mn-ea"/>
            </a:endParaRPr>
          </a:p>
        </p:txBody>
      </p:sp>
      <p:sp>
        <p:nvSpPr>
          <p:cNvPr id="50" name="圆角矩形 16"/>
          <p:cNvSpPr/>
          <p:nvPr>
            <p:custDataLst>
              <p:tags r:id="rId7"/>
            </p:custDataLst>
          </p:nvPr>
        </p:nvSpPr>
        <p:spPr>
          <a:xfrm>
            <a:off x="4567353" y="5212967"/>
            <a:ext cx="490610" cy="493149"/>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buClrTx/>
              <a:buSzTx/>
              <a:buFontTx/>
            </a:pPr>
            <a:r>
              <a:rPr lang="en-US" altLang="zh-CN" sz="1400" b="1">
                <a:solidFill>
                  <a:srgbClr val="FFFFFF"/>
                </a:solidFill>
                <a:latin typeface="+mn-ea"/>
                <a:cs typeface="+mn-ea"/>
                <a:sym typeface="+mn-ea"/>
              </a:rPr>
              <a:t>02</a:t>
            </a:r>
            <a:endParaRPr lang="en-US" altLang="zh-CN" sz="1400" b="1">
              <a:solidFill>
                <a:srgbClr val="FFFFFF"/>
              </a:solidFill>
              <a:latin typeface="+mn-ea"/>
              <a:cs typeface="+mn-ea"/>
              <a:sym typeface="+mn-ea"/>
            </a:endParaRPr>
          </a:p>
        </p:txBody>
      </p:sp>
      <p:sp>
        <p:nvSpPr>
          <p:cNvPr id="52" name="圆角矩形 3"/>
          <p:cNvSpPr/>
          <p:nvPr>
            <p:custDataLst>
              <p:tags r:id="rId8"/>
            </p:custDataLst>
          </p:nvPr>
        </p:nvSpPr>
        <p:spPr>
          <a:xfrm>
            <a:off x="8164740" y="1743786"/>
            <a:ext cx="3325108" cy="424413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useBgFill="1">
        <p:nvSpPr>
          <p:cNvPr id="53" name="圆角矩形 3"/>
          <p:cNvSpPr/>
          <p:nvPr>
            <p:custDataLst>
              <p:tags r:id="rId9"/>
            </p:custDataLst>
          </p:nvPr>
        </p:nvSpPr>
        <p:spPr>
          <a:xfrm>
            <a:off x="8035265" y="1628274"/>
            <a:ext cx="3352399" cy="4264440"/>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88290" tIns="252095" rIns="288290" bIns="698500" numCol="1" spcCol="0" rtlCol="0" fromWordArt="0" anchor="t" anchorCtr="0" forceAA="0" compatLnSpc="1">
            <a:noAutofit/>
          </a:bodyPr>
          <a:p>
            <a:pPr lvl="0" algn="l">
              <a:lnSpc>
                <a:spcPct val="140000"/>
              </a:lnSpc>
              <a:buClrTx/>
              <a:buSzTx/>
              <a:buFontTx/>
            </a:pPr>
            <a:r>
              <a:rPr lang="zh-CN" altLang="en-US" sz="1600" dirty="0">
                <a:solidFill>
                  <a:schemeClr val="tx1">
                    <a:lumMod val="85000"/>
                    <a:lumOff val="15000"/>
                  </a:schemeClr>
                </a:solidFill>
                <a:sym typeface="+mn-ea"/>
              </a:rPr>
              <a:t>作者开发了一种深度学习模型,经过训练后能够从抗体序列中预测抗原特异性。最后验证了该方法在优化治疗性抗体方面的有效性,特别是在提高抗体的亲和力和特异性方面。</a:t>
            </a:r>
            <a:endParaRPr lang="zh-CN" altLang="en-US" sz="1600" dirty="0">
              <a:solidFill>
                <a:schemeClr val="tx1">
                  <a:lumMod val="85000"/>
                  <a:lumOff val="15000"/>
                </a:schemeClr>
              </a:solidFill>
              <a:sym typeface="+mn-ea"/>
            </a:endParaRPr>
          </a:p>
        </p:txBody>
      </p:sp>
      <p:sp>
        <p:nvSpPr>
          <p:cNvPr id="54" name="圆角矩形 16"/>
          <p:cNvSpPr/>
          <p:nvPr>
            <p:custDataLst>
              <p:tags r:id="rId10"/>
            </p:custDataLst>
          </p:nvPr>
        </p:nvSpPr>
        <p:spPr>
          <a:xfrm>
            <a:off x="8249153" y="5212967"/>
            <a:ext cx="490610" cy="493149"/>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p>
            <a:pPr lvl="0" algn="ctr">
              <a:buClrTx/>
              <a:buSzTx/>
              <a:buFontTx/>
            </a:pPr>
            <a:r>
              <a:rPr lang="en-US" altLang="zh-CN" sz="1400" b="1">
                <a:solidFill>
                  <a:srgbClr val="FFFFFF"/>
                </a:solidFill>
                <a:latin typeface="+mn-ea"/>
                <a:cs typeface="+mn-ea"/>
                <a:sym typeface="+mn-ea"/>
              </a:rPr>
              <a:t>03</a:t>
            </a:r>
            <a:endParaRPr lang="en-US" altLang="zh-CN" sz="1400" b="1">
              <a:solidFill>
                <a:srgbClr val="FFFFFF"/>
              </a:solidFill>
              <a:latin typeface="+mn-ea"/>
              <a:cs typeface="+mn-ea"/>
              <a:sym typeface="+mn-ea"/>
            </a:endParaRPr>
          </a:p>
        </p:txBody>
      </p:sp>
      <p:pic>
        <p:nvPicPr>
          <p:cNvPr id="9" name="图片 7" descr="8AAHHGN15TD8ZQ7H5V$9JNL.png"/>
          <p:cNvPicPr>
            <a:picLocks noChangeAspect="1"/>
          </p:cNvPicPr>
          <p:nvPr>
            <p:custDataLst>
              <p:tags r:id="rId11"/>
            </p:custDataLst>
          </p:nvPr>
        </p:nvPicPr>
        <p:blipFill>
          <a:blip r:embed="rId12"/>
          <a:stretch>
            <a:fillRect/>
          </a:stretch>
        </p:blipFill>
        <p:spPr>
          <a:xfrm>
            <a:off x="11203807" y="-1269"/>
            <a:ext cx="879039" cy="988485"/>
          </a:xfrm>
          <a:prstGeom prst="rect">
            <a:avLst/>
          </a:prstGeom>
          <a:noFill/>
          <a:ln w="9525">
            <a:noFill/>
          </a:ln>
        </p:spPr>
      </p:pic>
    </p:spTree>
    <p:custDataLst>
      <p:tags r:id="rId1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51" name="标题 50"/>
          <p:cNvSpPr>
            <a:spLocks noGrp="1"/>
          </p:cNvSpPr>
          <p:nvPr>
            <p:ph type="title"/>
            <p:custDataLst>
              <p:tags r:id="rId3"/>
            </p:custDataLst>
          </p:nvPr>
        </p:nvSpPr>
        <p:spPr/>
        <p:txBody>
          <a:bodyPr/>
          <a:lstStyle/>
          <a:p>
            <a:r>
              <a:rPr lang="zh-CN" altLang="en-US"/>
              <a:t>1.2 流程梳理</a:t>
            </a:r>
            <a:endParaRPr lang="zh-CN" altLang="en-US"/>
          </a:p>
        </p:txBody>
      </p:sp>
      <p:sp>
        <p:nvSpPr>
          <p:cNvPr id="2" name="圆角矩形 43"/>
          <p:cNvSpPr/>
          <p:nvPr>
            <p:custDataLst>
              <p:tags r:id="rId4"/>
            </p:custDataLst>
          </p:nvPr>
        </p:nvSpPr>
        <p:spPr>
          <a:xfrm>
            <a:off x="695960" y="1466891"/>
            <a:ext cx="10800715" cy="1069466"/>
          </a:xfrm>
          <a:prstGeom prst="roundRect">
            <a:avLst>
              <a:gd name="adj" fmla="val 2203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zh-CN" altLang="en-US" sz="1600" dirty="0">
                <a:solidFill>
                  <a:schemeClr val="tx1">
                    <a:lumMod val="85000"/>
                    <a:lumOff val="15000"/>
                  </a:schemeClr>
                </a:solidFill>
                <a:sym typeface="+mn-ea"/>
              </a:rPr>
              <a:t>突变库生成与筛选:通过高密度突变技术生成抗体变体库,并通过流式细胞术筛选出与抗原结合或不结合的抗体序列。</a:t>
            </a:r>
            <a:endParaRPr lang="zh-CN" altLang="en-US" sz="1600" dirty="0">
              <a:solidFill>
                <a:schemeClr val="tx1">
                  <a:lumMod val="85000"/>
                  <a:lumOff val="15000"/>
                </a:schemeClr>
              </a:solidFill>
              <a:sym typeface="+mn-ea"/>
            </a:endParaRPr>
          </a:p>
        </p:txBody>
      </p:sp>
      <p:sp>
        <p:nvSpPr>
          <p:cNvPr id="3" name="椭圆 44"/>
          <p:cNvSpPr>
            <a:spLocks noChangeAspect="1"/>
          </p:cNvSpPr>
          <p:nvPr>
            <p:custDataLst>
              <p:tags r:id="rId5"/>
            </p:custDataLst>
          </p:nvPr>
        </p:nvSpPr>
        <p:spPr>
          <a:xfrm>
            <a:off x="1020483" y="1783158"/>
            <a:ext cx="436931" cy="436931"/>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1</a:t>
            </a:r>
            <a:endParaRPr lang="en-US" altLang="zh-CN" dirty="0">
              <a:solidFill>
                <a:srgbClr val="FFFFFF"/>
              </a:solidFill>
              <a:sym typeface="+mn-ea"/>
            </a:endParaRPr>
          </a:p>
        </p:txBody>
      </p:sp>
      <p:sp>
        <p:nvSpPr>
          <p:cNvPr id="5" name="圆角矩形 46"/>
          <p:cNvSpPr/>
          <p:nvPr>
            <p:custDataLst>
              <p:tags r:id="rId6"/>
            </p:custDataLst>
          </p:nvPr>
        </p:nvSpPr>
        <p:spPr>
          <a:xfrm>
            <a:off x="695960" y="2678613"/>
            <a:ext cx="10800715" cy="1069466"/>
          </a:xfrm>
          <a:prstGeom prst="roundRect">
            <a:avLst>
              <a:gd name="adj" fmla="val 2203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zh-CN" altLang="en-US" sz="1600" dirty="0">
                <a:solidFill>
                  <a:schemeClr val="tx1">
                    <a:lumMod val="85000"/>
                    <a:lumOff val="15000"/>
                  </a:schemeClr>
                </a:solidFill>
                <a:sym typeface="+mn-ea"/>
              </a:rPr>
              <a:t>数据预处理:对测序数据进行清洗和格式化,准备用于机器学习。</a:t>
            </a:r>
            <a:endParaRPr lang="zh-CN" altLang="en-US" sz="1600" dirty="0">
              <a:solidFill>
                <a:schemeClr val="tx1">
                  <a:lumMod val="85000"/>
                  <a:lumOff val="15000"/>
                </a:schemeClr>
              </a:solidFill>
              <a:sym typeface="+mn-ea"/>
            </a:endParaRPr>
          </a:p>
        </p:txBody>
      </p:sp>
      <p:sp>
        <p:nvSpPr>
          <p:cNvPr id="6" name="椭圆 47"/>
          <p:cNvSpPr>
            <a:spLocks noChangeAspect="1"/>
          </p:cNvSpPr>
          <p:nvPr>
            <p:custDataLst>
              <p:tags r:id="rId7"/>
            </p:custDataLst>
          </p:nvPr>
        </p:nvSpPr>
        <p:spPr>
          <a:xfrm>
            <a:off x="1020483" y="2994881"/>
            <a:ext cx="436931" cy="436931"/>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2</a:t>
            </a:r>
            <a:endParaRPr lang="en-US" altLang="zh-CN" dirty="0">
              <a:solidFill>
                <a:srgbClr val="FFFFFF"/>
              </a:solidFill>
              <a:sym typeface="+mn-ea"/>
            </a:endParaRPr>
          </a:p>
        </p:txBody>
      </p:sp>
      <p:sp>
        <p:nvSpPr>
          <p:cNvPr id="7" name="圆角矩形 49"/>
          <p:cNvSpPr/>
          <p:nvPr>
            <p:custDataLst>
              <p:tags r:id="rId8"/>
            </p:custDataLst>
          </p:nvPr>
        </p:nvSpPr>
        <p:spPr>
          <a:xfrm>
            <a:off x="695960" y="3890336"/>
            <a:ext cx="10800715" cy="1069466"/>
          </a:xfrm>
          <a:prstGeom prst="roundRect">
            <a:avLst>
              <a:gd name="adj" fmla="val 2203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zh-CN" altLang="en-US" sz="1600" dirty="0">
                <a:solidFill>
                  <a:schemeClr val="tx1">
                    <a:lumMod val="85000"/>
                    <a:lumOff val="15000"/>
                  </a:schemeClr>
                </a:solidFill>
                <a:sym typeface="+mn-ea"/>
              </a:rPr>
              <a:t>机器学习模型训练:使用卷积神经网络(CNN)等模型预测抗原特异性。</a:t>
            </a:r>
            <a:endParaRPr lang="zh-CN" altLang="en-US" sz="1600" dirty="0">
              <a:solidFill>
                <a:schemeClr val="tx1">
                  <a:lumMod val="85000"/>
                  <a:lumOff val="15000"/>
                </a:schemeClr>
              </a:solidFill>
              <a:sym typeface="+mn-ea"/>
            </a:endParaRPr>
          </a:p>
        </p:txBody>
      </p:sp>
      <p:sp>
        <p:nvSpPr>
          <p:cNvPr id="8" name="椭圆 51"/>
          <p:cNvSpPr>
            <a:spLocks noChangeAspect="1"/>
          </p:cNvSpPr>
          <p:nvPr>
            <p:custDataLst>
              <p:tags r:id="rId9"/>
            </p:custDataLst>
          </p:nvPr>
        </p:nvSpPr>
        <p:spPr>
          <a:xfrm>
            <a:off x="1020483" y="4206603"/>
            <a:ext cx="436931" cy="436931"/>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3</a:t>
            </a:r>
            <a:endParaRPr lang="en-US" altLang="zh-CN" dirty="0">
              <a:solidFill>
                <a:srgbClr val="FFFFFF"/>
              </a:solidFill>
              <a:sym typeface="+mn-ea"/>
            </a:endParaRPr>
          </a:p>
        </p:txBody>
      </p:sp>
      <p:sp>
        <p:nvSpPr>
          <p:cNvPr id="54" name="圆角矩形 53"/>
          <p:cNvSpPr/>
          <p:nvPr>
            <p:custDataLst>
              <p:tags r:id="rId10"/>
            </p:custDataLst>
          </p:nvPr>
        </p:nvSpPr>
        <p:spPr>
          <a:xfrm>
            <a:off x="695960" y="5102058"/>
            <a:ext cx="10800715" cy="1069466"/>
          </a:xfrm>
          <a:prstGeom prst="roundRect">
            <a:avLst>
              <a:gd name="adj" fmla="val 2203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zh-CN" altLang="en-US" sz="1600" dirty="0">
                <a:solidFill>
                  <a:schemeClr val="tx1">
                    <a:lumMod val="85000"/>
                    <a:lumOff val="15000"/>
                  </a:schemeClr>
                </a:solidFill>
                <a:sym typeface="+mn-ea"/>
              </a:rPr>
              <a:t>虚拟变体预测与验证:利用训练好的模型预测新变体的结合能力,并通过实验验证。</a:t>
            </a:r>
            <a:endParaRPr lang="zh-CN" altLang="en-US" sz="1600" dirty="0">
              <a:solidFill>
                <a:schemeClr val="tx1">
                  <a:lumMod val="85000"/>
                  <a:lumOff val="15000"/>
                </a:schemeClr>
              </a:solidFill>
              <a:sym typeface="+mn-ea"/>
            </a:endParaRPr>
          </a:p>
        </p:txBody>
      </p:sp>
      <p:sp>
        <p:nvSpPr>
          <p:cNvPr id="55" name="椭圆 54"/>
          <p:cNvSpPr>
            <a:spLocks noChangeAspect="1"/>
          </p:cNvSpPr>
          <p:nvPr>
            <p:custDataLst>
              <p:tags r:id="rId11"/>
            </p:custDataLst>
          </p:nvPr>
        </p:nvSpPr>
        <p:spPr>
          <a:xfrm>
            <a:off x="1020483" y="5418326"/>
            <a:ext cx="436931" cy="436931"/>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4</a:t>
            </a:r>
            <a:endParaRPr lang="en-US" altLang="zh-CN" dirty="0">
              <a:solidFill>
                <a:srgbClr val="FFFFFF"/>
              </a:solidFill>
              <a:sym typeface="+mn-ea"/>
            </a:endParaRPr>
          </a:p>
        </p:txBody>
      </p:sp>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lstStyle/>
          <a:p>
            <a:r>
              <a:rPr lang="zh-CN" altLang="en-US"/>
              <a:t>2.1 突变库设计</a:t>
            </a:r>
            <a:endParaRPr lang="zh-CN" altLang="en-US"/>
          </a:p>
        </p:txBody>
      </p:sp>
      <p:sp>
        <p:nvSpPr>
          <p:cNvPr id="16" name="矩形 15"/>
          <p:cNvSpPr/>
          <p:nvPr>
            <p:custDataLst>
              <p:tags r:id="rId4"/>
            </p:custDataLst>
          </p:nvPr>
        </p:nvSpPr>
        <p:spPr>
          <a:xfrm>
            <a:off x="844550" y="1828800"/>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83285" y="1828800"/>
            <a:ext cx="10574020" cy="42005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0" name="文本框 9"/>
          <p:cNvSpPr txBox="1"/>
          <p:nvPr>
            <p:custDataLst>
              <p:tags r:id="rId6"/>
            </p:custDataLst>
          </p:nvPr>
        </p:nvSpPr>
        <p:spPr>
          <a:xfrm>
            <a:off x="1319530" y="2056765"/>
            <a:ext cx="9402445" cy="3562985"/>
          </a:xfrm>
          <a:prstGeom prst="rect">
            <a:avLst/>
          </a:prstGeom>
          <a:noFill/>
        </p:spPr>
        <p:txBody>
          <a:bodyPr wrap="square" rtlCol="0">
            <a:normAutofit/>
          </a:bodyPr>
          <a:lstStyle/>
          <a:p>
            <a:pPr marL="0" lvl="0" indent="0" algn="just" fontAlgn="auto">
              <a:lnSpc>
                <a:spcPct val="150000"/>
              </a:lnSpc>
              <a:buNone/>
            </a:pPr>
            <a:r>
              <a:rPr lang="zh-CN" altLang="en-US" sz="1600" kern="0" dirty="0">
                <a:uFillTx/>
                <a:latin typeface="微软雅黑" panose="020B0503020204020204" charset="-122"/>
                <a:cs typeface="+mn-ea"/>
                <a:sym typeface="+mn-ea"/>
              </a:rPr>
              <a:t>实验的第一步是生成一个突变库，目标是 </a:t>
            </a:r>
            <a:r>
              <a:rPr lang="zh-CN" altLang="en-US" sz="1600" kern="0" dirty="0">
                <a:solidFill>
                  <a:srgbClr val="FF0000"/>
                </a:solidFill>
                <a:uFillTx/>
                <a:latin typeface="微软雅黑" panose="020B0503020204020204" charset="-122"/>
                <a:cs typeface="+mn-ea"/>
                <a:sym typeface="+mn-ea"/>
              </a:rPr>
              <a:t>trastuzumab 的</a:t>
            </a:r>
            <a:r>
              <a:rPr lang="zh-CN" altLang="en-US" sz="1600" b="1" kern="0" dirty="0">
                <a:solidFill>
                  <a:srgbClr val="FF0000"/>
                </a:solidFill>
                <a:uFillTx/>
                <a:latin typeface="微软雅黑" panose="020B0503020204020204" charset="-122"/>
                <a:cs typeface="+mn-ea"/>
                <a:sym typeface="+mn-ea"/>
              </a:rPr>
              <a:t> CDRH3 区域</a:t>
            </a:r>
            <a:r>
              <a:rPr lang="zh-CN" altLang="en-US" sz="1600" kern="0" dirty="0">
                <a:uFillTx/>
                <a:latin typeface="微软雅黑" panose="020B0503020204020204" charset="-122"/>
                <a:cs typeface="+mn-ea"/>
                <a:sym typeface="+mn-ea"/>
              </a:rPr>
              <a:t>(重链互补决定区 3)，这是抗体与抗原结合的关键区域。论文使用了 </a:t>
            </a:r>
            <a:r>
              <a:rPr lang="zh-CN" altLang="en-US" sz="1600" b="1" kern="0" dirty="0">
                <a:solidFill>
                  <a:srgbClr val="FF0000"/>
                </a:solidFill>
                <a:uFillTx/>
                <a:latin typeface="微软雅黑" panose="020B0503020204020204" charset="-122"/>
                <a:cs typeface="+mn-ea"/>
                <a:sym typeface="+mn-ea"/>
              </a:rPr>
              <a:t>高密度突变</a:t>
            </a:r>
            <a:r>
              <a:rPr lang="zh-CN" altLang="en-US" sz="1600" kern="0" dirty="0">
                <a:uFillTx/>
                <a:latin typeface="微软雅黑" panose="020B0503020204020204" charset="-122"/>
                <a:cs typeface="+mn-ea"/>
                <a:sym typeface="+mn-ea"/>
              </a:rPr>
              <a:t>(High-Density Mutagenesis, HDM) 技术，系统地在 CDRH3 区域引入单点突变。理论上，这种方法会覆盖该区域内每个氨基酸位置的所有可能替换(20 种氨基酸)，生成一个包含大量变体的突变库。</a:t>
            </a:r>
            <a:endParaRPr lang="zh-CN" altLang="en-US" sz="1600" kern="0" dirty="0">
              <a:uFillTx/>
              <a:latin typeface="微软雅黑" panose="020B0503020204020204" charset="-122"/>
              <a:cs typeface="+mn-ea"/>
              <a:sym typeface="+mn-ea"/>
            </a:endParaRPr>
          </a:p>
          <a:p>
            <a:pPr marL="0" lvl="0" indent="0" algn="just" fontAlgn="auto">
              <a:lnSpc>
                <a:spcPct val="150000"/>
              </a:lnSpc>
              <a:buNone/>
            </a:pPr>
            <a:endParaRPr lang="zh-CN" altLang="en-US" sz="1600" kern="0" dirty="0">
              <a:uFillTx/>
              <a:latin typeface="微软雅黑" panose="020B0503020204020204" charset="-122"/>
              <a:cs typeface="+mn-ea"/>
              <a:sym typeface="+mn-ea"/>
            </a:endParaRPr>
          </a:p>
          <a:p>
            <a:pPr marL="0" lvl="0" indent="0" algn="just" fontAlgn="auto">
              <a:lnSpc>
                <a:spcPct val="150000"/>
              </a:lnSpc>
              <a:buNone/>
            </a:pPr>
            <a:r>
              <a:rPr lang="zh-CN" altLang="en-US" sz="1600" kern="0" dirty="0">
                <a:uFillTx/>
                <a:latin typeface="微软雅黑" panose="020B0503020204020204" charset="-122"/>
                <a:cs typeface="+mn-ea"/>
                <a:sym typeface="+mn-ea"/>
              </a:rPr>
              <a:t>为什么选择 CDRH3?</a:t>
            </a:r>
            <a:endParaRPr lang="zh-CN" altLang="en-US" sz="1600" kern="0" dirty="0">
              <a:uFillTx/>
              <a:latin typeface="微软雅黑" panose="020B0503020204020204" charset="-122"/>
              <a:cs typeface="+mn-ea"/>
              <a:sym typeface="+mn-ea"/>
            </a:endParaRPr>
          </a:p>
          <a:p>
            <a:pPr marL="0" lvl="0" indent="0" algn="just" fontAlgn="auto">
              <a:lnSpc>
                <a:spcPct val="150000"/>
              </a:lnSpc>
              <a:buNone/>
            </a:pPr>
            <a:r>
              <a:rPr lang="zh-CN" altLang="en-US" sz="1600" kern="0" dirty="0">
                <a:uFillTx/>
                <a:latin typeface="微软雅黑" panose="020B0503020204020204" charset="-122"/>
                <a:cs typeface="+mn-ea"/>
                <a:sym typeface="+mn-ea"/>
              </a:rPr>
              <a:t>CDRH3 是抗体与抗原相互作用的核心区域,其序列变化直接影响抗原结合能力。通过系统性突变，可以探索序列空间，找到潜在的优化变体。</a:t>
            </a:r>
            <a:endParaRPr lang="zh-CN" altLang="en-US" sz="1600" kern="0" dirty="0">
              <a:uFillTx/>
              <a:latin typeface="微软雅黑" panose="020B0503020204020204" charset="-122"/>
              <a:cs typeface="+mn-ea"/>
              <a:sym typeface="+mn-ea"/>
            </a:endParaRPr>
          </a:p>
        </p:txBody>
      </p:sp>
    </p:spTree>
    <p:custDataLst>
      <p:tags r:id="rId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lstStyle/>
          <a:p>
            <a:r>
              <a:rPr lang="zh-CN" altLang="en-US"/>
              <a:t>2.</a:t>
            </a:r>
            <a:r>
              <a:rPr lang="en-US" altLang="zh-CN"/>
              <a:t>2</a:t>
            </a:r>
            <a:r>
              <a:rPr lang="zh-CN" altLang="en-US"/>
              <a:t> </a:t>
            </a:r>
            <a:r>
              <a:rPr lang="zh-CN" altLang="en-US">
                <a:sym typeface="+mn-ea"/>
              </a:rPr>
              <a:t>细胞表达与筛选</a:t>
            </a:r>
            <a:endParaRPr lang="zh-CN" altLang="en-US"/>
          </a:p>
        </p:txBody>
      </p:sp>
      <p:sp>
        <p:nvSpPr>
          <p:cNvPr id="16" name="矩形 15"/>
          <p:cNvSpPr/>
          <p:nvPr>
            <p:custDataLst>
              <p:tags r:id="rId4"/>
            </p:custDataLst>
          </p:nvPr>
        </p:nvSpPr>
        <p:spPr>
          <a:xfrm>
            <a:off x="643255" y="158940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643255" y="1676400"/>
            <a:ext cx="10574020" cy="42005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4" name="文本框 3"/>
          <p:cNvSpPr txBox="1"/>
          <p:nvPr>
            <p:custDataLst>
              <p:tags r:id="rId6"/>
            </p:custDataLst>
          </p:nvPr>
        </p:nvSpPr>
        <p:spPr>
          <a:xfrm>
            <a:off x="943610" y="1890395"/>
            <a:ext cx="9973945" cy="3547110"/>
          </a:xfrm>
          <a:prstGeom prst="rect">
            <a:avLst/>
          </a:prstGeom>
          <a:noFill/>
        </p:spPr>
        <p:txBody>
          <a:bodyPr wrap="square" rtlCol="0" anchor="ctr" anchorCtr="0">
            <a:normAutofit fontScale="90000" lnSpcReduction="10000"/>
          </a:bodyPr>
          <a:p>
            <a:pPr marL="0" lvl="0" indent="0" fontAlgn="auto">
              <a:lnSpc>
                <a:spcPct val="150000"/>
              </a:lnSpc>
            </a:pPr>
            <a:r>
              <a:rPr lang="zh-CN" altLang="en-US" sz="1600" kern="0" dirty="0">
                <a:ln>
                  <a:noFill/>
                  <a:prstDash val="sysDot"/>
                </a:ln>
                <a:solidFill>
                  <a:schemeClr val="tx1">
                    <a:lumMod val="85000"/>
                    <a:lumOff val="15000"/>
                  </a:schemeClr>
                </a:solidFill>
                <a:latin typeface="+mn-ea"/>
                <a:sym typeface="+mn-ea"/>
              </a:rPr>
              <a:t>突变库通过载体(如质粒)导入哺乳动物细胞，每个细胞表达一个独特的抗体变体。接下来，通过流式细胞术(Flow Cytometry) 进行筛选,分成以下几个群体:</a:t>
            </a:r>
            <a:endParaRPr lang="zh-CN" altLang="en-US" sz="1600" kern="0" dirty="0">
              <a:ln>
                <a:noFill/>
                <a:prstDash val="sysDot"/>
              </a:ln>
              <a:solidFill>
                <a:schemeClr val="tx1">
                  <a:lumMod val="85000"/>
                  <a:lumOff val="15000"/>
                </a:schemeClr>
              </a:solidFill>
              <a:latin typeface="+mn-ea"/>
              <a:sym typeface="+mn-ea"/>
            </a:endParaRPr>
          </a:p>
          <a:p>
            <a:pPr marL="0" lvl="0" indent="0" fontAlgn="auto">
              <a:lnSpc>
                <a:spcPct val="150000"/>
              </a:lnSpc>
            </a:pPr>
            <a:r>
              <a:rPr lang="zh-CN" altLang="en-US" sz="1600" b="1" kern="0" dirty="0">
                <a:ln>
                  <a:noFill/>
                  <a:prstDash val="sysDot"/>
                </a:ln>
                <a:solidFill>
                  <a:srgbClr val="FF0000"/>
                </a:solidFill>
                <a:latin typeface="+mn-ea"/>
                <a:sym typeface="+mn-ea"/>
              </a:rPr>
              <a:t>Ab+</a:t>
            </a:r>
            <a:r>
              <a:rPr lang="zh-CN" altLang="en-US" sz="1600" kern="0" dirty="0">
                <a:ln>
                  <a:noFill/>
                  <a:prstDash val="sysDot"/>
                </a:ln>
                <a:solidFill>
                  <a:schemeClr val="tx1">
                    <a:lumMod val="85000"/>
                    <a:lumOff val="15000"/>
                  </a:schemeClr>
                </a:solidFill>
                <a:latin typeface="+mn-ea"/>
                <a:sym typeface="+mn-ea"/>
              </a:rPr>
              <a:t> 筛选(抗体表达群体):</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使用荧光标记的抗体特异性染料,分离出成功表达抗体的细胞(记为 Ab+)。</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Ab+ 群体包含所有表达出来的抗体序列,无论是否能结合抗原。这些序列数据存储在 _Ab.txt 文件中。</a:t>
            </a:r>
            <a:endParaRPr lang="zh-CN" altLang="en-US" sz="1600" kern="0" dirty="0">
              <a:ln>
                <a:noFill/>
                <a:prstDash val="sysDot"/>
              </a:ln>
              <a:solidFill>
                <a:schemeClr val="tx1">
                  <a:lumMod val="85000"/>
                  <a:lumOff val="15000"/>
                </a:schemeClr>
              </a:solidFill>
              <a:latin typeface="+mn-ea"/>
              <a:sym typeface="+mn-ea"/>
            </a:endParaRPr>
          </a:p>
          <a:p>
            <a:pPr marL="0" lvl="0" indent="0" fontAlgn="auto">
              <a:lnSpc>
                <a:spcPct val="150000"/>
              </a:lnSpc>
            </a:pPr>
            <a:r>
              <a:rPr lang="zh-CN" altLang="en-US" sz="1600" b="1" kern="0" dirty="0">
                <a:ln>
                  <a:noFill/>
                  <a:prstDash val="sysDot"/>
                </a:ln>
                <a:solidFill>
                  <a:srgbClr val="FF0000"/>
                </a:solidFill>
                <a:latin typeface="+mn-ea"/>
                <a:sym typeface="+mn-ea"/>
              </a:rPr>
              <a:t>Ag+ 和 Ag- 筛选</a:t>
            </a:r>
            <a:r>
              <a:rPr lang="zh-CN" altLang="en-US" sz="1600" kern="0" dirty="0">
                <a:ln>
                  <a:noFill/>
                  <a:prstDash val="sysDot"/>
                </a:ln>
                <a:solidFill>
                  <a:schemeClr val="tx1">
                    <a:lumMod val="85000"/>
                    <a:lumOff val="15000"/>
                  </a:schemeClr>
                </a:solidFill>
                <a:latin typeface="+mn-ea"/>
                <a:sym typeface="+mn-ea"/>
              </a:rPr>
              <a:t>(抗原结合与不结合群体):</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将 Ab+ 细胞与荧光标记的 HER2 抗原(使用 647 或 488 染料)孵育。</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通过流式细胞术检测荧光强度:</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高荧光(Ag+):表示抗体能结合 HER2,记为抗原正样本(_2Ag647.txt, _2Ag488.txt)。</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低荧光(Ag-):表示抗体不结合 HER2,记为抗原负样本(_AgN.txt)。</a:t>
            </a:r>
            <a:endParaRPr lang="zh-CN" altLang="en-US" sz="1600" kern="0" dirty="0">
              <a:ln>
                <a:noFill/>
                <a:prstDash val="sysDot"/>
              </a:ln>
              <a:solidFill>
                <a:schemeClr val="tx1">
                  <a:lumMod val="85000"/>
                  <a:lumOff val="15000"/>
                </a:schemeClr>
              </a:solidFill>
              <a:latin typeface="+mn-ea"/>
              <a:sym typeface="+mn-ea"/>
            </a:endParaRPr>
          </a:p>
          <a:p>
            <a:pPr marL="457200" lvl="1" indent="0" fontAlgn="auto">
              <a:lnSpc>
                <a:spcPct val="150000"/>
              </a:lnSpc>
            </a:pPr>
            <a:r>
              <a:rPr lang="zh-CN" altLang="en-US" sz="1600" kern="0" dirty="0">
                <a:ln>
                  <a:noFill/>
                  <a:prstDash val="sysDot"/>
                </a:ln>
                <a:solidFill>
                  <a:schemeClr val="tx1">
                    <a:lumMod val="85000"/>
                    <a:lumOff val="15000"/>
                  </a:schemeClr>
                </a:solidFill>
                <a:latin typeface="+mn-ea"/>
                <a:sym typeface="+mn-ea"/>
              </a:rPr>
              <a:t>为提高筛选特异性,Ag+ 群体会经过两轮富集(Ag+1, Ag+2),逐步浓缩结合能力强的变体。</a:t>
            </a:r>
            <a:endParaRPr lang="zh-CN" altLang="en-US" sz="1600" kern="0" dirty="0">
              <a:ln>
                <a:noFill/>
                <a:prstDash val="sysDot"/>
              </a:ln>
              <a:solidFill>
                <a:schemeClr val="tx1">
                  <a:lumMod val="85000"/>
                  <a:lumOff val="15000"/>
                </a:schemeClr>
              </a:solidFill>
              <a:latin typeface="+mn-ea"/>
              <a:sym typeface="+mn-ea"/>
            </a:endParaRPr>
          </a:p>
        </p:txBody>
      </p:sp>
    </p:spTree>
    <p:custDataLst>
      <p:tags r:id="rId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lstStyle/>
          <a:p>
            <a:r>
              <a:rPr lang="zh-CN" altLang="en-US"/>
              <a:t>2.</a:t>
            </a:r>
            <a:r>
              <a:rPr lang="en-US" altLang="zh-CN"/>
              <a:t>3</a:t>
            </a:r>
            <a:r>
              <a:rPr lang="zh-CN" altLang="en-US"/>
              <a:t> </a:t>
            </a:r>
            <a:r>
              <a:rPr lang="zh-CN" altLang="en-US"/>
              <a:t>深度测序</a:t>
            </a:r>
            <a:endParaRPr lang="zh-CN" altLang="en-US"/>
          </a:p>
        </p:txBody>
      </p:sp>
      <p:sp>
        <p:nvSpPr>
          <p:cNvPr id="16" name="矩形 15"/>
          <p:cNvSpPr/>
          <p:nvPr>
            <p:custDataLst>
              <p:tags r:id="rId4"/>
            </p:custDataLst>
          </p:nvPr>
        </p:nvSpPr>
        <p:spPr>
          <a:xfrm>
            <a:off x="844550" y="1828800"/>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1010285" y="1912620"/>
            <a:ext cx="10193655" cy="3917950"/>
          </a:xfrm>
          <a:prstGeom prst="rect">
            <a:avLst/>
          </a:prstGeom>
        </p:spPr>
        <p:txBody>
          <a:bodyPr wrap="square">
            <a:noAutofit/>
          </a:bodyPr>
          <a:p>
            <a:r>
              <a:rPr lang="zh-CN" altLang="en-US"/>
              <a:t>筛选完成后，分别对 </a:t>
            </a:r>
            <a:r>
              <a:rPr lang="en-US" altLang="zh-CN"/>
              <a:t>Ab+</a:t>
            </a:r>
            <a:r>
              <a:rPr lang="zh-CN" altLang="en-US"/>
              <a:t>、</a:t>
            </a:r>
            <a:r>
              <a:rPr lang="en-US" altLang="zh-CN"/>
              <a:t>Ag+ </a:t>
            </a:r>
            <a:r>
              <a:rPr lang="zh-CN" altLang="en-US"/>
              <a:t>和 </a:t>
            </a:r>
            <a:r>
              <a:rPr lang="en-US" altLang="zh-CN"/>
              <a:t>Ag- </a:t>
            </a:r>
            <a:r>
              <a:rPr lang="zh-CN" altLang="en-US"/>
              <a:t>群体进行 </a:t>
            </a:r>
            <a:r>
              <a:rPr lang="zh-CN" altLang="en-US" b="1">
                <a:solidFill>
                  <a:srgbClr val="FF0000"/>
                </a:solidFill>
              </a:rPr>
              <a:t>深度测序</a:t>
            </a:r>
            <a:r>
              <a:rPr lang="zh-CN" altLang="en-US"/>
              <a:t>（</a:t>
            </a:r>
            <a:r>
              <a:rPr lang="en-US" altLang="zh-CN"/>
              <a:t>Deep Sequencing</a:t>
            </a:r>
            <a:r>
              <a:rPr lang="zh-CN" altLang="en-US"/>
              <a:t>），获取抗体序列数据。</a:t>
            </a:r>
            <a:endParaRPr lang="zh-CN" altLang="en-US"/>
          </a:p>
          <a:p>
            <a:endParaRPr lang="zh-CN" altLang="en-US"/>
          </a:p>
          <a:p>
            <a:r>
              <a:rPr lang="zh-CN" altLang="en-US"/>
              <a:t>测序结果以 </a:t>
            </a:r>
            <a:r>
              <a:rPr lang="en-US" altLang="zh-CN"/>
              <a:t>MiXCR </a:t>
            </a:r>
            <a:r>
              <a:rPr lang="zh-CN" altLang="en-US"/>
              <a:t>格式输出（</a:t>
            </a:r>
            <a:r>
              <a:rPr lang="en-US" altLang="zh-CN"/>
              <a:t>.txt </a:t>
            </a:r>
            <a:r>
              <a:rPr lang="zh-CN" altLang="en-US"/>
              <a:t>文件），每个文件包含以下信息：</a:t>
            </a:r>
            <a:endParaRPr lang="zh-CN" altLang="en-US"/>
          </a:p>
          <a:p>
            <a:endParaRPr lang="zh-CN" altLang="en-US"/>
          </a:p>
          <a:p>
            <a:pPr indent="457200"/>
            <a:r>
              <a:rPr lang="en-US" altLang="zh-CN"/>
              <a:t>CDRH3 </a:t>
            </a:r>
            <a:r>
              <a:rPr lang="zh-CN" altLang="en-US"/>
              <a:t>氨基酸序列（</a:t>
            </a:r>
            <a:r>
              <a:rPr lang="en-US" altLang="zh-CN"/>
              <a:t>AASeq</a:t>
            </a:r>
            <a:r>
              <a:rPr lang="zh-CN" altLang="en-US"/>
              <a:t>）：抗体的氨基酸序列。</a:t>
            </a:r>
            <a:endParaRPr lang="zh-CN" altLang="en-US"/>
          </a:p>
          <a:p>
            <a:pPr indent="457200">
              <a:buFont typeface="Arial" panose="020B0604020202020204"/>
              <a:buNone/>
            </a:pPr>
            <a:r>
              <a:rPr lang="zh-CN" altLang="en-US"/>
              <a:t>核苷酸序列（</a:t>
            </a:r>
            <a:r>
              <a:rPr lang="en-US" altLang="zh-CN"/>
              <a:t>NucSeq</a:t>
            </a:r>
            <a:r>
              <a:rPr lang="zh-CN" altLang="en-US"/>
              <a:t>）：对应的 </a:t>
            </a:r>
            <a:r>
              <a:rPr lang="en-US" altLang="zh-CN"/>
              <a:t>DNA </a:t>
            </a:r>
            <a:r>
              <a:rPr lang="zh-CN" altLang="en-US"/>
              <a:t>序列。</a:t>
            </a:r>
            <a:endParaRPr lang="zh-CN" altLang="en-US"/>
          </a:p>
          <a:p>
            <a:pPr indent="457200">
              <a:buFont typeface="Arial" panose="020B0604020202020204"/>
              <a:buNone/>
            </a:pPr>
            <a:r>
              <a:rPr lang="zh-CN" altLang="en-US"/>
              <a:t>克隆计数（</a:t>
            </a:r>
            <a:r>
              <a:rPr lang="en-US" altLang="zh-CN"/>
              <a:t>Count</a:t>
            </a:r>
            <a:r>
              <a:rPr lang="zh-CN" altLang="en-US"/>
              <a:t>）：该序列在群体中的出现次数。</a:t>
            </a:r>
            <a:endParaRPr lang="zh-CN" altLang="en-US"/>
          </a:p>
          <a:p>
            <a:pPr indent="457200">
              <a:buFont typeface="Arial" panose="020B0604020202020204"/>
              <a:buNone/>
            </a:pPr>
            <a:r>
              <a:rPr lang="zh-CN" altLang="en-US"/>
              <a:t>比例（</a:t>
            </a:r>
            <a:r>
              <a:rPr lang="en-US" altLang="zh-CN"/>
              <a:t>Fraction</a:t>
            </a:r>
            <a:r>
              <a:rPr lang="zh-CN" altLang="en-US"/>
              <a:t>）：该序列占总序列的比例。</a:t>
            </a:r>
            <a:endParaRPr lang="zh-CN" altLang="en-US"/>
          </a:p>
          <a:p>
            <a:pPr indent="0">
              <a:buFont typeface="Arial" panose="020B0604020202020204"/>
              <a:buNone/>
            </a:pPr>
            <a:endParaRPr lang="zh-CN" altLang="en-US"/>
          </a:p>
          <a:p>
            <a:r>
              <a:rPr lang="zh-CN" altLang="en-US"/>
              <a:t>这些数据是后续分析的基础，反映了不同变体的表达水平和抗原结合能力。</a:t>
            </a:r>
            <a:endParaRPr lang="zh-CN" altLang="en-US"/>
          </a:p>
        </p:txBody>
      </p:sp>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3.1 MiXCR </a:t>
            </a:r>
            <a:r>
              <a:rPr lang="zh-CN" altLang="en-US"/>
              <a:t>数据处理</a:t>
            </a:r>
            <a:endParaRPr lang="zh-CN" altLang="en-US"/>
          </a:p>
        </p:txBody>
      </p:sp>
      <p:sp>
        <p:nvSpPr>
          <p:cNvPr id="16" name="矩形 15"/>
          <p:cNvSpPr/>
          <p:nvPr>
            <p:custDataLst>
              <p:tags r:id="rId4"/>
            </p:custDataLst>
          </p:nvPr>
        </p:nvSpPr>
        <p:spPr>
          <a:xfrm>
            <a:off x="844550" y="1828800"/>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1064895" y="2075180"/>
            <a:ext cx="10061575" cy="3580130"/>
          </a:xfrm>
          <a:prstGeom prst="rect">
            <a:avLst/>
          </a:prstGeom>
        </p:spPr>
        <p:txBody>
          <a:bodyPr>
            <a:noAutofit/>
          </a:bodyPr>
          <a:p>
            <a:r>
              <a:rPr lang="zh-CN" altLang="en-US" sz="2000"/>
              <a:t>测序数据需要经过清洗和格式化，才能用于机器学习。</a:t>
            </a:r>
            <a:endParaRPr lang="zh-CN" altLang="en-US" sz="2000"/>
          </a:p>
          <a:p>
            <a:endParaRPr lang="zh-CN" altLang="en-US" sz="2000"/>
          </a:p>
          <a:p>
            <a:r>
              <a:rPr lang="zh-CN" altLang="en-US" sz="2000"/>
              <a:t>论文使用了 </a:t>
            </a:r>
            <a:r>
              <a:rPr lang="en-US" altLang="zh-CN" sz="2000"/>
              <a:t>MiXCR </a:t>
            </a:r>
            <a:r>
              <a:rPr lang="zh-CN" altLang="en-US" sz="2000"/>
              <a:t>工具 处理原始测序文件，提取关键信息：</a:t>
            </a:r>
            <a:endParaRPr lang="zh-CN" altLang="en-US" sz="2000"/>
          </a:p>
          <a:p>
            <a:endParaRPr lang="zh-CN" altLang="en-US" sz="2000"/>
          </a:p>
          <a:p>
            <a:pPr indent="0">
              <a:buFont typeface="Arial" panose="020B0604020202020204"/>
              <a:buNone/>
            </a:pPr>
            <a:r>
              <a:rPr lang="zh-CN" altLang="en-US" sz="2000"/>
              <a:t>从 </a:t>
            </a:r>
            <a:r>
              <a:rPr lang="en-US" altLang="zh-CN" sz="2000"/>
              <a:t>_Ab.txt</a:t>
            </a:r>
            <a:r>
              <a:rPr lang="zh-CN" altLang="en-US" sz="2000"/>
              <a:t>、</a:t>
            </a:r>
            <a:r>
              <a:rPr lang="en-US" altLang="zh-CN" sz="2000"/>
              <a:t>_2Ag*.txt </a:t>
            </a:r>
            <a:r>
              <a:rPr lang="zh-CN" altLang="en-US" sz="2000"/>
              <a:t>和 </a:t>
            </a:r>
            <a:r>
              <a:rPr lang="en-US" altLang="zh-CN" sz="2000"/>
              <a:t>_AgN.txt </a:t>
            </a:r>
            <a:r>
              <a:rPr lang="zh-CN" altLang="en-US" sz="2000"/>
              <a:t>文件中提取 </a:t>
            </a:r>
            <a:r>
              <a:rPr lang="en-US" altLang="zh-CN" sz="2000" b="1">
                <a:solidFill>
                  <a:srgbClr val="FF0000"/>
                </a:solidFill>
              </a:rPr>
              <a:t>AASeq</a:t>
            </a:r>
            <a:r>
              <a:rPr lang="zh-CN" altLang="en-US" sz="2000" b="1">
                <a:solidFill>
                  <a:srgbClr val="FF0000"/>
                </a:solidFill>
              </a:rPr>
              <a:t>、</a:t>
            </a:r>
            <a:r>
              <a:rPr lang="en-US" altLang="zh-CN" sz="2000" b="1">
                <a:solidFill>
                  <a:srgbClr val="FF0000"/>
                </a:solidFill>
              </a:rPr>
              <a:t>NucSeq</a:t>
            </a:r>
            <a:r>
              <a:rPr lang="zh-CN" altLang="en-US" sz="2000" b="1">
                <a:solidFill>
                  <a:srgbClr val="FF0000"/>
                </a:solidFill>
              </a:rPr>
              <a:t>、</a:t>
            </a:r>
            <a:r>
              <a:rPr lang="en-US" altLang="zh-CN" sz="2000" b="1">
                <a:solidFill>
                  <a:srgbClr val="FF0000"/>
                </a:solidFill>
              </a:rPr>
              <a:t>Count </a:t>
            </a:r>
            <a:r>
              <a:rPr lang="zh-CN" altLang="en-US" sz="2000" b="1">
                <a:solidFill>
                  <a:srgbClr val="FF0000"/>
                </a:solidFill>
              </a:rPr>
              <a:t>和 </a:t>
            </a:r>
            <a:r>
              <a:rPr lang="en-US" altLang="zh-CN" sz="2000" b="1">
                <a:solidFill>
                  <a:srgbClr val="FF0000"/>
                </a:solidFill>
              </a:rPr>
              <a:t>Fraction</a:t>
            </a:r>
            <a:r>
              <a:rPr lang="zh-CN" altLang="en-US" sz="2000"/>
              <a:t>。</a:t>
            </a:r>
            <a:endParaRPr lang="zh-CN" altLang="en-US" sz="2000"/>
          </a:p>
          <a:p>
            <a:pPr indent="0">
              <a:buFont typeface="Arial" panose="020B0604020202020204"/>
              <a:buNone/>
            </a:pPr>
            <a:endParaRPr lang="zh-CN" altLang="en-US" sz="2000"/>
          </a:p>
          <a:p>
            <a:pPr indent="0">
              <a:buFont typeface="Arial" panose="020B0604020202020204"/>
              <a:buNone/>
            </a:pPr>
            <a:r>
              <a:rPr lang="zh-CN" altLang="en-US" sz="2000"/>
              <a:t>过滤规则： </a:t>
            </a:r>
            <a:endParaRPr lang="zh-CN" altLang="en-US" sz="2000"/>
          </a:p>
          <a:p>
            <a:pPr lvl="1" indent="0">
              <a:buFont typeface="Arial" panose="020B0604020202020204"/>
              <a:buNone/>
            </a:pPr>
            <a:r>
              <a:rPr lang="zh-CN" altLang="en-US" sz="2000"/>
              <a:t>保留指定长度的序列（例如，</a:t>
            </a:r>
            <a:r>
              <a:rPr lang="en-US" altLang="zh-CN" sz="2000"/>
              <a:t>seq_len=15</a:t>
            </a:r>
            <a:r>
              <a:rPr lang="zh-CN" altLang="en-US" sz="2000"/>
              <a:t>）。</a:t>
            </a:r>
            <a:endParaRPr lang="zh-CN" altLang="en-US" sz="2000"/>
          </a:p>
          <a:p>
            <a:pPr lvl="1" indent="0">
              <a:buFont typeface="Arial" panose="020B0604020202020204"/>
              <a:buNone/>
            </a:pPr>
            <a:r>
              <a:rPr lang="zh-CN" altLang="en-US" sz="2000"/>
              <a:t>去除低丰度序列（</a:t>
            </a:r>
            <a:r>
              <a:rPr lang="en-US" altLang="zh-CN" sz="2000"/>
              <a:t>Count &gt; 1</a:t>
            </a:r>
            <a:r>
              <a:rPr lang="zh-CN" altLang="en-US" sz="2000"/>
              <a:t>），避免噪声干扰。</a:t>
            </a:r>
            <a:endParaRPr lang="zh-CN" altLang="en-US" sz="2000"/>
          </a:p>
          <a:p>
            <a:pPr lvl="1" indent="0">
              <a:buFont typeface="Arial" panose="020B0604020202020204"/>
              <a:buNone/>
            </a:pPr>
            <a:r>
              <a:rPr lang="zh-CN" altLang="en-US" sz="2000"/>
              <a:t>去除重复序列和无效序列（包含 </a:t>
            </a:r>
            <a:r>
              <a:rPr lang="en-US" altLang="zh-CN" sz="2000"/>
              <a:t>* </a:t>
            </a:r>
            <a:r>
              <a:rPr lang="zh-CN" altLang="en-US" sz="2000"/>
              <a:t>或 </a:t>
            </a:r>
            <a:r>
              <a:rPr lang="en-US" altLang="zh-CN" sz="2000"/>
              <a:t>_ </a:t>
            </a:r>
            <a:r>
              <a:rPr lang="zh-CN" altLang="en-US" sz="2000"/>
              <a:t>的序列）。</a:t>
            </a:r>
            <a:endParaRPr lang="zh-CN" altLang="en-US" sz="2000"/>
          </a:p>
        </p:txBody>
      </p:sp>
    </p:spTree>
    <p:custDataLst>
      <p:tags r:id="rId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3.2 </a:t>
            </a:r>
            <a:r>
              <a:rPr lang="zh-CN" altLang="en-US"/>
              <a:t>序列</a:t>
            </a:r>
            <a:r>
              <a:rPr lang="zh-CN" altLang="en-US"/>
              <a:t>切片</a:t>
            </a:r>
            <a:endParaRPr lang="zh-CN" altLang="en-US"/>
          </a:p>
        </p:txBody>
      </p:sp>
      <p:sp>
        <p:nvSpPr>
          <p:cNvPr id="16" name="矩形 15"/>
          <p:cNvSpPr/>
          <p:nvPr>
            <p:custDataLst>
              <p:tags r:id="rId4"/>
            </p:custDataLst>
          </p:nvPr>
        </p:nvSpPr>
        <p:spPr>
          <a:xfrm>
            <a:off x="808990" y="171386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969645" y="2397125"/>
            <a:ext cx="10146030" cy="1686560"/>
          </a:xfrm>
          <a:prstGeom prst="rect">
            <a:avLst/>
          </a:prstGeom>
        </p:spPr>
        <p:txBody>
          <a:bodyPr>
            <a:noAutofit/>
          </a:bodyPr>
          <a:p>
            <a:r>
              <a:rPr lang="zh-CN" altLang="en-US" sz="2000"/>
              <a:t>为了聚焦于 </a:t>
            </a:r>
            <a:r>
              <a:rPr lang="en-US" altLang="zh-CN" sz="2000"/>
              <a:t>CDRH3 </a:t>
            </a:r>
            <a:r>
              <a:rPr lang="zh-CN" altLang="en-US" sz="2000"/>
              <a:t>的核心区域，数据处理中会对 </a:t>
            </a:r>
            <a:r>
              <a:rPr lang="en-US" altLang="zh-CN" sz="2000" b="1">
                <a:solidFill>
                  <a:srgbClr val="FF0000"/>
                </a:solidFill>
              </a:rPr>
              <a:t>AASeq</a:t>
            </a:r>
            <a:r>
              <a:rPr lang="en-US" altLang="zh-CN" sz="2000"/>
              <a:t> </a:t>
            </a:r>
            <a:r>
              <a:rPr lang="zh-CN" altLang="en-US" sz="2000"/>
              <a:t>进行切片：</a:t>
            </a:r>
            <a:endParaRPr lang="zh-CN" altLang="en-US" sz="2000"/>
          </a:p>
          <a:p>
            <a:endParaRPr lang="zh-CN" altLang="en-US" sz="2000"/>
          </a:p>
          <a:p>
            <a:pPr indent="0">
              <a:buFont typeface="Arial" panose="020B0604020202020204"/>
              <a:buNone/>
            </a:pPr>
            <a:r>
              <a:rPr lang="zh-CN" altLang="en-US" sz="2000"/>
              <a:t>切片逻辑：去掉序列开头的前 </a:t>
            </a:r>
            <a:r>
              <a:rPr lang="en-US" altLang="zh-CN" sz="2000"/>
              <a:t>3 </a:t>
            </a:r>
            <a:r>
              <a:rPr lang="zh-CN" altLang="en-US" sz="2000"/>
              <a:t>个氨基酸（通常是 </a:t>
            </a:r>
            <a:r>
              <a:rPr lang="en-US" altLang="zh-CN" sz="2000"/>
              <a:t>CAR </a:t>
            </a:r>
            <a:r>
              <a:rPr lang="zh-CN" altLang="en-US" sz="2000"/>
              <a:t>或 </a:t>
            </a:r>
            <a:r>
              <a:rPr lang="en-US" altLang="zh-CN" sz="2000"/>
              <a:t>CSR</a:t>
            </a:r>
            <a:r>
              <a:rPr lang="zh-CN" altLang="en-US" sz="2000"/>
              <a:t>）和末尾的 </a:t>
            </a:r>
            <a:r>
              <a:rPr lang="en-US" altLang="zh-CN" sz="2000"/>
              <a:t>2 </a:t>
            </a:r>
            <a:r>
              <a:rPr lang="zh-CN" altLang="en-US" sz="2000"/>
              <a:t>个氨基酸，保留中间的核心区域。</a:t>
            </a:r>
            <a:endParaRPr lang="zh-CN" altLang="en-US" sz="2000"/>
          </a:p>
          <a:p>
            <a:pPr indent="0">
              <a:buFont typeface="Arial" panose="020B0604020202020204"/>
              <a:buNone/>
            </a:pPr>
            <a:endParaRPr lang="zh-CN" altLang="en-US" sz="2000"/>
          </a:p>
          <a:p>
            <a:pPr indent="0">
              <a:buFont typeface="Arial" panose="020B0604020202020204"/>
              <a:buNone/>
            </a:pPr>
            <a:r>
              <a:rPr lang="zh-CN" altLang="en-US" sz="2000"/>
              <a:t>这一步骤确保模型关注与抗原结合最相关的序列片段。</a:t>
            </a:r>
            <a:endParaRPr lang="zh-CN" altLang="en-US" sz="2000"/>
          </a:p>
        </p:txBody>
      </p:sp>
      <p:sp>
        <p:nvSpPr>
          <p:cNvPr id="5" name="文本框 4"/>
          <p:cNvSpPr txBox="1"/>
          <p:nvPr/>
        </p:nvSpPr>
        <p:spPr>
          <a:xfrm>
            <a:off x="969645" y="4703445"/>
            <a:ext cx="10234930" cy="506730"/>
          </a:xfrm>
          <a:prstGeom prst="rect">
            <a:avLst/>
          </a:prstGeom>
        </p:spPr>
        <p:txBody>
          <a:bodyPr wrap="square">
            <a:spAutoFit/>
          </a:bodyPr>
          <a:p>
            <a:pPr>
              <a:lnSpc>
                <a:spcPts val="1620"/>
              </a:lnSpc>
            </a:pPr>
            <a:r>
              <a:rPr lang="en-US" altLang="zh-CN" sz="1600" b="1">
                <a:solidFill>
                  <a:srgbClr val="6A9955"/>
                </a:solidFill>
                <a:latin typeface="Consolas" panose="020B0609020204030204"/>
                <a:ea typeface="Consolas" panose="020B0609020204030204"/>
              </a:rPr>
              <a:t># </a:t>
            </a:r>
            <a:r>
              <a:rPr lang="zh-CN" altLang="en-US" sz="1600" b="1">
                <a:solidFill>
                  <a:srgbClr val="6A9955"/>
                </a:solidFill>
                <a:latin typeface="Consolas" panose="020B0609020204030204"/>
                <a:ea typeface="Consolas" panose="020B0609020204030204"/>
              </a:rPr>
              <a:t>去除 </a:t>
            </a:r>
            <a:r>
              <a:rPr lang="en-US" altLang="zh-CN" sz="1600" b="1">
                <a:solidFill>
                  <a:srgbClr val="6A9955"/>
                </a:solidFill>
                <a:latin typeface="Consolas" panose="020B0609020204030204"/>
                <a:ea typeface="Consolas" panose="020B0609020204030204"/>
              </a:rPr>
              <a:t>'CAR/CSR' </a:t>
            </a:r>
            <a:r>
              <a:rPr lang="zh-CN" altLang="en-US" sz="1600" b="1">
                <a:solidFill>
                  <a:srgbClr val="6A9955"/>
                </a:solidFill>
                <a:latin typeface="Consolas" panose="020B0609020204030204"/>
                <a:ea typeface="Consolas" panose="020B0609020204030204"/>
              </a:rPr>
              <a:t>基序和最后两个氨基酸，保留长度为</a:t>
            </a:r>
            <a:r>
              <a:rPr lang="en-US" altLang="zh-CN" sz="1600" b="1">
                <a:solidFill>
                  <a:srgbClr val="6A9955"/>
                </a:solidFill>
                <a:latin typeface="Consolas" panose="020B0609020204030204"/>
                <a:ea typeface="Consolas" panose="020B0609020204030204"/>
              </a:rPr>
              <a:t>10</a:t>
            </a:r>
            <a:r>
              <a:rPr lang="zh-CN" altLang="en-US" sz="1600" b="1">
                <a:solidFill>
                  <a:srgbClr val="6A9955"/>
                </a:solidFill>
                <a:latin typeface="Consolas" panose="020B0609020204030204"/>
                <a:ea typeface="Consolas" panose="020B0609020204030204"/>
              </a:rPr>
              <a:t>的氨基酸序列（因为前面定义了</a:t>
            </a:r>
            <a:r>
              <a:rPr lang="en-US" altLang="zh-CN" sz="1600" b="1">
                <a:solidFill>
                  <a:srgbClr val="6A9955"/>
                </a:solidFill>
                <a:latin typeface="Consolas" panose="020B0609020204030204"/>
                <a:ea typeface="Consolas" panose="020B0609020204030204"/>
              </a:rPr>
              <a:t>seq_len=15</a:t>
            </a:r>
            <a:r>
              <a:rPr lang="zh-CN" altLang="en-US" sz="1600" b="1">
                <a:solidFill>
                  <a:srgbClr val="6A9955"/>
                </a:solidFill>
                <a:latin typeface="Consolas" panose="020B0609020204030204"/>
                <a:ea typeface="Consolas" panose="020B0609020204030204"/>
              </a:rPr>
              <a:t>）。</a:t>
            </a:r>
            <a:endParaRPr lang="zh-CN" altLang="en-US" sz="1600" b="1">
              <a:solidFill>
                <a:srgbClr val="6A9955"/>
              </a:solidFill>
              <a:latin typeface="Consolas" panose="020B0609020204030204"/>
              <a:ea typeface="Consolas" panose="020B0609020204030204"/>
            </a:endParaRPr>
          </a:p>
          <a:p>
            <a:pPr>
              <a:lnSpc>
                <a:spcPts val="1620"/>
              </a:lnSpc>
            </a:pPr>
            <a:r>
              <a:rPr lang="en-US" altLang="zh-CN" sz="1600" b="1">
                <a:solidFill>
                  <a:srgbClr val="6A9955"/>
                </a:solidFill>
                <a:latin typeface="Consolas" panose="020B0609020204030204"/>
                <a:ea typeface="Consolas" panose="020B0609020204030204"/>
              </a:rPr>
              <a:t># </a:t>
            </a:r>
            <a:r>
              <a:rPr lang="zh-CN" altLang="en-US" sz="1600" b="1">
                <a:solidFill>
                  <a:srgbClr val="6A9955"/>
                </a:solidFill>
                <a:latin typeface="Consolas" panose="020B0609020204030204"/>
                <a:ea typeface="Consolas" panose="020B0609020204030204"/>
              </a:rPr>
              <a:t>根据</a:t>
            </a:r>
            <a:r>
              <a:rPr lang="en-US" altLang="zh-CN" sz="1600" b="1">
                <a:solidFill>
                  <a:srgbClr val="6A9955"/>
                </a:solidFill>
                <a:latin typeface="Consolas" panose="020B0609020204030204"/>
                <a:ea typeface="Consolas" panose="020B0609020204030204"/>
              </a:rPr>
              <a:t>GROK</a:t>
            </a:r>
            <a:r>
              <a:rPr lang="zh-CN" altLang="en-US" sz="1600" b="1">
                <a:solidFill>
                  <a:srgbClr val="6A9955"/>
                </a:solidFill>
                <a:latin typeface="Consolas" panose="020B0609020204030204"/>
                <a:ea typeface="Consolas" panose="020B0609020204030204"/>
              </a:rPr>
              <a:t>的回答，开头是抗体框架区的保守序列，结尾是固定序列（</a:t>
            </a:r>
            <a:r>
              <a:rPr lang="en-US" altLang="zh-CN" sz="1600" b="1">
                <a:solidFill>
                  <a:srgbClr val="6A9955"/>
                </a:solidFill>
                <a:latin typeface="Consolas" panose="020B0609020204030204"/>
                <a:ea typeface="Consolas" panose="020B0609020204030204"/>
              </a:rPr>
              <a:t>J</a:t>
            </a:r>
            <a:r>
              <a:rPr lang="zh-CN" altLang="en-US" sz="1600" b="1">
                <a:solidFill>
                  <a:srgbClr val="6A9955"/>
                </a:solidFill>
                <a:latin typeface="Consolas" panose="020B0609020204030204"/>
                <a:ea typeface="Consolas" panose="020B0609020204030204"/>
              </a:rPr>
              <a:t>基因或其他区域）</a:t>
            </a:r>
            <a:endParaRPr lang="zh-CN" altLang="en-US" sz="1600" b="1">
              <a:solidFill>
                <a:srgbClr val="6A9955"/>
              </a:solidFill>
              <a:latin typeface="Consolas" panose="020B0609020204030204"/>
              <a:ea typeface="Consolas" panose="020B0609020204030204"/>
            </a:endParaRPr>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3.3 </a:t>
            </a:r>
            <a:r>
              <a:rPr lang="zh-CN" altLang="en-US"/>
              <a:t>数据集</a:t>
            </a:r>
            <a:r>
              <a:rPr lang="zh-CN" altLang="en-US"/>
              <a:t>构建</a:t>
            </a:r>
            <a:endParaRPr lang="zh-CN" altLang="en-US"/>
          </a:p>
        </p:txBody>
      </p:sp>
      <p:sp>
        <p:nvSpPr>
          <p:cNvPr id="16" name="矩形 15"/>
          <p:cNvSpPr/>
          <p:nvPr>
            <p:custDataLst>
              <p:tags r:id="rId4"/>
            </p:custDataLst>
          </p:nvPr>
        </p:nvSpPr>
        <p:spPr>
          <a:xfrm>
            <a:off x="808990" y="174180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1089025" y="1950720"/>
            <a:ext cx="10013950" cy="3998595"/>
          </a:xfrm>
          <a:prstGeom prst="rect">
            <a:avLst/>
          </a:prstGeom>
        </p:spPr>
        <p:txBody>
          <a:bodyPr>
            <a:noAutofit/>
          </a:bodyPr>
          <a:p>
            <a:r>
              <a:rPr lang="en-US" altLang="zh-CN"/>
              <a:t>1.</a:t>
            </a:r>
            <a:r>
              <a:rPr lang="zh-CN" altLang="en-US"/>
              <a:t>根据筛选结果，数据集分为正样本和负样本：</a:t>
            </a:r>
            <a:endParaRPr lang="zh-CN" altLang="en-US"/>
          </a:p>
          <a:p>
            <a:pPr indent="0">
              <a:buFont typeface="Arial" panose="020B0604020202020204"/>
              <a:buNone/>
            </a:pPr>
            <a:endParaRPr lang="zh-CN" altLang="en-US"/>
          </a:p>
          <a:p>
            <a:pPr indent="0">
              <a:buFont typeface="Arial" panose="020B0604020202020204"/>
              <a:buNone/>
            </a:pPr>
            <a:r>
              <a:rPr lang="zh-CN" altLang="en-US"/>
              <a:t>正样本（</a:t>
            </a:r>
            <a:r>
              <a:rPr lang="en-US" altLang="zh-CN"/>
              <a:t>Ag+</a:t>
            </a:r>
            <a:r>
              <a:rPr lang="zh-CN" altLang="en-US"/>
              <a:t>）：来自 </a:t>
            </a:r>
            <a:r>
              <a:rPr lang="en-US" altLang="zh-CN"/>
              <a:t>Ag+ </a:t>
            </a:r>
            <a:r>
              <a:rPr lang="zh-CN" altLang="en-US"/>
              <a:t>群体（</a:t>
            </a:r>
            <a:r>
              <a:rPr lang="en-US" altLang="zh-CN"/>
              <a:t>_2Ag*.txt</a:t>
            </a:r>
            <a:r>
              <a:rPr lang="zh-CN" altLang="en-US"/>
              <a:t>），标记为 </a:t>
            </a:r>
            <a:r>
              <a:rPr lang="en-US" altLang="zh-CN"/>
              <a:t>AgClass=1</a:t>
            </a:r>
            <a:r>
              <a:rPr lang="zh-CN" altLang="en-US"/>
              <a:t>，表示能结合 </a:t>
            </a:r>
            <a:r>
              <a:rPr lang="en-US" altLang="zh-CN"/>
              <a:t>HER2</a:t>
            </a:r>
            <a:r>
              <a:rPr lang="zh-CN" altLang="en-US"/>
              <a:t>。</a:t>
            </a:r>
            <a:endParaRPr lang="zh-CN" altLang="en-US"/>
          </a:p>
          <a:p>
            <a:pPr indent="0">
              <a:buFont typeface="Arial" panose="020B0604020202020204"/>
              <a:buNone/>
            </a:pPr>
            <a:endParaRPr lang="zh-CN" altLang="en-US"/>
          </a:p>
          <a:p>
            <a:pPr indent="0">
              <a:buFont typeface="Arial" panose="020B0604020202020204"/>
              <a:buNone/>
            </a:pPr>
            <a:r>
              <a:rPr lang="zh-CN" altLang="en-US"/>
              <a:t>负样本（</a:t>
            </a:r>
            <a:r>
              <a:rPr lang="en-US" altLang="zh-CN"/>
              <a:t>Ag-</a:t>
            </a:r>
            <a:r>
              <a:rPr lang="zh-CN" altLang="en-US"/>
              <a:t>）：来自 </a:t>
            </a:r>
            <a:r>
              <a:rPr lang="en-US" altLang="zh-CN"/>
              <a:t>Ab+ </a:t>
            </a:r>
            <a:r>
              <a:rPr lang="zh-CN" altLang="en-US"/>
              <a:t>和 </a:t>
            </a:r>
            <a:r>
              <a:rPr lang="en-US" altLang="zh-CN"/>
              <a:t>Ag- </a:t>
            </a:r>
            <a:r>
              <a:rPr lang="zh-CN" altLang="en-US"/>
              <a:t>群体（</a:t>
            </a:r>
            <a:r>
              <a:rPr lang="en-US" altLang="zh-CN"/>
              <a:t>_Ab.txt, _AgN.txt</a:t>
            </a:r>
            <a:r>
              <a:rPr lang="zh-CN" altLang="en-US"/>
              <a:t>），标记为 </a:t>
            </a:r>
            <a:r>
              <a:rPr lang="en-US" altLang="zh-CN"/>
              <a:t>AgClass=0</a:t>
            </a:r>
            <a:r>
              <a:rPr lang="zh-CN" altLang="en-US"/>
              <a:t>，表示不结合 </a:t>
            </a:r>
            <a:r>
              <a:rPr lang="en-US" altLang="zh-CN"/>
              <a:t>HER2</a:t>
            </a:r>
            <a:r>
              <a:rPr lang="zh-CN" altLang="en-US"/>
              <a:t>。</a:t>
            </a:r>
            <a:endParaRPr lang="zh-CN" altLang="en-US"/>
          </a:p>
          <a:p>
            <a:pPr indent="0">
              <a:buFont typeface="Arial" panose="020B0604020202020204"/>
              <a:buNone/>
            </a:pPr>
            <a:endParaRPr lang="zh-CN" altLang="en-US"/>
          </a:p>
          <a:p>
            <a:pPr indent="0">
              <a:buFont typeface="Arial" panose="020B0604020202020204"/>
              <a:buNone/>
            </a:pPr>
            <a:r>
              <a:rPr lang="en-US" altLang="zh-CN"/>
              <a:t>2.</a:t>
            </a:r>
            <a:r>
              <a:rPr lang="zh-CN" altLang="en-US"/>
              <a:t>数据整合： </a:t>
            </a:r>
            <a:endParaRPr lang="zh-CN" altLang="en-US"/>
          </a:p>
          <a:p>
            <a:pPr lvl="1" indent="0">
              <a:buFont typeface="Arial" panose="020B0604020202020204"/>
              <a:buNone/>
            </a:pPr>
            <a:r>
              <a:rPr lang="zh-CN" altLang="en-US"/>
              <a:t>合并正负样本，去除重复序列。</a:t>
            </a:r>
            <a:endParaRPr lang="zh-CN" altLang="en-US"/>
          </a:p>
          <a:p>
            <a:pPr lvl="1" indent="0">
              <a:buFont typeface="Arial" panose="020B0604020202020204"/>
              <a:buNone/>
            </a:pPr>
            <a:r>
              <a:rPr lang="zh-CN" altLang="en-US"/>
              <a:t>打乱数据顺序，随机分割为训练集、验证集和测试集（例如，使用 </a:t>
            </a:r>
            <a:r>
              <a:rPr lang="en-US" altLang="zh-CN"/>
              <a:t>data_split_adj </a:t>
            </a:r>
            <a:r>
              <a:rPr lang="zh-CN" altLang="en-US"/>
              <a:t>函数）。</a:t>
            </a:r>
            <a:endParaRPr lang="zh-CN" altLang="en-US"/>
          </a:p>
          <a:p>
            <a:r>
              <a:rPr lang="zh-CN" altLang="en-US"/>
              <a:t>最终数据集包含 </a:t>
            </a:r>
            <a:r>
              <a:rPr lang="en-US" altLang="zh-CN"/>
              <a:t>AASeq</a:t>
            </a:r>
            <a:r>
              <a:rPr lang="zh-CN" altLang="en-US"/>
              <a:t>（切片后的序列）和 </a:t>
            </a:r>
            <a:r>
              <a:rPr lang="en-US" altLang="zh-CN"/>
              <a:t>AgClass</a:t>
            </a:r>
            <a:r>
              <a:rPr lang="zh-CN" altLang="en-US"/>
              <a:t>（</a:t>
            </a:r>
            <a:r>
              <a:rPr lang="en-US" altLang="zh-CN"/>
              <a:t>0 </a:t>
            </a:r>
            <a:r>
              <a:rPr lang="zh-CN" altLang="en-US"/>
              <a:t>或 </a:t>
            </a:r>
            <a:r>
              <a:rPr lang="en-US" altLang="zh-CN"/>
              <a:t>1</a:t>
            </a:r>
            <a:r>
              <a:rPr lang="zh-CN" altLang="en-US"/>
              <a:t>），为模型训练做好准备。</a:t>
            </a:r>
            <a:endParaRPr lang="zh-CN" altLang="en-US"/>
          </a:p>
        </p:txBody>
      </p:sp>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4.1 </a:t>
            </a:r>
            <a:r>
              <a:rPr lang="zh-CN" altLang="en-US"/>
              <a:t>数据</a:t>
            </a:r>
            <a:r>
              <a:rPr lang="zh-CN" altLang="en-US"/>
              <a:t>编码</a:t>
            </a:r>
            <a:endParaRPr lang="zh-CN" altLang="en-US"/>
          </a:p>
        </p:txBody>
      </p:sp>
      <p:sp>
        <p:nvSpPr>
          <p:cNvPr id="16" name="矩形 15"/>
          <p:cNvSpPr/>
          <p:nvPr>
            <p:custDataLst>
              <p:tags r:id="rId4"/>
            </p:custDataLst>
          </p:nvPr>
        </p:nvSpPr>
        <p:spPr>
          <a:xfrm>
            <a:off x="808990" y="171386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1113155" y="2750185"/>
            <a:ext cx="9850120" cy="2242820"/>
          </a:xfrm>
          <a:prstGeom prst="rect">
            <a:avLst/>
          </a:prstGeom>
        </p:spPr>
        <p:txBody>
          <a:bodyPr>
            <a:noAutofit/>
          </a:bodyPr>
          <a:p>
            <a:r>
              <a:rPr lang="zh-CN" altLang="en-US"/>
              <a:t>机器学习模型无法直接处理氨基酸序列，因此需要将序列转化为数值形式：</a:t>
            </a:r>
            <a:endParaRPr lang="zh-CN" altLang="en-US"/>
          </a:p>
          <a:p>
            <a:endParaRPr lang="zh-CN" altLang="en-US"/>
          </a:p>
          <a:p>
            <a:pPr indent="0">
              <a:buFont typeface="Arial" panose="020B0604020202020204"/>
              <a:buNone/>
            </a:pPr>
            <a:r>
              <a:rPr lang="zh-CN" altLang="en-US"/>
              <a:t>独热编码（</a:t>
            </a:r>
            <a:r>
              <a:rPr lang="en-US" altLang="zh-CN"/>
              <a:t>One-Hot Encoding</a:t>
            </a:r>
            <a:r>
              <a:rPr lang="zh-CN" altLang="en-US"/>
              <a:t>）：将 </a:t>
            </a:r>
            <a:r>
              <a:rPr lang="en-US" altLang="zh-CN"/>
              <a:t>20 </a:t>
            </a:r>
            <a:r>
              <a:rPr lang="zh-CN" altLang="en-US"/>
              <a:t>种氨基酸映射为一个 </a:t>
            </a:r>
            <a:r>
              <a:rPr lang="en-US" altLang="zh-CN"/>
              <a:t>20 </a:t>
            </a:r>
            <a:r>
              <a:rPr lang="zh-CN" altLang="en-US"/>
              <a:t>维向量，每种氨基酸对应一个位置为 </a:t>
            </a:r>
            <a:r>
              <a:rPr lang="en-US" altLang="zh-CN"/>
              <a:t>1</a:t>
            </a:r>
            <a:r>
              <a:rPr lang="zh-CN" altLang="en-US"/>
              <a:t>，其余为 </a:t>
            </a:r>
            <a:r>
              <a:rPr lang="en-US" altLang="zh-CN"/>
              <a:t>0</a:t>
            </a:r>
            <a:r>
              <a:rPr lang="zh-CN" altLang="en-US"/>
              <a:t>。</a:t>
            </a:r>
            <a:endParaRPr lang="zh-CN" altLang="en-US"/>
          </a:p>
          <a:p>
            <a:pPr>
              <a:buFont typeface="Arial" panose="020B0604020202020204"/>
              <a:buChar char="•"/>
            </a:pPr>
            <a:endParaRPr lang="zh-CN" altLang="en-US"/>
          </a:p>
          <a:p>
            <a:pPr indent="0">
              <a:buFont typeface="Arial" panose="020B0604020202020204"/>
              <a:buNone/>
            </a:pPr>
            <a:r>
              <a:rPr lang="zh-CN" altLang="en-US"/>
              <a:t>输入形状：对于每个样本，编码后生成一个 </a:t>
            </a:r>
            <a:r>
              <a:rPr lang="en-US" altLang="zh-CN"/>
              <a:t>(</a:t>
            </a:r>
            <a:r>
              <a:rPr lang="zh-CN" altLang="en-US"/>
              <a:t>序列长度</a:t>
            </a:r>
            <a:r>
              <a:rPr lang="en-US" altLang="zh-CN"/>
              <a:t>, 20) </a:t>
            </a:r>
            <a:r>
              <a:rPr lang="zh-CN" altLang="en-US"/>
              <a:t>的矩阵。例如，序列长度为 </a:t>
            </a:r>
            <a:r>
              <a:rPr lang="en-US" altLang="zh-CN"/>
              <a:t>10</a:t>
            </a:r>
            <a:r>
              <a:rPr lang="zh-CN" altLang="en-US"/>
              <a:t>，则输入形状为 </a:t>
            </a:r>
            <a:r>
              <a:rPr lang="en-US" altLang="zh-CN"/>
              <a:t>(</a:t>
            </a:r>
            <a:r>
              <a:rPr lang="zh-CN" altLang="en-US"/>
              <a:t>样本数</a:t>
            </a:r>
            <a:r>
              <a:rPr lang="en-US" altLang="zh-CN"/>
              <a:t>, 10, 20)</a:t>
            </a:r>
            <a:r>
              <a:rPr lang="zh-CN" altLang="en-US"/>
              <a:t>。</a:t>
            </a:r>
            <a:endParaRPr lang="zh-CN" altLang="en-US"/>
          </a:p>
        </p:txBody>
      </p: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4.2 CNN</a:t>
            </a:r>
            <a:r>
              <a:rPr lang="zh-CN" altLang="en-US"/>
              <a:t>模型</a:t>
            </a:r>
            <a:r>
              <a:rPr lang="zh-CN" altLang="en-US"/>
              <a:t>设计</a:t>
            </a:r>
            <a:endParaRPr lang="zh-CN" altLang="en-US"/>
          </a:p>
        </p:txBody>
      </p:sp>
      <p:sp>
        <p:nvSpPr>
          <p:cNvPr id="16" name="矩形 15"/>
          <p:cNvSpPr/>
          <p:nvPr>
            <p:custDataLst>
              <p:tags r:id="rId4"/>
            </p:custDataLst>
          </p:nvPr>
        </p:nvSpPr>
        <p:spPr>
          <a:xfrm>
            <a:off x="844550" y="171386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922020" y="1894205"/>
            <a:ext cx="10282555" cy="3985895"/>
          </a:xfrm>
          <a:prstGeom prst="rect">
            <a:avLst/>
          </a:prstGeom>
        </p:spPr>
        <p:txBody>
          <a:bodyPr>
            <a:noAutofit/>
          </a:bodyPr>
          <a:p>
            <a:r>
              <a:rPr lang="zh-CN" altLang="en-US"/>
              <a:t>论文使用了 卷积神经网络（</a:t>
            </a:r>
            <a:r>
              <a:rPr lang="en-US" altLang="zh-CN"/>
              <a:t>CNN</a:t>
            </a:r>
            <a:r>
              <a:rPr lang="zh-CN" altLang="en-US"/>
              <a:t>） 来预测抗原特异性，具体步骤如下：</a:t>
            </a:r>
            <a:endParaRPr lang="zh-CN" altLang="en-US"/>
          </a:p>
          <a:p>
            <a:pPr>
              <a:buFont typeface="Arial" panose="020B0604020202020204"/>
              <a:buChar char="•"/>
            </a:pPr>
            <a:r>
              <a:rPr lang="zh-CN" altLang="en-US"/>
              <a:t>模型架构： </a:t>
            </a:r>
            <a:endParaRPr lang="zh-CN" altLang="en-US"/>
          </a:p>
          <a:p>
            <a:pPr lvl="1" indent="0">
              <a:buFont typeface="Arial" panose="020B0604020202020204"/>
              <a:buNone/>
            </a:pPr>
            <a:r>
              <a:rPr lang="zh-CN" altLang="en-US"/>
              <a:t>卷积层：提取序列的局部特征（例如，</a:t>
            </a:r>
            <a:r>
              <a:rPr lang="en-US" altLang="zh-CN"/>
              <a:t>400 </a:t>
            </a:r>
            <a:r>
              <a:rPr lang="zh-CN" altLang="en-US"/>
              <a:t>个滤波器，</a:t>
            </a:r>
            <a:r>
              <a:rPr lang="en-US" altLang="zh-CN"/>
              <a:t>3x3 </a:t>
            </a:r>
            <a:r>
              <a:rPr lang="zh-CN" altLang="en-US"/>
              <a:t>卷积核）。</a:t>
            </a:r>
            <a:endParaRPr lang="zh-CN" altLang="en-US"/>
          </a:p>
          <a:p>
            <a:pPr lvl="1" indent="0">
              <a:buFont typeface="Arial" panose="020B0604020202020204"/>
              <a:buNone/>
            </a:pPr>
            <a:r>
              <a:rPr lang="zh-CN" altLang="en-US"/>
              <a:t>池化层：降维并保留重要信息（例如，</a:t>
            </a:r>
            <a:r>
              <a:rPr lang="en-US" altLang="zh-CN"/>
              <a:t>2x1 </a:t>
            </a:r>
            <a:r>
              <a:rPr lang="zh-CN" altLang="en-US"/>
              <a:t>最大池化）。</a:t>
            </a:r>
            <a:endParaRPr lang="zh-CN" altLang="en-US"/>
          </a:p>
          <a:p>
            <a:pPr lvl="1" indent="0">
              <a:buFont typeface="Arial" panose="020B0604020202020204"/>
              <a:buNone/>
            </a:pPr>
            <a:r>
              <a:rPr lang="en-US" altLang="zh-CN"/>
              <a:t>Dropout</a:t>
            </a:r>
            <a:r>
              <a:rPr lang="zh-CN" altLang="en-US"/>
              <a:t>：防止过拟合（丢弃率 </a:t>
            </a:r>
            <a:r>
              <a:rPr lang="en-US" altLang="zh-CN"/>
              <a:t>0.5</a:t>
            </a:r>
            <a:r>
              <a:rPr lang="zh-CN" altLang="en-US"/>
              <a:t>）。</a:t>
            </a:r>
            <a:endParaRPr lang="zh-CN" altLang="en-US"/>
          </a:p>
          <a:p>
            <a:pPr lvl="1" indent="0">
              <a:buFont typeface="Arial" panose="020B0604020202020204"/>
              <a:buNone/>
            </a:pPr>
            <a:r>
              <a:rPr lang="zh-CN" altLang="en-US"/>
              <a:t>扁平化：将卷积输出展平为一维向量。</a:t>
            </a:r>
            <a:endParaRPr lang="zh-CN" altLang="en-US"/>
          </a:p>
          <a:p>
            <a:pPr lvl="1" indent="0">
              <a:buFont typeface="Arial" panose="020B0604020202020204"/>
              <a:buNone/>
            </a:pPr>
            <a:r>
              <a:rPr lang="zh-CN" altLang="en-US"/>
              <a:t>全连接层：整合特征并输出分类概率（例如，</a:t>
            </a:r>
            <a:r>
              <a:rPr lang="en-US" altLang="zh-CN"/>
              <a:t>50 </a:t>
            </a:r>
            <a:r>
              <a:rPr lang="zh-CN" altLang="en-US"/>
              <a:t>个单元）。</a:t>
            </a:r>
            <a:endParaRPr lang="zh-CN" altLang="en-US"/>
          </a:p>
          <a:p>
            <a:pPr>
              <a:buFont typeface="Arial" panose="020B0604020202020204"/>
              <a:buChar char="•"/>
            </a:pPr>
            <a:r>
              <a:rPr lang="zh-CN" altLang="en-US"/>
              <a:t>编译参数： </a:t>
            </a:r>
            <a:endParaRPr lang="zh-CN" altLang="en-US"/>
          </a:p>
          <a:p>
            <a:pPr lvl="1" indent="0">
              <a:buFont typeface="Arial" panose="020B0604020202020204"/>
              <a:buNone/>
            </a:pPr>
            <a:r>
              <a:rPr lang="zh-CN" altLang="en-US"/>
              <a:t>优化器：</a:t>
            </a:r>
            <a:r>
              <a:rPr lang="en-US" altLang="zh-CN"/>
              <a:t>Adam</a:t>
            </a:r>
            <a:r>
              <a:rPr lang="zh-CN" altLang="en-US"/>
              <a:t>，学习率 </a:t>
            </a:r>
            <a:r>
              <a:rPr lang="en-US" altLang="zh-CN"/>
              <a:t>0.000075</a:t>
            </a:r>
            <a:r>
              <a:rPr lang="zh-CN" altLang="en-US"/>
              <a:t>。</a:t>
            </a:r>
            <a:endParaRPr lang="zh-CN" altLang="en-US"/>
          </a:p>
          <a:p>
            <a:pPr lvl="1" indent="0">
              <a:buFont typeface="Arial" panose="020B0604020202020204"/>
              <a:buNone/>
            </a:pPr>
            <a:r>
              <a:rPr lang="zh-CN" altLang="en-US"/>
              <a:t>损失函数：二元交叉熵（适合二分类问题）。</a:t>
            </a:r>
            <a:endParaRPr lang="zh-CN" altLang="en-US"/>
          </a:p>
          <a:p>
            <a:pPr>
              <a:buFont typeface="Arial" panose="020B0604020202020204"/>
              <a:buChar char="•"/>
            </a:pPr>
            <a:r>
              <a:rPr lang="zh-CN" altLang="en-US"/>
              <a:t>训练： </a:t>
            </a:r>
            <a:endParaRPr lang="zh-CN" altLang="en-US"/>
          </a:p>
          <a:p>
            <a:pPr lvl="1" indent="0">
              <a:buFont typeface="Arial" panose="020B0604020202020204"/>
              <a:buNone/>
            </a:pPr>
            <a:r>
              <a:rPr lang="en-US" altLang="zh-CN"/>
              <a:t>Epoch </a:t>
            </a:r>
            <a:r>
              <a:rPr lang="zh-CN" altLang="en-US"/>
              <a:t>数：</a:t>
            </a:r>
            <a:r>
              <a:rPr lang="en-US" altLang="zh-CN"/>
              <a:t>20</a:t>
            </a:r>
            <a:r>
              <a:rPr lang="zh-CN" altLang="en-US"/>
              <a:t>。</a:t>
            </a:r>
            <a:endParaRPr lang="zh-CN" altLang="en-US"/>
          </a:p>
          <a:p>
            <a:pPr lvl="1" indent="0">
              <a:buFont typeface="Arial" panose="020B0604020202020204"/>
              <a:buNone/>
            </a:pPr>
            <a:r>
              <a:rPr lang="zh-CN" altLang="en-US"/>
              <a:t>批次大小：</a:t>
            </a:r>
            <a:r>
              <a:rPr lang="en-US" altLang="zh-CN"/>
              <a:t>16</a:t>
            </a:r>
            <a:r>
              <a:rPr lang="zh-CN" altLang="en-US"/>
              <a:t>。</a:t>
            </a:r>
            <a:endParaRPr lang="zh-CN" altLang="en-US"/>
          </a:p>
          <a:p>
            <a:pPr lvl="1" indent="0">
              <a:buFont typeface="Arial" panose="020B0604020202020204"/>
              <a:buNone/>
            </a:pPr>
            <a:r>
              <a:rPr lang="zh-CN" altLang="en-US"/>
              <a:t>使用验证集监控模型性能。</a:t>
            </a:r>
            <a:endParaRPr lang="zh-CN" altLang="en-US"/>
          </a:p>
        </p:txBody>
      </p:sp>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4.3 </a:t>
            </a:r>
            <a:r>
              <a:rPr lang="zh-CN" altLang="en-US"/>
              <a:t>性能评估</a:t>
            </a:r>
            <a:endParaRPr lang="zh-CN" altLang="en-US"/>
          </a:p>
        </p:txBody>
      </p:sp>
      <p:sp>
        <p:nvSpPr>
          <p:cNvPr id="16" name="矩形 15"/>
          <p:cNvSpPr/>
          <p:nvPr>
            <p:custDataLst>
              <p:tags r:id="rId4"/>
            </p:custDataLst>
          </p:nvPr>
        </p:nvSpPr>
        <p:spPr>
          <a:xfrm>
            <a:off x="844550" y="174180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1065530" y="2205355"/>
            <a:ext cx="9810115" cy="3614420"/>
          </a:xfrm>
          <a:prstGeom prst="rect">
            <a:avLst/>
          </a:prstGeom>
        </p:spPr>
        <p:txBody>
          <a:bodyPr>
            <a:noAutofit/>
          </a:bodyPr>
          <a:p>
            <a:r>
              <a:rPr lang="zh-CN" altLang="en-US" sz="2000"/>
              <a:t>训练完成后，在测试集上评估模型：</a:t>
            </a:r>
            <a:endParaRPr lang="zh-CN" altLang="en-US" sz="2000"/>
          </a:p>
          <a:p>
            <a:endParaRPr lang="zh-CN" altLang="en-US" sz="2000"/>
          </a:p>
          <a:p>
            <a:pPr indent="0">
              <a:buFont typeface="Arial" panose="020B0604020202020204"/>
              <a:buNone/>
            </a:pPr>
            <a:r>
              <a:rPr lang="zh-CN" altLang="en-US" sz="2000"/>
              <a:t>预测：对测试集序列进行分类，输出结合概率。</a:t>
            </a:r>
            <a:endParaRPr lang="zh-CN" altLang="en-US" sz="2000"/>
          </a:p>
          <a:p>
            <a:pPr indent="0">
              <a:buFont typeface="Arial" panose="020B0604020202020204"/>
              <a:buNone/>
            </a:pPr>
            <a:endParaRPr lang="zh-CN" altLang="en-US" sz="2000"/>
          </a:p>
          <a:p>
            <a:pPr indent="0">
              <a:buFont typeface="Arial" panose="020B0604020202020204"/>
              <a:buNone/>
            </a:pPr>
            <a:r>
              <a:rPr lang="zh-CN" altLang="en-US" sz="2000"/>
              <a:t>可视化： </a:t>
            </a:r>
            <a:endParaRPr lang="zh-CN" altLang="en-US" sz="2000"/>
          </a:p>
          <a:p>
            <a:pPr lvl="1" indent="0">
              <a:buFont typeface="Arial" panose="020B0604020202020204"/>
              <a:buNone/>
            </a:pPr>
            <a:r>
              <a:rPr lang="zh-CN" altLang="en-US" sz="2000"/>
              <a:t>绘制 </a:t>
            </a:r>
            <a:r>
              <a:rPr lang="en-US" altLang="zh-CN" sz="2000"/>
              <a:t>ROC </a:t>
            </a:r>
            <a:r>
              <a:rPr lang="zh-CN" altLang="en-US" sz="2000"/>
              <a:t>曲线（接收者操作特征曲线）和 精确度</a:t>
            </a:r>
            <a:r>
              <a:rPr lang="en-US" altLang="zh-CN" sz="2000"/>
              <a:t>-</a:t>
            </a:r>
            <a:r>
              <a:rPr lang="zh-CN" altLang="en-US" sz="2000"/>
              <a:t>召回率曲线（</a:t>
            </a:r>
            <a:r>
              <a:rPr lang="en-US" altLang="zh-CN" sz="2000"/>
              <a:t>PR </a:t>
            </a:r>
            <a:r>
              <a:rPr lang="zh-CN" altLang="en-US" sz="2000"/>
              <a:t>曲线）。</a:t>
            </a:r>
            <a:endParaRPr lang="zh-CN" altLang="en-US" sz="2000"/>
          </a:p>
          <a:p>
            <a:pPr lvl="1" indent="0">
              <a:buFont typeface="Arial" panose="020B0604020202020204"/>
              <a:buNone/>
            </a:pPr>
            <a:endParaRPr lang="zh-CN" altLang="en-US" sz="2000"/>
          </a:p>
          <a:p>
            <a:pPr indent="0">
              <a:buFont typeface="Arial" panose="020B0604020202020204"/>
              <a:buNone/>
            </a:pPr>
            <a:r>
              <a:rPr lang="zh-CN" altLang="en-US" sz="2000"/>
              <a:t>统计指标：计算准确率、精确率、召回率、</a:t>
            </a:r>
            <a:r>
              <a:rPr lang="en-US" altLang="zh-CN" sz="2000"/>
              <a:t>F1 </a:t>
            </a:r>
            <a:r>
              <a:rPr lang="zh-CN" altLang="en-US" sz="2000"/>
              <a:t>分数和 </a:t>
            </a:r>
            <a:r>
              <a:rPr lang="en-US" altLang="zh-CN" sz="2000"/>
              <a:t>Matthews </a:t>
            </a:r>
            <a:r>
              <a:rPr lang="zh-CN" altLang="en-US" sz="2000"/>
              <a:t>相关系数（</a:t>
            </a:r>
            <a:r>
              <a:rPr lang="en-US" altLang="zh-CN" sz="2000"/>
              <a:t>MCC</a:t>
            </a:r>
            <a:r>
              <a:rPr lang="zh-CN" altLang="en-US" sz="2000"/>
              <a:t>）。</a:t>
            </a:r>
            <a:endParaRPr lang="zh-CN" altLang="en-US" sz="2000"/>
          </a:p>
        </p:txBody>
      </p:sp>
    </p:spTree>
    <p:custDataLst>
      <p:tags r:id="rId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5.1 </a:t>
            </a:r>
            <a:r>
              <a:rPr lang="zh-CN" altLang="en-US"/>
              <a:t>虚拟变体预测</a:t>
            </a:r>
            <a:endParaRPr lang="zh-CN" altLang="en-US"/>
          </a:p>
        </p:txBody>
      </p:sp>
      <p:sp>
        <p:nvSpPr>
          <p:cNvPr id="16" name="矩形 15"/>
          <p:cNvSpPr/>
          <p:nvPr>
            <p:custDataLst>
              <p:tags r:id="rId4"/>
            </p:custDataLst>
          </p:nvPr>
        </p:nvSpPr>
        <p:spPr>
          <a:xfrm>
            <a:off x="808990" y="171386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1046480" y="2051050"/>
            <a:ext cx="10050145" cy="3843655"/>
          </a:xfrm>
          <a:prstGeom prst="rect">
            <a:avLst/>
          </a:prstGeom>
        </p:spPr>
        <p:txBody>
          <a:bodyPr>
            <a:noAutofit/>
          </a:bodyPr>
          <a:p>
            <a:pPr>
              <a:spcAft>
                <a:spcPct val="60000"/>
              </a:spcAft>
            </a:pPr>
            <a:r>
              <a:rPr lang="zh-CN" altLang="en-US" sz="2400" b="1"/>
              <a:t>虚拟库生成</a:t>
            </a:r>
            <a:endParaRPr lang="zh-CN" altLang="en-US" sz="2400" b="1"/>
          </a:p>
          <a:p>
            <a:r>
              <a:rPr lang="zh-CN" altLang="en-US"/>
              <a:t>基于 </a:t>
            </a:r>
            <a:r>
              <a:rPr lang="en-US" altLang="zh-CN"/>
              <a:t>DMS </a:t>
            </a:r>
            <a:r>
              <a:rPr lang="zh-CN" altLang="en-US"/>
              <a:t>数据，论文生成了一个大规模虚拟突变库（约 </a:t>
            </a:r>
            <a:r>
              <a:rPr lang="en-US" altLang="zh-CN"/>
              <a:t>7.2×10⁷ </a:t>
            </a:r>
            <a:r>
              <a:rPr lang="zh-CN" altLang="en-US"/>
              <a:t>个变体），覆盖更广泛的序列空间。这些变体并未全部通过实验筛选，而是通过计算方法生成。</a:t>
            </a:r>
            <a:endParaRPr lang="zh-CN" altLang="en-US"/>
          </a:p>
          <a:p>
            <a:endParaRPr lang="zh-CN" altLang="en-US"/>
          </a:p>
          <a:p>
            <a:pPr>
              <a:spcAft>
                <a:spcPct val="60000"/>
              </a:spcAft>
            </a:pPr>
            <a:r>
              <a:rPr lang="zh-CN" altLang="en-US" sz="2400" b="1"/>
              <a:t>模型预测</a:t>
            </a:r>
            <a:endParaRPr lang="zh-CN" altLang="en-US" sz="2400" b="1"/>
          </a:p>
          <a:p>
            <a:r>
              <a:rPr lang="zh-CN" altLang="en-US"/>
              <a:t>使用训练好的 </a:t>
            </a:r>
            <a:r>
              <a:rPr lang="en-US" altLang="zh-CN"/>
              <a:t>CNN </a:t>
            </a:r>
            <a:r>
              <a:rPr lang="zh-CN" altLang="en-US"/>
              <a:t>模型，对虚拟变体进行预测：</a:t>
            </a:r>
            <a:endParaRPr lang="zh-CN" altLang="en-US"/>
          </a:p>
          <a:p>
            <a:pPr indent="0">
              <a:buFont typeface="Arial" panose="020B0604020202020204"/>
              <a:buNone/>
            </a:pPr>
            <a:r>
              <a:rPr lang="zh-CN" altLang="en-US"/>
              <a:t>输入：虚拟变体的独热编码序列。</a:t>
            </a:r>
            <a:endParaRPr lang="zh-CN" altLang="en-US"/>
          </a:p>
          <a:p>
            <a:pPr indent="0">
              <a:buFont typeface="Arial" panose="020B0604020202020204"/>
              <a:buNone/>
            </a:pPr>
            <a:r>
              <a:rPr lang="zh-CN" altLang="en-US"/>
              <a:t>输出：每个变体结合 </a:t>
            </a:r>
            <a:r>
              <a:rPr lang="en-US" altLang="zh-CN"/>
              <a:t>HER2 </a:t>
            </a:r>
            <a:r>
              <a:rPr lang="zh-CN" altLang="en-US"/>
              <a:t>的概率。</a:t>
            </a:r>
            <a:endParaRPr lang="zh-CN" altLang="en-US"/>
          </a:p>
        </p:txBody>
      </p:sp>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5.2 </a:t>
            </a:r>
            <a:r>
              <a:rPr lang="zh-CN" altLang="en-US"/>
              <a:t>虚拟变体</a:t>
            </a:r>
            <a:r>
              <a:rPr lang="zh-CN" altLang="en-US"/>
              <a:t>验证</a:t>
            </a:r>
            <a:endParaRPr lang="zh-CN" altLang="en-US"/>
          </a:p>
        </p:txBody>
      </p:sp>
      <p:sp>
        <p:nvSpPr>
          <p:cNvPr id="16" name="矩形 15"/>
          <p:cNvSpPr/>
          <p:nvPr>
            <p:custDataLst>
              <p:tags r:id="rId4"/>
            </p:custDataLst>
          </p:nvPr>
        </p:nvSpPr>
        <p:spPr>
          <a:xfrm>
            <a:off x="844550" y="1741805"/>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1016000" y="2038350"/>
            <a:ext cx="10098405" cy="3666490"/>
          </a:xfrm>
          <a:prstGeom prst="rect">
            <a:avLst/>
          </a:prstGeom>
        </p:spPr>
        <p:txBody>
          <a:bodyPr>
            <a:noAutofit/>
          </a:bodyPr>
          <a:p>
            <a:pPr indent="0">
              <a:buFont typeface="Arial" panose="020B0604020202020204"/>
              <a:buNone/>
            </a:pPr>
            <a:r>
              <a:rPr lang="zh-CN" altLang="en-US" sz="2000"/>
              <a:t>筛选高潜力变体：选择模型预测概率最高的变体。</a:t>
            </a:r>
            <a:endParaRPr lang="zh-CN" altLang="en-US" sz="2000"/>
          </a:p>
          <a:p>
            <a:pPr>
              <a:buFont typeface="Arial" panose="020B0604020202020204"/>
              <a:buChar char="•"/>
            </a:pPr>
            <a:endParaRPr lang="zh-CN" altLang="en-US" sz="2000"/>
          </a:p>
          <a:p>
            <a:pPr indent="0">
              <a:buFont typeface="Arial" panose="020B0604020202020204"/>
              <a:buNone/>
            </a:pPr>
            <a:r>
              <a:rPr lang="zh-CN" altLang="en-US" sz="2000"/>
              <a:t>细胞系构建：通过 </a:t>
            </a:r>
            <a:r>
              <a:rPr lang="en-US" altLang="zh-CN" sz="2000"/>
              <a:t>CRISPR-Cas9 </a:t>
            </a:r>
            <a:r>
              <a:rPr lang="zh-CN" altLang="en-US" sz="2000"/>
              <a:t>技术将这些变体导入细胞，表达抗体。</a:t>
            </a:r>
            <a:endParaRPr lang="zh-CN" altLang="en-US" sz="2000"/>
          </a:p>
          <a:p>
            <a:pPr>
              <a:buFont typeface="Arial" panose="020B0604020202020204"/>
              <a:buChar char="•"/>
            </a:pPr>
            <a:endParaRPr lang="zh-CN" altLang="en-US" sz="2000"/>
          </a:p>
          <a:p>
            <a:pPr indent="0">
              <a:buFont typeface="Arial" panose="020B0604020202020204"/>
              <a:buNone/>
            </a:pPr>
            <a:r>
              <a:rPr lang="zh-CN" altLang="en-US" sz="2000"/>
              <a:t>结合能力测试： </a:t>
            </a:r>
            <a:endParaRPr lang="zh-CN" altLang="en-US" sz="2000"/>
          </a:p>
          <a:p>
            <a:pPr lvl="1" indent="0">
              <a:buFont typeface="Arial" panose="020B0604020202020204"/>
              <a:buNone/>
            </a:pPr>
            <a:r>
              <a:rPr lang="zh-CN" altLang="en-US" sz="2000"/>
              <a:t>使用流式细胞术验证抗体与 </a:t>
            </a:r>
            <a:r>
              <a:rPr lang="en-US" altLang="zh-CN" sz="2000"/>
              <a:t>HER2 </a:t>
            </a:r>
            <a:r>
              <a:rPr lang="zh-CN" altLang="en-US" sz="2000"/>
              <a:t>的结合。</a:t>
            </a:r>
            <a:endParaRPr lang="zh-CN" altLang="en-US" sz="2000"/>
          </a:p>
          <a:p>
            <a:pPr lvl="1" indent="0">
              <a:buFont typeface="Arial" panose="020B0604020202020204"/>
              <a:buNone/>
            </a:pPr>
            <a:r>
              <a:rPr lang="zh-CN" altLang="en-US" sz="2000"/>
              <a:t>通过 生物层干涉法（</a:t>
            </a:r>
            <a:r>
              <a:rPr lang="en-US" altLang="zh-CN" sz="2000"/>
              <a:t>BLI</a:t>
            </a:r>
            <a:r>
              <a:rPr lang="zh-CN" altLang="en-US" sz="2000"/>
              <a:t>） 进一步量化结合亲和力。</a:t>
            </a:r>
            <a:endParaRPr lang="zh-CN" altLang="en-US" sz="2000"/>
          </a:p>
          <a:p>
            <a:pPr lvl="1">
              <a:buFont typeface="Arial" panose="020B0604020202020204"/>
              <a:buChar char="◦"/>
            </a:pPr>
            <a:endParaRPr lang="zh-CN" altLang="en-US" sz="2000"/>
          </a:p>
          <a:p>
            <a:pPr indent="0">
              <a:buFont typeface="Arial" panose="020B0604020202020204"/>
              <a:buNone/>
            </a:pPr>
            <a:r>
              <a:rPr lang="zh-CN" altLang="en-US" sz="2000"/>
              <a:t>结果：验证模型预测的准确性，确认优化变体的性能。</a:t>
            </a:r>
            <a:endParaRPr lang="zh-CN" altLang="en-US" sz="2000"/>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7" descr="8AAHHGN15TD8ZQ7H5V$9JNL.png"/>
          <p:cNvPicPr>
            <a:picLocks noChangeAspect="1"/>
          </p:cNvPicPr>
          <p:nvPr>
            <p:custDataLst>
              <p:tags r:id="rId1"/>
            </p:custDataLst>
          </p:nvPr>
        </p:nvPicPr>
        <p:blipFill>
          <a:blip r:embed="rId2"/>
          <a:stretch>
            <a:fillRect/>
          </a:stretch>
        </p:blipFill>
        <p:spPr>
          <a:xfrm>
            <a:off x="11203807" y="-1269"/>
            <a:ext cx="879039" cy="988485"/>
          </a:xfrm>
          <a:prstGeom prst="rect">
            <a:avLst/>
          </a:prstGeom>
          <a:noFill/>
          <a:ln w="9525">
            <a:noFill/>
          </a:ln>
        </p:spPr>
      </p:pic>
      <p:sp>
        <p:nvSpPr>
          <p:cNvPr id="2" name="标题 1"/>
          <p:cNvSpPr>
            <a:spLocks noGrp="1"/>
          </p:cNvSpPr>
          <p:nvPr>
            <p:ph type="title"/>
            <p:custDataLst>
              <p:tags r:id="rId3"/>
            </p:custDataLst>
          </p:nvPr>
        </p:nvSpPr>
        <p:spPr>
          <a:xfrm>
            <a:off x="609600" y="608330"/>
            <a:ext cx="10032365" cy="763270"/>
          </a:xfrm>
        </p:spPr>
        <p:txBody>
          <a:bodyPr>
            <a:normAutofit/>
          </a:bodyPr>
          <a:lstStyle/>
          <a:p>
            <a:r>
              <a:rPr lang="en-US" altLang="zh-CN"/>
              <a:t>6 </a:t>
            </a:r>
            <a:r>
              <a:rPr lang="zh-CN" altLang="en-US"/>
              <a:t>意义</a:t>
            </a:r>
            <a:endParaRPr lang="zh-CN" altLang="en-US"/>
          </a:p>
        </p:txBody>
      </p:sp>
      <p:sp>
        <p:nvSpPr>
          <p:cNvPr id="16" name="矩形 15"/>
          <p:cNvSpPr/>
          <p:nvPr>
            <p:custDataLst>
              <p:tags r:id="rId4"/>
            </p:custDataLst>
          </p:nvPr>
        </p:nvSpPr>
        <p:spPr>
          <a:xfrm>
            <a:off x="844550" y="1828800"/>
            <a:ext cx="10612755" cy="428752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5"/>
            </p:custDataLst>
          </p:nvPr>
        </p:nvSpPr>
        <p:spPr>
          <a:xfrm>
            <a:off x="808990" y="1713865"/>
            <a:ext cx="10574020" cy="43154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600" b="1" dirty="0">
              <a:solidFill>
                <a:schemeClr val="bg1"/>
              </a:solidFill>
              <a:latin typeface="Arial" panose="020B0604020202020204" pitchFamily="34" charset="0"/>
              <a:ea typeface="微软雅黑" panose="020B0503020204020204" charset="-122"/>
            </a:endParaRPr>
          </a:p>
        </p:txBody>
      </p:sp>
      <p:sp>
        <p:nvSpPr>
          <p:cNvPr id="8" name="文本框 7"/>
          <p:cNvSpPr txBox="1"/>
          <p:nvPr/>
        </p:nvSpPr>
        <p:spPr>
          <a:xfrm>
            <a:off x="1117600" y="2190750"/>
            <a:ext cx="9524365" cy="3563620"/>
          </a:xfrm>
          <a:prstGeom prst="rect">
            <a:avLst/>
          </a:prstGeom>
        </p:spPr>
        <p:txBody>
          <a:bodyPr>
            <a:noAutofit/>
          </a:bodyPr>
          <a:p>
            <a:pPr indent="0">
              <a:buFont typeface="Arial" panose="020B0604020202020204"/>
              <a:buNone/>
            </a:pPr>
            <a:r>
              <a:rPr lang="zh-CN" altLang="en-US" sz="2000"/>
              <a:t>突变库生成与筛选提供了高通量、高质量的序列</a:t>
            </a:r>
            <a:r>
              <a:rPr lang="en-US" altLang="zh-CN" sz="2000"/>
              <a:t>-</a:t>
            </a:r>
            <a:r>
              <a:rPr lang="zh-CN" altLang="en-US" sz="2000"/>
              <a:t>功能数据，奠定了机器学习的基础。</a:t>
            </a:r>
            <a:endParaRPr lang="zh-CN" altLang="en-US" sz="2000"/>
          </a:p>
          <a:p>
            <a:pPr indent="0">
              <a:buFont typeface="Arial" panose="020B0604020202020204"/>
              <a:buNone/>
            </a:pPr>
            <a:endParaRPr lang="zh-CN" altLang="en-US" sz="2000"/>
          </a:p>
          <a:p>
            <a:pPr indent="0">
              <a:buFont typeface="Arial" panose="020B0604020202020204"/>
              <a:buNone/>
            </a:pPr>
            <a:r>
              <a:rPr lang="zh-CN" altLang="en-US" sz="2000"/>
              <a:t>数据预处理将生物数据转化为计算模型的输入，确保了数据的可靠性和一致性。</a:t>
            </a:r>
            <a:endParaRPr lang="zh-CN" altLang="en-US" sz="2000"/>
          </a:p>
          <a:p>
            <a:pPr indent="0">
              <a:buFont typeface="Arial" panose="020B0604020202020204"/>
              <a:buNone/>
            </a:pPr>
            <a:endParaRPr lang="zh-CN" altLang="en-US" sz="2000"/>
          </a:p>
          <a:p>
            <a:pPr indent="0">
              <a:buFont typeface="Arial" panose="020B0604020202020204"/>
              <a:buNone/>
            </a:pPr>
            <a:r>
              <a:rPr lang="zh-CN" altLang="en-US" sz="2000"/>
              <a:t>机器学习模型训练建立了序列与抗原结合的预测模型，实现了从数据到知识的转化。</a:t>
            </a:r>
            <a:endParaRPr lang="zh-CN" altLang="en-US" sz="2000"/>
          </a:p>
          <a:p>
            <a:pPr indent="0">
              <a:buFont typeface="Arial" panose="020B0604020202020204"/>
              <a:buNone/>
            </a:pPr>
            <a:endParaRPr lang="zh-CN" altLang="en-US" sz="2000"/>
          </a:p>
          <a:p>
            <a:pPr indent="0">
              <a:buFont typeface="Arial" panose="020B0604020202020204"/>
              <a:buNone/>
            </a:pPr>
            <a:r>
              <a:rPr lang="zh-CN" altLang="en-US" sz="2000"/>
              <a:t>虚拟变体预测与验证将计算预测应用于实际优化，验证了模型的实用性，并生成了临床候选变体。</a:t>
            </a:r>
            <a:endParaRPr lang="zh-CN" altLang="en-US" sz="2000"/>
          </a:p>
        </p:txBody>
      </p:sp>
    </p:spTree>
    <p:custDataLst>
      <p:tags r:id="rId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70414"/>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2" name="文本框 1"/>
          <p:cNvSpPr txBox="1"/>
          <p:nvPr/>
        </p:nvSpPr>
        <p:spPr>
          <a:xfrm>
            <a:off x="5132810" y="2982050"/>
            <a:ext cx="2464612" cy="893899"/>
          </a:xfrm>
          <a:prstGeom prst="rect">
            <a:avLst/>
          </a:prstGeom>
          <a:noFill/>
        </p:spPr>
        <p:txBody>
          <a:bodyPr wrap="square">
            <a:spAutoFit/>
          </a:bodyPr>
          <a:lstStyle/>
          <a:p>
            <a:pPr marL="0" lvl="1" algn="just" fontAlgn="base">
              <a:lnSpc>
                <a:spcPct val="120000"/>
              </a:lnSpc>
            </a:pPr>
            <a:r>
              <a:rPr lang="zh-CN" altLang="en-US"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谢 谢！</a:t>
            </a:r>
            <a:endParaRPr lang="en-US" altLang="zh-CN"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3*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1"/>
</p:tagLst>
</file>

<file path=ppt/tags/tag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2*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22893233516027,&quot;left&quot;:51.30000000000001,&quot;top&quot;:128.2105338324199,&quot;width&quot;:853.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69.xml><?xml version="1.0" encoding="utf-8"?>
<p:tagLst xmlns:p="http://schemas.openxmlformats.org/presentationml/2006/main">
  <p:tag name="KSO_WM_DIAGRAM_VIRTUALLY_FRAME" val="{&quot;height&quot;:343.22893233516027,&quot;left&quot;:51.30000000000001,&quot;top&quot;:128.2105338324199,&quot;width&quot;:853.9}"/>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2*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的观点。"/>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1"/>
</p:tagLst>
</file>

<file path=ppt/tags/tag70.xml><?xml version="1.0" encoding="utf-8"?>
<p:tagLst xmlns:p="http://schemas.openxmlformats.org/presentationml/2006/main">
  <p:tag name="KSO_WM_DIAGRAM_VIRTUALLY_FRAME" val="{&quot;height&quot;:343.22893233516027,&quot;left&quot;:51.30000000000001,&quot;top&quot;:128.2105338324199,&quot;width&quot;:853.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2*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2*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22893233516027,&quot;left&quot;:51.30000000000001,&quot;top&quot;:128.2105338324199,&quot;width&quot;:853.9}"/>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72.xml><?xml version="1.0" encoding="utf-8"?>
<p:tagLst xmlns:p="http://schemas.openxmlformats.org/presentationml/2006/main">
  <p:tag name="KSO_WM_DIAGRAM_VIRTUALLY_FRAME" val="{&quot;height&quot;:343.22893233516027,&quot;left&quot;:51.30000000000001,&quot;top&quot;:128.2105338324199,&quot;width&quot;:853.9}"/>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2*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以便观者准确地理解您传达的思想单击此处添加文本具体内容。"/>
  <p:tag name="KSO_WM_UNIT_LINE_FORE_SCHEMECOLOR_INDEX" val="8"/>
  <p:tag name="KSO_WM_UNIT_LINE_FILL_TYPE" val="2"/>
  <p:tag name="KSO_WM_UNIT_TEXT_FILL_FORE_SCHEMECOLOR_INDEX" val="13"/>
  <p:tag name="KSO_WM_UNIT_TEXT_FILL_TYPE" val="1"/>
  <p:tag name="KSO_WM_UNIT_USESOURCEFORMAT_APPLY" val="1"/>
</p:tagLst>
</file>

<file path=ppt/tags/tag73.xml><?xml version="1.0" encoding="utf-8"?>
<p:tagLst xmlns:p="http://schemas.openxmlformats.org/presentationml/2006/main">
  <p:tag name="KSO_WM_DIAGRAM_VIRTUALLY_FRAME" val="{&quot;height&quot;:343.22893233516027,&quot;left&quot;:51.30000000000001,&quot;top&quot;:128.2105338324199,&quot;width&quot;:853.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2*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7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2*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22893233516027,&quot;left&quot;:51.30000000000001,&quot;top&quot;:128.2105338324199,&quot;width&quot;:853.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5.xml><?xml version="1.0" encoding="utf-8"?>
<p:tagLst xmlns:p="http://schemas.openxmlformats.org/presentationml/2006/main">
  <p:tag name="KSO_WM_DIAGRAM_VIRTUALLY_FRAME" val="{&quot;height&quot;:343.22893233516027,&quot;left&quot;:51.30000000000001,&quot;top&quot;:128.2105338324199,&quot;width&quot;:853.9}"/>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2*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LINE_FORE_SCHEMECOLOR_INDEX" val="5"/>
  <p:tag name="KSO_WM_UNIT_LINE_FILL_TYPE" val="2"/>
  <p:tag name="KSO_WM_UNIT_TEXT_FILL_FORE_SCHEMECOLOR_INDEX" val="13"/>
  <p:tag name="KSO_WM_UNIT_TEXT_FILL_TYPE" val="1"/>
  <p:tag name="KSO_WM_UNIT_USESOURCEFORMAT_APPLY" val="1"/>
</p:tagLst>
</file>

<file path=ppt/tags/tag76.xml><?xml version="1.0" encoding="utf-8"?>
<p:tagLst xmlns:p="http://schemas.openxmlformats.org/presentationml/2006/main">
  <p:tag name="KSO_WM_DIAGRAM_VIRTUALLY_FRAME" val="{&quot;height&quot;:343.22893233516027,&quot;left&quot;:51.30000000000001,&quot;top&quot;:128.2105338324199,&quot;width&quot;:853.9}"/>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07_2*l_h_i*1_3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51_11*a*1"/>
  <p:tag name="KSO_WM_TEMPLATE_CATEGORY" val="diagram"/>
  <p:tag name="KSO_WM_TEMPLATE_INDEX" val="20235151"/>
  <p:tag name="KSO_WM_UNIT_LAYERLEVEL" val="1"/>
  <p:tag name="KSO_WM_TAG_VERSION" val="3.0"/>
  <p:tag name="KSO_WM_BEAUTIFY_FLAG" val="#wm#"/>
  <p:tag name="KSO_WM_UNIT_TEXT_TYPE" val="1"/>
  <p:tag name="KSO_WM_UNIT_PRESET_TEXT" val="单击此处添加文档标题内容"/>
  <p:tag name="KSO_WM_UNIT_TEXT_FILL_FORE_SCHEMECOLOR_INDEX" val="13"/>
  <p:tag name="KSO_WM_UNIT_TEXT_FILL_TYPE" val="1"/>
  <p:tag name="KSO_WM_UNIT_USESOURCEFORMAT_APPLY" val="1"/>
</p:tagLst>
</file>

<file path=ppt/tags/tag8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VALUE" val="14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3*l_h_f*1_1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8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3*l_h_i*1_1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3*l_h_f*1_2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1"/>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8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3*l_h_i*1_2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8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3*l_h_f*1_3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3*l_h_i*1_3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8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3*l_h_f*1_4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1"/>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8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3*l_h_i*1_4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2.1281089623034,&quot;left&quot;:54.8,&quot;top&quot;:114.66094551884835,&quot;width&quot;:850.4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89.xml><?xml version="1.0" encoding="utf-8"?>
<p:tagLst xmlns:p="http://schemas.openxmlformats.org/presentationml/2006/main">
  <p:tag name="KSO_WM_SLIDE_ID" val="diagram20235151_11"/>
  <p:tag name="KSO_WM_TEMPLATE_SUBCATEGORY" val="0"/>
  <p:tag name="KSO_WM_TEMPLATE_MASTER_TYPE" val="0"/>
  <p:tag name="KSO_WM_TEMPLATE_COLOR_TYPE" val="0"/>
  <p:tag name="KSO_WM_SLIDE_ITEM_CNT" val="12"/>
  <p:tag name="KSO_WM_SLIDE_INDEX" val="11"/>
  <p:tag name="KSO_WM_TAG_VERSION" val="3.0"/>
  <p:tag name="KSO_WM_BEAUTIFY_FLAG" val="#wm#"/>
  <p:tag name="KSO_WM_TEMPLATE_CATEGORY" val="diagram"/>
  <p:tag name="KSO_WM_TEMPLATE_INDEX" val="20235151"/>
  <p:tag name="KSO_WM_SLIDE_TYPE" val="text"/>
  <p:tag name="KSO_WM_SLIDE_SUBTYPE" val="diag"/>
  <p:tag name="KSO_WM_SLIDE_SIZE" val="850.4*372.15"/>
  <p:tag name="KSO_WM_SLIDE_POSITION" val="54.8*114.65"/>
  <p:tag name="KSO_WM_SLIDE_LAYOUT" val="a_l"/>
  <p:tag name="KSO_WM_SLIDE_LAYOUT_CNT" val="1_1"/>
  <p:tag name="KSO_WM_SPECIAL_SOURCE" val="bdnull"/>
  <p:tag name="KSO_WM_DIAGRAM_GROUP_CODE" val="l1-1"/>
  <p:tag name="KSO_WM_SLIDE_DIAGTYPE" val="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92.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93.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9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0_1*f*1"/>
  <p:tag name="KSO_WM_TEMPLATE_CATEGORY" val="custom"/>
  <p:tag name="KSO_WM_TEMPLATE_INDEX" val="20235630"/>
  <p:tag name="KSO_WM_UNIT_LAYERLEVEL" val="1"/>
  <p:tag name="KSO_WM_TAG_VERSION" val="3.0"/>
  <p:tag name="KSO_WM_BEAUTIFY_FLAG" val="#wm#"/>
  <p:tag name="KSO_WM_UNIT_VALUE" val="414"/>
  <p:tag name="KSO_WM_UNIT_TEXT_TYPE" val="1"/>
  <p:tag name="KSO_WM_UNIT_PRESET_TEXT" val="单击此处添加小标题：&#10;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10;单击此处添加正文具体内容，文字是您思想的重要提炼。&#10;单击此处添加小标题：&#10;点击此处添加正文，文字是您思想的提炼，为了最终演示发布的良好效果，请简单的阐述观点。"/>
</p:tagLst>
</file>

<file path=ppt/tags/tag95.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98.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99.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0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3374_1*f*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101.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04.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05.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06.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09.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10.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11.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14.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15.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16.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19.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20.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21.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24.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25.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26.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29.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30.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31.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34.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35.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36.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39.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40.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41.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44.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45.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46.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custom20235630_1*a*1"/>
  <p:tag name="KSO_WM_TEMPLATE_CATEGORY" val="custom"/>
  <p:tag name="KSO_WM_TEMPLATE_INDEX" val="20235630"/>
  <p:tag name="KSO_WM_UNIT_LAYERLEVEL" val="1"/>
  <p:tag name="KSO_WM_TAG_VERSION" val="3.0"/>
  <p:tag name="KSO_WM_BEAUTIFY_FLAG" val="#wm#"/>
  <p:tag name="KSO_WM_UNIT_TEXT_TYPE" val="1"/>
  <p:tag name="KSO_WM_UNIT_PRESET_TEXT" val="单击此处添加标题"/>
</p:tagLst>
</file>

<file path=ppt/tags/tag149.xml><?xml version="1.0" encoding="utf-8"?>
<p:tagLst xmlns:p="http://schemas.openxmlformats.org/presentationml/2006/main">
  <p:tag name="KSO_WM_UNIT_COLOR_SCHEME_SHAPE_ID" val="1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0_1*i*1"/>
  <p:tag name="KSO_WM_TEMPLATE_CATEGORY" val="custom"/>
  <p:tag name="KSO_WM_TEMPLATE_INDEX" val="20235630"/>
  <p:tag name="KSO_WM_UNIT_LAYERLEVEL" val="1"/>
  <p:tag name="KSO_WM_TAG_VERSION" val="3.0"/>
  <p:tag name="KSO_WM_BEAUTIFY_FLAG" val="#wm#"/>
</p:tagLst>
</file>

<file path=ppt/tags/tag150.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custom20235630_1*i*2"/>
  <p:tag name="KSO_WM_TEMPLATE_CATEGORY" val="custom"/>
  <p:tag name="KSO_WM_TEMPLATE_INDEX" val="20235630"/>
  <p:tag name="KSO_WM_UNIT_LAYERLEVEL" val="1"/>
  <p:tag name="KSO_WM_TAG_VERSION" val="3.0"/>
  <p:tag name="KSO_WM_BEAUTIFY_FLAG" val="#wm#"/>
</p:tagLst>
</file>

<file path=ppt/tags/tag151.xml><?xml version="1.0" encoding="utf-8"?>
<p:tagLst xmlns:p="http://schemas.openxmlformats.org/presentationml/2006/main">
  <p:tag name="KSO_WM_SLIDE_COLORSCHEME_VERSION" val="3.2"/>
  <p:tag name="KSO_WM_SLIDE_ID" val="custom2023563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64*444"/>
  <p:tag name="KSO_WM_SLIDE_POSITION" val="48*47"/>
  <p:tag name="KSO_WM_TAG_VERSION" val="3.0"/>
  <p:tag name="KSO_WM_BEAUTIFY_FLAG" val="#wm#"/>
  <p:tag name="KSO_WM_TEMPLATE_CATEGORY" val="custom"/>
  <p:tag name="KSO_WM_TEMPLATE_INDEX" val="20235630"/>
  <p:tag name="KSO_WM_SLIDE_LAYOUT" val="a_f"/>
  <p:tag name="KSO_WM_SLIDE_LAYOUT_CNT" val="1_1"/>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COMMONDATA" val="eyJoZGlkIjoiYjk4Y2RmYWE5Y2FjZjE1OTMzMDFlYzg5ODNmZmE2NDA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3094</Words>
  <Application>WPS 演示</Application>
  <PresentationFormat>宽屏</PresentationFormat>
  <Paragraphs>180</Paragraphs>
  <Slides>17</Slides>
  <Notes>38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宋体</vt:lpstr>
      <vt:lpstr>Wingdings</vt:lpstr>
      <vt:lpstr>Wingdings</vt:lpstr>
      <vt:lpstr>Arial</vt:lpstr>
      <vt:lpstr>微软雅黑</vt:lpstr>
      <vt:lpstr>Times New Roman</vt:lpstr>
      <vt:lpstr>Consolas</vt:lpstr>
      <vt:lpstr>Arial Unicode MS</vt:lpstr>
      <vt:lpstr>等线</vt:lpstr>
      <vt:lpstr>WPS</vt:lpstr>
      <vt:lpstr>PowerPoint 演示文稿</vt:lpstr>
      <vt:lpstr>PowerPoint 演示文稿</vt:lpstr>
      <vt:lpstr>1.1 摘要</vt:lpstr>
      <vt:lpstr>1.2 流程梳理</vt:lpstr>
      <vt:lpstr>2.1 突变库设计</vt:lpstr>
      <vt:lpstr>2.2 细胞表达与筛选</vt:lpstr>
      <vt:lpstr>2.3 深度测序</vt:lpstr>
      <vt:lpstr>3.1 MiXCR 数据处理</vt:lpstr>
      <vt:lpstr>3.2 序列切片</vt:lpstr>
      <vt:lpstr>3.3 数据集构建</vt:lpstr>
      <vt:lpstr>4.1 数据编码</vt:lpstr>
      <vt:lpstr>4.2 CNN模型设计</vt:lpstr>
      <vt:lpstr>4.3 性能评估</vt:lpstr>
      <vt:lpstr>5.1 虚拟变体预测</vt:lpstr>
      <vt:lpstr>5.2 虚拟变体验证</vt:lpstr>
      <vt:lpstr>6 意义</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xuechen lan</dc:creator>
  <cp:lastModifiedBy>风华正茂</cp:lastModifiedBy>
  <cp:revision>258</cp:revision>
  <dcterms:created xsi:type="dcterms:W3CDTF">2024-11-16T13:08:00Z</dcterms:created>
  <dcterms:modified xsi:type="dcterms:W3CDTF">2025-04-18T03:15:21Z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F5FF2F86B7124E00BCD8C73738B07681_12</vt:lpwstr>
  </property>
  <property fmtid="{D5CDD505-2E9C-101B-9397-08002B2CF9AE}" pid="3" name="KSOProductBuildVer">
    <vt:lpwstr>2052-12.1.0.20784</vt:lpwstr>
  </property>
</Properties>
</file>