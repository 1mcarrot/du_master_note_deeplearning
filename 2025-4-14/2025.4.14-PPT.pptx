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59" r:id="rId3"/>
    <p:sldId id="466" r:id="rId5"/>
    <p:sldId id="603" r:id="rId6"/>
    <p:sldId id="470" r:id="rId7"/>
    <p:sldId id="540" r:id="rId8"/>
    <p:sldId id="585" r:id="rId9"/>
    <p:sldId id="586" r:id="rId10"/>
    <p:sldId id="587" r:id="rId11"/>
    <p:sldId id="588" r:id="rId12"/>
    <p:sldId id="589" r:id="rId13"/>
    <p:sldId id="590" r:id="rId14"/>
    <p:sldId id="591" r:id="rId15"/>
    <p:sldId id="592" r:id="rId16"/>
    <p:sldId id="593" r:id="rId17"/>
    <p:sldId id="594" r:id="rId18"/>
    <p:sldId id="579" r:id="rId19"/>
    <p:sldId id="604" r:id="rId20"/>
    <p:sldId id="595" r:id="rId21"/>
    <p:sldId id="596" r:id="rId22"/>
    <p:sldId id="600" r:id="rId23"/>
    <p:sldId id="605" r:id="rId24"/>
    <p:sldId id="606" r:id="rId25"/>
    <p:sldId id="611" r:id="rId26"/>
    <p:sldId id="615" r:id="rId27"/>
    <p:sldId id="613" r:id="rId28"/>
    <p:sldId id="616" r:id="rId29"/>
    <p:sldId id="617" r:id="rId30"/>
    <p:sldId id="618" r:id="rId31"/>
    <p:sldId id="619" r:id="rId32"/>
    <p:sldId id="621" r:id="rId33"/>
    <p:sldId id="623" r:id="rId34"/>
    <p:sldId id="628" r:id="rId35"/>
    <p:sldId id="599" r:id="rId36"/>
    <p:sldId id="624" r:id="rId37"/>
    <p:sldId id="625" r:id="rId38"/>
    <p:sldId id="626" r:id="rId39"/>
    <p:sldId id="627" r:id="rId40"/>
    <p:sldId id="497" r:id="rId41"/>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4660"/>
  </p:normalViewPr>
  <p:slideViewPr>
    <p:cSldViewPr snapToGrid="0">
      <p:cViewPr varScale="1">
        <p:scale>
          <a:sx n="80" d="100"/>
          <a:sy n="80" d="100"/>
        </p:scale>
        <p:origin x="73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gs" Target="tags/tag17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6D8EF-FF10-4018-846A-D712F3478F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1B9F13-8F08-49E6-9A2C-1C81E5F4088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23" name="矩形 22"/>
          <p:cNvSpPr/>
          <p:nvPr userDrawn="1">
            <p:custDataLst>
              <p:tags r:id="rId7"/>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mn-lt"/>
              <a:ea typeface="+mn-ea"/>
              <a:cs typeface="+mn-cs"/>
            </a:endParaRPr>
          </a:p>
        </p:txBody>
      </p:sp>
      <p:pic>
        <p:nvPicPr>
          <p:cNvPr id="8" name="图片 7" descr="8AAHHGN15TD8ZQ7H5V$9JNL.png"/>
          <p:cNvPicPr>
            <a:picLocks noChangeAspect="1"/>
          </p:cNvPicPr>
          <p:nvPr userDrawn="1">
            <p:custDataLst>
              <p:tags r:id="rId8"/>
            </p:custDataLst>
          </p:nvPr>
        </p:nvPicPr>
        <p:blipFill>
          <a:blip r:embed="rId9"/>
          <a:stretch>
            <a:fillRect/>
          </a:stretch>
        </p:blipFill>
        <p:spPr>
          <a:xfrm>
            <a:off x="11203807" y="-1269"/>
            <a:ext cx="879039" cy="988485"/>
          </a:xfrm>
          <a:prstGeom prst="rect">
            <a:avLst/>
          </a:prstGeom>
          <a:noFill/>
          <a:ln w="952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tags" Target="../tags/tag66.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png"/><Relationship Id="rId2" Type="http://schemas.openxmlformats.org/officeDocument/2006/relationships/tags" Target="../tags/tag109.xml"/><Relationship Id="rId1" Type="http://schemas.openxmlformats.org/officeDocument/2006/relationships/tags" Target="../tags/tag108.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png"/><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png"/><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png"/><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png"/><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png"/><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png"/><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png"/><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png"/><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png"/><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png"/><Relationship Id="rId2" Type="http://schemas.openxmlformats.org/officeDocument/2006/relationships/tags" Target="../tags/tag153.xml"/><Relationship Id="rId1" Type="http://schemas.openxmlformats.org/officeDocument/2006/relationships/tags" Target="../tags/tag152.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tags" Target="../tags/tag170.xml"/><Relationship Id="rId1" Type="http://schemas.openxmlformats.org/officeDocument/2006/relationships/tags" Target="../tags/tag1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516" y="1361217"/>
            <a:ext cx="12130480" cy="1958975"/>
          </a:xfrm>
          <a:prstGeom prst="rect">
            <a:avLst/>
          </a:prstGeom>
          <a:solidFill>
            <a:srgbClr val="132A8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anchor="ct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425" b="0" i="0" u="none" strike="noStrike" kern="1200" cap="none" spc="0" normalizeH="0" baseline="0" noProof="1">
                <a:ln>
                  <a:noFill/>
                </a:ln>
                <a:solidFill>
                  <a:srgbClr val="1B0FB0"/>
                </a:solidFill>
                <a:effectLst/>
                <a:uLnTx/>
                <a:uFillTx/>
                <a:latin typeface="Arial" panose="020B0604020202020204"/>
                <a:ea typeface="微软雅黑" panose="020B0503020204020204" charset="-122"/>
                <a:cs typeface="+mn-cs"/>
              </a:rPr>
              <a:t> </a:t>
            </a:r>
            <a:endParaRPr kumimoji="0" lang="zh-CN" altLang="en-US" sz="1425" b="0" i="0" u="none" strike="noStrike" kern="1200" cap="none" spc="0" normalizeH="0" baseline="0" noProof="1">
              <a:ln>
                <a:noFill/>
              </a:ln>
              <a:solidFill>
                <a:srgbClr val="1B0FB0"/>
              </a:solidFill>
              <a:effectLst/>
              <a:uLnTx/>
              <a:uFillTx/>
              <a:latin typeface="Arial" panose="020B0604020202020204"/>
              <a:ea typeface="微软雅黑" panose="020B0503020204020204" charset="-122"/>
              <a:cs typeface="+mn-cs"/>
            </a:endParaRPr>
          </a:p>
        </p:txBody>
      </p:sp>
      <p:grpSp>
        <p:nvGrpSpPr>
          <p:cNvPr id="3076" name="组合 8"/>
          <p:cNvGrpSpPr/>
          <p:nvPr/>
        </p:nvGrpSpPr>
        <p:grpSpPr>
          <a:xfrm>
            <a:off x="93626" y="1484991"/>
            <a:ext cx="11943226" cy="1728385"/>
            <a:chOff x="0" y="1397"/>
            <a:chExt cx="19198" cy="4610"/>
          </a:xfrm>
        </p:grpSpPr>
        <p:sp>
          <p:nvSpPr>
            <p:cNvPr id="3078" name="TextBox 22"/>
            <p:cNvSpPr txBox="1"/>
            <p:nvPr/>
          </p:nvSpPr>
          <p:spPr>
            <a:xfrm>
              <a:off x="4432" y="1785"/>
              <a:ext cx="10432" cy="3790"/>
            </a:xfrm>
            <a:prstGeom prst="rect">
              <a:avLst/>
            </a:prstGeom>
            <a:noFill/>
            <a:ln w="9525">
              <a:noFill/>
            </a:ln>
          </p:spPr>
          <p:txBody>
            <a:bodyPr wrap="square" lIns="68579" tIns="34289" rIns="68579" bIns="34289">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文献汇报</a:t>
              </a:r>
              <a:endParaRPr kumimoji="0" lang="zh-CN" altLang="en-US" sz="8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079" name="直接连接符 10"/>
            <p:cNvCxnSpPr/>
            <p:nvPr/>
          </p:nvCxnSpPr>
          <p:spPr>
            <a:xfrm>
              <a:off x="0" y="6007"/>
              <a:ext cx="19198" cy="0"/>
            </a:xfrm>
            <a:prstGeom prst="line">
              <a:avLst/>
            </a:prstGeom>
            <a:ln w="19050" cap="flat" cmpd="sng">
              <a:solidFill>
                <a:srgbClr val="FFFFFF"/>
              </a:solidFill>
              <a:prstDash val="solid"/>
              <a:headEnd type="none" w="med" len="med"/>
              <a:tailEnd type="none" w="med" len="med"/>
            </a:ln>
          </p:spPr>
        </p:cxnSp>
        <p:cxnSp>
          <p:nvCxnSpPr>
            <p:cNvPr id="3080" name="直接连接符 11"/>
            <p:cNvCxnSpPr/>
            <p:nvPr/>
          </p:nvCxnSpPr>
          <p:spPr>
            <a:xfrm>
              <a:off x="0" y="1397"/>
              <a:ext cx="19198" cy="0"/>
            </a:xfrm>
            <a:prstGeom prst="line">
              <a:avLst/>
            </a:prstGeom>
            <a:ln w="19050" cap="flat" cmpd="sng">
              <a:solidFill>
                <a:srgbClr val="FFFFFF"/>
              </a:solidFill>
              <a:prstDash val="solid"/>
              <a:headEnd type="none" w="med" len="med"/>
              <a:tailEnd type="none" w="med" len="med"/>
            </a:ln>
          </p:spPr>
        </p:cxnSp>
      </p:grpSp>
      <p:sp>
        <p:nvSpPr>
          <p:cNvPr id="2" name="矩形 2"/>
          <p:cNvSpPr/>
          <p:nvPr/>
        </p:nvSpPr>
        <p:spPr>
          <a:xfrm>
            <a:off x="4321983" y="4166543"/>
            <a:ext cx="4079240" cy="1753235"/>
          </a:xfrm>
          <a:prstGeom prst="rect">
            <a:avLst/>
          </a:prstGeom>
          <a:noFill/>
          <a:ln w="9525">
            <a:noFill/>
          </a:ln>
        </p:spPr>
        <p:txBody>
          <a:bodyPr wrap="non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报  告  人：</a:t>
            </a:r>
            <a:r>
              <a:rPr lang="zh-CN" altLang="en-US" sz="2400" b="1" dirty="0">
                <a:solidFill>
                  <a:prstClr val="black"/>
                </a:solidFill>
                <a:latin typeface="Times New Roman" panose="02020603050405020304" pitchFamily="18" charset="0"/>
                <a:ea typeface="宋体" panose="02010600030101010101" pitchFamily="2" charset="-122"/>
              </a:rPr>
              <a:t>杜博</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指导老师：朱善良  </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报告日期：</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2025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年 </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4</a:t>
            </a:r>
            <a:r>
              <a:rPr lang="en-US" altLang="zh-CN" sz="2400" b="1" dirty="0">
                <a:solidFill>
                  <a:prstClr val="black"/>
                </a:solidFill>
                <a:latin typeface="Times New Roman" panose="02020603050405020304" pitchFamily="18" charset="0"/>
                <a:ea typeface="宋体" panose="02010600030101010101" pitchFamily="2" charset="-122"/>
              </a:rPr>
              <a:t>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月</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14</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日</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advTm="6483">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sp>
        <p:nvSpPr>
          <p:cNvPr id="3" name="文本框 2"/>
          <p:cNvSpPr txBox="1"/>
          <p:nvPr/>
        </p:nvSpPr>
        <p:spPr>
          <a:xfrm>
            <a:off x="3573145" y="2264835"/>
            <a:ext cx="8129270" cy="2328330"/>
          </a:xfrm>
          <a:prstGeom prst="rect">
            <a:avLst/>
          </a:prstGeom>
          <a:noFill/>
        </p:spPr>
        <p:txBody>
          <a:bodyPr wrap="square">
            <a:spAutoFit/>
          </a:bodyPr>
          <a:lstStyle/>
          <a:p>
            <a:pPr algn="l" fontAlgn="base">
              <a:lnSpc>
                <a:spcPct val="160000"/>
              </a:lnSpc>
              <a:buFont typeface="+mj-lt"/>
              <a:buAutoNum type="arabicPeriod"/>
            </a:pPr>
            <a:r>
              <a:rPr lang="zh-CN" altLang="en-US" sz="3200" b="1" i="0" dirty="0">
                <a:solidFill>
                  <a:schemeClr val="accent1">
                    <a:lumMod val="75000"/>
                  </a:schemeClr>
                </a:solidFill>
                <a:effectLst/>
                <a:latin typeface="宋体" panose="02010600030101010101" pitchFamily="2" charset="-122"/>
                <a:ea typeface="宋体" panose="02010600030101010101" pitchFamily="2" charset="-122"/>
              </a:rPr>
              <a:t>通过抗体序列预测抗原特异性</a:t>
            </a:r>
            <a:endParaRPr lang="en-US" altLang="zh-CN" sz="3200" b="1" i="0" dirty="0">
              <a:solidFill>
                <a:schemeClr val="accent1">
                  <a:lumMod val="75000"/>
                </a:schemeClr>
              </a:solidFill>
              <a:effectLst/>
              <a:latin typeface="宋体" panose="02010600030101010101" pitchFamily="2" charset="-122"/>
              <a:ea typeface="宋体" panose="02010600030101010101" pitchFamily="2" charset="-122"/>
            </a:endParaRPr>
          </a:p>
          <a:p>
            <a:pPr algn="l" fontAlgn="base">
              <a:lnSpc>
                <a:spcPct val="160000"/>
              </a:lnSpc>
              <a:buFont typeface="+mj-lt"/>
              <a:buAutoNum type="arabicPeriod"/>
            </a:pPr>
            <a:r>
              <a:rPr lang="en-US" altLang="zh-CN" sz="3200" b="1" dirty="0">
                <a:solidFill>
                  <a:schemeClr val="accent1">
                    <a:lumMod val="75000"/>
                  </a:schemeClr>
                </a:solidFill>
                <a:latin typeface="宋体" panose="02010600030101010101" pitchFamily="2" charset="-122"/>
                <a:ea typeface="宋体" panose="02010600030101010101" pitchFamily="2" charset="-122"/>
              </a:rPr>
              <a:t>TAPE</a:t>
            </a:r>
            <a:r>
              <a:rPr lang="zh-CN" altLang="en-US" sz="3200" b="1" dirty="0">
                <a:solidFill>
                  <a:schemeClr val="accent1">
                    <a:lumMod val="75000"/>
                  </a:schemeClr>
                </a:solidFill>
                <a:latin typeface="宋体" panose="02010600030101010101" pitchFamily="2" charset="-122"/>
                <a:ea typeface="宋体" panose="02010600030101010101" pitchFamily="2" charset="-122"/>
              </a:rPr>
              <a:t>评估蛋白质学习任务</a:t>
            </a:r>
            <a:endParaRPr lang="en-US" altLang="zh-CN" sz="3200" b="1" dirty="0">
              <a:solidFill>
                <a:schemeClr val="accent1">
                  <a:lumMod val="75000"/>
                </a:schemeClr>
              </a:solidFill>
              <a:latin typeface="宋体" panose="02010600030101010101" pitchFamily="2" charset="-122"/>
              <a:ea typeface="宋体" panose="02010600030101010101" pitchFamily="2" charset="-122"/>
            </a:endParaRPr>
          </a:p>
          <a:p>
            <a:pPr algn="l" fontAlgn="base">
              <a:lnSpc>
                <a:spcPct val="160000"/>
              </a:lnSpc>
              <a:buFont typeface="+mj-lt"/>
              <a:buAutoNum type="arabicPeriod"/>
            </a:pPr>
            <a:r>
              <a:rPr lang="zh-CN" altLang="en-US" sz="3200" b="1" dirty="0">
                <a:solidFill>
                  <a:schemeClr val="accent1">
                    <a:lumMod val="75000"/>
                  </a:schemeClr>
                </a:solidFill>
                <a:latin typeface="宋体" panose="02010600030101010101" pitchFamily="2" charset="-122"/>
                <a:ea typeface="宋体" panose="02010600030101010101" pitchFamily="2" charset="-122"/>
              </a:rPr>
              <a:t>抗体互补决定区设计</a:t>
            </a:r>
            <a:endParaRPr lang="zh-CN" altLang="en-US" sz="3200" b="1" dirty="0">
              <a:solidFill>
                <a:schemeClr val="accent1">
                  <a:lumMod val="75000"/>
                </a:schemeClr>
              </a:solidFill>
              <a:latin typeface="宋体" panose="02010600030101010101" pitchFamily="2" charset="-122"/>
              <a:ea typeface="宋体" panose="02010600030101010101" pitchFamily="2" charset="-122"/>
            </a:endParaRPr>
          </a:p>
        </p:txBody>
      </p:sp>
      <p:sp>
        <p:nvSpPr>
          <p:cNvPr id="4" name="文本框 23"/>
          <p:cNvSpPr txBox="1"/>
          <p:nvPr/>
        </p:nvSpPr>
        <p:spPr>
          <a:xfrm>
            <a:off x="735965" y="2984226"/>
            <a:ext cx="2837180" cy="1260475"/>
          </a:xfrm>
          <a:prstGeom prst="rect">
            <a:avLst/>
          </a:prstGeom>
          <a:noFill/>
          <a:ln w="9525">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sz="4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mn-cs"/>
              </a:rPr>
              <a:t>目录</a:t>
            </a:r>
            <a:endParaRPr kumimoji="0" lang="zh-CN" sz="4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mn-cs"/>
            </a:endParaRPr>
          </a:p>
          <a:p>
            <a:pPr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sz="32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Times New Roman" panose="02020603050405020304" pitchFamily="18" charset="0"/>
              </a:rPr>
              <a:t>Contents</a:t>
            </a:r>
            <a:endParaRPr kumimoji="0" lang="zh-CN" sz="32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transition spd="slow" advTm="14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pic>
        <p:nvPicPr>
          <p:cNvPr id="5" name="图片 4"/>
          <p:cNvPicPr>
            <a:picLocks noChangeAspect="1"/>
          </p:cNvPicPr>
          <p:nvPr/>
        </p:nvPicPr>
        <p:blipFill>
          <a:blip r:embed="rId4"/>
          <a:stretch>
            <a:fillRect/>
          </a:stretch>
        </p:blipFill>
        <p:spPr>
          <a:xfrm>
            <a:off x="381000" y="84178"/>
            <a:ext cx="10287000" cy="6689643"/>
          </a:xfrm>
          <a:prstGeom prst="rect">
            <a:avLst/>
          </a:prstGeom>
        </p:spPr>
      </p:pic>
    </p:spTree>
  </p:cSld>
  <p:clrMapOvr>
    <a:masterClrMapping/>
  </p:clrMapOvr>
  <p:transition spd="slow" advTm="14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1.1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摘要</a:t>
            </a:r>
            <a:endPar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635000" y="1767522"/>
            <a:ext cx="10922000" cy="3322955"/>
          </a:xfrm>
          <a:prstGeom prst="rect">
            <a:avLst/>
          </a:prstGeom>
          <a:noFill/>
        </p:spPr>
        <p:txBody>
          <a:bodyPr wrap="square" rtlCol="0" anchor="t">
            <a:spAutoFit/>
          </a:bodyPr>
          <a:lstStyle/>
          <a:p>
            <a:pPr indent="457200" fontAlgn="auto">
              <a:lnSpc>
                <a:spcPct val="120000"/>
              </a:lnSpc>
            </a:pPr>
            <a:r>
              <a:rPr lang="zh-CN" altLang="en-US" sz="2500" dirty="0">
                <a:latin typeface="宋体" panose="02010600030101010101" pitchFamily="2" charset="-122"/>
                <a:ea typeface="宋体" panose="02010600030101010101" pitchFamily="2" charset="-122"/>
              </a:rPr>
              <a:t>  治疗性抗体的优化是一项耗时且资源密集的任务，主要是因为在哺乳动物细胞中表达的全长抗体的低通量筛选通常只能产生少数优化的候选者。</a:t>
            </a:r>
            <a:endParaRPr lang="zh-CN" altLang="en-US" sz="2500" dirty="0">
              <a:latin typeface="宋体" panose="02010600030101010101" pitchFamily="2" charset="-122"/>
              <a:ea typeface="宋体" panose="02010600030101010101" pitchFamily="2" charset="-122"/>
            </a:endParaRPr>
          </a:p>
          <a:p>
            <a:pPr indent="457200" fontAlgn="auto">
              <a:lnSpc>
                <a:spcPct val="120000"/>
              </a:lnSpc>
            </a:pPr>
            <a:r>
              <a:rPr lang="zh-CN" altLang="en-US" sz="2500" dirty="0">
                <a:latin typeface="宋体" panose="02010600030101010101" pitchFamily="2" charset="-122"/>
                <a:ea typeface="宋体" panose="02010600030101010101" pitchFamily="2" charset="-122"/>
              </a:rPr>
              <a:t>  文献展示了一种通过预测抗原特异性来识别优化抗体变体的方法，该方法利用了深度学习技术。</a:t>
            </a:r>
            <a:endParaRPr lang="zh-CN" altLang="en-US" sz="2500" dirty="0">
              <a:latin typeface="宋体" panose="02010600030101010101" pitchFamily="2" charset="-122"/>
              <a:ea typeface="宋体" panose="02010600030101010101" pitchFamily="2" charset="-122"/>
            </a:endParaRPr>
          </a:p>
          <a:p>
            <a:pPr indent="457200" fontAlgn="auto">
              <a:lnSpc>
                <a:spcPct val="120000"/>
              </a:lnSpc>
            </a:pPr>
            <a:r>
              <a:rPr lang="zh-CN" altLang="en-US" sz="2500" dirty="0">
                <a:latin typeface="宋体" panose="02010600030101010101" pitchFamily="2" charset="-122"/>
                <a:ea typeface="宋体" panose="02010600030101010101" pitchFamily="2" charset="-122"/>
              </a:rPr>
              <a:t>  作者开发了一种深度学习模型，经过训练后能够</a:t>
            </a:r>
            <a:r>
              <a:rPr lang="zh-CN" altLang="en-US" sz="2500" dirty="0">
                <a:solidFill>
                  <a:srgbClr val="FF0000"/>
                </a:solidFill>
                <a:latin typeface="宋体" panose="02010600030101010101" pitchFamily="2" charset="-122"/>
                <a:ea typeface="宋体" panose="02010600030101010101" pitchFamily="2" charset="-122"/>
              </a:rPr>
              <a:t>从抗体序列中预测抗原特异性</a:t>
            </a:r>
            <a:r>
              <a:rPr lang="zh-CN" altLang="en-US" sz="2500" dirty="0">
                <a:latin typeface="宋体" panose="02010600030101010101" pitchFamily="2" charset="-122"/>
                <a:ea typeface="宋体" panose="02010600030101010101" pitchFamily="2" charset="-122"/>
              </a:rPr>
              <a:t>。最后验证了该方法在优化治疗性抗体方面的有效性，特别是在提高抗体的亲和力和特异性方面。</a:t>
            </a:r>
            <a:endParaRPr lang="zh-CN" altLang="en-US" sz="25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70" b="1" dirty="0">
                <a:solidFill>
                  <a:prstClr val="white"/>
                </a:solidFill>
                <a:latin typeface="Times New Roman" panose="02020603050405020304" pitchFamily="18" charset="0"/>
                <a:ea typeface="微软雅黑" panose="020B0503020204020204" charset="-122"/>
              </a:rPr>
              <a:t>1</a:t>
            </a:r>
            <a:r>
              <a:rPr kumimoji="0" lang="en-US" altLang="zh-CN"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.2.1 </a:t>
            </a:r>
            <a:r>
              <a:rPr kumimoji="0" lang="zh-CN" altLang="en-US"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突变库的构建</a:t>
            </a:r>
            <a:endParaRPr kumimoji="0" lang="zh-CN" altLang="en-US" sz="427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4" name="文本框 3"/>
          <p:cNvSpPr txBox="1"/>
          <p:nvPr/>
        </p:nvSpPr>
        <p:spPr>
          <a:xfrm>
            <a:off x="728661" y="1609399"/>
            <a:ext cx="10634663" cy="461665"/>
          </a:xfrm>
          <a:prstGeom prst="rect">
            <a:avLst/>
          </a:prstGeom>
          <a:noFill/>
        </p:spPr>
        <p:txBody>
          <a:bodyPr wrap="square">
            <a:spAutoFit/>
          </a:bodyPr>
          <a:lstStyle/>
          <a:p>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使用表达赫赛汀变体（</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突变导致</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HER2</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结合丧失）的杂交瘤细胞系</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728661" y="2703833"/>
            <a:ext cx="9732194" cy="1569660"/>
          </a:xfrm>
          <a:prstGeom prst="rect">
            <a:avLst/>
          </a:prstGeom>
          <a:noFill/>
        </p:spPr>
        <p:txBody>
          <a:bodyPr wrap="square">
            <a:spAutoFit/>
          </a:bodyPr>
          <a:lstStyle/>
          <a:p>
            <a:pPr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CRISPR-Cas9</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介导的同源定向诱变（</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HDM</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）构建文库：</a:t>
            </a:r>
            <a:endPar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 (1) </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转靶向</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gRNA</a:t>
            </a:r>
            <a:endPar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引入含</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NNK</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简并密码子的单链寡核苷酸（</a:t>
            </a:r>
            <a:r>
              <a:rPr lang="en-US" altLang="zh-CN" sz="2400" b="0" i="0" dirty="0" err="1">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ssODN</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）模板库</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70" b="1" dirty="0">
                <a:solidFill>
                  <a:prstClr val="white"/>
                </a:solidFill>
                <a:latin typeface="Times New Roman" panose="02020603050405020304" pitchFamily="18" charset="0"/>
                <a:ea typeface="微软雅黑" panose="020B0503020204020204" charset="-122"/>
              </a:rPr>
              <a:t>1</a:t>
            </a:r>
            <a:r>
              <a:rPr kumimoji="0" lang="en-US" altLang="zh-CN"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.2.2 </a:t>
            </a:r>
            <a:r>
              <a:rPr lang="zh-CN" altLang="en-US" sz="4270" b="1" dirty="0">
                <a:solidFill>
                  <a:prstClr val="white"/>
                </a:solidFill>
                <a:latin typeface="Times New Roman" panose="02020603050405020304" pitchFamily="18" charset="0"/>
                <a:ea typeface="微软雅黑" panose="020B0503020204020204" charset="-122"/>
              </a:rPr>
              <a:t>筛选与测序</a:t>
            </a:r>
            <a:endParaRPr kumimoji="0" lang="zh-CN" altLang="en-US" sz="427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5" name="文本框 4"/>
          <p:cNvSpPr txBox="1"/>
          <p:nvPr/>
        </p:nvSpPr>
        <p:spPr>
          <a:xfrm>
            <a:off x="380999" y="1674673"/>
            <a:ext cx="9915525" cy="2677656"/>
          </a:xfrm>
          <a:prstGeom prst="rect">
            <a:avLst/>
          </a:prstGeom>
          <a:noFill/>
        </p:spPr>
        <p:txBody>
          <a:bodyPr wrap="square">
            <a:spAutoFit/>
          </a:bodyPr>
          <a:lstStyle/>
          <a:p>
            <a:pPr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荧光激活分选</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FACS</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）分离表面</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IgG</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表达群体</a:t>
            </a:r>
            <a:endPar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l">
              <a:buAutoNum type="arabicPeriod"/>
            </a:pP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分选抗原</a:t>
            </a:r>
            <a:r>
              <a:rPr lang="zh-CN" altLang="en-US" sz="24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结合</a:t>
            </a:r>
            <a:r>
              <a:rPr lang="en-US" altLang="zh-CN" sz="24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非结合</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群体进行深度测序</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endPar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个位点的</a:t>
            </a:r>
            <a:r>
              <a:rPr lang="zh-CN" altLang="en-US" sz="24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富集分数</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 6</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个位点可耐受广泛突变</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(2) 3</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个位点仅接受特定突变</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380999" y="4834928"/>
            <a:ext cx="11610976" cy="430887"/>
          </a:xfrm>
          <a:prstGeom prst="rect">
            <a:avLst/>
          </a:prstGeom>
          <a:noFill/>
        </p:spPr>
        <p:txBody>
          <a:bodyPr wrap="square">
            <a:spAutoFit/>
          </a:bodyPr>
          <a:lstStyle/>
          <a:p>
            <a:r>
              <a:rPr lang="zh-CN" altLang="en-US" sz="22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关键发现</a:t>
            </a:r>
            <a:r>
              <a:rPr lang="zh-CN" altLang="en-US"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：尽管</a:t>
            </a:r>
            <a:r>
              <a:rPr lang="en-US" altLang="zh-CN"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102D</a:t>
            </a:r>
            <a:r>
              <a:rPr lang="zh-CN" altLang="en-US"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103G</a:t>
            </a:r>
            <a:r>
              <a:rPr lang="zh-CN" altLang="en-US"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104F</a:t>
            </a:r>
            <a:r>
              <a:rPr lang="zh-CN" altLang="en-US"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105Y</a:t>
            </a:r>
            <a:r>
              <a:rPr lang="zh-CN" altLang="en-US"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残基可能参与</a:t>
            </a:r>
            <a:r>
              <a:rPr lang="en-US" altLang="zh-CN"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HER2</a:t>
            </a:r>
            <a:r>
              <a:rPr lang="zh-CN" altLang="en-US"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相互作用，但仅</a:t>
            </a:r>
            <a:r>
              <a:rPr lang="en-US" altLang="zh-CN"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105Y</a:t>
            </a:r>
            <a:r>
              <a:rPr lang="zh-CN" altLang="en-US" sz="22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完全保守</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70" b="1" dirty="0">
                <a:solidFill>
                  <a:prstClr val="white"/>
                </a:solidFill>
                <a:latin typeface="Times New Roman" panose="02020603050405020304" pitchFamily="18" charset="0"/>
                <a:ea typeface="微软雅黑" panose="020B0503020204020204" charset="-122"/>
              </a:rPr>
              <a:t>1</a:t>
            </a:r>
            <a:r>
              <a:rPr kumimoji="0" lang="en-US" altLang="zh-CN"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.2.3 </a:t>
            </a:r>
            <a:r>
              <a:rPr kumimoji="0" lang="zh-CN" altLang="en-US"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组合突变库设计</a:t>
            </a:r>
            <a:endParaRPr kumimoji="0" lang="zh-CN" altLang="en-US" sz="427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9" name="文本框 8"/>
          <p:cNvSpPr txBox="1"/>
          <p:nvPr/>
        </p:nvSpPr>
        <p:spPr>
          <a:xfrm>
            <a:off x="356103" y="2090172"/>
            <a:ext cx="10847704" cy="2677656"/>
          </a:xfrm>
          <a:prstGeom prst="rect">
            <a:avLst/>
          </a:prstGeom>
          <a:noFill/>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基于</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DMS</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序列标识图</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设计理性突变库（除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105Y</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外）</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根据三轮抗原富集实验的氨基酸频率选择简并密码子</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理论蛋白序列空间达</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7.17×10⁸</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，远超单点</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DMS</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文库的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191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种多样性</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70" b="1" dirty="0">
                <a:solidFill>
                  <a:prstClr val="white"/>
                </a:solidFill>
                <a:latin typeface="Times New Roman" panose="02020603050405020304" pitchFamily="18" charset="0"/>
                <a:ea typeface="微软雅黑" panose="020B0503020204020204" charset="-122"/>
              </a:rPr>
              <a:t>1</a:t>
            </a:r>
            <a:r>
              <a:rPr kumimoji="0" lang="en-US" altLang="zh-CN"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.2.4 </a:t>
            </a:r>
            <a:r>
              <a:rPr lang="zh-CN" altLang="en-US" sz="4270" b="1" dirty="0">
                <a:solidFill>
                  <a:prstClr val="white"/>
                </a:solidFill>
                <a:latin typeface="Times New Roman" panose="02020603050405020304" pitchFamily="18" charset="0"/>
                <a:ea typeface="微软雅黑" panose="020B0503020204020204" charset="-122"/>
              </a:rPr>
              <a:t>验证实验</a:t>
            </a:r>
            <a:endParaRPr kumimoji="0" lang="zh-CN" altLang="en-US" sz="427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198713" y="2304961"/>
            <a:ext cx="11794574" cy="2677656"/>
          </a:xfrm>
          <a:prstGeom prst="rect">
            <a:avLst/>
          </a:prstGeom>
          <a:noFill/>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在相同非结合型赫赛汀克隆中重构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变体库</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经两轮</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FACS</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富集获得抗原结合细胞</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深度测序鉴定出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11,300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个结合体和</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27,539</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个非结合体。仅覆盖理论序列空间的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0.0054%</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70" b="1" dirty="0">
                <a:solidFill>
                  <a:prstClr val="white"/>
                </a:solidFill>
                <a:latin typeface="Times New Roman" panose="02020603050405020304" pitchFamily="18" charset="0"/>
                <a:ea typeface="微软雅黑" panose="020B0503020204020204" charset="-122"/>
              </a:rPr>
              <a:t>1</a:t>
            </a:r>
            <a:r>
              <a:rPr kumimoji="0" lang="en-US" altLang="zh-CN"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.2.5 </a:t>
            </a:r>
            <a:r>
              <a:rPr lang="zh-CN" altLang="en-US" sz="4270" b="1" dirty="0">
                <a:solidFill>
                  <a:prstClr val="white"/>
                </a:solidFill>
                <a:latin typeface="Times New Roman" panose="02020603050405020304" pitchFamily="18" charset="0"/>
                <a:ea typeface="微软雅黑" panose="020B0503020204020204" charset="-122"/>
              </a:rPr>
              <a:t>序列特征分析挑战</a:t>
            </a:r>
            <a:endParaRPr kumimoji="0" lang="zh-CN" altLang="en-US" sz="427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533400" y="2644170"/>
            <a:ext cx="10525125" cy="1569660"/>
          </a:xfrm>
          <a:prstGeom prst="rect">
            <a:avLst/>
          </a:prstGeom>
          <a:noFill/>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结合</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非结合群体在各位置的氨基酸使用频率高度相似</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难以建立启发式规则或可识别模式区分功能序列</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1.3.1 </a:t>
            </a:r>
            <a:r>
              <a:rPr lang="zh-CN" altLang="en-US" sz="4265" b="1" dirty="0">
                <a:solidFill>
                  <a:prstClr val="white"/>
                </a:solidFill>
                <a:latin typeface="Times New Roman" panose="02020603050405020304" pitchFamily="18" charset="0"/>
                <a:ea typeface="微软雅黑" panose="020B0503020204020204" charset="-122"/>
              </a:rPr>
              <a:t>数据预处理与特征工程</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4" name="文本框 3"/>
          <p:cNvSpPr txBox="1"/>
          <p:nvPr/>
        </p:nvSpPr>
        <p:spPr>
          <a:xfrm>
            <a:off x="344170" y="2090172"/>
            <a:ext cx="10677525" cy="2677656"/>
          </a:xfrm>
          <a:prstGeom prst="rect">
            <a:avLst/>
          </a:prstGeom>
          <a:noFill/>
        </p:spPr>
        <p:txBody>
          <a:bodyPr wrap="square">
            <a:spAutoFit/>
          </a:bodyPr>
          <a:lstStyle/>
          <a:p>
            <a:pPr marL="457200" indent="-457200">
              <a:buAutoNum type="arabicPeriod"/>
            </a:pP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序列编码方案</a:t>
            </a:r>
            <a:b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b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采用独热编码（</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one-hot encoding</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）将</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氨基酸序列转换为</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10×20</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矩阵</a:t>
            </a:r>
            <a:r>
              <a:rPr lang="zh-CN" altLang="en-US"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。其中</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行对应序列位置（</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个氨基酸长度），列表示</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20</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种标准氨基酸。每个位置激活单列特征（对应氨基酸位置为</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，其余为</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AutoNum type="arabicPeriod"/>
            </a:pPr>
            <a:endPar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AutoNum type="arabicPeriod"/>
            </a:pPr>
            <a:r>
              <a:rPr lang="zh-CN" altLang="en-US"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数据集划分</a:t>
            </a:r>
            <a:endPar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      原始数据集分为</a:t>
            </a:r>
            <a:r>
              <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70%</a:t>
            </a:r>
            <a:r>
              <a:rPr lang="zh-CN" altLang="en-US"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训练集、</a:t>
            </a:r>
            <a:r>
              <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15%</a:t>
            </a:r>
            <a:r>
              <a:rPr lang="zh-CN" altLang="en-US"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测试集、</a:t>
            </a:r>
            <a:r>
              <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15%</a:t>
            </a:r>
            <a:r>
              <a:rPr lang="zh-CN" altLang="en-US"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验证集。</a:t>
            </a:r>
            <a:endPar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1.3.2 </a:t>
            </a:r>
            <a:r>
              <a:rPr lang="zh-CN" altLang="en-US" sz="4265" b="1" dirty="0">
                <a:solidFill>
                  <a:prstClr val="white"/>
                </a:solidFill>
                <a:latin typeface="Times New Roman" panose="02020603050405020304" pitchFamily="18" charset="0"/>
                <a:ea typeface="微软雅黑" panose="020B0503020204020204" charset="-122"/>
              </a:rPr>
              <a:t>模型比较与选择</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4" name="文本框 3"/>
          <p:cNvSpPr txBox="1"/>
          <p:nvPr/>
        </p:nvSpPr>
        <p:spPr>
          <a:xfrm>
            <a:off x="210820" y="1465213"/>
            <a:ext cx="9077083" cy="3046988"/>
          </a:xfrm>
          <a:prstGeom prst="rect">
            <a:avLst/>
          </a:prstGeom>
          <a:noFill/>
        </p:spPr>
        <p:txBody>
          <a:bodyPr wrap="square">
            <a:spAutoFit/>
          </a:bodyPr>
          <a:lstStyle/>
          <a:p>
            <a:pPr algn="l"/>
            <a:r>
              <a:rPr lang="zh-CN" altLang="en-US" sz="24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基准模型评估</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测试模型包括：</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l"/>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单</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双变量逻辑回归</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近邻算法</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l"/>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线性与高斯核支持向量机</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l"/>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标准人工神经网络</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LSTM-RNN</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时序模型</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l"/>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卷积神经网络（</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CNN</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210820" y="5161954"/>
            <a:ext cx="11106150" cy="461665"/>
          </a:xfrm>
          <a:prstGeom prst="rect">
            <a:avLst/>
          </a:prstGeom>
          <a:noFill/>
        </p:spPr>
        <p:txBody>
          <a:bodyPr wrap="square">
            <a:spAutoFit/>
          </a:bodyPr>
          <a:lstStyle/>
          <a:p>
            <a:r>
              <a:rPr lang="en-US" altLang="zh-CN" sz="24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CNN</a:t>
            </a:r>
            <a:r>
              <a:rPr lang="zh-CN" altLang="en-US" sz="24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模型展现出最优分类性能，</a:t>
            </a:r>
            <a:r>
              <a:rPr lang="en-US" altLang="zh-CN" sz="24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ROC</a:t>
            </a:r>
            <a:r>
              <a:rPr lang="zh-CN" altLang="en-US" sz="2400" b="1"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曲线下面积为</a:t>
            </a:r>
            <a:r>
              <a:rPr lang="en-US" altLang="zh-CN" sz="2400" b="1"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0.91</a:t>
            </a:r>
            <a:r>
              <a:rPr lang="zh-CN" altLang="en-US" sz="2400" b="1"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，平均精度为</a:t>
            </a:r>
            <a:r>
              <a:rPr lang="en-US" altLang="zh-CN" sz="2400" b="1"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0.83</a:t>
            </a:r>
            <a:endParaRPr lang="zh-CN" altLang="en-US" sz="2400" dirty="0"/>
          </a:p>
        </p:txBody>
      </p:sp>
    </p:spTree>
  </p:cSld>
  <p:clrMapOvr>
    <a:masterClrMapping/>
  </p:clrMapOvr>
  <p:transition spd="slow" advTm="14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1.3.3 CNN</a:t>
            </a:r>
            <a:r>
              <a:rPr lang="zh-CN" altLang="en-US" sz="4265" b="1" dirty="0">
                <a:solidFill>
                  <a:prstClr val="white"/>
                </a:solidFill>
                <a:latin typeface="Times New Roman" panose="02020603050405020304" pitchFamily="18" charset="0"/>
                <a:ea typeface="微软雅黑" panose="020B0503020204020204" charset="-122"/>
              </a:rPr>
              <a:t>模型优化策略</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561974" y="2090172"/>
            <a:ext cx="9067801" cy="2677656"/>
          </a:xfrm>
          <a:prstGeom prst="rect">
            <a:avLst/>
          </a:prstGeom>
          <a:noFill/>
        </p:spPr>
        <p:txBody>
          <a:bodyPr wrap="square">
            <a:spAutoFit/>
          </a:bodyPr>
          <a:lstStyle/>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通过可学习滤波器捕获序列空间依赖性</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关键超参数随机搜索：</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学习率（</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0.0001-0.01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批量大小（</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32-256</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卷积核尺寸（</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Dropout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率（</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0.2-0.5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1.3.4 </a:t>
            </a:r>
            <a:r>
              <a:rPr lang="zh-CN" altLang="en-US" sz="4265" b="1" dirty="0">
                <a:solidFill>
                  <a:prstClr val="white"/>
                </a:solidFill>
                <a:latin typeface="Times New Roman" panose="02020603050405020304" pitchFamily="18" charset="0"/>
                <a:ea typeface="微软雅黑" panose="020B0503020204020204" charset="-122"/>
              </a:rPr>
              <a:t>模型验证与误差分析</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5" name="文本框 4"/>
          <p:cNvSpPr txBox="1"/>
          <p:nvPr/>
        </p:nvSpPr>
        <p:spPr>
          <a:xfrm>
            <a:off x="1365851" y="1777990"/>
            <a:ext cx="10277475" cy="3785652"/>
          </a:xfrm>
          <a:prstGeom prst="rect">
            <a:avLst/>
          </a:prstGeom>
          <a:noFill/>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实验验证</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选取</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18</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条序列（结合</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非结合各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9</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条）进行</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BLI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验证：</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结合组均显示高</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HER2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亲和力</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非结合组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条仍具抗原结合能力</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揭示训练数据存在标注误差风险</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鲁棒性测试</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随机打乱标签训练的网络失去分类能力</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证实原始模型学习到真实生物特征模式</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1.4.1 </a:t>
            </a:r>
            <a:r>
              <a:rPr lang="zh-CN" altLang="en-US" sz="4265" b="1" dirty="0">
                <a:solidFill>
                  <a:prstClr val="white"/>
                </a:solidFill>
                <a:latin typeface="Times New Roman" panose="02020603050405020304" pitchFamily="18" charset="0"/>
                <a:ea typeface="微软雅黑" panose="020B0503020204020204" charset="-122"/>
              </a:rPr>
              <a:t>计算机模拟与模型预测</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213326" y="1288614"/>
            <a:ext cx="11430000" cy="2491740"/>
          </a:xfrm>
          <a:prstGeom prst="rect">
            <a:avLst/>
          </a:prstGeom>
          <a:noFill/>
        </p:spPr>
        <p:txBody>
          <a:bodyPr wrap="square">
            <a:spAutoFit/>
          </a:bodyPr>
          <a:lstStyle/>
          <a:p>
            <a:pPr algn="l"/>
            <a:r>
              <a:rPr lang="zh-CN" altLang="en-US" sz="2400" b="1" i="0" dirty="0">
                <a:solidFill>
                  <a:srgbClr val="FF0000"/>
                </a:solidFill>
                <a:effectLst/>
                <a:latin typeface="宋体" panose="02010600030101010101" pitchFamily="2" charset="-122"/>
                <a:ea typeface="宋体" panose="02010600030101010101" pitchFamily="2" charset="-122"/>
              </a:rPr>
              <a:t>虚拟突变库构建</a:t>
            </a:r>
            <a:endParaRPr lang="zh-CN" altLang="en-US" sz="2400" b="0" i="0" dirty="0">
              <a:solidFill>
                <a:srgbClr val="FF0000"/>
              </a:solidFill>
              <a:effectLst/>
              <a:latin typeface="宋体" panose="02010600030101010101" pitchFamily="2" charset="-122"/>
              <a:ea typeface="宋体" panose="02010600030101010101" pitchFamily="2" charset="-122"/>
            </a:endParaRPr>
          </a:p>
          <a:p>
            <a:pPr marL="742950" lvl="1" indent="-285750" algn="l">
              <a:buFont typeface="+mj-lt"/>
              <a:buAutoNum type="arabicPeriod"/>
            </a:pPr>
            <a:r>
              <a:rPr lang="zh-CN" altLang="en-US" sz="2400" b="0" i="0" dirty="0">
                <a:solidFill>
                  <a:srgbClr val="262626"/>
                </a:solidFill>
                <a:effectLst/>
                <a:latin typeface="宋体" panose="02010600030101010101" pitchFamily="2" charset="-122"/>
                <a:ea typeface="宋体" panose="02010600030101010101" pitchFamily="2" charset="-122"/>
              </a:rPr>
              <a:t>基于</a:t>
            </a:r>
            <a:r>
              <a:rPr lang="en-US" altLang="zh-CN" sz="2400" b="0" i="0" dirty="0">
                <a:solidFill>
                  <a:srgbClr val="262626"/>
                </a:solidFill>
                <a:effectLst/>
                <a:latin typeface="宋体" panose="02010600030101010101" pitchFamily="2" charset="-122"/>
                <a:ea typeface="宋体" panose="02010600030101010101" pitchFamily="2" charset="-122"/>
              </a:rPr>
              <a:t>DMS</a:t>
            </a:r>
            <a:r>
              <a:rPr lang="zh-CN" altLang="en-US" sz="2400" b="0" i="0" dirty="0">
                <a:solidFill>
                  <a:srgbClr val="262626"/>
                </a:solidFill>
                <a:effectLst/>
                <a:latin typeface="宋体" panose="02010600030101010101" pitchFamily="2" charset="-122"/>
                <a:ea typeface="宋体" panose="02010600030101010101" pitchFamily="2" charset="-122"/>
              </a:rPr>
              <a:t>组合突变库生成</a:t>
            </a:r>
            <a:r>
              <a:rPr lang="en-US" altLang="zh-CN" sz="2400" b="0" i="0" dirty="0">
                <a:solidFill>
                  <a:srgbClr val="262626"/>
                </a:solidFill>
                <a:effectLst/>
                <a:latin typeface="宋体" panose="02010600030101010101" pitchFamily="2" charset="-122"/>
                <a:ea typeface="宋体" panose="02010600030101010101" pitchFamily="2" charset="-122"/>
              </a:rPr>
              <a:t>7.2×10⁷</a:t>
            </a:r>
            <a:r>
              <a:rPr lang="zh-CN" altLang="en-US" sz="2400" b="0" i="0" dirty="0">
                <a:solidFill>
                  <a:srgbClr val="262626"/>
                </a:solidFill>
                <a:effectLst/>
                <a:latin typeface="宋体" panose="02010600030101010101" pitchFamily="2" charset="-122"/>
                <a:ea typeface="宋体" panose="02010600030101010101" pitchFamily="2" charset="-122"/>
              </a:rPr>
              <a:t>个虚拟序列变体</a:t>
            </a:r>
            <a:endParaRPr lang="zh-CN" altLang="en-US" sz="2400" b="0" i="0" dirty="0">
              <a:solidFill>
                <a:srgbClr val="262626"/>
              </a:solidFill>
              <a:effectLst/>
              <a:latin typeface="宋体" panose="02010600030101010101" pitchFamily="2" charset="-122"/>
              <a:ea typeface="宋体" panose="02010600030101010101" pitchFamily="2" charset="-122"/>
            </a:endParaRPr>
          </a:p>
          <a:p>
            <a:pPr marL="742950" lvl="1" indent="-285750" algn="l">
              <a:buFont typeface="+mj-lt"/>
              <a:buAutoNum type="arabicPeriod"/>
            </a:pPr>
            <a:r>
              <a:rPr lang="en-US" altLang="zh-CN" sz="2400" b="0" i="0" dirty="0">
                <a:solidFill>
                  <a:srgbClr val="262626"/>
                </a:solidFill>
                <a:effectLst/>
                <a:latin typeface="宋体" panose="02010600030101010101" pitchFamily="2" charset="-122"/>
                <a:ea typeface="宋体" panose="02010600030101010101" pitchFamily="2" charset="-122"/>
              </a:rPr>
              <a:t>CNN</a:t>
            </a:r>
            <a:r>
              <a:rPr lang="zh-CN" altLang="en-US" sz="2400" b="0" i="0" dirty="0">
                <a:solidFill>
                  <a:srgbClr val="262626"/>
                </a:solidFill>
                <a:effectLst/>
                <a:latin typeface="宋体" panose="02010600030101010101" pitchFamily="2" charset="-122"/>
                <a:ea typeface="宋体" panose="02010600030101010101" pitchFamily="2" charset="-122"/>
              </a:rPr>
              <a:t>模型依据概率阈值筛选：</a:t>
            </a:r>
            <a:endParaRPr lang="zh-CN" altLang="en-US" sz="2400" b="0" i="0" dirty="0">
              <a:solidFill>
                <a:srgbClr val="262626"/>
              </a:solidFill>
              <a:effectLst/>
              <a:latin typeface="宋体" panose="02010600030101010101" pitchFamily="2" charset="-122"/>
              <a:ea typeface="宋体" panose="02010600030101010101" pitchFamily="2" charset="-122"/>
            </a:endParaRPr>
          </a:p>
          <a:p>
            <a:pPr lvl="2" algn="l"/>
            <a:r>
              <a:rPr lang="en-US" altLang="zh-CN" sz="2400" b="0" i="0" dirty="0">
                <a:solidFill>
                  <a:srgbClr val="262626"/>
                </a:solidFill>
                <a:effectLst/>
                <a:latin typeface="宋体" panose="02010600030101010101" pitchFamily="2" charset="-122"/>
                <a:ea typeface="宋体" panose="02010600030101010101" pitchFamily="2" charset="-122"/>
              </a:rPr>
              <a:t>P&gt;0.5</a:t>
            </a:r>
            <a:r>
              <a:rPr lang="zh-CN" altLang="en-US" sz="2400" b="0" i="0" dirty="0">
                <a:solidFill>
                  <a:srgbClr val="262626"/>
                </a:solidFill>
                <a:effectLst/>
                <a:latin typeface="宋体" panose="02010600030101010101" pitchFamily="2" charset="-122"/>
                <a:ea typeface="宋体" panose="02010600030101010101" pitchFamily="2" charset="-122"/>
              </a:rPr>
              <a:t>时预测</a:t>
            </a:r>
            <a:r>
              <a:rPr lang="en-US" altLang="zh-CN" sz="2400" b="0" i="0" dirty="0">
                <a:solidFill>
                  <a:srgbClr val="262626"/>
                </a:solidFill>
                <a:effectLst/>
                <a:latin typeface="宋体" panose="02010600030101010101" pitchFamily="2" charset="-122"/>
                <a:ea typeface="宋体" panose="02010600030101010101" pitchFamily="2" charset="-122"/>
              </a:rPr>
              <a:t>1.06×10</a:t>
            </a:r>
            <a:r>
              <a:rPr lang="en-US" altLang="zh-CN" sz="2400" b="0" i="0" baseline="30000" dirty="0">
                <a:solidFill>
                  <a:srgbClr val="262626"/>
                </a:solidFill>
                <a:effectLst/>
                <a:latin typeface="宋体" panose="02010600030101010101" pitchFamily="2" charset="-122"/>
                <a:ea typeface="宋体" panose="02010600030101010101" pitchFamily="2" charset="-122"/>
              </a:rPr>
              <a:t>7</a:t>
            </a:r>
            <a:r>
              <a:rPr lang="zh-CN" altLang="en-US" sz="2400" b="0" i="0" dirty="0">
                <a:solidFill>
                  <a:srgbClr val="262626"/>
                </a:solidFill>
                <a:effectLst/>
                <a:latin typeface="宋体" panose="02010600030101010101" pitchFamily="2" charset="-122"/>
                <a:ea typeface="宋体" panose="02010600030101010101" pitchFamily="2" charset="-122"/>
              </a:rPr>
              <a:t>个潜在结合体（占</a:t>
            </a:r>
            <a:r>
              <a:rPr lang="en-US" altLang="zh-CN" sz="2400" b="0" i="0" dirty="0">
                <a:solidFill>
                  <a:srgbClr val="262626"/>
                </a:solidFill>
                <a:effectLst/>
                <a:latin typeface="宋体" panose="02010600030101010101" pitchFamily="2" charset="-122"/>
                <a:ea typeface="宋体" panose="02010600030101010101" pitchFamily="2" charset="-122"/>
              </a:rPr>
              <a:t>14%</a:t>
            </a:r>
            <a:r>
              <a:rPr lang="zh-CN" altLang="en-US" sz="2400" b="0" i="0" dirty="0">
                <a:solidFill>
                  <a:srgbClr val="262626"/>
                </a:solidFill>
                <a:effectLst/>
                <a:latin typeface="宋体" panose="02010600030101010101" pitchFamily="2" charset="-122"/>
                <a:ea typeface="宋体" panose="02010600030101010101" pitchFamily="2" charset="-122"/>
              </a:rPr>
              <a:t>，与实验筛选比例相当）</a:t>
            </a:r>
            <a:endParaRPr lang="zh-CN" altLang="en-US" sz="2400" b="0" i="0" dirty="0">
              <a:solidFill>
                <a:srgbClr val="262626"/>
              </a:solidFill>
              <a:effectLst/>
              <a:latin typeface="宋体" panose="02010600030101010101" pitchFamily="2" charset="-122"/>
              <a:ea typeface="宋体" panose="02010600030101010101" pitchFamily="2" charset="-122"/>
            </a:endParaRPr>
          </a:p>
          <a:p>
            <a:pPr lvl="2" algn="l"/>
            <a:r>
              <a:rPr lang="zh-CN" altLang="en-US" sz="2400" b="0" i="0" dirty="0">
                <a:solidFill>
                  <a:srgbClr val="262626"/>
                </a:solidFill>
                <a:effectLst/>
                <a:latin typeface="宋体" panose="02010600030101010101" pitchFamily="2" charset="-122"/>
                <a:ea typeface="宋体" panose="02010600030101010101" pitchFamily="2" charset="-122"/>
              </a:rPr>
              <a:t>提升阈值至</a:t>
            </a:r>
            <a:r>
              <a:rPr lang="en-US" altLang="zh-CN" sz="2400" b="0" i="0" dirty="0">
                <a:solidFill>
                  <a:srgbClr val="262626"/>
                </a:solidFill>
                <a:effectLst/>
                <a:latin typeface="宋体" panose="02010600030101010101" pitchFamily="2" charset="-122"/>
                <a:ea typeface="宋体" panose="02010600030101010101" pitchFamily="2" charset="-122"/>
              </a:rPr>
              <a:t>P&gt;0.7</a:t>
            </a:r>
            <a:r>
              <a:rPr lang="zh-CN" altLang="en-US" sz="2400" b="0" i="0" dirty="0">
                <a:solidFill>
                  <a:srgbClr val="262626"/>
                </a:solidFill>
                <a:effectLst/>
                <a:latin typeface="宋体" panose="02010600030101010101" pitchFamily="2" charset="-122"/>
                <a:ea typeface="宋体" panose="02010600030101010101" pitchFamily="2" charset="-122"/>
              </a:rPr>
              <a:t>，获得</a:t>
            </a:r>
            <a:r>
              <a:rPr lang="en-US" altLang="zh-CN" sz="2400" b="0" i="0" dirty="0">
                <a:solidFill>
                  <a:srgbClr val="262626"/>
                </a:solidFill>
                <a:effectLst/>
                <a:latin typeface="宋体" panose="02010600030101010101" pitchFamily="2" charset="-122"/>
                <a:ea typeface="宋体" panose="02010600030101010101" pitchFamily="2" charset="-122"/>
              </a:rPr>
              <a:t>6.39×10⁶</a:t>
            </a:r>
            <a:r>
              <a:rPr lang="zh-CN" altLang="en-US" sz="2400" b="0" i="0" dirty="0">
                <a:solidFill>
                  <a:srgbClr val="262626"/>
                </a:solidFill>
                <a:effectLst/>
                <a:latin typeface="宋体" panose="02010600030101010101" pitchFamily="2" charset="-122"/>
                <a:ea typeface="宋体" panose="02010600030101010101" pitchFamily="2" charset="-122"/>
              </a:rPr>
              <a:t>高置信变体</a:t>
            </a:r>
            <a:endParaRPr lang="zh-CN" altLang="en-US" sz="2400" b="0" i="0" dirty="0">
              <a:solidFill>
                <a:srgbClr val="262626"/>
              </a:solidFill>
              <a:effectLst/>
              <a:latin typeface="宋体" panose="02010600030101010101" pitchFamily="2" charset="-122"/>
              <a:ea typeface="宋体" panose="02010600030101010101" pitchFamily="2" charset="-122"/>
            </a:endParaRPr>
          </a:p>
          <a:p>
            <a:br>
              <a:rPr lang="zh-CN" altLang="en-US" dirty="0"/>
            </a:br>
            <a:endParaRPr lang="zh-CN" altLang="en-US" dirty="0"/>
          </a:p>
        </p:txBody>
      </p:sp>
      <p:sp>
        <p:nvSpPr>
          <p:cNvPr id="5" name="文本框 4"/>
          <p:cNvSpPr txBox="1"/>
          <p:nvPr/>
        </p:nvSpPr>
        <p:spPr>
          <a:xfrm>
            <a:off x="210820" y="3524429"/>
            <a:ext cx="9829800" cy="1938992"/>
          </a:xfrm>
          <a:prstGeom prst="rect">
            <a:avLst/>
          </a:prstGeom>
          <a:noFill/>
        </p:spPr>
        <p:txBody>
          <a:bodyPr wrap="square">
            <a:spAutoFit/>
          </a:bodyPr>
          <a:lstStyle/>
          <a:p>
            <a:pPr algn="l"/>
            <a:r>
              <a:rPr lang="zh-CN" altLang="en-US" sz="24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序列筛选策略</a:t>
            </a:r>
            <a:endParaRPr lang="zh-CN" altLang="en-US" sz="24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a:buFont typeface="+mj-lt"/>
              <a:buAutoNum type="arabicPeriod"/>
            </a:pP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随机选取</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30</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个预测结合体（</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P&gt;0.7</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12</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个非结合体（</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P&lt;0.1</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a:buFont typeface="+mj-lt"/>
              <a:buAutoNum type="arabicPeriod"/>
            </a:pP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增设创新序列筛选标准：</a:t>
            </a:r>
            <a:endPar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2" algn="l"/>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与曲妥珠单抗原型序列莱文斯坦距离≥</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2" algn="l"/>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在训练集结合</a:t>
            </a:r>
            <a:r>
              <a:rPr lang="en-US" altLang="zh-CN"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非结合组中具有近似序列分布</a:t>
            </a:r>
            <a:endParaRPr lang="zh-CN" altLang="en-US" sz="240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1.4.2 </a:t>
            </a:r>
            <a:r>
              <a:rPr lang="zh-CN" altLang="en-US" sz="4265" b="1" dirty="0">
                <a:solidFill>
                  <a:prstClr val="white"/>
                </a:solidFill>
                <a:latin typeface="Times New Roman" panose="02020603050405020304" pitchFamily="18" charset="0"/>
                <a:ea typeface="微软雅黑" panose="020B0503020204020204" charset="-122"/>
              </a:rPr>
              <a:t>哺乳动物展示系统验证</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5" name="文本框 4"/>
          <p:cNvSpPr txBox="1"/>
          <p:nvPr/>
        </p:nvSpPr>
        <p:spPr>
          <a:xfrm>
            <a:off x="210820" y="1224069"/>
            <a:ext cx="11144250" cy="5262245"/>
          </a:xfrm>
          <a:prstGeom prst="rect">
            <a:avLst/>
          </a:prstGeom>
          <a:noFill/>
        </p:spPr>
        <p:txBody>
          <a:bodyPr wrap="square">
            <a:spAutoFit/>
          </a:bodyPr>
          <a:lstStyle/>
          <a:p>
            <a:pPr algn="l"/>
            <a:r>
              <a:rPr lang="zh-CN" altLang="en-US" sz="24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细胞系构建</a:t>
            </a:r>
            <a:endParaRPr lang="zh-CN" altLang="en-US" sz="24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a:buFont typeface="+mj-lt"/>
              <a:buAutoNum type="arabicPeriod"/>
            </a:pP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CRISPR-Cas9</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介导</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HDR</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技术构建</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42</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种变体表达细胞系</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a:buFont typeface="+mj-lt"/>
              <a:buAutoNum type="arabicPeriod"/>
            </a:pP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流式细胞术验证：</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2"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30</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个预测结合体</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100%</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显示抗原特异性</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2"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12</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个非结合体中</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11</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个无活性</a:t>
            </a:r>
            <a:endParaRPr lang="en-US" altLang="zh-CN" sz="24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endParaRPr>
          </a:p>
          <a:p>
            <a:pPr marL="1143000" lvl="2" indent="-228600" algn="l">
              <a:buFont typeface="+mj-lt"/>
              <a:buAutoNum type="arabicPeriod"/>
            </a:pP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zh-CN" altLang="en-US" sz="24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结合动力学分析</a:t>
            </a:r>
            <a:endParaRPr lang="zh-CN" altLang="en-US" sz="24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a:buFont typeface="+mj-lt"/>
              <a:buAutoNum type="arabicPeriod"/>
            </a:pP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生物膜干涉技术（</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BLI</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）定量检测：</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marL="1143000" lvl="2" indent="-228600" algn="l">
              <a:buFont typeface="+mj-lt"/>
              <a:buAutoNum type="arabicPeriod"/>
            </a:pP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原型抗体</a:t>
            </a:r>
            <a:r>
              <a:rPr lang="en-US" altLang="zh-CN" sz="2400" b="0" i="0" dirty="0" err="1">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Kd</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=4.0×10⁻¹⁰ M</a:t>
            </a:r>
            <a:endPar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marL="1143000" lvl="2" indent="-228600" algn="l">
              <a:buFont typeface="+mj-lt"/>
              <a:buAutoNum type="arabicPeriod"/>
            </a:pP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结合变体分布：</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3"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80%</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23/30</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）保持纳摩尔级亲和力</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3"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17%</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5/30</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）达亚纳摩尔治疗窗口</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lvl="3" algn="l"/>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个变体亲和力提升近</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倍（</a:t>
            </a:r>
            <a:r>
              <a:rPr lang="en-US" altLang="zh-CN" sz="2400" b="0" i="0" dirty="0" err="1">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Kd</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=1.4×10⁻¹⁰ M</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a:buFont typeface="+mj-lt"/>
              <a:buAutoNum type="arabicPeriod"/>
            </a:pP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非结合组</a:t>
            </a:r>
            <a:r>
              <a:rPr lang="en-US" altLang="zh-CN"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92%</a:t>
            </a:r>
            <a:r>
              <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无检测信号</a:t>
            </a:r>
            <a:endParaRPr lang="zh-CN" altLang="en-US" sz="24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1.S </a:t>
            </a:r>
            <a:r>
              <a:rPr lang="zh-CN" altLang="en-US" sz="4265" b="1" dirty="0">
                <a:solidFill>
                  <a:prstClr val="white"/>
                </a:solidFill>
                <a:latin typeface="Times New Roman" panose="02020603050405020304" pitchFamily="18" charset="0"/>
                <a:ea typeface="微软雅黑" panose="020B0503020204020204" charset="-122"/>
              </a:rPr>
              <a:t>深度学习模型</a:t>
            </a:r>
            <a:r>
              <a:rPr lang="en-US" altLang="zh-CN" sz="4265" b="1" dirty="0">
                <a:solidFill>
                  <a:prstClr val="white"/>
                </a:solidFill>
                <a:latin typeface="Times New Roman" panose="02020603050405020304" pitchFamily="18" charset="0"/>
                <a:ea typeface="微软雅黑" panose="020B0503020204020204" charset="-122"/>
              </a:rPr>
              <a:t>CNN</a:t>
            </a:r>
            <a:r>
              <a:rPr lang="zh-CN" altLang="en-US" sz="4265" b="1" dirty="0">
                <a:solidFill>
                  <a:prstClr val="white"/>
                </a:solidFill>
                <a:latin typeface="Times New Roman" panose="02020603050405020304" pitchFamily="18" charset="0"/>
                <a:ea typeface="微软雅黑" panose="020B0503020204020204" charset="-122"/>
              </a:rPr>
              <a:t>框架</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stretch>
            <a:fillRect/>
          </a:stretch>
        </p:blipFill>
        <p:spPr>
          <a:xfrm>
            <a:off x="0" y="1081194"/>
            <a:ext cx="12192000" cy="5545271"/>
          </a:xfrm>
          <a:prstGeom prst="rect">
            <a:avLst/>
          </a:prstGeom>
        </p:spPr>
      </p:pic>
    </p:spTree>
  </p:cSld>
  <p:clrMapOvr>
    <a:masterClrMapping/>
  </p:clrMapOvr>
  <p:transition spd="slow" advTm="14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rotWithShape="1">
          <a:blip r:embed="rId4"/>
          <a:srcRect t="2010"/>
          <a:stretch>
            <a:fillRect/>
          </a:stretch>
        </p:blipFill>
        <p:spPr>
          <a:xfrm>
            <a:off x="0" y="15663"/>
            <a:ext cx="12192000" cy="6149966"/>
          </a:xfrm>
          <a:prstGeom prst="rect">
            <a:avLst/>
          </a:prstGeom>
        </p:spPr>
      </p:pic>
    </p:spTree>
  </p:cSld>
  <p:clrMapOvr>
    <a:masterClrMapping/>
  </p:clrMapOvr>
  <p:transition spd="slow" advTm="14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2.1 </a:t>
            </a:r>
            <a:r>
              <a:rPr lang="zh-CN" altLang="en-US" sz="4265" b="1" dirty="0">
                <a:solidFill>
                  <a:prstClr val="white"/>
                </a:solidFill>
                <a:latin typeface="Times New Roman" panose="02020603050405020304" pitchFamily="18" charset="0"/>
                <a:ea typeface="微软雅黑" panose="020B0503020204020204" charset="-122"/>
              </a:rPr>
              <a:t>摘要</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328996" y="1301234"/>
            <a:ext cx="11753850" cy="4154170"/>
          </a:xfrm>
          <a:prstGeom prst="rect">
            <a:avLst/>
          </a:prstGeom>
          <a:noFill/>
        </p:spPr>
        <p:txBody>
          <a:bodyPr wrap="square">
            <a:spAutoFit/>
          </a:bodyPr>
          <a:lstStyle/>
          <a:p>
            <a:r>
              <a:rPr lang="en-US" altLang="zh-CN" sz="2400" b="0" i="0" dirty="0">
                <a:solidFill>
                  <a:srgbClr val="4D4D4D"/>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0" i="0" dirty="0">
                <a:solidFill>
                  <a:srgbClr val="4D4D4D"/>
                </a:solidFill>
                <a:effectLst/>
                <a:latin typeface="Times New Roman" panose="02020603050405020304" pitchFamily="18" charset="0"/>
                <a:ea typeface="宋体" panose="02010600030101010101" pitchFamily="2" charset="-122"/>
                <a:cs typeface="Times New Roman" panose="02020603050405020304" pitchFamily="18" charset="0"/>
              </a:rPr>
              <a:t>蛋白质表示学习是机器学习研究的一个日益热门的领域，其中半监督学习是蛋白质表示学习中的一种重要范式。为了促进这一领域的进展，作者引入了评估蛋白质嵌入的任务（</a:t>
            </a:r>
            <a:r>
              <a:rPr lang="en-US" altLang="zh-CN" sz="2400" b="0" i="0" dirty="0">
                <a:solidFill>
                  <a:srgbClr val="4D4D4D"/>
                </a:solidFill>
                <a:effectLst/>
                <a:latin typeface="Times New Roman" panose="02020603050405020304" pitchFamily="18" charset="0"/>
                <a:ea typeface="宋体" panose="02010600030101010101" pitchFamily="2" charset="-122"/>
                <a:cs typeface="Times New Roman" panose="02020603050405020304" pitchFamily="18" charset="0"/>
              </a:rPr>
              <a:t>TAPE</a:t>
            </a:r>
            <a:r>
              <a:rPr lang="zh-CN" altLang="en-US" sz="2400" b="0" i="0" dirty="0">
                <a:solidFill>
                  <a:srgbClr val="4D4D4D"/>
                </a:solidFill>
                <a:effectLst/>
                <a:latin typeface="Times New Roman" panose="02020603050405020304" pitchFamily="18" charset="0"/>
                <a:ea typeface="宋体" panose="02010600030101010101" pitchFamily="2" charset="-122"/>
                <a:cs typeface="Times New Roman" panose="02020603050405020304" pitchFamily="18" charset="0"/>
              </a:rPr>
              <a:t>），这是一组分布在蛋白质生物学不同领域的五个与生物学相关的半监督学习任务。</a:t>
            </a:r>
            <a:endParaRPr lang="en-US" altLang="zh-CN" sz="2400" b="0" i="0" dirty="0">
              <a:solidFill>
                <a:srgbClr val="4D4D4D"/>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solidFill>
                  <a:srgbClr val="4D4D4D"/>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0" i="0" dirty="0">
                <a:solidFill>
                  <a:srgbClr val="4D4D4D"/>
                </a:solidFill>
                <a:effectLst/>
                <a:latin typeface="Times New Roman" panose="02020603050405020304" pitchFamily="18" charset="0"/>
                <a:ea typeface="宋体" panose="02010600030101010101" pitchFamily="2" charset="-122"/>
                <a:cs typeface="Times New Roman" panose="02020603050405020304" pitchFamily="18" charset="0"/>
              </a:rPr>
              <a:t>作者对半监督蛋白质表征学习的一系列方法进行了基准测试，这些方法涵盖了最近的工作以及典型序列学习技术。结果发现，自我监督的预训练对于几乎所有任务的模型都是有帮助的，在某些情况下甚至可以使性能加倍。尽管如此，在某些情况下，通过自监督预训练学习的特征仍然落后于由最先进的非神经技术提取的特征。这种性能上的差距为创新的架构设计和改进的建模模式提供了巨大的机会，这些模式可以更好地捕捉生物序列中的信号。作者根据三个自监督学习可以带来提升的蛋白质生物学领域（结构预测，远程同</a:t>
            </a:r>
            <a:r>
              <a:rPr lang="zh-CN" altLang="en-US" sz="2400" b="0" i="0" dirty="0">
                <a:solidFill>
                  <a:srgbClr val="4D4D4D"/>
                </a:solidFill>
                <a:effectLst/>
                <a:latin typeface="Times New Roman" panose="02020603050405020304" pitchFamily="18" charset="0"/>
                <a:ea typeface="宋体" panose="02010600030101010101" pitchFamily="2" charset="-122"/>
                <a:cs typeface="Times New Roman" panose="02020603050405020304" pitchFamily="18" charset="0"/>
              </a:rPr>
              <a:t>源物检测，蛋白质工程）来选择监督任务。</a:t>
            </a:r>
            <a:endParaRPr lang="zh-CN" altLang="en-US" sz="2400" b="0" i="0" dirty="0">
              <a:solidFill>
                <a:srgbClr val="4D4D4D"/>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2.1 </a:t>
            </a:r>
            <a:r>
              <a:rPr lang="zh-CN" altLang="en-US" sz="4265" b="1" dirty="0">
                <a:solidFill>
                  <a:prstClr val="white"/>
                </a:solidFill>
                <a:latin typeface="Times New Roman" panose="02020603050405020304" pitchFamily="18" charset="0"/>
                <a:ea typeface="微软雅黑" panose="020B0503020204020204" charset="-122"/>
              </a:rPr>
              <a:t>摘要</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302227" y="2284958"/>
            <a:ext cx="11587545" cy="3046988"/>
          </a:xfrm>
          <a:prstGeom prst="rect">
            <a:avLst/>
          </a:prstGeom>
          <a:noFill/>
        </p:spPr>
        <p:txBody>
          <a:bodyPr wrap="square">
            <a:spAutoFit/>
          </a:bodyPr>
          <a:lstStyle/>
          <a:p>
            <a:r>
              <a:rPr lang="zh-CN" altLang="en-US" sz="2400" dirty="0">
                <a:solidFill>
                  <a:srgbClr val="FF0000"/>
                </a:solidFill>
                <a:latin typeface="宋体" panose="02010600030101010101" pitchFamily="2" charset="-122"/>
                <a:ea typeface="宋体" panose="02010600030101010101" pitchFamily="2" charset="-122"/>
              </a:rPr>
              <a:t>结构预测</a:t>
            </a:r>
            <a:r>
              <a:rPr lang="zh-CN" altLang="en-US" sz="2400" dirty="0">
                <a:latin typeface="宋体" panose="02010600030101010101" pitchFamily="2" charset="-122"/>
                <a:ea typeface="宋体" panose="02010600030101010101" pitchFamily="2" charset="-122"/>
              </a:rPr>
              <a:t>：从蛋白质的氨基酸序列中预测蛋白质的三维结构。</a:t>
            </a:r>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r>
              <a:rPr lang="zh-CN" altLang="en-US" sz="2400" dirty="0">
                <a:solidFill>
                  <a:srgbClr val="FF0000"/>
                </a:solidFill>
                <a:latin typeface="宋体" panose="02010600030101010101" pitchFamily="2" charset="-122"/>
                <a:ea typeface="宋体" panose="02010600030101010101" pitchFamily="2" charset="-122"/>
              </a:rPr>
              <a:t>同源蛋白</a:t>
            </a:r>
            <a:r>
              <a:rPr lang="zh-CN" altLang="en-US" sz="2400" dirty="0">
                <a:latin typeface="宋体" panose="02010600030101010101" pitchFamily="2" charset="-122"/>
                <a:ea typeface="宋体" panose="02010600030101010101" pitchFamily="2" charset="-122"/>
              </a:rPr>
              <a:t>：氨基酸序列具有明显的相似性,在不同生物体或同一机体内行使相同或相似功能的蛋白质。</a:t>
            </a:r>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r>
              <a:rPr lang="zh-CN" altLang="en-US" sz="2400" dirty="0">
                <a:solidFill>
                  <a:srgbClr val="FF0000"/>
                </a:solidFill>
                <a:latin typeface="宋体" panose="02010600030101010101" pitchFamily="2" charset="-122"/>
                <a:ea typeface="宋体" panose="02010600030101010101" pitchFamily="2" charset="-122"/>
              </a:rPr>
              <a:t>蛋白质工程</a:t>
            </a:r>
            <a:r>
              <a:rPr lang="zh-CN" altLang="en-US" sz="2400" dirty="0">
                <a:latin typeface="宋体" panose="02010600030101010101" pitchFamily="2" charset="-122"/>
                <a:ea typeface="宋体" panose="02010600030101010101" pitchFamily="2" charset="-122"/>
              </a:rPr>
              <a:t>：以蛋白质分子的结构规律及其生物功能的关系作为基础，通过化学、物理和分子生物学的手段进行基因修饰或基因合成，对现有蛋白质进行改造，或制造一种新的蛋白质，以满足人类对生产和生活的需求。</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2.2 </a:t>
            </a:r>
            <a:r>
              <a:rPr lang="zh-CN" altLang="en-US" sz="4265" b="1" dirty="0">
                <a:solidFill>
                  <a:prstClr val="white"/>
                </a:solidFill>
                <a:latin typeface="Times New Roman" panose="02020603050405020304" pitchFamily="18" charset="0"/>
                <a:ea typeface="微软雅黑" panose="020B0503020204020204" charset="-122"/>
              </a:rPr>
              <a:t>数据集</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616551" y="2274838"/>
            <a:ext cx="10958897" cy="2308324"/>
          </a:xfrm>
          <a:prstGeom prst="rect">
            <a:avLst/>
          </a:prstGeom>
          <a:noFill/>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使用Pfam(一个在生物信息学中广范使用的3100万个蛋白质结构域的数据库)作为TAPE的预训练语料库。监督数据集中，作者提供了五个与生物学相关的下游预测任务作为基准，数据集的大小在8000个到50000个训练示例之间变化（有关所有训练，验证和测试集的大小参见下表）。在分训练集和测试集时使用两种方式——随机分组（Random Families）和根据家族进行分组（家族分组，Heldout Families）。</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2.2 </a:t>
            </a:r>
            <a:r>
              <a:rPr lang="zh-CN" altLang="en-US" sz="4265" b="1" dirty="0">
                <a:solidFill>
                  <a:prstClr val="white"/>
                </a:solidFill>
                <a:latin typeface="Times New Roman" panose="02020603050405020304" pitchFamily="18" charset="0"/>
                <a:ea typeface="微软雅黑" panose="020B0503020204020204" charset="-122"/>
              </a:rPr>
              <a:t>数据集</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stretch>
            <a:fillRect/>
          </a:stretch>
        </p:blipFill>
        <p:spPr>
          <a:xfrm>
            <a:off x="0" y="1961444"/>
            <a:ext cx="12192000" cy="2935111"/>
          </a:xfrm>
          <a:prstGeom prst="rect">
            <a:avLst/>
          </a:prstGeom>
        </p:spPr>
      </p:pic>
    </p:spTree>
  </p:cSld>
  <p:clrMapOvr>
    <a:masterClrMapping/>
  </p:clrMapOvr>
  <p:transition spd="slow" advTm="14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Task1: </a:t>
            </a:r>
            <a:r>
              <a:rPr lang="zh-CN" altLang="en-US" sz="4265" b="1" dirty="0">
                <a:solidFill>
                  <a:prstClr val="white"/>
                </a:solidFill>
                <a:latin typeface="Times New Roman" panose="02020603050405020304" pitchFamily="18" charset="0"/>
                <a:ea typeface="微软雅黑" panose="020B0503020204020204" charset="-122"/>
              </a:rPr>
              <a:t>二级结构预测（结构预测任务）</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4" name="文本框 3"/>
              <p:cNvSpPr txBox="1"/>
              <p:nvPr/>
            </p:nvSpPr>
            <p:spPr>
              <a:xfrm>
                <a:off x="204787" y="1857286"/>
                <a:ext cx="11782425" cy="3595536"/>
              </a:xfrm>
              <a:prstGeom prst="rect">
                <a:avLst/>
              </a:prstGeom>
              <a:noFill/>
            </p:spPr>
            <p:txBody>
              <a:bodyPr wrap="square">
                <a:spAutoFit/>
              </a:bodyPr>
              <a:lstStyle/>
              <a:p>
                <a:pPr>
                  <a:lnSpc>
                    <a:spcPct val="12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定义：一个序列到序列任务，每个输入氨基酸</a:t>
                </a:r>
                <a14:m>
                  <m:oMath xmlns:m="http://schemas.openxmlformats.org/officeDocument/2006/math">
                    <m:sSub>
                      <m:sSubPr>
                        <m:ctrlPr>
                          <a:rPr lang="en-US" altLang="zh-CN" sz="2400" b="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𝑥</m:t>
                        </m:r>
                      </m:e>
                      <m:sub>
                        <m:r>
                          <a:rPr lang="en-US" altLang="zh-CN" sz="2400" b="0" i="1" smtClean="0">
                            <a:latin typeface="Cambria Math" panose="02040503050406030204" pitchFamily="18" charset="0"/>
                            <a:ea typeface="宋体" panose="02010600030101010101" pitchFamily="2" charset="-122"/>
                          </a:rPr>
                          <m:t>𝑖</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映射到标签</a:t>
                </a:r>
                <a14:m>
                  <m:oMath xmlns:m="http://schemas.openxmlformats.org/officeDocument/2006/math">
                    <m:sSub>
                      <m:sSubPr>
                        <m:ctrlPr>
                          <a:rPr lang="en-US" altLang="zh-CN" sz="2400" b="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𝑦</m:t>
                        </m:r>
                      </m:e>
                      <m:sub>
                        <m:r>
                          <a:rPr lang="en-US" altLang="zh-CN" sz="2400" b="0" i="1" smtClean="0">
                            <a:latin typeface="Cambria Math" panose="02040503050406030204" pitchFamily="18" charset="0"/>
                            <a:ea typeface="宋体" panose="02010600030101010101" pitchFamily="2" charset="-122"/>
                          </a:rPr>
                          <m:t>𝑖</m:t>
                        </m:r>
                      </m:sub>
                    </m:sSub>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螺旋</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链</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其他</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，标签即为该氨基酸在二级结构中所扮演的角色，螺旋或是链装。使用了来自</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Klausen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的数据集作为训练集和验证集，使用了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CB513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CASP12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以及</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TS115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这三个数据集作为测试集。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二级结构：蛋白质二级结构的基本类型有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α</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螺旋、</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β</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折叠、</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β</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转角和无规卷曲。如血红蛋白和肌红蛋白中含有大量的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α-</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螺旋，铁氧蛋白</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(ferredoxin)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则不含任何的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α</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螺旋。蛋白质中各种类型的二级结构并不是均匀地分布在蛋白质中，不同蛋白质中</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β</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折叠和</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β-</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转角的数量也有很大的变化。</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204787" y="1857286"/>
                <a:ext cx="11782425" cy="3595536"/>
              </a:xfrm>
              <a:prstGeom prst="rect">
                <a:avLst/>
              </a:prstGeom>
              <a:blipFill rotWithShape="1">
                <a:blip r:embed="rId5"/>
                <a:stretch>
                  <a:fillRect l="-3" t="-15" r="3" b="2"/>
                </a:stretch>
              </a:blipFill>
            </p:spPr>
            <p:txBody>
              <a:bodyPr/>
              <a:lstStyle/>
              <a:p>
                <a:r>
                  <a:rPr lang="zh-CN" altLang="en-US">
                    <a:noFill/>
                  </a:rPr>
                  <a:t> </a:t>
                </a:r>
              </a:p>
            </p:txBody>
          </p:sp>
        </mc:Fallback>
      </mc:AlternateContent>
    </p:spTree>
  </p:cSld>
  <p:clrMapOvr>
    <a:masterClrMapping/>
  </p:clrMapOvr>
  <p:transition spd="slow" advTm="14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Task1: </a:t>
            </a:r>
            <a:r>
              <a:rPr lang="zh-CN" altLang="en-US" sz="4265" b="1" dirty="0">
                <a:solidFill>
                  <a:prstClr val="white"/>
                </a:solidFill>
                <a:latin typeface="Times New Roman" panose="02020603050405020304" pitchFamily="18" charset="0"/>
                <a:ea typeface="微软雅黑" panose="020B0503020204020204" charset="-122"/>
              </a:rPr>
              <a:t>二级结构预测（结构预测任务）</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5" name="文本框 4"/>
          <p:cNvSpPr txBox="1"/>
          <p:nvPr/>
        </p:nvSpPr>
        <p:spPr>
          <a:xfrm>
            <a:off x="210820" y="2028488"/>
            <a:ext cx="11782425" cy="2801023"/>
          </a:xfrm>
          <a:prstGeom prst="rect">
            <a:avLst/>
          </a:prstGeom>
          <a:noFill/>
        </p:spPr>
        <p:txBody>
          <a:bodyPr wrap="square">
            <a:spAutoFit/>
          </a:bodyPr>
          <a:lstStyle/>
          <a:p>
            <a:pPr>
              <a:lnSpc>
                <a:spcPct val="120000"/>
              </a:lnSpc>
            </a:pPr>
            <a:r>
              <a:rPr lang="zh-CN" altLang="en-US" sz="2500" dirty="0">
                <a:latin typeface="宋体" panose="02010600030101010101" pitchFamily="2" charset="-122"/>
                <a:ea typeface="宋体" panose="02010600030101010101" pitchFamily="2" charset="-122"/>
              </a:rPr>
              <a:t>影响：二级结构是理解蛋白质功能的重要特征，尤其当目标蛋白质与已知结构蛋白质在进化上不相关时。</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泛化：测试模型学习局部结构的程度。</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度量：准确率。</a:t>
            </a:r>
            <a:endParaRPr lang="zh-CN" altLang="en-US" sz="25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Task2: </a:t>
            </a:r>
            <a:r>
              <a:rPr lang="zh-CN" altLang="en-US" sz="4265" b="1" dirty="0">
                <a:solidFill>
                  <a:prstClr val="white"/>
                </a:solidFill>
                <a:latin typeface="Times New Roman" panose="02020603050405020304" pitchFamily="18" charset="0"/>
                <a:ea typeface="微软雅黑" panose="020B0503020204020204" charset="-122"/>
              </a:rPr>
              <a:t>接触预测（结构预测任务）</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2" name="文本框 1"/>
              <p:cNvSpPr txBox="1"/>
              <p:nvPr/>
            </p:nvSpPr>
            <p:spPr>
              <a:xfrm>
                <a:off x="109154" y="1081194"/>
                <a:ext cx="11973692" cy="5387565"/>
              </a:xfrm>
              <a:prstGeom prst="rect">
                <a:avLst/>
              </a:prstGeom>
              <a:noFill/>
            </p:spPr>
            <p:txBody>
              <a:bodyPr wrap="square">
                <a:spAutoFit/>
              </a:bodyPr>
              <a:lstStyle/>
              <a:p>
                <a:pPr>
                  <a:lnSpc>
                    <a:spcPct val="120000"/>
                  </a:lnSpc>
                </a:pPr>
                <a:r>
                  <a:rPr lang="zh-CN" altLang="en-US" sz="2400" dirty="0">
                    <a:latin typeface="宋体" panose="02010600030101010101" pitchFamily="2" charset="-122"/>
                    <a:ea typeface="宋体" panose="02010600030101010101" pitchFamily="2" charset="-122"/>
                  </a:rPr>
                  <a:t>定义：一个成对氨基酸预测任务，来自蛋白质</a:t>
                </a:r>
                <a:r>
                  <a:rPr lang="en-US" altLang="zh-CN" sz="2400" dirty="0">
                    <a:latin typeface="宋体" panose="02010600030101010101" pitchFamily="2" charset="-122"/>
                    <a:ea typeface="宋体" panose="02010600030101010101" pitchFamily="2" charset="-122"/>
                  </a:rPr>
                  <a:t> </a:t>
                </a:r>
                <a14:m>
                  <m:oMath xmlns:m="http://schemas.openxmlformats.org/officeDocument/2006/math">
                    <m:r>
                      <a:rPr lang="en-US" altLang="zh-CN" sz="2400" b="0" i="1" smtClean="0">
                        <a:latin typeface="Cambria Math" panose="02040503050406030204" pitchFamily="18" charset="0"/>
                        <a:ea typeface="宋体" panose="02010600030101010101" pitchFamily="2" charset="-122"/>
                      </a:rPr>
                      <m:t>𝑥</m:t>
                    </m:r>
                  </m:oMath>
                </a14:m>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中的每对</a:t>
                </a:r>
                <a14:m>
                  <m:oMath xmlns:m="http://schemas.openxmlformats.org/officeDocument/2006/math">
                    <m:sSub>
                      <m:sSubPr>
                        <m:ctrlPr>
                          <a:rPr lang="en-US" altLang="zh-CN" sz="2400" b="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𝑥</m:t>
                        </m:r>
                      </m:e>
                      <m:sub>
                        <m:r>
                          <a:rPr lang="en-US" altLang="zh-CN" sz="2400" b="0" i="1" smtClean="0">
                            <a:latin typeface="Cambria Math" panose="02040503050406030204" pitchFamily="18" charset="0"/>
                            <a:ea typeface="宋体" panose="02010600030101010101" pitchFamily="2" charset="-122"/>
                          </a:rPr>
                          <m:t>𝑖</m:t>
                        </m:r>
                      </m:sub>
                    </m:sSub>
                    <m:r>
                      <a:rPr lang="zh-CN" altLang="en-US" sz="2400" i="1">
                        <a:latin typeface="Cambria Math" panose="02040503050406030204" pitchFamily="18" charset="0"/>
                        <a:ea typeface="宋体" panose="02010600030101010101" pitchFamily="2" charset="-122"/>
                      </a:rPr>
                      <m:t>、</m:t>
                    </m:r>
                    <m:sSub>
                      <m:sSubPr>
                        <m:ctrlPr>
                          <a:rPr lang="en-US" altLang="zh-CN" sz="2400" b="0" i="1" dirty="0" smtClean="0">
                            <a:latin typeface="Cambria Math" panose="02040503050406030204" pitchFamily="18" charset="0"/>
                            <a:ea typeface="宋体" panose="02010600030101010101" pitchFamily="2" charset="-122"/>
                          </a:rPr>
                        </m:ctrlPr>
                      </m:sSubPr>
                      <m:e>
                        <m:r>
                          <a:rPr lang="en-US" altLang="zh-CN" sz="2400" b="0" i="1" dirty="0" smtClean="0">
                            <a:latin typeface="Cambria Math" panose="02040503050406030204" pitchFamily="18" charset="0"/>
                            <a:ea typeface="宋体" panose="02010600030101010101" pitchFamily="2" charset="-122"/>
                          </a:rPr>
                          <m:t>𝑥</m:t>
                        </m:r>
                      </m:e>
                      <m:sub>
                        <m:r>
                          <a:rPr lang="en-US" altLang="zh-CN" sz="2400" b="0" i="1" dirty="0" smtClean="0">
                            <a:latin typeface="Cambria Math" panose="02040503050406030204" pitchFamily="18" charset="0"/>
                            <a:ea typeface="宋体" panose="02010600030101010101" pitchFamily="2" charset="-122"/>
                          </a:rPr>
                          <m:t>𝑗</m:t>
                        </m:r>
                      </m:sub>
                    </m:sSub>
                  </m:oMath>
                </a14:m>
                <a:r>
                  <a:rPr lang="zh-CN" altLang="en-US" sz="2400" dirty="0">
                    <a:latin typeface="宋体" panose="02010600030101010101" pitchFamily="2" charset="-122"/>
                    <a:ea typeface="宋体" panose="02010600030101010101" pitchFamily="2" charset="-122"/>
                  </a:rPr>
                  <a:t>映射到标签</a:t>
                </a:r>
                <a14:m>
                  <m:oMath xmlns:m="http://schemas.openxmlformats.org/officeDocument/2006/math">
                    <m:sSub>
                      <m:sSubPr>
                        <m:ctrlPr>
                          <a:rPr lang="en-US" altLang="zh-CN" sz="2400" b="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𝑦</m:t>
                        </m:r>
                      </m:e>
                      <m:sub>
                        <m:r>
                          <a:rPr lang="en-US" altLang="zh-CN" sz="2400" b="0" i="1" smtClean="0">
                            <a:latin typeface="Cambria Math" panose="02040503050406030204" pitchFamily="18" charset="0"/>
                            <a:ea typeface="宋体" panose="02010600030101010101" pitchFamily="2" charset="-122"/>
                          </a:rPr>
                          <m:t>𝑖𝑗</m:t>
                        </m:r>
                      </m:sub>
                    </m:sSub>
                  </m:oMath>
                </a14:m>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{0,1}</a:t>
                </a:r>
                <a:r>
                  <a:rPr lang="zh-CN" altLang="en-US" sz="2400" dirty="0">
                    <a:latin typeface="宋体" panose="02010600030101010101" pitchFamily="2" charset="-122"/>
                    <a:ea typeface="宋体" panose="02010600030101010101" pitchFamily="2" charset="-122"/>
                  </a:rPr>
                  <a:t>，表示是</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否接触（距离小于</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8</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埃）。精确的接触信息提供了强大的全局信息，例如这些信息有助于完整的三维蛋白质结构的稳定建模。数据来源于</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ProteinNet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数据集。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影响：准确的接触图提供强大全局信息。例如，它们有助于完整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3D</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蛋白质结构的稳健建模。</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泛化：中远距离接触的丰富性使接触预测成为衡量模型对整体蛋白质环境的理解的理想任务。作者以</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序列同一性来拆分数据。</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度量指标：在</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ProteinNet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CASP12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测试集上报告了中远程接触的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最有可能接触的预测的准确度，这是</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CASP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中报告的标准度量</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109154" y="1081194"/>
                <a:ext cx="11973692" cy="5387565"/>
              </a:xfrm>
              <a:prstGeom prst="rect">
                <a:avLst/>
              </a:prstGeom>
              <a:blipFill rotWithShape="1">
                <a:blip r:embed="rId5"/>
                <a:stretch>
                  <a:fillRect l="-5" t="-8" r="1"/>
                </a:stretch>
              </a:blipFill>
            </p:spPr>
            <p:txBody>
              <a:bodyPr/>
              <a:lstStyle/>
              <a:p>
                <a:r>
                  <a:rPr lang="zh-CN" altLang="en-US">
                    <a:noFill/>
                  </a:rPr>
                  <a:t> </a:t>
                </a:r>
              </a:p>
            </p:txBody>
          </p:sp>
        </mc:Fallback>
      </mc:AlternateContent>
    </p:spTree>
  </p:cSld>
  <p:clrMapOvr>
    <a:masterClrMapping/>
  </p:clrMapOvr>
  <p:transition spd="slow" advTm="14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Task2: </a:t>
            </a:r>
            <a:r>
              <a:rPr lang="zh-CN" altLang="en-US" sz="4265" b="1" dirty="0">
                <a:solidFill>
                  <a:prstClr val="white"/>
                </a:solidFill>
                <a:latin typeface="Times New Roman" panose="02020603050405020304" pitchFamily="18" charset="0"/>
                <a:ea typeface="微软雅黑" panose="020B0503020204020204" charset="-122"/>
              </a:rPr>
              <a:t>接触预测（结构预测任务）</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stretch>
            <a:fillRect/>
          </a:stretch>
        </p:blipFill>
        <p:spPr>
          <a:xfrm>
            <a:off x="1747837" y="987216"/>
            <a:ext cx="8448675" cy="4800600"/>
          </a:xfrm>
          <a:prstGeom prst="rect">
            <a:avLst/>
          </a:prstGeom>
        </p:spPr>
      </p:pic>
      <p:sp>
        <p:nvSpPr>
          <p:cNvPr id="5" name="文本框 4"/>
          <p:cNvSpPr txBox="1"/>
          <p:nvPr/>
        </p:nvSpPr>
        <p:spPr>
          <a:xfrm>
            <a:off x="1428749" y="5784432"/>
            <a:ext cx="10106025" cy="707886"/>
          </a:xfrm>
          <a:prstGeom prst="rect">
            <a:avLst/>
          </a:prstGeom>
          <a:noFill/>
        </p:spPr>
        <p:txBody>
          <a:bodyPr wrap="square">
            <a:spAutoFit/>
          </a:bodyPr>
          <a:lstStyle/>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从正面观察这个孔蛋白，显示了一个接触图，其中矩阵中的条目</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i</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j</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表示序列中位置</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i</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j</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的氨基酸的距离是否在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8</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埃之内。绿色表示两个非连续氨基酸之间的接触。</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Task2: </a:t>
            </a:r>
            <a:r>
              <a:rPr lang="zh-CN" altLang="en-US" sz="4265" b="1" dirty="0">
                <a:solidFill>
                  <a:prstClr val="white"/>
                </a:solidFill>
                <a:latin typeface="Times New Roman" panose="02020603050405020304" pitchFamily="18" charset="0"/>
                <a:ea typeface="微软雅黑" panose="020B0503020204020204" charset="-122"/>
              </a:rPr>
              <a:t>接触预测结果</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4" name="文本框 3"/>
          <p:cNvSpPr txBox="1"/>
          <p:nvPr/>
        </p:nvSpPr>
        <p:spPr>
          <a:xfrm>
            <a:off x="210820" y="1253609"/>
            <a:ext cx="6115050" cy="369332"/>
          </a:xfrm>
          <a:prstGeom prst="rect">
            <a:avLst/>
          </a:prstGeom>
          <a:noFill/>
        </p:spPr>
        <p:txBody>
          <a:bodyPr wrap="square">
            <a:spAutoFit/>
          </a:bodyPr>
          <a:lstStyle/>
          <a:p>
            <a:r>
              <a:rPr lang="zh-CN" altLang="en-US" dirty="0"/>
              <a:t>短范围内的接触预测结果。短范围指的是相隔</a:t>
            </a:r>
            <a:r>
              <a:rPr lang="en-US" altLang="zh-CN" dirty="0"/>
              <a:t>6-11</a:t>
            </a:r>
            <a:r>
              <a:rPr lang="zh-CN" altLang="en-US" dirty="0"/>
              <a:t>个氨基酸</a:t>
            </a:r>
            <a:endParaRPr lang="zh-CN" altLang="en-US" dirty="0"/>
          </a:p>
        </p:txBody>
      </p:sp>
      <p:pic>
        <p:nvPicPr>
          <p:cNvPr id="6" name="图片 5"/>
          <p:cNvPicPr>
            <a:picLocks noChangeAspect="1"/>
          </p:cNvPicPr>
          <p:nvPr/>
        </p:nvPicPr>
        <p:blipFill>
          <a:blip r:embed="rId5"/>
          <a:stretch>
            <a:fillRect/>
          </a:stretch>
        </p:blipFill>
        <p:spPr>
          <a:xfrm>
            <a:off x="210820" y="1660948"/>
            <a:ext cx="11049000" cy="5076825"/>
          </a:xfrm>
          <a:prstGeom prst="rect">
            <a:avLst/>
          </a:prstGeom>
        </p:spPr>
      </p:pic>
    </p:spTree>
  </p:cSld>
  <p:clrMapOvr>
    <a:masterClrMapping/>
  </p:clrMapOvr>
  <p:transition spd="slow" advTm="14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Task2: </a:t>
            </a:r>
            <a:r>
              <a:rPr lang="zh-CN" altLang="en-US" sz="4265" b="1" dirty="0">
                <a:solidFill>
                  <a:prstClr val="white"/>
                </a:solidFill>
                <a:latin typeface="Times New Roman" panose="02020603050405020304" pitchFamily="18" charset="0"/>
                <a:ea typeface="微软雅黑" panose="020B0503020204020204" charset="-122"/>
              </a:rPr>
              <a:t>接触预测结果</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210820" y="1253516"/>
            <a:ext cx="8562975" cy="369332"/>
          </a:xfrm>
          <a:prstGeom prst="rect">
            <a:avLst/>
          </a:prstGeom>
          <a:noFill/>
        </p:spPr>
        <p:txBody>
          <a:bodyPr wrap="square">
            <a:spAutoFit/>
          </a:bodyPr>
          <a:lstStyle/>
          <a:p>
            <a:r>
              <a:rPr lang="zh-CN" altLang="en-US" dirty="0"/>
              <a:t>中范围内的接触预测结果。中等范围指的是相隔</a:t>
            </a:r>
            <a:r>
              <a:rPr lang="en-US" altLang="zh-CN" dirty="0"/>
              <a:t>12-23</a:t>
            </a:r>
            <a:r>
              <a:rPr lang="zh-CN" altLang="en-US" dirty="0"/>
              <a:t>个氨基酸</a:t>
            </a:r>
            <a:endParaRPr lang="zh-CN" altLang="en-US" dirty="0"/>
          </a:p>
        </p:txBody>
      </p:sp>
      <p:pic>
        <p:nvPicPr>
          <p:cNvPr id="5" name="图片 4"/>
          <p:cNvPicPr>
            <a:picLocks noChangeAspect="1"/>
          </p:cNvPicPr>
          <p:nvPr/>
        </p:nvPicPr>
        <p:blipFill>
          <a:blip r:embed="rId5"/>
          <a:stretch>
            <a:fillRect/>
          </a:stretch>
        </p:blipFill>
        <p:spPr>
          <a:xfrm>
            <a:off x="210820" y="1655497"/>
            <a:ext cx="11209655" cy="5186840"/>
          </a:xfrm>
          <a:prstGeom prst="rect">
            <a:avLst/>
          </a:prstGeom>
        </p:spPr>
      </p:pic>
    </p:spTree>
  </p:cSld>
  <p:clrMapOvr>
    <a:masterClrMapping/>
  </p:clrMapOvr>
  <p:transition spd="slow" advTm="14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Task2: </a:t>
            </a:r>
            <a:r>
              <a:rPr lang="zh-CN" altLang="en-US" sz="4265" b="1" dirty="0">
                <a:solidFill>
                  <a:prstClr val="white"/>
                </a:solidFill>
                <a:latin typeface="Times New Roman" panose="02020603050405020304" pitchFamily="18" charset="0"/>
                <a:ea typeface="微软雅黑" panose="020B0503020204020204" charset="-122"/>
              </a:rPr>
              <a:t>接触预测结果</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210820" y="1253516"/>
            <a:ext cx="8562975" cy="369332"/>
          </a:xfrm>
          <a:prstGeom prst="rect">
            <a:avLst/>
          </a:prstGeom>
          <a:noFill/>
        </p:spPr>
        <p:txBody>
          <a:bodyPr wrap="square">
            <a:spAutoFit/>
          </a:bodyPr>
          <a:lstStyle/>
          <a:p>
            <a:r>
              <a:rPr lang="zh-CN" altLang="en-US" dirty="0"/>
              <a:t>长范围内的接触预测结果。长范围指的是相隔</a:t>
            </a:r>
            <a:r>
              <a:rPr lang="en-US" altLang="zh-CN" dirty="0"/>
              <a:t>24</a:t>
            </a:r>
            <a:r>
              <a:rPr lang="zh-CN" altLang="en-US" dirty="0"/>
              <a:t>个氨基酸以上</a:t>
            </a:r>
            <a:endParaRPr lang="zh-CN" altLang="en-US" dirty="0"/>
          </a:p>
        </p:txBody>
      </p:sp>
      <p:pic>
        <p:nvPicPr>
          <p:cNvPr id="6" name="图片 5"/>
          <p:cNvPicPr>
            <a:picLocks noChangeAspect="1"/>
          </p:cNvPicPr>
          <p:nvPr/>
        </p:nvPicPr>
        <p:blipFill>
          <a:blip r:embed="rId5"/>
          <a:stretch>
            <a:fillRect/>
          </a:stretch>
        </p:blipFill>
        <p:spPr>
          <a:xfrm>
            <a:off x="210820" y="1699048"/>
            <a:ext cx="10953750" cy="5038725"/>
          </a:xfrm>
          <a:prstGeom prst="rect">
            <a:avLst/>
          </a:prstGeom>
        </p:spPr>
      </p:pic>
    </p:spTree>
  </p:cSld>
  <p:clrMapOvr>
    <a:masterClrMapping/>
  </p:clrMapOvr>
  <p:transition spd="slow" advTm="14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Task3: </a:t>
            </a:r>
            <a:r>
              <a:rPr lang="zh-CN" altLang="en-US" sz="4265" b="1" dirty="0">
                <a:solidFill>
                  <a:prstClr val="white"/>
                </a:solidFill>
                <a:latin typeface="Times New Roman" panose="02020603050405020304" pitchFamily="18" charset="0"/>
                <a:ea typeface="微软雅黑" panose="020B0503020204020204" charset="-122"/>
              </a:rPr>
              <a:t>远程同源性检测（进化理解任务）</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4" name="文本框 3"/>
              <p:cNvSpPr txBox="1"/>
              <p:nvPr/>
            </p:nvSpPr>
            <p:spPr>
              <a:xfrm>
                <a:off x="428232" y="1639471"/>
                <a:ext cx="11335535" cy="3579057"/>
              </a:xfrm>
              <a:prstGeom prst="rect">
                <a:avLst/>
              </a:prstGeom>
              <a:noFill/>
            </p:spPr>
            <p:txBody>
              <a:bodyPr wrap="square">
                <a:spAutoFit/>
              </a:bodyPr>
              <a:lstStyle/>
              <a:p>
                <a:pPr>
                  <a:lnSpc>
                    <a:spcPct val="12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定义：序列分类任务，每个输入蛋白质</a:t>
                </a:r>
                <a14:m>
                  <m:oMath xmlns:m="http://schemas.openxmlformats.org/officeDocument/2006/math">
                    <m:r>
                      <a:rPr lang="en-US" altLang="zh-CN" sz="2400" b="0" i="1" smtClean="0">
                        <a:latin typeface="Cambria Math" panose="02040503050406030204" pitchFamily="18" charset="0"/>
                        <a:ea typeface="宋体" panose="02010600030101010101" pitchFamily="2" charset="-122"/>
                      </a:rPr>
                      <m:t>𝑥</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映射到标签</a:t>
                </a:r>
                <a14:m>
                  <m:oMath xmlns:m="http://schemas.openxmlformats.org/officeDocument/2006/math">
                    <m:r>
                      <a:rPr lang="en-US" altLang="zh-CN" sz="2400" b="0" i="1" smtClean="0">
                        <a:latin typeface="Cambria Math" panose="02040503050406030204" pitchFamily="18" charset="0"/>
                        <a:ea typeface="宋体" panose="02010600030101010101" pitchFamily="2" charset="-122"/>
                      </a:rPr>
                      <m:t>𝑦</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{1,…,1195}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，表示不同蛋白质折叠类型。</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400" dirty="0">
                  <a:latin typeface="宋体" panose="02010600030101010101" pitchFamily="2" charset="-122"/>
                  <a:ea typeface="宋体" panose="02010600030101010101" pitchFamily="2" charset="-122"/>
                </a:endParaRPr>
              </a:p>
              <a:p>
                <a:pPr>
                  <a:lnSpc>
                    <a:spcPct val="120000"/>
                  </a:lnSpc>
                </a:pPr>
                <a:r>
                  <a:rPr lang="zh-CN" altLang="en-US" sz="2400" dirty="0">
                    <a:latin typeface="宋体" panose="02010600030101010101" pitchFamily="2" charset="-122"/>
                    <a:ea typeface="宋体" panose="02010600030101010101" pitchFamily="2" charset="-122"/>
                  </a:rPr>
                  <a:t>影响：在微生物学和医学中重要，如检测抗生素耐药基因和发现新</a:t>
                </a:r>
                <a:r>
                  <a:rPr lang="en-US" altLang="zh-CN" sz="2400" dirty="0">
                    <a:latin typeface="宋体" panose="02010600030101010101" pitchFamily="2" charset="-122"/>
                    <a:ea typeface="宋体" panose="02010600030101010101" pitchFamily="2" charset="-122"/>
                  </a:rPr>
                  <a:t>CAS</a:t>
                </a:r>
                <a:r>
                  <a:rPr lang="zh-CN" altLang="en-US" sz="2400" dirty="0">
                    <a:latin typeface="宋体" panose="02010600030101010101" pitchFamily="2" charset="-122"/>
                    <a:ea typeface="宋体" panose="02010600030101010101" pitchFamily="2" charset="-122"/>
                  </a:rPr>
                  <a:t>酶。</a:t>
                </a:r>
                <a:endParaRPr lang="en-US" altLang="zh-CN" sz="2400" dirty="0">
                  <a:latin typeface="宋体" panose="02010600030101010101" pitchFamily="2" charset="-122"/>
                  <a:ea typeface="宋体" panose="02010600030101010101" pitchFamily="2" charset="-122"/>
                </a:endParaRPr>
              </a:p>
              <a:p>
                <a:pPr>
                  <a:lnSpc>
                    <a:spcPct val="120000"/>
                  </a:lnSpc>
                </a:pPr>
                <a:endParaRPr lang="zh-CN" altLang="en-US" sz="2400" dirty="0">
                  <a:latin typeface="宋体" panose="02010600030101010101" pitchFamily="2" charset="-122"/>
                  <a:ea typeface="宋体" panose="02010600030101010101" pitchFamily="2" charset="-122"/>
                </a:endParaRPr>
              </a:p>
              <a:p>
                <a:pPr>
                  <a:lnSpc>
                    <a:spcPct val="120000"/>
                  </a:lnSpc>
                </a:pPr>
                <a:r>
                  <a:rPr lang="zh-CN" altLang="en-US" sz="2400" dirty="0">
                    <a:latin typeface="宋体" panose="02010600030101010101" pitchFamily="2" charset="-122"/>
                    <a:ea typeface="宋体" panose="02010600030101010101" pitchFamily="2" charset="-122"/>
                  </a:rPr>
                  <a:t>泛化：远程同源性检测可衡量模型检测跨远距离相关输入的结构相似性的能力。</a:t>
                </a:r>
                <a:endParaRPr lang="en-US" altLang="zh-CN" sz="2400" dirty="0">
                  <a:latin typeface="宋体" panose="02010600030101010101" pitchFamily="2" charset="-122"/>
                  <a:ea typeface="宋体" panose="02010600030101010101" pitchFamily="2" charset="-122"/>
                </a:endParaRPr>
              </a:p>
              <a:p>
                <a:pPr>
                  <a:lnSpc>
                    <a:spcPct val="120000"/>
                  </a:lnSpc>
                </a:pPr>
                <a:endParaRPr lang="zh-CN" altLang="en-US" sz="2400" dirty="0">
                  <a:latin typeface="宋体" panose="02010600030101010101" pitchFamily="2" charset="-122"/>
                  <a:ea typeface="宋体" panose="02010600030101010101" pitchFamily="2" charset="-122"/>
                </a:endParaRPr>
              </a:p>
              <a:p>
                <a:pPr>
                  <a:lnSpc>
                    <a:spcPct val="120000"/>
                  </a:lnSpc>
                </a:pPr>
                <a:r>
                  <a:rPr lang="zh-CN" altLang="en-US" sz="2400" dirty="0">
                    <a:latin typeface="宋体" panose="02010600030101010101" pitchFamily="2" charset="-122"/>
                    <a:ea typeface="宋体" panose="02010600030101010101" pitchFamily="2" charset="-122"/>
                  </a:rPr>
                  <a:t>度量：在相应数据集上的分类准确度。</a:t>
                </a:r>
                <a:endParaRPr lang="en-US" altLang="zh-CN" sz="2400" dirty="0">
                  <a:latin typeface="宋体" panose="02010600030101010101" pitchFamily="2" charset="-122"/>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428232" y="1639471"/>
                <a:ext cx="11335535" cy="3579057"/>
              </a:xfrm>
              <a:prstGeom prst="rect">
                <a:avLst/>
              </a:prstGeom>
              <a:blipFill rotWithShape="1">
                <a:blip r:embed="rId5"/>
                <a:stretch>
                  <a:fillRect l="-2" t="-15" r="3" b="3"/>
                </a:stretch>
              </a:blipFill>
            </p:spPr>
            <p:txBody>
              <a:bodyPr/>
              <a:lstStyle/>
              <a:p>
                <a:r>
                  <a:rPr lang="zh-CN" altLang="en-US">
                    <a:noFill/>
                  </a:rPr>
                  <a:t> </a:t>
                </a:r>
              </a:p>
            </p:txBody>
          </p:sp>
        </mc:Fallback>
      </mc:AlternateContent>
    </p:spTree>
  </p:cSld>
  <p:clrMapOvr>
    <a:masterClrMapping/>
  </p:clrMapOvr>
  <p:transition spd="slow" advTm="14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10476230" cy="748666"/>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Task4: </a:t>
            </a:r>
            <a:r>
              <a:rPr lang="zh-CN" altLang="en-US" sz="4265" b="1" dirty="0">
                <a:solidFill>
                  <a:prstClr val="white"/>
                </a:solidFill>
                <a:latin typeface="Times New Roman" panose="02020603050405020304" pitchFamily="18" charset="0"/>
                <a:ea typeface="微软雅黑" panose="020B0503020204020204" charset="-122"/>
              </a:rPr>
              <a:t>荧光景观预测（蛋白质工程任务）</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6" name="文本框 5"/>
              <p:cNvSpPr txBox="1"/>
              <p:nvPr/>
            </p:nvSpPr>
            <p:spPr>
              <a:xfrm>
                <a:off x="204787" y="1857286"/>
                <a:ext cx="11782425" cy="2801023"/>
              </a:xfrm>
              <a:prstGeom prst="rect">
                <a:avLst/>
              </a:prstGeom>
              <a:noFill/>
            </p:spPr>
            <p:txBody>
              <a:bodyPr wrap="square">
                <a:spAutoFit/>
              </a:bodyPr>
              <a:lstStyle/>
              <a:p>
                <a:pPr>
                  <a:lnSpc>
                    <a:spcPct val="120000"/>
                  </a:lnSpc>
                </a:pPr>
                <a:r>
                  <a:rPr lang="zh-CN" altLang="en-US" sz="2500" dirty="0">
                    <a:latin typeface="宋体" panose="02010600030101010101" pitchFamily="2" charset="-122"/>
                    <a:ea typeface="宋体" panose="02010600030101010101" pitchFamily="2" charset="-122"/>
                  </a:rPr>
                  <a:t>定义：回归任务，每个输入蛋白质</a:t>
                </a:r>
                <a14:m>
                  <m:oMath xmlns:m="http://schemas.openxmlformats.org/officeDocument/2006/math">
                    <m:r>
                      <a:rPr lang="en-US" altLang="zh-CN" sz="2500" b="0" i="1" smtClean="0">
                        <a:latin typeface="Cambria Math" panose="02040503050406030204" pitchFamily="18" charset="0"/>
                        <a:ea typeface="宋体" panose="02010600030101010101" pitchFamily="2" charset="-122"/>
                      </a:rPr>
                      <m:t>𝑥</m:t>
                    </m:r>
                    <m:r>
                      <a:rPr lang="zh-CN" altLang="en-US" sz="2500" i="1">
                        <a:latin typeface="Cambria Math" panose="02040503050406030204" pitchFamily="18" charset="0"/>
                        <a:ea typeface="宋体" panose="02010600030101010101" pitchFamily="2" charset="-122"/>
                      </a:rPr>
                      <m:t>映射</m:t>
                    </m:r>
                  </m:oMath>
                </a14:m>
                <a:r>
                  <a:rPr lang="zh-CN" altLang="en-US" sz="2500" dirty="0">
                    <a:latin typeface="宋体" panose="02010600030101010101" pitchFamily="2" charset="-122"/>
                    <a:ea typeface="宋体" panose="02010600030101010101" pitchFamily="2" charset="-122"/>
                  </a:rPr>
                  <a:t>到</a:t>
                </a:r>
                <a14:m>
                  <m:oMath xmlns:m="http://schemas.openxmlformats.org/officeDocument/2006/math">
                    <m:r>
                      <a:rPr lang="en-US" altLang="zh-CN" sz="2500" b="0" i="1" dirty="0" smtClean="0">
                        <a:latin typeface="Cambria Math" panose="02040503050406030204" pitchFamily="18" charset="0"/>
                        <a:ea typeface="宋体" panose="02010600030101010101" pitchFamily="2" charset="-122"/>
                      </a:rPr>
                      <m:t>𝑦</m:t>
                    </m:r>
                    <m:r>
                      <a:rPr lang="zh-CN" altLang="en-US" sz="2500" i="1" dirty="0">
                        <a:latin typeface="Cambria Math" panose="02040503050406030204" pitchFamily="18" charset="0"/>
                        <a:ea typeface="宋体" panose="02010600030101010101" pitchFamily="2" charset="-122"/>
                      </a:rPr>
                      <m:t>∈</m:t>
                    </m:r>
                    <m:r>
                      <a:rPr lang="en-US" altLang="zh-CN" sz="2500" b="0" i="1" dirty="0" smtClean="0">
                        <a:latin typeface="Cambria Math" panose="02040503050406030204" pitchFamily="18" charset="0"/>
                        <a:ea typeface="宋体" panose="02010600030101010101" pitchFamily="2" charset="-122"/>
                      </a:rPr>
                      <m:t>𝑅</m:t>
                    </m:r>
                    <m:r>
                      <a:rPr lang="zh-CN" altLang="en-US" sz="2500" i="1" dirty="0">
                        <a:latin typeface="Cambria Math" panose="02040503050406030204" pitchFamily="18" charset="0"/>
                        <a:ea typeface="宋体" panose="02010600030101010101" pitchFamily="2" charset="-122"/>
                      </a:rPr>
                      <m:t>，</m:t>
                    </m:r>
                  </m:oMath>
                </a14:m>
                <a:r>
                  <a:rPr lang="zh-CN" altLang="en-US" sz="2500" dirty="0">
                    <a:latin typeface="宋体" panose="02010600030101010101" pitchFamily="2" charset="-122"/>
                    <a:ea typeface="宋体" panose="02010600030101010101" pitchFamily="2" charset="-122"/>
                  </a:rPr>
                  <a:t>对应对数荧光强度。可以测试模型区分相似输入及泛化到未见突变组合的能力。</a:t>
                </a:r>
                <a:endParaRPr lang="en-US" altLang="zh-CN" sz="2500" dirty="0">
                  <a:latin typeface="宋体" panose="02010600030101010101" pitchFamily="2" charset="-122"/>
                  <a:ea typeface="宋体" panose="02010600030101010101" pitchFamily="2" charset="-122"/>
                </a:endParaRPr>
              </a:p>
              <a:p>
                <a:pPr>
                  <a:lnSpc>
                    <a:spcPct val="120000"/>
                  </a:lnSpc>
                </a:pPr>
                <a:endParaRPr lang="en-US" altLang="zh-CN"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影响：对于长度𝐿的蛋白质，𝑚个突变的可能序列数为𝑂</a:t>
                </a:r>
                <a:r>
                  <a:rPr lang="en-US" altLang="zh-CN" sz="2500" dirty="0">
                    <a:latin typeface="宋体" panose="02010600030101010101" pitchFamily="2" charset="-122"/>
                    <a:ea typeface="宋体" panose="02010600030101010101" pitchFamily="2" charset="-122"/>
                  </a:rPr>
                  <a:t>(</a:t>
                </a:r>
                <a14:m>
                  <m:oMath xmlns:m="http://schemas.openxmlformats.org/officeDocument/2006/math">
                    <m:sSup>
                      <m:sSupPr>
                        <m:ctrlPr>
                          <a:rPr lang="en-US" altLang="zh-CN" sz="2500" i="1" dirty="0" smtClean="0">
                            <a:latin typeface="Cambria Math" panose="02040503050406030204" pitchFamily="18" charset="0"/>
                            <a:ea typeface="宋体" panose="02010600030101010101" pitchFamily="2" charset="-122"/>
                          </a:rPr>
                        </m:ctrlPr>
                      </m:sSupPr>
                      <m:e>
                        <m:r>
                          <a:rPr lang="zh-CN" altLang="en-US" sz="2500" i="1" dirty="0" smtClean="0">
                            <a:latin typeface="Cambria Math" panose="02040503050406030204" pitchFamily="18" charset="0"/>
                            <a:ea typeface="宋体" panose="02010600030101010101" pitchFamily="2" charset="-122"/>
                          </a:rPr>
                          <m:t>𝐿</m:t>
                        </m:r>
                      </m:e>
                      <m:sup>
                        <m:r>
                          <a:rPr lang="zh-CN" altLang="en-US" sz="2500" i="1" dirty="0" smtClean="0">
                            <a:latin typeface="Cambria Math" panose="02040503050406030204" pitchFamily="18" charset="0"/>
                            <a:ea typeface="宋体" panose="02010600030101010101" pitchFamily="2" charset="-122"/>
                          </a:rPr>
                          <m:t>𝑚</m:t>
                        </m:r>
                      </m:sup>
                    </m:sSup>
                  </m:oMath>
                </a14:m>
                <a:r>
                  <a:rPr lang="en-US" altLang="zh-CN" sz="2500" dirty="0">
                    <a:latin typeface="宋体" panose="02010600030101010101" pitchFamily="2" charset="-122"/>
                    <a:ea typeface="宋体" panose="02010600030101010101" pitchFamily="2" charset="-122"/>
                  </a:rPr>
                  <a:t>)</a:t>
                </a:r>
                <a:r>
                  <a:rPr lang="zh-CN" altLang="en-US" sz="2500" dirty="0">
                    <a:latin typeface="宋体" panose="02010600030101010101" pitchFamily="2" charset="-122"/>
                    <a:ea typeface="宋体" panose="02010600030101010101" pitchFamily="2" charset="-122"/>
                  </a:rPr>
                  <a:t>，实验搜索空间巨大。</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度量：报告测试集的</a:t>
                </a:r>
                <a:r>
                  <a:rPr lang="en-US" altLang="zh-CN" sz="2500" dirty="0">
                    <a:latin typeface="宋体" panose="02010600030101010101" pitchFamily="2" charset="-122"/>
                    <a:ea typeface="宋体" panose="02010600030101010101" pitchFamily="2" charset="-122"/>
                  </a:rPr>
                  <a:t>spearman</a:t>
                </a:r>
                <a:r>
                  <a:rPr lang="zh-CN" altLang="en-US" sz="2500" dirty="0">
                    <a:latin typeface="宋体" panose="02010600030101010101" pitchFamily="2" charset="-122"/>
                    <a:ea typeface="宋体" panose="02010600030101010101" pitchFamily="2" charset="-122"/>
                  </a:rPr>
                  <a:t>相关系数。</a:t>
                </a:r>
                <a:endParaRPr lang="en-US" altLang="zh-CN" sz="2500" dirty="0">
                  <a:latin typeface="宋体" panose="02010600030101010101" pitchFamily="2" charset="-122"/>
                  <a:ea typeface="宋体" panose="0201060003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204787" y="1857286"/>
                <a:ext cx="11782425" cy="2801023"/>
              </a:xfrm>
              <a:prstGeom prst="rect">
                <a:avLst/>
              </a:prstGeom>
              <a:blipFill rotWithShape="1">
                <a:blip r:embed="rId5"/>
                <a:stretch>
                  <a:fillRect l="-3" t="-19" r="-1134" b="-297"/>
                </a:stretch>
              </a:blipFill>
            </p:spPr>
            <p:txBody>
              <a:bodyPr/>
              <a:lstStyle/>
              <a:p>
                <a:r>
                  <a:rPr lang="zh-CN" altLang="en-US">
                    <a:noFill/>
                  </a:rPr>
                  <a:t> </a:t>
                </a:r>
              </a:p>
            </p:txBody>
          </p:sp>
        </mc:Fallback>
      </mc:AlternateContent>
    </p:spTree>
  </p:cSld>
  <p:clrMapOvr>
    <a:masterClrMapping/>
  </p:clrMapOvr>
  <p:transition spd="slow" advTm="14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10883833" cy="748666"/>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Task5: </a:t>
            </a:r>
            <a:r>
              <a:rPr lang="zh-CN" altLang="en-US" sz="4265" b="1" dirty="0">
                <a:solidFill>
                  <a:prstClr val="white"/>
                </a:solidFill>
                <a:latin typeface="Times New Roman" panose="02020603050405020304" pitchFamily="18" charset="0"/>
                <a:ea typeface="微软雅黑" panose="020B0503020204020204" charset="-122"/>
              </a:rPr>
              <a:t>稳定性景观预测（蛋白质工程任务）</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6" name="文本框 5"/>
              <p:cNvSpPr txBox="1"/>
              <p:nvPr/>
            </p:nvSpPr>
            <p:spPr>
              <a:xfrm>
                <a:off x="204787" y="1857286"/>
                <a:ext cx="11782425" cy="2801023"/>
              </a:xfrm>
              <a:prstGeom prst="rect">
                <a:avLst/>
              </a:prstGeom>
              <a:noFill/>
            </p:spPr>
            <p:txBody>
              <a:bodyPr wrap="square">
                <a:spAutoFit/>
              </a:bodyPr>
              <a:lstStyle/>
              <a:p>
                <a:pPr>
                  <a:lnSpc>
                    <a:spcPct val="120000"/>
                  </a:lnSpc>
                </a:pPr>
                <a:r>
                  <a:rPr lang="zh-CN" altLang="en-US" sz="2500" dirty="0">
                    <a:latin typeface="宋体" panose="02010600030101010101" pitchFamily="2" charset="-122"/>
                    <a:ea typeface="宋体" panose="02010600030101010101" pitchFamily="2" charset="-122"/>
                  </a:rPr>
                  <a:t>定义：回归任务，每个输入蛋白质</a:t>
                </a:r>
                <a14:m>
                  <m:oMath xmlns:m="http://schemas.openxmlformats.org/officeDocument/2006/math">
                    <m:r>
                      <a:rPr lang="en-US" altLang="zh-CN" sz="2500" b="0" i="1" smtClean="0">
                        <a:latin typeface="Cambria Math" panose="02040503050406030204" pitchFamily="18" charset="0"/>
                        <a:ea typeface="宋体" panose="02010600030101010101" pitchFamily="2" charset="-122"/>
                      </a:rPr>
                      <m:t>𝑥</m:t>
                    </m:r>
                    <m:r>
                      <a:rPr lang="zh-CN" altLang="en-US" sz="2500" i="1">
                        <a:latin typeface="Cambria Math" panose="02040503050406030204" pitchFamily="18" charset="0"/>
                        <a:ea typeface="宋体" panose="02010600030101010101" pitchFamily="2" charset="-122"/>
                      </a:rPr>
                      <m:t>映射</m:t>
                    </m:r>
                  </m:oMath>
                </a14:m>
                <a:r>
                  <a:rPr lang="zh-CN" altLang="en-US" sz="2500" dirty="0">
                    <a:latin typeface="宋体" panose="02010600030101010101" pitchFamily="2" charset="-122"/>
                    <a:ea typeface="宋体" panose="02010600030101010101" pitchFamily="2" charset="-122"/>
                  </a:rPr>
                  <a:t>到</a:t>
                </a:r>
                <a14:m>
                  <m:oMath xmlns:m="http://schemas.openxmlformats.org/officeDocument/2006/math">
                    <m:r>
                      <a:rPr lang="en-US" altLang="zh-CN" sz="2500" b="0" i="1" dirty="0" smtClean="0">
                        <a:latin typeface="Cambria Math" panose="02040503050406030204" pitchFamily="18" charset="0"/>
                        <a:ea typeface="宋体" panose="02010600030101010101" pitchFamily="2" charset="-122"/>
                      </a:rPr>
                      <m:t>𝑦</m:t>
                    </m:r>
                    <m:r>
                      <a:rPr lang="zh-CN" altLang="en-US" sz="2500" i="1" dirty="0">
                        <a:latin typeface="Cambria Math" panose="02040503050406030204" pitchFamily="18" charset="0"/>
                        <a:ea typeface="宋体" panose="02010600030101010101" pitchFamily="2" charset="-122"/>
                      </a:rPr>
                      <m:t>∈</m:t>
                    </m:r>
                    <m:r>
                      <a:rPr lang="en-US" altLang="zh-CN" sz="2500" b="0" i="1" dirty="0" smtClean="0">
                        <a:latin typeface="Cambria Math" panose="02040503050406030204" pitchFamily="18" charset="0"/>
                        <a:ea typeface="宋体" panose="02010600030101010101" pitchFamily="2" charset="-122"/>
                      </a:rPr>
                      <m:t>𝑅</m:t>
                    </m:r>
                    <m:r>
                      <a:rPr lang="zh-CN" altLang="en-US" sz="2500" i="1" dirty="0">
                        <a:latin typeface="Cambria Math" panose="02040503050406030204" pitchFamily="18" charset="0"/>
                        <a:ea typeface="宋体" panose="02010600030101010101" pitchFamily="2" charset="-122"/>
                      </a:rPr>
                      <m:t>，</m:t>
                    </m:r>
                  </m:oMath>
                </a14:m>
                <a:r>
                  <a:rPr lang="zh-CN" altLang="en-US" sz="2500" dirty="0">
                    <a:latin typeface="宋体" panose="02010600030101010101" pitchFamily="2" charset="-122"/>
                    <a:ea typeface="宋体" panose="02010600030101010101" pitchFamily="2" charset="-122"/>
                  </a:rPr>
                  <a:t>测量蛋白质在浓度阈值以上保持折叠的最极端条件。</a:t>
                </a:r>
                <a:endParaRPr lang="en-US" altLang="zh-CN" sz="2500" dirty="0">
                  <a:latin typeface="宋体" panose="02010600030101010101" pitchFamily="2" charset="-122"/>
                  <a:ea typeface="宋体" panose="02010600030101010101" pitchFamily="2" charset="-122"/>
                </a:endParaRPr>
              </a:p>
              <a:p>
                <a:pPr>
                  <a:lnSpc>
                    <a:spcPct val="120000"/>
                  </a:lnSpc>
                </a:pPr>
                <a:endParaRPr lang="en-US" altLang="zh-CN"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影响：设计稳定蛋白质对药物递送等至关重要。</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度量：报告测试集的</a:t>
                </a:r>
                <a:r>
                  <a:rPr lang="en-US" altLang="zh-CN" sz="2500" dirty="0">
                    <a:latin typeface="宋体" panose="02010600030101010101" pitchFamily="2" charset="-122"/>
                    <a:ea typeface="宋体" panose="02010600030101010101" pitchFamily="2" charset="-122"/>
                  </a:rPr>
                  <a:t>spearman</a:t>
                </a:r>
                <a:r>
                  <a:rPr lang="zh-CN" altLang="en-US" sz="2500" dirty="0">
                    <a:latin typeface="宋体" panose="02010600030101010101" pitchFamily="2" charset="-122"/>
                    <a:ea typeface="宋体" panose="02010600030101010101" pitchFamily="2" charset="-122"/>
                  </a:rPr>
                  <a:t>相关系数。</a:t>
                </a:r>
                <a:endParaRPr lang="en-US" altLang="zh-CN" sz="2500" dirty="0">
                  <a:latin typeface="宋体" panose="02010600030101010101" pitchFamily="2" charset="-122"/>
                  <a:ea typeface="宋体" panose="0201060003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204787" y="1857286"/>
                <a:ext cx="11782425" cy="2801023"/>
              </a:xfrm>
              <a:prstGeom prst="rect">
                <a:avLst/>
              </a:prstGeom>
              <a:blipFill rotWithShape="1">
                <a:blip r:embed="rId5"/>
                <a:stretch>
                  <a:fillRect l="-3" t="-19" r="3" b="-297"/>
                </a:stretch>
              </a:blipFill>
            </p:spPr>
            <p:txBody>
              <a:bodyPr/>
              <a:lstStyle/>
              <a:p>
                <a:r>
                  <a:rPr lang="zh-CN" altLang="en-US">
                    <a:noFill/>
                  </a:rPr>
                  <a:t> </a:t>
                </a:r>
              </a:p>
            </p:txBody>
          </p:sp>
        </mc:Fallback>
      </mc:AlternateContent>
    </p:spTree>
  </p:cSld>
  <p:clrMapOvr>
    <a:masterClrMapping/>
  </p:clrMapOvr>
  <p:transition spd="slow" advTm="145"/>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pic>
        <p:nvPicPr>
          <p:cNvPr id="4" name="图片 3"/>
          <p:cNvPicPr>
            <a:picLocks noChangeAspect="1"/>
          </p:cNvPicPr>
          <p:nvPr/>
        </p:nvPicPr>
        <p:blipFill>
          <a:blip r:embed="rId4"/>
          <a:stretch>
            <a:fillRect/>
          </a:stretch>
        </p:blipFill>
        <p:spPr>
          <a:xfrm>
            <a:off x="1" y="15663"/>
            <a:ext cx="10991850" cy="6797921"/>
          </a:xfrm>
          <a:prstGeom prst="rect">
            <a:avLst/>
          </a:prstGeom>
        </p:spPr>
      </p:pic>
    </p:spTree>
  </p:cSld>
  <p:clrMapOvr>
    <a:masterClrMapping/>
  </p:clrMapOvr>
  <p:transition spd="slow" advTm="145"/>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3.1 </a:t>
            </a:r>
            <a:r>
              <a:rPr lang="zh-CN" altLang="en-US" sz="4265" b="1" dirty="0">
                <a:solidFill>
                  <a:prstClr val="white"/>
                </a:solidFill>
                <a:latin typeface="Times New Roman" panose="02020603050405020304" pitchFamily="18" charset="0"/>
                <a:ea typeface="微软雅黑" panose="020B0503020204020204" charset="-122"/>
              </a:rPr>
              <a:t>摘要</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792956" y="1536174"/>
            <a:ext cx="10606088" cy="4154984"/>
          </a:xfrm>
          <a:prstGeom prst="rect">
            <a:avLst/>
          </a:prstGeom>
          <a:noFill/>
        </p:spPr>
        <p:txBody>
          <a:bodyPr wrap="square">
            <a:spAutoFit/>
          </a:bodyPr>
          <a:lstStyle/>
          <a:p>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这篇论文提出了一种名为 </a:t>
            </a:r>
            <a:r>
              <a:rPr lang="en-US" altLang="zh-CN" sz="2400" b="1" dirty="0">
                <a:latin typeface="宋体" panose="02010600030101010101" pitchFamily="2" charset="-122"/>
                <a:ea typeface="宋体" panose="02010600030101010101" pitchFamily="2" charset="-122"/>
              </a:rPr>
              <a:t>Ens-Grad</a:t>
            </a:r>
            <a:r>
              <a:rPr lang="zh-CN" altLang="en-US" sz="2400" dirty="0">
                <a:latin typeface="宋体" panose="02010600030101010101" pitchFamily="2" charset="-122"/>
                <a:ea typeface="宋体" panose="02010600030101010101" pitchFamily="2" charset="-122"/>
              </a:rPr>
              <a:t> 的机器学习方法，用于设计人类 </a:t>
            </a:r>
            <a:r>
              <a:rPr lang="en-US" altLang="zh-CN" sz="2400" dirty="0">
                <a:latin typeface="宋体" panose="02010600030101010101" pitchFamily="2" charset="-122"/>
                <a:ea typeface="宋体" panose="02010600030101010101" pitchFamily="2" charset="-122"/>
              </a:rPr>
              <a:t>IgG </a:t>
            </a:r>
            <a:r>
              <a:rPr lang="zh-CN" altLang="en-US" sz="2400" dirty="0">
                <a:latin typeface="宋体" panose="02010600030101010101" pitchFamily="2" charset="-122"/>
                <a:ea typeface="宋体" panose="02010600030101010101" pitchFamily="2" charset="-122"/>
              </a:rPr>
              <a:t>抗体的互补决定区（</a:t>
            </a:r>
            <a:r>
              <a:rPr lang="en-US" altLang="zh-CN" sz="2400" dirty="0">
                <a:latin typeface="宋体" panose="02010600030101010101" pitchFamily="2" charset="-122"/>
                <a:ea typeface="宋体" panose="02010600030101010101" pitchFamily="2" charset="-122"/>
              </a:rPr>
              <a:t>CDR</a:t>
            </a:r>
            <a:r>
              <a:rPr lang="zh-CN" altLang="en-US" sz="2400" dirty="0">
                <a:latin typeface="宋体" panose="02010600030101010101" pitchFamily="2" charset="-122"/>
                <a:ea typeface="宋体" panose="02010600030101010101" pitchFamily="2" charset="-122"/>
              </a:rPr>
              <a:t>），以实现对靶点的高亲和力和特异性。该方法通过训练神经网络集合预测抗体序列在噬菌体展示淘选实验中的富集，并利用梯度优化生成新的、改进的 </a:t>
            </a:r>
            <a:r>
              <a:rPr lang="en-US" altLang="zh-CN" sz="2400" dirty="0">
                <a:latin typeface="宋体" panose="02010600030101010101" pitchFamily="2" charset="-122"/>
                <a:ea typeface="宋体" panose="02010600030101010101" pitchFamily="2" charset="-122"/>
              </a:rPr>
              <a:t>CDR-H3 </a:t>
            </a:r>
            <a:r>
              <a:rPr lang="zh-CN" altLang="en-US" sz="2400" dirty="0">
                <a:latin typeface="宋体" panose="02010600030101010101" pitchFamily="2" charset="-122"/>
                <a:ea typeface="宋体" panose="02010600030101010101" pitchFamily="2" charset="-122"/>
              </a:rPr>
              <a:t>序列。</a:t>
            </a:r>
            <a:endParaRPr lang="en-US" altLang="zh-CN" sz="2400" dirty="0">
              <a:latin typeface="宋体" panose="02010600030101010101" pitchFamily="2" charset="-122"/>
              <a:ea typeface="宋体" panose="02010600030101010101" pitchFamily="2" charset="-122"/>
            </a:endParaRPr>
          </a:p>
          <a:p>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实验针对四种靶点抗原（</a:t>
            </a:r>
            <a:r>
              <a:rPr lang="en-US" altLang="zh-CN" sz="2400" dirty="0">
                <a:latin typeface="宋体" panose="02010600030101010101" pitchFamily="2" charset="-122"/>
                <a:ea typeface="宋体" panose="02010600030101010101" pitchFamily="2" charset="-122"/>
              </a:rPr>
              <a:t>ranibizumab</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bevacizumab</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etanercept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trastuzumab</a:t>
            </a:r>
            <a:r>
              <a:rPr lang="zh-CN" altLang="en-US" sz="2400" dirty="0">
                <a:latin typeface="宋体" panose="02010600030101010101" pitchFamily="2" charset="-122"/>
                <a:ea typeface="宋体" panose="02010600030101010101" pitchFamily="2" charset="-122"/>
              </a:rPr>
              <a:t>）及一个模拟对照进行，生成大量高通量数据。结果表明，</a:t>
            </a:r>
            <a:r>
              <a:rPr lang="en-US" altLang="zh-CN" sz="2400" dirty="0">
                <a:latin typeface="宋体" panose="02010600030101010101" pitchFamily="2" charset="-122"/>
                <a:ea typeface="宋体" panose="02010600030101010101" pitchFamily="2" charset="-122"/>
              </a:rPr>
              <a:t>Ens-Grad </a:t>
            </a:r>
            <a:r>
              <a:rPr lang="zh-CN" altLang="en-US" sz="2400" dirty="0">
                <a:latin typeface="宋体" panose="02010600030101010101" pitchFamily="2" charset="-122"/>
                <a:ea typeface="宋体" panose="02010600030101010101" pitchFamily="2" charset="-122"/>
              </a:rPr>
              <a:t>设计的序列在淘选富集和 </a:t>
            </a:r>
            <a:r>
              <a:rPr lang="en-US" altLang="zh-CN" sz="2400" dirty="0">
                <a:latin typeface="宋体" panose="02010600030101010101" pitchFamily="2" charset="-122"/>
                <a:ea typeface="宋体" panose="02010600030101010101" pitchFamily="2" charset="-122"/>
              </a:rPr>
              <a:t>ELISA ECSO </a:t>
            </a:r>
            <a:r>
              <a:rPr lang="zh-CN" altLang="en-US" sz="2400" dirty="0">
                <a:latin typeface="宋体" panose="02010600030101010101" pitchFamily="2" charset="-122"/>
                <a:ea typeface="宋体" panose="02010600030101010101" pitchFamily="2" charset="-122"/>
              </a:rPr>
              <a:t>实验中表现出优于训练数据的亲和力，最佳序列亲和力达 </a:t>
            </a:r>
            <a:r>
              <a:rPr lang="en-US" altLang="zh-CN" sz="2400" dirty="0">
                <a:latin typeface="宋体" panose="02010600030101010101" pitchFamily="2" charset="-122"/>
                <a:ea typeface="宋体" panose="02010600030101010101" pitchFamily="2" charset="-122"/>
              </a:rPr>
              <a:t>0.29 </a:t>
            </a:r>
            <a:r>
              <a:rPr lang="en-US" altLang="zh-CN" sz="2400" dirty="0" err="1">
                <a:latin typeface="宋体" panose="02010600030101010101" pitchFamily="2" charset="-122"/>
                <a:ea typeface="宋体" panose="02010600030101010101" pitchFamily="2" charset="-122"/>
              </a:rPr>
              <a:t>nM</a:t>
            </a:r>
            <a:r>
              <a:rPr lang="zh-CN" altLang="en-US" sz="2400" dirty="0">
                <a:latin typeface="宋体" panose="02010600030101010101" pitchFamily="2" charset="-122"/>
                <a:ea typeface="宋体" panose="02010600030101010101" pitchFamily="2" charset="-122"/>
              </a:rPr>
              <a:t>。此外，通过模型的模块化组合，研究展示了如何提高靶点特异性，为抗体设计提供了一种新的整合途径。该方法无需靶点结构数据，仅依赖高通量实验数据，凸显了机器学习在生物信息学和药物设计中的巨大潜力。</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3.2.1 </a:t>
            </a:r>
            <a:r>
              <a:rPr lang="zh-CN" altLang="en-US" sz="4265" b="1" dirty="0">
                <a:solidFill>
                  <a:prstClr val="white"/>
                </a:solidFill>
                <a:latin typeface="Times New Roman" panose="02020603050405020304" pitchFamily="18" charset="0"/>
                <a:ea typeface="微软雅黑" panose="020B0503020204020204" charset="-122"/>
              </a:rPr>
              <a:t>数据处理方式</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6" name="文本框 5"/>
          <p:cNvSpPr txBox="1"/>
          <p:nvPr/>
        </p:nvSpPr>
        <p:spPr>
          <a:xfrm>
            <a:off x="652463" y="1351508"/>
            <a:ext cx="10887074" cy="4524315"/>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数据来源 </a:t>
            </a:r>
            <a:endPar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噬菌体淘选实验（</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Phage Display Panning</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靶点：</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ranibizumab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bevacizumab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etanercept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trastuzumab +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模拟对照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初始库：约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10¹⁰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个随机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CDR-H3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序列（长度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10-18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个氨基酸）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数据处理</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三轮淘选：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R1, R2, R3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富集定义：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到</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R3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序列频率的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log10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比值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使用神经网络预测富集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训练集：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R3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复制品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 </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测试集：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R3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复制品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II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（非重叠序列）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数据预处理与去噪</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3.2.2 </a:t>
            </a:r>
            <a:r>
              <a:rPr lang="zh-CN" altLang="en-US" sz="4265" b="1" dirty="0">
                <a:solidFill>
                  <a:prstClr val="white"/>
                </a:solidFill>
                <a:latin typeface="Times New Roman" panose="02020603050405020304" pitchFamily="18" charset="0"/>
                <a:ea typeface="微软雅黑" panose="020B0503020204020204" charset="-122"/>
              </a:rPr>
              <a:t>数据来源</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673083" y="1536174"/>
            <a:ext cx="9423417" cy="3785652"/>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实验数据</a:t>
            </a:r>
            <a:endPar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ranibizumab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三轮淘选结果：</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R1: 572,647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个唯一序列</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R2: 297,290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个唯一序列</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R3: 171,568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个唯一序列</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模拟对照：评估无靶点结合时的富集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数据获取</a:t>
            </a:r>
            <a:endPar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高通量测序（</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NGS</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数据公开于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NIH SRA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（编号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SRP158510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3.2.3 </a:t>
            </a:r>
            <a:r>
              <a:rPr lang="zh-CN" altLang="en-US" sz="4265" b="1" dirty="0">
                <a:solidFill>
                  <a:prstClr val="white"/>
                </a:solidFill>
                <a:latin typeface="Times New Roman" panose="02020603050405020304" pitchFamily="18" charset="0"/>
                <a:ea typeface="微软雅黑" panose="020B0503020204020204" charset="-122"/>
              </a:rPr>
              <a:t>模型介绍</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437364" y="1720840"/>
            <a:ext cx="11506986" cy="3416320"/>
          </a:xfrm>
          <a:prstGeom prst="rect">
            <a:avLst/>
          </a:prstGeom>
          <a:noFill/>
        </p:spPr>
        <p:txBody>
          <a:bodyPr wrap="square">
            <a:spAutoFit/>
          </a:bodyPr>
          <a:lstStyle/>
          <a:p>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Ens-Grad </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模型</a:t>
            </a:r>
            <a:endPar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基于六种神经网络架构的集合</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目标：预测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CDR-H3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序列的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R2-to-R3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富集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架构示例</a:t>
            </a:r>
            <a:endPar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Seq_32_32: 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个全连接层（各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个神经元）</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Seq_32x1_16: 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个卷积层（宽度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个滤波器）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个全连接层（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16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个神经元）</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Seq_32x2_16: 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个卷积层（宽度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和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64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个滤波器）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个全连接层（</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16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个神经元）</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（其余架构类似，详见补充材料）</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3.2.4 </a:t>
            </a:r>
            <a:r>
              <a:rPr lang="zh-CN" altLang="en-US" sz="4265" b="1" dirty="0">
                <a:solidFill>
                  <a:prstClr val="white"/>
                </a:solidFill>
                <a:latin typeface="Times New Roman" panose="02020603050405020304" pitchFamily="18" charset="0"/>
                <a:ea typeface="微软雅黑" panose="020B0503020204020204" charset="-122"/>
              </a:rPr>
              <a:t>方法介绍</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4" name="文本框 3"/>
          <p:cNvSpPr txBox="1"/>
          <p:nvPr/>
        </p:nvSpPr>
        <p:spPr>
          <a:xfrm>
            <a:off x="756276" y="1280636"/>
            <a:ext cx="8527282" cy="5262979"/>
          </a:xfrm>
          <a:prstGeom prst="rect">
            <a:avLst/>
          </a:prstGeom>
          <a:noFill/>
        </p:spPr>
        <p:txBody>
          <a:bodyPr wrap="square">
            <a:spAutoFit/>
          </a:bodyPr>
          <a:lstStyle/>
          <a:p>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Ens-Grad </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方法</a:t>
            </a:r>
            <a:endPar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两阶段流程</a:t>
            </a:r>
            <a:endPar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训练神经网络集合预测富集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梯度优化生成新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CDR-H3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序列</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优化过程</a:t>
            </a:r>
            <a:endPar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从种子序列开始</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梯度上升优化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one-hot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编码</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每隔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k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步投影回离散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one-hot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编码</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调整步长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λ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和投影间隔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k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控制发散</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集合与投票</a:t>
            </a:r>
            <a:endPar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神经网络集合增加序列多样性</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两步投票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阈值策略提升稳健性</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70414"/>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sp>
        <p:nvSpPr>
          <p:cNvPr id="2" name="文本框 1"/>
          <p:cNvSpPr txBox="1"/>
          <p:nvPr/>
        </p:nvSpPr>
        <p:spPr>
          <a:xfrm>
            <a:off x="5132810" y="2982050"/>
            <a:ext cx="2464612" cy="893899"/>
          </a:xfrm>
          <a:prstGeom prst="rect">
            <a:avLst/>
          </a:prstGeom>
          <a:noFill/>
        </p:spPr>
        <p:txBody>
          <a:bodyPr wrap="square">
            <a:spAutoFit/>
          </a:bodyPr>
          <a:lstStyle/>
          <a:p>
            <a:pPr marL="0" lvl="1" algn="just" fontAlgn="base">
              <a:lnSpc>
                <a:spcPct val="120000"/>
              </a:lnSpc>
            </a:pPr>
            <a:r>
              <a:rPr lang="zh-CN" altLang="en-US" sz="4800" b="1"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谢 谢！</a:t>
            </a:r>
            <a:endParaRPr lang="en-US" altLang="zh-CN" sz="4800" b="1"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COMMONDATA" val="eyJoZGlkIjoiYjk4Y2RmYWE5Y2FjZjE1OTMzMDFlYzg5ODNmZmE2NDA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5117</Words>
  <Application>WPS 演示</Application>
  <PresentationFormat>宽屏</PresentationFormat>
  <Paragraphs>295</Paragraphs>
  <Slides>38</Slides>
  <Notes>38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38</vt:i4>
      </vt:variant>
    </vt:vector>
  </HeadingPairs>
  <TitlesOfParts>
    <vt:vector size="51" baseType="lpstr">
      <vt:lpstr>Arial</vt:lpstr>
      <vt:lpstr>宋体</vt:lpstr>
      <vt:lpstr>Wingdings</vt:lpstr>
      <vt:lpstr>Wingdings</vt:lpstr>
      <vt:lpstr>Arial</vt:lpstr>
      <vt:lpstr>微软雅黑</vt:lpstr>
      <vt:lpstr>Times New Roman</vt:lpstr>
      <vt:lpstr>Arial Unicode MS</vt:lpstr>
      <vt:lpstr>等线</vt:lpstr>
      <vt:lpstr>Cambria Math</vt:lpstr>
      <vt:lpstr>BatangChe</vt:lpstr>
      <vt:lpstr>Segoe Print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xuechen lan</dc:creator>
  <cp:lastModifiedBy>风华正茂</cp:lastModifiedBy>
  <cp:revision>225</cp:revision>
  <dcterms:created xsi:type="dcterms:W3CDTF">2024-11-16T13:08:00Z</dcterms:created>
  <dcterms:modified xsi:type="dcterms:W3CDTF">2025-04-14T09:05:25Z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F5FF2F86B7124E00BCD8C73738B07681_12</vt:lpwstr>
  </property>
  <property fmtid="{D5CDD505-2E9C-101B-9397-08002B2CF9AE}" pid="3" name="KSOProductBuildVer">
    <vt:lpwstr>2052-12.1.0.20784</vt:lpwstr>
  </property>
</Properties>
</file>