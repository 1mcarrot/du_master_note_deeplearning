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8" r:id="rId6"/>
    <p:sldId id="261" r:id="rId7"/>
    <p:sldId id="315" r:id="rId8"/>
    <p:sldId id="282" r:id="rId9"/>
    <p:sldId id="316" r:id="rId10"/>
    <p:sldId id="317" r:id="rId11"/>
    <p:sldId id="266" r:id="rId12"/>
    <p:sldId id="381" r:id="rId13"/>
    <p:sldId id="289" r:id="rId14"/>
    <p:sldId id="297" r:id="rId15"/>
    <p:sldId id="299" r:id="rId16"/>
    <p:sldId id="300" r:id="rId17"/>
    <p:sldId id="336" r:id="rId18"/>
    <p:sldId id="337" r:id="rId19"/>
    <p:sldId id="344" r:id="rId20"/>
    <p:sldId id="382" r:id="rId21"/>
    <p:sldId id="284" r:id="rId22"/>
    <p:sldId id="279" r:id="rId23"/>
    <p:sldId id="383" r:id="rId24"/>
    <p:sldId id="385" r:id="rId25"/>
    <p:sldId id="384" r:id="rId26"/>
    <p:sldId id="386" r:id="rId27"/>
    <p:sldId id="387" r:id="rId28"/>
    <p:sldId id="388" r:id="rId29"/>
    <p:sldId id="389" r:id="rId30"/>
    <p:sldId id="288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微软雅黑" panose="020B0503020204020204" pitchFamily="34" charset="-122"/>
      <p:regular r:id="rId39"/>
    </p:embeddedFont>
  </p:embeddedFontLst>
  <p:custDataLst>
    <p:tags r:id="rId40"/>
  </p:custDataLst>
  <p:defaultTextStyle>
    <a:defPPr>
      <a:defRPr lang="zh-CN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60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/>
            <a:endParaRPr lang="zh-CN" altLang="en-US" sz="12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EC1B255A-C6F3-4AFB-92E2-EA6F97F7890F}" type="datetime1">
              <a:rPr lang="zh-CN" altLang="en-US" sz="1200"/>
            </a:fld>
            <a:endParaRPr lang="en-US" altLang="zh-CN" sz="1200"/>
          </a:p>
        </p:txBody>
      </p:sp>
      <p:sp>
        <p:nvSpPr>
          <p:cNvPr id="1741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ctr" anchorCtr="0" compatLnSpc="1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en-US" altLang="zh-CN" sz="120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D22BFC5B-7C49-4F8A-8AAC-64C6D9668A2C}" type="slidenum">
              <a:rPr lang="zh-CN" altLang="en-US" sz="1200"/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2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3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8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6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6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最好补充</a:t>
            </a:r>
            <a:r>
              <a:rPr lang="en-US" altLang="zh-CN"/>
              <a:t>CD-HIT</a:t>
            </a:r>
            <a:r>
              <a:t>的原理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11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12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12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15</a:t>
            </a:r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ctr" anchorCtr="0"/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400" b="0" i="0" u="none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j-cs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zh-CN" altLang="en-US" sz="32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zh-CN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zh-CN" altLang="en-US" sz="24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zh-CN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zh-CN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r>
              <a:rPr lang="en-US" altLang="zh-CN" sz="1400"/>
              <a:t>2022/7/23</a:t>
            </a:r>
            <a:endParaRPr lang="en-US" altLang="zh-CN" sz="1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r>
              <a:rPr lang="en-US" altLang="zh-CN" sz="1400"/>
              <a:t>‹#›</a:t>
            </a:r>
            <a:endParaRPr lang="en-US" altLang="zh-CN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marL="0" indent="0" algn="ctr" defTabSz="914400" rtl="0" eaLnBrk="0" fontAlgn="base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4400" b="0" i="0" u="none" baseline="0">
          <a:solidFill>
            <a:schemeClr val="tx2"/>
          </a:solidFill>
          <a:effectLst/>
          <a:latin typeface="Arial" panose="020B0604020202020204" pitchFamily="34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3200" b="0" i="0" u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800" b="0" i="0" u="none" baseline="0">
          <a:solidFill>
            <a:schemeClr val="tx1"/>
          </a:solidFill>
          <a:effectLst/>
          <a:latin typeface="+mn-lt"/>
          <a:ea typeface="+mn-ea"/>
        </a:defRPr>
      </a:lvl2pPr>
      <a:lvl3pPr marL="11430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2400" b="0" i="0" u="none" baseline="0">
          <a:solidFill>
            <a:schemeClr val="tx1"/>
          </a:solidFill>
          <a:effectLst/>
          <a:latin typeface="+mn-lt"/>
          <a:ea typeface="+mn-ea"/>
        </a:defRPr>
      </a:lvl3pPr>
      <a:lvl4pPr marL="16002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4pPr>
      <a:lvl5pPr marL="20574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9.emf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14.emf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2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tags" Target="../tags/tag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21.emf"/><Relationship Id="rId1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/>
          <p:nvPr/>
        </p:nvSpPr>
        <p:spPr>
          <a:xfrm>
            <a:off x="11113" y="2389188"/>
            <a:ext cx="9140825" cy="13636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11113" y="914400"/>
            <a:ext cx="9140825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/>
            <a:r>
              <a:rPr lang="zh-CN" altLang="en-US" sz="36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文献阅读汇报</a:t>
            </a:r>
            <a:endParaRPr lang="zh-CN" altLang="en-US" sz="3600" b="1">
              <a:solidFill>
                <a:srgbClr val="0059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052" name="正圆 114"/>
          <p:cNvSpPr/>
          <p:nvPr/>
        </p:nvSpPr>
        <p:spPr>
          <a:xfrm>
            <a:off x="6043613" y="2740025"/>
            <a:ext cx="719137" cy="719138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8AA"/>
            </a:solidFill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pic>
        <p:nvPicPr>
          <p:cNvPr id="2053" name="Picture 5" descr="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925" y="2787650"/>
            <a:ext cx="542925" cy="5429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grpSp>
        <p:nvGrpSpPr>
          <p:cNvPr id="2054" name="Group 6"/>
          <p:cNvGrpSpPr/>
          <p:nvPr/>
        </p:nvGrpSpPr>
        <p:grpSpPr>
          <a:xfrm>
            <a:off x="7466013" y="2740025"/>
            <a:ext cx="719137" cy="719138"/>
            <a:chOff x="0" y="0"/>
            <a:chExt cx="1132" cy="1134"/>
          </a:xfrm>
        </p:grpSpPr>
        <p:sp>
          <p:nvSpPr>
            <p:cNvPr id="2077" name="正圆 114"/>
            <p:cNvSpPr/>
            <p:nvPr/>
          </p:nvSpPr>
          <p:spPr>
            <a:xfrm>
              <a:off x="0" y="0"/>
              <a:ext cx="1133" cy="11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8AA"/>
              </a:solidFill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pic>
          <p:nvPicPr>
            <p:cNvPr id="2078" name="Picture 8" descr="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" y="157"/>
              <a:ext cx="903" cy="903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</p:grpSp>
      <p:grpSp>
        <p:nvGrpSpPr>
          <p:cNvPr id="2055" name="Group 9"/>
          <p:cNvGrpSpPr/>
          <p:nvPr/>
        </p:nvGrpSpPr>
        <p:grpSpPr>
          <a:xfrm>
            <a:off x="2413000" y="2759075"/>
            <a:ext cx="717550" cy="720725"/>
            <a:chOff x="0" y="0"/>
            <a:chExt cx="1132" cy="1134"/>
          </a:xfrm>
        </p:grpSpPr>
        <p:sp>
          <p:nvSpPr>
            <p:cNvPr id="2075" name="正圆 114"/>
            <p:cNvSpPr/>
            <p:nvPr/>
          </p:nvSpPr>
          <p:spPr>
            <a:xfrm>
              <a:off x="0" y="0"/>
              <a:ext cx="1133" cy="11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8AA"/>
              </a:solidFill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pic>
          <p:nvPicPr>
            <p:cNvPr id="2076" name="Picture 11" descr="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" y="92"/>
              <a:ext cx="952" cy="952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</p:grpSp>
      <p:grpSp>
        <p:nvGrpSpPr>
          <p:cNvPr id="2056" name="Group 12"/>
          <p:cNvGrpSpPr/>
          <p:nvPr/>
        </p:nvGrpSpPr>
        <p:grpSpPr>
          <a:xfrm>
            <a:off x="1000125" y="2759075"/>
            <a:ext cx="719138" cy="720725"/>
            <a:chOff x="0" y="0"/>
            <a:chExt cx="1132" cy="1134"/>
          </a:xfrm>
        </p:grpSpPr>
        <p:sp>
          <p:nvSpPr>
            <p:cNvPr id="2073" name="正圆 114"/>
            <p:cNvSpPr/>
            <p:nvPr/>
          </p:nvSpPr>
          <p:spPr>
            <a:xfrm>
              <a:off x="0" y="0"/>
              <a:ext cx="1133" cy="11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78AA"/>
              </a:solidFill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pic>
          <p:nvPicPr>
            <p:cNvPr id="2074" name="Picture 14" descr="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" y="76"/>
              <a:ext cx="855" cy="855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</p:grpSp>
      <p:sp>
        <p:nvSpPr>
          <p:cNvPr id="2057" name="Rectangle 15"/>
          <p:cNvSpPr/>
          <p:nvPr/>
        </p:nvSpPr>
        <p:spPr>
          <a:xfrm>
            <a:off x="1588" y="-20637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58" name="Rectangle 16"/>
          <p:cNvSpPr/>
          <p:nvPr/>
        </p:nvSpPr>
        <p:spPr>
          <a:xfrm>
            <a:off x="230188" y="-19050"/>
            <a:ext cx="457200" cy="1428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59" name="Rectangle 17"/>
          <p:cNvSpPr/>
          <p:nvPr/>
        </p:nvSpPr>
        <p:spPr>
          <a:xfrm>
            <a:off x="8705850" y="-11112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0" name="Rectangle 18"/>
          <p:cNvSpPr/>
          <p:nvPr/>
        </p:nvSpPr>
        <p:spPr>
          <a:xfrm>
            <a:off x="8423275" y="-11112"/>
            <a:ext cx="457200" cy="1444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1" name="Rectangle 19"/>
          <p:cNvSpPr/>
          <p:nvPr/>
        </p:nvSpPr>
        <p:spPr>
          <a:xfrm>
            <a:off x="995363" y="4329113"/>
            <a:ext cx="76200" cy="2079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2" name="Text Box 20"/>
          <p:cNvSpPr txBox="1">
            <a:spLocks noChangeArrowheads="1"/>
          </p:cNvSpPr>
          <p:nvPr/>
        </p:nvSpPr>
        <p:spPr bwMode="auto">
          <a:xfrm>
            <a:off x="1052513" y="4273550"/>
            <a:ext cx="186690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/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指导教师：</a:t>
            </a:r>
            <a:r>
              <a:rPr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朱善良</a:t>
            </a:r>
            <a:endParaRPr sz="1400" b="1" spc="0">
              <a:solidFill>
                <a:srgbClr val="0059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063" name="Group 21"/>
          <p:cNvGrpSpPr/>
          <p:nvPr/>
        </p:nvGrpSpPr>
        <p:grpSpPr>
          <a:xfrm>
            <a:off x="3911600" y="4265613"/>
            <a:ext cx="1592263" cy="306705"/>
            <a:chOff x="0" y="0"/>
            <a:chExt cx="2508" cy="483"/>
          </a:xfrm>
        </p:grpSpPr>
        <p:sp>
          <p:nvSpPr>
            <p:cNvPr id="2071" name="Rectangle 22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2072" name="Text Box 23"/>
            <p:cNvSpPr txBox="1">
              <a:spLocks noChangeArrowheads="1"/>
            </p:cNvSpPr>
            <p:nvPr/>
          </p:nvSpPr>
          <p:spPr bwMode="auto">
            <a:xfrm>
              <a:off x="90" y="0"/>
              <a:ext cx="2418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学生：杜博 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64" name="Group 24"/>
          <p:cNvGrpSpPr/>
          <p:nvPr/>
        </p:nvGrpSpPr>
        <p:grpSpPr>
          <a:xfrm>
            <a:off x="6692900" y="4259263"/>
            <a:ext cx="2187575" cy="306705"/>
            <a:chOff x="0" y="0"/>
            <a:chExt cx="3446" cy="483"/>
          </a:xfrm>
        </p:grpSpPr>
        <p:sp>
          <p:nvSpPr>
            <p:cNvPr id="2069" name="Rectangle 25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2070" name="Text Box 26"/>
            <p:cNvSpPr txBox="1">
              <a:spLocks noChangeArrowheads="1"/>
            </p:cNvSpPr>
            <p:nvPr/>
          </p:nvSpPr>
          <p:spPr bwMode="auto">
            <a:xfrm>
              <a:off x="90" y="0"/>
              <a:ext cx="3356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汇报时间：</a:t>
              </a:r>
              <a:r>
                <a:rPr lang="en-US" altLang="zh-CN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2024.12.23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065" name="Line 27"/>
          <p:cNvCxnSpPr/>
          <p:nvPr/>
        </p:nvCxnSpPr>
        <p:spPr>
          <a:xfrm>
            <a:off x="11113" y="2433638"/>
            <a:ext cx="9151937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sp>
        <p:nvSpPr>
          <p:cNvPr id="2066" name="正圆 114"/>
          <p:cNvSpPr/>
          <p:nvPr/>
        </p:nvSpPr>
        <p:spPr>
          <a:xfrm>
            <a:off x="3683000" y="1720850"/>
            <a:ext cx="1755775" cy="17541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8AA"/>
            </a:solidFill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cxnSp>
        <p:nvCxnSpPr>
          <p:cNvPr id="2067" name="Line 29"/>
          <p:cNvCxnSpPr/>
          <p:nvPr/>
        </p:nvCxnSpPr>
        <p:spPr>
          <a:xfrm>
            <a:off x="-6350" y="3713163"/>
            <a:ext cx="9150350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pic>
        <p:nvPicPr>
          <p:cNvPr id="2068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063" y="1844675"/>
            <a:ext cx="1528762" cy="15160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>
            <p:custDataLst>
              <p:tags r:id="rId1"/>
            </p:custDataLst>
          </p:nvPr>
        </p:nvGrpSpPr>
        <p:grpSpPr>
          <a:xfrm>
            <a:off x="4644073" y="749300"/>
            <a:ext cx="3602037" cy="844550"/>
            <a:chOff x="0" y="0"/>
            <a:chExt cx="5672" cy="1330"/>
          </a:xfrm>
        </p:grpSpPr>
        <p:grpSp>
          <p:nvGrpSpPr>
            <p:cNvPr id="3108" name="Group 3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110" name="Rectangle 4"/>
              <p:cNvSpPr/>
              <p:nvPr>
                <p:custDataLst>
                  <p:tags r:id="rId2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1" name="Rectangle 5"/>
              <p:cNvSpPr/>
              <p:nvPr>
                <p:custDataLst>
                  <p:tags r:id="rId3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2" name="AutoShap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3" name="AutoShape 7"/>
              <p:cNvSpPr/>
              <p:nvPr>
                <p:custDataLst>
                  <p:tags r:id="rId5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109" name="Text Box 8"/>
            <p:cNvSpPr/>
            <p:nvPr>
              <p:custDataLst>
                <p:tags r:id="rId6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第一章    研究背景</a:t>
              </a:r>
              <a:endParaRPr lang="zh-CN" altLang="en-US" sz="2000" b="1">
                <a:solidFill>
                  <a:srgbClr val="FFFF00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6" name="Group 16"/>
          <p:cNvGrpSpPr/>
          <p:nvPr>
            <p:custDataLst>
              <p:tags r:id="rId7"/>
            </p:custDataLst>
          </p:nvPr>
        </p:nvGrpSpPr>
        <p:grpSpPr>
          <a:xfrm>
            <a:off x="4628833" y="2025015"/>
            <a:ext cx="3602037" cy="844550"/>
            <a:chOff x="0" y="0"/>
            <a:chExt cx="5672" cy="1330"/>
          </a:xfrm>
        </p:grpSpPr>
        <p:grpSp>
          <p:nvGrpSpPr>
            <p:cNvPr id="3096" name="Group 17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098" name="Rectangle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099" name="Rectangle 19"/>
              <p:cNvSpPr/>
              <p:nvPr>
                <p:custDataLst>
                  <p:tags r:id="rId9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0" name="AutoShape 20"/>
              <p:cNvSpPr/>
              <p:nvPr>
                <p:custDataLst>
                  <p:tags r:id="rId10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1" name="AutoShape 21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097" name="Text Box 22"/>
            <p:cNvSpPr/>
            <p:nvPr>
              <p:custDataLst>
                <p:tags r:id="rId12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第二章    研究过程</a:t>
              </a:r>
              <a:endParaRPr lang="zh-CN" altLang="en-US"/>
            </a:p>
          </p:txBody>
        </p:sp>
      </p:grpSp>
      <p:grpSp>
        <p:nvGrpSpPr>
          <p:cNvPr id="3077" name="Group 23"/>
          <p:cNvGrpSpPr/>
          <p:nvPr>
            <p:custDataLst>
              <p:tags r:id="rId13"/>
            </p:custDataLst>
          </p:nvPr>
        </p:nvGrpSpPr>
        <p:grpSpPr>
          <a:xfrm>
            <a:off x="4628198" y="3300413"/>
            <a:ext cx="3602037" cy="844550"/>
            <a:chOff x="0" y="0"/>
            <a:chExt cx="5672" cy="1330"/>
          </a:xfrm>
        </p:grpSpPr>
        <p:grpSp>
          <p:nvGrpSpPr>
            <p:cNvPr id="3090" name="Group 24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092" name="Rectangle 2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093" name="Rectangle 26"/>
              <p:cNvSpPr/>
              <p:nvPr>
                <p:custDataLst>
                  <p:tags r:id="rId15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094" name="AutoShape 27"/>
              <p:cNvSpPr/>
              <p:nvPr>
                <p:custDataLst>
                  <p:tags r:id="rId16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095" name="AutoShape 28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091" name="Text Box 29"/>
            <p:cNvSpPr/>
            <p:nvPr>
              <p:custDataLst>
                <p:tags r:id="rId18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第三章    研究结论</a:t>
              </a:r>
              <a:endParaRPr lang="zh-CN" altLang="en-US"/>
            </a:p>
          </p:txBody>
        </p:sp>
      </p:grpSp>
      <p:sp>
        <p:nvSpPr>
          <p:cNvPr id="3079" name="Rectangle 37"/>
          <p:cNvSpPr/>
          <p:nvPr/>
        </p:nvSpPr>
        <p:spPr>
          <a:xfrm>
            <a:off x="1588" y="-19050"/>
            <a:ext cx="3636962" cy="5183188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3080" name="Text Box 38"/>
          <p:cNvSpPr/>
          <p:nvPr/>
        </p:nvSpPr>
        <p:spPr>
          <a:xfrm>
            <a:off x="1588" y="1816100"/>
            <a:ext cx="3638550" cy="1323439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【 </a:t>
            </a:r>
            <a:r>
              <a:rPr lang="zh-CN" altLang="en-US" sz="4000" b="1">
                <a:solidFill>
                  <a:schemeClr val="bg1"/>
                </a:solidFill>
                <a:ea typeface="微软雅黑" panose="020B0503020204020204" pitchFamily="34" charset="-122"/>
              </a:rPr>
              <a:t>目   录 </a:t>
            </a:r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】</a:t>
            </a:r>
            <a:endParaRPr lang="en-US" altLang="zh-CN" sz="4000" b="1">
              <a:solidFill>
                <a:schemeClr val="bg1"/>
              </a:solidFill>
              <a:ea typeface="微软雅黑" panose="020B0503020204020204" pitchFamily="34" charset="-122"/>
            </a:endParaRPr>
          </a:p>
          <a:p>
            <a:pPr marL="0" lvl="0" indent="0" algn="ctr"/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CONTENTS</a:t>
            </a:r>
            <a:endParaRPr lang="zh-CN" altLang="en-US" sz="320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3081" name="Line 39"/>
          <p:cNvCxnSpPr/>
          <p:nvPr/>
        </p:nvCxnSpPr>
        <p:spPr>
          <a:xfrm>
            <a:off x="3563938" y="-19050"/>
            <a:ext cx="1587" cy="5183188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sp>
        <p:nvSpPr>
          <p:cNvPr id="3082" name="AutoShape 40"/>
          <p:cNvSpPr/>
          <p:nvPr/>
        </p:nvSpPr>
        <p:spPr>
          <a:xfrm rot="10800000">
            <a:off x="8693150" y="0"/>
            <a:ext cx="455613" cy="423863"/>
          </a:xfrm>
          <a:prstGeom prst="rtTriangle">
            <a:avLst/>
          </a:prstGeom>
          <a:solidFill>
            <a:srgbClr val="008FC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3083" name="AutoShape 41"/>
          <p:cNvSpPr/>
          <p:nvPr/>
        </p:nvSpPr>
        <p:spPr>
          <a:xfrm rot="16200000">
            <a:off x="8740775" y="4756150"/>
            <a:ext cx="360363" cy="455613"/>
          </a:xfrm>
          <a:prstGeom prst="rtTriangle">
            <a:avLst/>
          </a:prstGeom>
          <a:solidFill>
            <a:srgbClr val="008FC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</p:spTree>
  </p:cSld>
  <p:clrMapOvr>
    <a:masterClrMapping/>
  </p:clrMapOvr>
  <p:transition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4808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grpSp>
        <p:nvGrpSpPr>
          <p:cNvPr id="4099" name="Group 3"/>
          <p:cNvGrpSpPr/>
          <p:nvPr/>
        </p:nvGrpSpPr>
        <p:grpSpPr>
          <a:xfrm>
            <a:off x="1231900" y="2146300"/>
            <a:ext cx="863600" cy="863600"/>
            <a:chOff x="0" y="0"/>
            <a:chExt cx="1928" cy="1928"/>
          </a:xfrm>
        </p:grpSpPr>
        <p:pic>
          <p:nvPicPr>
            <p:cNvPr id="4102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" y="461"/>
              <a:ext cx="1247" cy="1024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sp>
          <p:nvSpPr>
            <p:cNvPr id="4103" name="正圆 108"/>
            <p:cNvSpPr/>
            <p:nvPr/>
          </p:nvSpPr>
          <p:spPr>
            <a:xfrm>
              <a:off x="0" y="0"/>
              <a:ext cx="1928" cy="1928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sp>
        <p:nvSpPr>
          <p:cNvPr id="4100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   </a:t>
            </a:r>
            <a:endParaRPr lang="en-US" altLang="zh-CN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 景 概 述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5127" name="Text Box 8"/>
          <p:cNvSpPr/>
          <p:nvPr/>
        </p:nvSpPr>
        <p:spPr>
          <a:xfrm>
            <a:off x="252095" y="637540"/>
            <a:ext cx="8499475" cy="73723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</a:pP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蛋白质组学可以揭示</a:t>
            </a:r>
            <a:r>
              <a:rPr lang="en-US" altLang="zh-CN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SARS-CoV-2</a:t>
            </a: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感染细胞的特征，</a:t>
            </a:r>
            <a:r>
              <a:rPr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通过识别</a:t>
            </a:r>
            <a:r>
              <a:rPr lang="en-US" altLang="zh-CN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SARS-CoV-2</a:t>
            </a:r>
            <a:r>
              <a:rPr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磷酸化位点，</a:t>
            </a: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帮助人们了解</a:t>
            </a:r>
            <a:r>
              <a:rPr lang="en-US" altLang="zh-CN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SARS-CoV-2</a:t>
            </a: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感染后宿主细胞调控的分子机制，以及鉴定抑制冠状病毒复制的药物。</a:t>
            </a:r>
            <a:endParaRPr lang="zh-CN" altLang="en-US" sz="14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32" name="Group 13"/>
          <p:cNvGrpSpPr/>
          <p:nvPr>
            <p:custDataLst>
              <p:tags r:id="rId1"/>
            </p:custDataLst>
          </p:nvPr>
        </p:nvGrpSpPr>
        <p:grpSpPr>
          <a:xfrm>
            <a:off x="272700" y="1491814"/>
            <a:ext cx="7565355" cy="311368"/>
            <a:chOff x="-9215" y="-250"/>
            <a:chExt cx="11910" cy="489"/>
          </a:xfrm>
        </p:grpSpPr>
        <p:sp>
          <p:nvSpPr>
            <p:cNvPr id="5142" name="Text Box 14"/>
            <p:cNvSpPr/>
            <p:nvPr>
              <p:custDataLst>
                <p:tags r:id="rId2"/>
              </p:custDataLst>
            </p:nvPr>
          </p:nvSpPr>
          <p:spPr>
            <a:xfrm>
              <a:off x="-9215" y="-250"/>
              <a:ext cx="4527" cy="48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Dou</a:t>
              </a:r>
              <a:r>
                <a:rPr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等人</a:t>
              </a:r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[9]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143" name="Text Box 15"/>
            <p:cNvSpPr/>
            <p:nvPr>
              <p:custDataLst>
                <p:tags r:id="rId3"/>
              </p:custDataLst>
            </p:nvPr>
          </p:nvSpPr>
          <p:spPr>
            <a:xfrm>
              <a:off x="-7435" y="-194"/>
              <a:ext cx="10130" cy="43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200">
                  <a:solidFill>
                    <a:srgbClr val="29292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使用支持向量机（</a:t>
              </a:r>
              <a:r>
                <a:rPr lang="en-US" altLang="zh-CN" sz="1200">
                  <a:solidFill>
                    <a:srgbClr val="29292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SVM</a:t>
              </a:r>
              <a:r>
                <a:rPr lang="zh-CN" altLang="en-US" sz="1200">
                  <a:solidFill>
                    <a:srgbClr val="29292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）作为分类器，结合序列评分函数进行磷酸化位点识别。</a:t>
              </a:r>
              <a:endParaRPr lang="en-US" altLang="zh-CN" sz="1200">
                <a:solidFill>
                  <a:srgbClr val="29292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133" name="Group 16"/>
          <p:cNvGrpSpPr/>
          <p:nvPr>
            <p:custDataLst>
              <p:tags r:id="rId4"/>
            </p:custDataLst>
          </p:nvPr>
        </p:nvGrpSpPr>
        <p:grpSpPr>
          <a:xfrm>
            <a:off x="274027" y="1998395"/>
            <a:ext cx="7591653" cy="316285"/>
            <a:chOff x="-9223" y="-589"/>
            <a:chExt cx="11958" cy="499"/>
          </a:xfrm>
        </p:grpSpPr>
        <p:sp>
          <p:nvSpPr>
            <p:cNvPr id="5140" name="Text Box 17"/>
            <p:cNvSpPr/>
            <p:nvPr>
              <p:custDataLst>
                <p:tags r:id="rId5"/>
              </p:custDataLst>
            </p:nvPr>
          </p:nvSpPr>
          <p:spPr>
            <a:xfrm>
              <a:off x="-9223" y="-589"/>
              <a:ext cx="4527" cy="48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Li 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等人</a:t>
              </a:r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[10]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/>
            </a:p>
          </p:txBody>
        </p:sp>
        <p:sp>
          <p:nvSpPr>
            <p:cNvPr id="5141" name="Text Box 18"/>
            <p:cNvSpPr/>
            <p:nvPr>
              <p:custDataLst>
                <p:tags r:id="rId6"/>
              </p:custDataLst>
            </p:nvPr>
          </p:nvSpPr>
          <p:spPr>
            <a:xfrm>
              <a:off x="-7443" y="-525"/>
              <a:ext cx="10178" cy="43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200"/>
                <a:t>通过结合多个序列评分函数和逻辑回归预测磷酸化位点。</a:t>
              </a:r>
              <a:endParaRPr lang="zh-CN" altLang="en-US" sz="1200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4320" y="249936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Dang 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[11]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1805" y="253492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/>
            <a:r>
              <a:rPr lang="zh-CN" altLang="en-US" sz="1200">
                <a:sym typeface="+mn-ea"/>
              </a:rPr>
              <a:t>基于随机森林（</a:t>
            </a:r>
            <a:r>
              <a:rPr lang="en-US" altLang="zh-CN" sz="1200">
                <a:sym typeface="+mn-ea"/>
              </a:rPr>
              <a:t>RF</a:t>
            </a:r>
            <a:r>
              <a:rPr lang="zh-CN" altLang="en-US" sz="1200">
                <a:sym typeface="+mn-ea"/>
              </a:rPr>
              <a:t>）开发了名为</a:t>
            </a:r>
            <a:r>
              <a:rPr lang="en-US" altLang="zh-CN" sz="1200">
                <a:sym typeface="+mn-ea"/>
              </a:rPr>
              <a:t> SKIPHOS </a:t>
            </a:r>
            <a:r>
              <a:rPr lang="zh-CN" altLang="en-US" sz="1200">
                <a:sym typeface="+mn-ea"/>
              </a:rPr>
              <a:t>的磷酸化位点预测工具。</a:t>
            </a:r>
            <a:endParaRPr lang="zh-CN" altLang="en-US" sz="12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320" y="300037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Wang 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[12]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4030" y="2945765"/>
            <a:ext cx="69811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/>
            <a:r>
              <a:rPr lang="zh-CN" altLang="en-US" sz="1200">
                <a:sym typeface="+mn-ea"/>
              </a:rPr>
              <a:t>基于卷积神经网络（</a:t>
            </a:r>
            <a:r>
              <a:rPr lang="en-US" altLang="zh-CN" sz="1200">
                <a:sym typeface="+mn-ea"/>
              </a:rPr>
              <a:t>CNN</a:t>
            </a:r>
            <a:r>
              <a:rPr lang="zh-CN" altLang="en-US" sz="1200">
                <a:sym typeface="+mn-ea"/>
              </a:rPr>
              <a:t>）和二维注意力机制，提出了名为</a:t>
            </a:r>
            <a:r>
              <a:rPr lang="en-US" altLang="zh-CN" sz="1200">
                <a:sym typeface="+mn-ea"/>
              </a:rPr>
              <a:t> MusiteDeep2017 </a:t>
            </a:r>
            <a:r>
              <a:rPr lang="zh-CN" altLang="en-US" sz="1200">
                <a:sym typeface="+mn-ea"/>
              </a:rPr>
              <a:t>的预测模型，使用原始序列数据进行预测。</a:t>
            </a:r>
            <a:endParaRPr lang="zh-CN" altLang="en-US" sz="12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2415" y="350774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Ahmed 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[13]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2415" y="404812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Guo 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[14]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64030" y="3496945"/>
            <a:ext cx="65627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/>
            <a:r>
              <a:rPr lang="zh-CN" altLang="en-US" sz="1200">
                <a:sym typeface="+mn-ea"/>
              </a:rPr>
              <a:t>提出了</a:t>
            </a:r>
            <a:r>
              <a:rPr lang="en-US" altLang="zh-CN" sz="1200">
                <a:sym typeface="+mn-ea"/>
              </a:rPr>
              <a:t> DeepPPSite </a:t>
            </a:r>
            <a:r>
              <a:rPr lang="zh-CN" altLang="en-US" sz="1200">
                <a:sym typeface="+mn-ea"/>
              </a:rPr>
              <a:t>模型，基于长短期记忆网络（</a:t>
            </a:r>
            <a:r>
              <a:rPr lang="en-US" altLang="zh-CN" sz="1200">
                <a:sym typeface="+mn-ea"/>
              </a:rPr>
              <a:t>LSTM</a:t>
            </a:r>
            <a:r>
              <a:rPr lang="zh-CN" altLang="en-US" sz="1200">
                <a:sym typeface="+mn-ea"/>
              </a:rPr>
              <a:t>），通过融合</a:t>
            </a:r>
            <a:r>
              <a:rPr lang="en-US" altLang="zh-CN" sz="1200">
                <a:sym typeface="+mn-ea"/>
              </a:rPr>
              <a:t> PSPM</a:t>
            </a:r>
            <a:r>
              <a:rPr lang="zh-CN" altLang="en-US" sz="1200">
                <a:sym typeface="+mn-ea"/>
              </a:rPr>
              <a:t>、</a:t>
            </a:r>
            <a:r>
              <a:rPr lang="en-US" altLang="zh-CN" sz="1200">
                <a:sym typeface="+mn-ea"/>
              </a:rPr>
              <a:t>IPC </a:t>
            </a:r>
            <a:r>
              <a:rPr lang="zh-CN" altLang="en-US" sz="1200">
                <a:sym typeface="+mn-ea"/>
              </a:rPr>
              <a:t>和</a:t>
            </a:r>
            <a:r>
              <a:rPr lang="en-US" altLang="zh-CN" sz="1200">
                <a:sym typeface="+mn-ea"/>
              </a:rPr>
              <a:t> EGBW </a:t>
            </a:r>
            <a:r>
              <a:rPr lang="zh-CN" altLang="en-US" sz="1200">
                <a:sym typeface="+mn-ea"/>
              </a:rPr>
              <a:t>方法提取蛋白质特征来预测磷酸化位点。</a:t>
            </a:r>
            <a:endParaRPr lang="zh-CN" altLang="en-US" sz="12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4320" y="4548505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lv 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[15]</a:t>
            </a:r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75740" y="4575810"/>
            <a:ext cx="70084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/>
            <a:r>
              <a:rPr lang="zh-CN" altLang="en-US" sz="1200">
                <a:sym typeface="+mn-ea"/>
              </a:rPr>
              <a:t>基于</a:t>
            </a:r>
            <a:r>
              <a:rPr lang="en-US" altLang="zh-CN" sz="1200">
                <a:sym typeface="+mn-ea"/>
              </a:rPr>
              <a:t> CNN-LSTM </a:t>
            </a:r>
            <a:r>
              <a:rPr lang="zh-CN" altLang="en-US" sz="1200">
                <a:sym typeface="+mn-ea"/>
              </a:rPr>
              <a:t>网络架构，提出了</a:t>
            </a:r>
            <a:r>
              <a:rPr lang="en-US" altLang="zh-CN" sz="1200">
                <a:sym typeface="+mn-ea"/>
              </a:rPr>
              <a:t> DeepIPs </a:t>
            </a:r>
            <a:r>
              <a:rPr lang="zh-CN" altLang="en-US" sz="1200">
                <a:sym typeface="+mn-ea"/>
              </a:rPr>
              <a:t>模型，采用词嵌入方法提取蛋白质特征信息。</a:t>
            </a:r>
            <a:endParaRPr lang="zh-CN" altLang="en-US" sz="12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19885" y="4076065"/>
            <a:ext cx="67659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/>
            <a:r>
              <a:rPr lang="zh-CN" altLang="en-US" sz="1200">
                <a:sym typeface="+mn-ea"/>
              </a:rPr>
              <a:t>设计了基于全局</a:t>
            </a:r>
            <a:r>
              <a:rPr lang="en-US" altLang="zh-CN" sz="1200">
                <a:sym typeface="+mn-ea"/>
              </a:rPr>
              <a:t>-</a:t>
            </a:r>
            <a:r>
              <a:rPr lang="zh-CN" altLang="en-US" sz="1200">
                <a:sym typeface="+mn-ea"/>
              </a:rPr>
              <a:t>局部信息的深度神经网络，提出了</a:t>
            </a:r>
            <a:r>
              <a:rPr lang="en-US" altLang="zh-CN" sz="1200">
                <a:sym typeface="+mn-ea"/>
              </a:rPr>
              <a:t> DeepPSP </a:t>
            </a:r>
            <a:r>
              <a:rPr lang="zh-CN" altLang="en-US" sz="1200">
                <a:sym typeface="+mn-ea"/>
              </a:rPr>
              <a:t>模型用于识别磷酸化位点。</a:t>
            </a:r>
            <a:endParaRPr lang="zh-CN" altLang="en-US" sz="1200">
              <a:sym typeface="+mn-ea"/>
            </a:endParaRPr>
          </a:p>
        </p:txBody>
      </p: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 景 概 述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5127" name="Text Box 8"/>
          <p:cNvSpPr/>
          <p:nvPr/>
        </p:nvSpPr>
        <p:spPr>
          <a:xfrm>
            <a:off x="273050" y="711200"/>
            <a:ext cx="8499475" cy="73723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</a:pPr>
            <a:r>
              <a:rPr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DE-MHAIPs: Identification of SARS-CoV-2 phosphorylation sites based on differential evolution multi-feature learning and multi-head attention mechanism</a:t>
            </a:r>
            <a:endParaRPr sz="14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73050" y="1635125"/>
            <a:ext cx="84702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spcBef>
                <a:spcPts val="70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首先，利用二肽偏离预期均值（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DDE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）、伪氨基酸组成（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PseAAC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）、氨基酸属性编码（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AAindex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）、组成、过渡和分布（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CTD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）、增强氨基酸组成（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EAAC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）和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BLOSUM62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从不同角度提取蛋白质序列，得到原始特征向量。</a:t>
            </a:r>
            <a:endParaRPr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273050" y="2569845"/>
            <a:ext cx="84702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spcBef>
                <a:spcPts val="70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然后，利用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算法学习单个特征权重，通过加权组合融合这些特征。</a:t>
            </a:r>
            <a:endParaRPr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73050" y="3075305"/>
            <a:ext cx="83737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spcBef>
                <a:spcPts val="70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最后，使用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Group LASSO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筛选最优特征子集，并将筛选的数据输入深度学习模型，预测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SARS-CoV-2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的磷酸化位点。在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次交叉验证下，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S/T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数据集的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AUC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值和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AUPR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值获得了比较满意的结果。</a:t>
            </a:r>
            <a:endParaRPr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273050" y="3796030"/>
            <a:ext cx="81724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spcBef>
                <a:spcPts val="70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实验结果表明，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DE-MHAIPs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模型能较好地识别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SARS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的磷酸化位点。</a:t>
            </a:r>
            <a:endParaRPr lang="zh-CN" altLang="en-US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3863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219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 研究过程</a:t>
            </a:r>
            <a:endParaRPr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21" name="Group 5"/>
          <p:cNvGrpSpPr/>
          <p:nvPr/>
        </p:nvGrpSpPr>
        <p:grpSpPr>
          <a:xfrm>
            <a:off x="1254125" y="2136775"/>
            <a:ext cx="863600" cy="863600"/>
            <a:chOff x="0" y="0"/>
            <a:chExt cx="1360" cy="1360"/>
          </a:xfrm>
        </p:grpSpPr>
        <p:pic>
          <p:nvPicPr>
            <p:cNvPr id="9222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" y="256"/>
              <a:ext cx="808" cy="816"/>
            </a:xfrm>
            <a:prstGeom prst="rect">
              <a:avLst/>
            </a:prstGeom>
            <a:noFill/>
            <a:ln>
              <a:noFill/>
              <a:bevel/>
            </a:ln>
          </p:spPr>
        </p:pic>
        <p:sp>
          <p:nvSpPr>
            <p:cNvPr id="9223" name="正圆 198"/>
            <p:cNvSpPr/>
            <p:nvPr/>
          </p:nvSpPr>
          <p:spPr>
            <a:xfrm>
              <a:off x="0" y="0"/>
              <a:ext cx="1360" cy="136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bevel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容</a:t>
            </a:r>
            <a:endParaRPr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5142" name="Text Box 14"/>
          <p:cNvSpPr/>
          <p:nvPr>
            <p:custDataLst>
              <p:tags r:id="rId1"/>
            </p:custDataLst>
          </p:nvPr>
        </p:nvSpPr>
        <p:spPr>
          <a:xfrm>
            <a:off x="324135" y="699334"/>
            <a:ext cx="2875597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数据集来源：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</a:rPr>
              <a:t>Lv</a:t>
            </a:r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等人</a:t>
            </a:r>
            <a:r>
              <a:rPr lang="en-US" altLang="zh-CN" sz="1400" b="1">
                <a:solidFill>
                  <a:srgbClr val="0078AA"/>
                </a:solidFill>
                <a:ea typeface="微软雅黑" panose="020B0503020204020204" pitchFamily="34" charset="-122"/>
              </a:rPr>
              <a:t>[9]</a:t>
            </a:r>
            <a:endParaRPr lang="zh-CN" altLang="en-US" sz="1400" b="1">
              <a:solidFill>
                <a:srgbClr val="0078AA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" y="1228725"/>
            <a:ext cx="75088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sz="1400" b="1">
                <a:solidFill>
                  <a:srgbClr val="0078AA"/>
                </a:solidFill>
                <a:ea typeface="微软雅黑" panose="020B0503020204020204" pitchFamily="34" charset="-122"/>
                <a:sym typeface="+mn-ea"/>
              </a:rPr>
              <a:t>内容：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感染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SARS-CoV-2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的人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A549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细胞中经实验验证的磷酸化位点集合</a:t>
            </a:r>
            <a:endParaRPr lang="zh-CN" sz="1400" b="1">
              <a:solidFill>
                <a:srgbClr val="0078AA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1758315"/>
            <a:ext cx="785558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处理后的序列被截断为一个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400" b="1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残基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的序列片段，残基中心有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（丝氨酸）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/T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（苏氨酸）或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（酪氨酸）。如果片段的中心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S/T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4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被磷酸化，则定义为阳性样本，否则定义为阴性样本。</a:t>
            </a:r>
            <a:endParaRPr lang="zh-CN" altLang="en-US" sz="14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571750"/>
            <a:ext cx="6210300" cy="153162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残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2" name="图片 1"/>
          <p:cNvPicPr/>
          <p:nvPr/>
        </p:nvPicPr>
        <p:blipFill>
          <a:blip r:embed="rId1"/>
          <a:srcRect l="4374" t="4425" r="6050" b="27057"/>
          <a:stretch>
            <a:fillRect/>
          </a:stretch>
        </p:blipFill>
        <p:spPr>
          <a:xfrm>
            <a:off x="179705" y="1347470"/>
            <a:ext cx="2952115" cy="223202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rcRect l="3563" t="3876" r="2703" b="14820"/>
          <a:stretch>
            <a:fillRect/>
          </a:stretch>
        </p:blipFill>
        <p:spPr>
          <a:xfrm>
            <a:off x="3564255" y="987425"/>
            <a:ext cx="5328920" cy="302387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7171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7172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73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7197" name="Text Box 14"/>
          <p:cNvSpPr/>
          <p:nvPr>
            <p:custDataLst>
              <p:tags r:id="rId1"/>
            </p:custDataLst>
          </p:nvPr>
        </p:nvSpPr>
        <p:spPr>
          <a:xfrm>
            <a:off x="2628265" y="3226435"/>
            <a:ext cx="1066165" cy="33718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zh-CN" altLang="en-US" sz="1600">
                <a:solidFill>
                  <a:schemeClr val="bg1"/>
                </a:solidFill>
                <a:ea typeface="微软雅黑" panose="020B0503020204020204" pitchFamily="34" charset="-122"/>
              </a:rPr>
              <a:t>特征融合</a:t>
            </a:r>
            <a:endParaRPr lang="zh-CN" altLang="en-US" sz="160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495300"/>
            <a:ext cx="8846820" cy="445262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7171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7172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73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grpSp>
        <p:nvGrpSpPr>
          <p:cNvPr id="7174" name="Group 6"/>
          <p:cNvGrpSpPr/>
          <p:nvPr>
            <p:custDataLst>
              <p:tags r:id="rId1"/>
            </p:custDataLst>
          </p:nvPr>
        </p:nvGrpSpPr>
        <p:grpSpPr>
          <a:xfrm>
            <a:off x="971550" y="1131888"/>
            <a:ext cx="1457325" cy="792162"/>
            <a:chOff x="0" y="0"/>
            <a:chExt cx="2295" cy="1246"/>
          </a:xfrm>
        </p:grpSpPr>
        <p:pic>
          <p:nvPicPr>
            <p:cNvPr id="7200" name="Picture 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295" cy="1246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sp>
          <p:nvSpPr>
            <p:cNvPr id="7201" name="Text Box 8"/>
            <p:cNvSpPr/>
            <p:nvPr>
              <p:custDataLst>
                <p:tags r:id="rId4"/>
              </p:custDataLst>
            </p:nvPr>
          </p:nvSpPr>
          <p:spPr>
            <a:xfrm>
              <a:off x="341" y="308"/>
              <a:ext cx="1669" cy="5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sz="1600">
                  <a:solidFill>
                    <a:schemeClr val="bg1"/>
                  </a:solidFill>
                  <a:ea typeface="微软雅黑" panose="020B0503020204020204" pitchFamily="34" charset="-122"/>
                </a:rPr>
                <a:t>数据收集</a:t>
              </a:r>
              <a:endParaRPr sz="160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7175" name="Group 9"/>
          <p:cNvGrpSpPr/>
          <p:nvPr>
            <p:custDataLst>
              <p:tags r:id="rId5"/>
            </p:custDataLst>
          </p:nvPr>
        </p:nvGrpSpPr>
        <p:grpSpPr>
          <a:xfrm>
            <a:off x="1701800" y="2068513"/>
            <a:ext cx="1457325" cy="792162"/>
            <a:chOff x="0" y="0"/>
            <a:chExt cx="2295" cy="1246"/>
          </a:xfrm>
        </p:grpSpPr>
        <p:pic>
          <p:nvPicPr>
            <p:cNvPr id="7198" name="Picture 1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295" cy="1246"/>
            </a:xfrm>
            <a:prstGeom prst="rect">
              <a:avLst/>
            </a:prstGeom>
            <a:noFill/>
            <a:ln>
              <a:noFill/>
              <a:bevel/>
            </a:ln>
          </p:spPr>
        </p:pic>
        <p:sp>
          <p:nvSpPr>
            <p:cNvPr id="7199" name="Text Box 11"/>
            <p:cNvSpPr/>
            <p:nvPr>
              <p:custDataLst>
                <p:tags r:id="rId7"/>
              </p:custDataLst>
            </p:nvPr>
          </p:nvSpPr>
          <p:spPr>
            <a:xfrm>
              <a:off x="325" y="328"/>
              <a:ext cx="1734" cy="530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600">
                  <a:solidFill>
                    <a:schemeClr val="bg1"/>
                  </a:solidFill>
                  <a:ea typeface="微软雅黑" panose="020B0503020204020204" pitchFamily="34" charset="-122"/>
                </a:rPr>
                <a:t>特征编码</a:t>
              </a:r>
              <a:endParaRPr lang="zh-CN" altLang="en-US" sz="160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7176" name="Group 12"/>
          <p:cNvGrpSpPr/>
          <p:nvPr>
            <p:custDataLst>
              <p:tags r:id="rId8"/>
            </p:custDataLst>
          </p:nvPr>
        </p:nvGrpSpPr>
        <p:grpSpPr>
          <a:xfrm>
            <a:off x="2428875" y="3005138"/>
            <a:ext cx="1457325" cy="792162"/>
            <a:chOff x="0" y="0"/>
            <a:chExt cx="2295" cy="1246"/>
          </a:xfrm>
        </p:grpSpPr>
        <p:pic>
          <p:nvPicPr>
            <p:cNvPr id="7196" name="Picture 1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295" cy="1246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sp>
          <p:nvSpPr>
            <p:cNvPr id="7197" name="Text Box 14"/>
            <p:cNvSpPr/>
            <p:nvPr>
              <p:custDataLst>
                <p:tags r:id="rId10"/>
              </p:custDataLst>
            </p:nvPr>
          </p:nvSpPr>
          <p:spPr>
            <a:xfrm>
              <a:off x="314" y="348"/>
              <a:ext cx="1679" cy="53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600">
                  <a:solidFill>
                    <a:schemeClr val="bg1"/>
                  </a:solidFill>
                  <a:ea typeface="微软雅黑" panose="020B0503020204020204" pitchFamily="34" charset="-122"/>
                </a:rPr>
                <a:t>特征融合</a:t>
              </a:r>
              <a:endParaRPr lang="zh-CN" altLang="en-US" sz="160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7177" name="Group 15"/>
          <p:cNvGrpSpPr/>
          <p:nvPr>
            <p:custDataLst>
              <p:tags r:id="rId11"/>
            </p:custDataLst>
          </p:nvPr>
        </p:nvGrpSpPr>
        <p:grpSpPr>
          <a:xfrm>
            <a:off x="3159125" y="3949700"/>
            <a:ext cx="1457325" cy="790575"/>
            <a:chOff x="0" y="0"/>
            <a:chExt cx="2295" cy="1246"/>
          </a:xfrm>
        </p:grpSpPr>
        <p:pic>
          <p:nvPicPr>
            <p:cNvPr id="7194" name="Picture 1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295" cy="1246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sp>
          <p:nvSpPr>
            <p:cNvPr id="7195" name="Text Box 17"/>
            <p:cNvSpPr/>
            <p:nvPr>
              <p:custDataLst>
                <p:tags r:id="rId13"/>
              </p:custDataLst>
            </p:nvPr>
          </p:nvSpPr>
          <p:spPr>
            <a:xfrm>
              <a:off x="342" y="356"/>
              <a:ext cx="1612" cy="53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600">
                  <a:solidFill>
                    <a:schemeClr val="bg1"/>
                  </a:solidFill>
                  <a:ea typeface="微软雅黑" panose="020B0503020204020204" pitchFamily="34" charset="-122"/>
                </a:rPr>
                <a:t>特征选择</a:t>
              </a:r>
              <a:endParaRPr lang="zh-CN" altLang="en-US" sz="160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cxnSp>
        <p:nvCxnSpPr>
          <p:cNvPr id="7178" name="箭头 218"/>
          <p:cNvCxnSpPr/>
          <p:nvPr>
            <p:custDataLst>
              <p:tags r:id="rId14"/>
            </p:custDataLst>
          </p:nvPr>
        </p:nvCxnSpPr>
        <p:spPr>
          <a:xfrm>
            <a:off x="2466975" y="1169988"/>
            <a:ext cx="990600" cy="1587"/>
          </a:xfrm>
          <a:prstGeom prst="line">
            <a:avLst/>
          </a:prstGeom>
          <a:noFill/>
          <a:ln>
            <a:solidFill>
              <a:schemeClr val="bg2"/>
            </a:solidFill>
            <a:miter lim="800000"/>
            <a:tailEnd type="triangle"/>
          </a:ln>
        </p:spPr>
      </p:cxnSp>
      <p:grpSp>
        <p:nvGrpSpPr>
          <p:cNvPr id="7179" name="Group 19"/>
          <p:cNvGrpSpPr/>
          <p:nvPr>
            <p:custDataLst>
              <p:tags r:id="rId15"/>
            </p:custDataLst>
          </p:nvPr>
        </p:nvGrpSpPr>
        <p:grpSpPr>
          <a:xfrm>
            <a:off x="3457575" y="1019175"/>
            <a:ext cx="2876550" cy="765175"/>
            <a:chOff x="0" y="0"/>
            <a:chExt cx="4528" cy="1205"/>
          </a:xfrm>
        </p:grpSpPr>
        <p:sp>
          <p:nvSpPr>
            <p:cNvPr id="7192" name="Text Box 14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4528" cy="483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CD-HIT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193" name="Text Box 15"/>
            <p:cNvSpPr/>
            <p:nvPr>
              <p:custDataLst>
                <p:tags r:id="rId17"/>
              </p:custDataLst>
            </p:nvPr>
          </p:nvSpPr>
          <p:spPr>
            <a:xfrm>
              <a:off x="16" y="480"/>
              <a:ext cx="4510" cy="725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快速聚类和去冗余处理</a:t>
              </a:r>
              <a:endParaRPr lang="zh-CN" alt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0" indent="0"/>
              <a:r>
                <a:rPr lang="zh-CN" altLang="en-US"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减少数据集的复杂性</a:t>
              </a:r>
              <a:endParaRPr lang="zh-CN" alt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180" name="箭头 218"/>
          <p:cNvCxnSpPr/>
          <p:nvPr>
            <p:custDataLst>
              <p:tags r:id="rId18"/>
            </p:custDataLst>
          </p:nvPr>
        </p:nvCxnSpPr>
        <p:spPr>
          <a:xfrm>
            <a:off x="3192463" y="2114550"/>
            <a:ext cx="990600" cy="1588"/>
          </a:xfrm>
          <a:prstGeom prst="line">
            <a:avLst/>
          </a:prstGeom>
          <a:noFill/>
          <a:ln>
            <a:solidFill>
              <a:schemeClr val="bg2"/>
            </a:solidFill>
            <a:bevel/>
            <a:tailEnd type="triangle"/>
          </a:ln>
        </p:spPr>
      </p:cxnSp>
      <p:grpSp>
        <p:nvGrpSpPr>
          <p:cNvPr id="7181" name="Group 23"/>
          <p:cNvGrpSpPr/>
          <p:nvPr>
            <p:custDataLst>
              <p:tags r:id="rId19"/>
            </p:custDataLst>
          </p:nvPr>
        </p:nvGrpSpPr>
        <p:grpSpPr>
          <a:xfrm>
            <a:off x="4183063" y="1963738"/>
            <a:ext cx="4447048" cy="765175"/>
            <a:chOff x="0" y="0"/>
            <a:chExt cx="7004" cy="1205"/>
          </a:xfrm>
        </p:grpSpPr>
        <p:sp>
          <p:nvSpPr>
            <p:cNvPr id="7190" name="Text Box 14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7004" cy="48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EAAC DDE CTD PseAAC AAindex BLOSUM62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191" name="Text Box 15"/>
            <p:cNvSpPr/>
            <p:nvPr>
              <p:custDataLst>
                <p:tags r:id="rId21"/>
              </p:custDataLst>
            </p:nvPr>
          </p:nvSpPr>
          <p:spPr>
            <a:xfrm>
              <a:off x="16" y="480"/>
              <a:ext cx="5928" cy="72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将生物序列（如 DNA、RNA 或蛋白质序列）转换为可以用于机器学习或其他分析方法的数值特征</a:t>
              </a:r>
              <a:endParaRPr lang="zh-CN" alt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182" name="箭头 218"/>
          <p:cNvCxnSpPr/>
          <p:nvPr>
            <p:custDataLst>
              <p:tags r:id="rId22"/>
            </p:custDataLst>
          </p:nvPr>
        </p:nvCxnSpPr>
        <p:spPr>
          <a:xfrm>
            <a:off x="3933825" y="3067050"/>
            <a:ext cx="990600" cy="0"/>
          </a:xfrm>
          <a:prstGeom prst="line">
            <a:avLst/>
          </a:prstGeom>
          <a:noFill/>
          <a:ln>
            <a:solidFill>
              <a:schemeClr val="bg2"/>
            </a:solidFill>
            <a:bevel/>
            <a:tailEnd type="triangle"/>
          </a:ln>
        </p:spPr>
      </p:cxnSp>
      <p:grpSp>
        <p:nvGrpSpPr>
          <p:cNvPr id="7183" name="Group 27"/>
          <p:cNvGrpSpPr/>
          <p:nvPr>
            <p:custDataLst>
              <p:tags r:id="rId23"/>
            </p:custDataLst>
          </p:nvPr>
        </p:nvGrpSpPr>
        <p:grpSpPr>
          <a:xfrm>
            <a:off x="4924425" y="2914650"/>
            <a:ext cx="2876550" cy="674370"/>
            <a:chOff x="0" y="0"/>
            <a:chExt cx="4528" cy="1062"/>
          </a:xfrm>
        </p:grpSpPr>
        <p:sp>
          <p:nvSpPr>
            <p:cNvPr id="7188" name="Text Box 14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4528" cy="48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DE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189" name="Text Box 15"/>
            <p:cNvSpPr/>
            <p:nvPr>
              <p:custDataLst>
                <p:tags r:id="rId25"/>
              </p:custDataLst>
            </p:nvPr>
          </p:nvSpPr>
          <p:spPr>
            <a:xfrm>
              <a:off x="0" y="337"/>
              <a:ext cx="4510" cy="72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使用差分进化算法，对每一个权重</a:t>
              </a:r>
              <a:r>
                <a:rPr lang="en-US" altLang="zh-CN"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r>
                <a:rPr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进行优化，将各项特征融合在一起。</a:t>
              </a:r>
              <a:endPara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184" name="箭头 218"/>
          <p:cNvCxnSpPr/>
          <p:nvPr>
            <p:custDataLst>
              <p:tags r:id="rId26"/>
            </p:custDataLst>
          </p:nvPr>
        </p:nvCxnSpPr>
        <p:spPr>
          <a:xfrm>
            <a:off x="4668838" y="3987800"/>
            <a:ext cx="990600" cy="1588"/>
          </a:xfrm>
          <a:prstGeom prst="line">
            <a:avLst/>
          </a:prstGeom>
          <a:noFill/>
          <a:ln>
            <a:solidFill>
              <a:schemeClr val="bg2"/>
            </a:solidFill>
            <a:miter lim="800000"/>
            <a:tailEnd type="triangle"/>
          </a:ln>
        </p:spPr>
      </p:cxnSp>
      <p:grpSp>
        <p:nvGrpSpPr>
          <p:cNvPr id="7185" name="Group 31"/>
          <p:cNvGrpSpPr/>
          <p:nvPr>
            <p:custDataLst>
              <p:tags r:id="rId27"/>
            </p:custDataLst>
          </p:nvPr>
        </p:nvGrpSpPr>
        <p:grpSpPr>
          <a:xfrm>
            <a:off x="5659438" y="3836988"/>
            <a:ext cx="3050838" cy="995045"/>
            <a:chOff x="0" y="0"/>
            <a:chExt cx="4805" cy="1567"/>
          </a:xfrm>
        </p:grpSpPr>
        <p:sp>
          <p:nvSpPr>
            <p:cNvPr id="7186" name="Text Box 14"/>
            <p:cNvSpPr/>
            <p:nvPr>
              <p:custDataLst>
                <p:tags r:id="rId28"/>
              </p:custDataLst>
            </p:nvPr>
          </p:nvSpPr>
          <p:spPr>
            <a:xfrm>
              <a:off x="0" y="0"/>
              <a:ext cx="4805" cy="82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en-US" altLang="zh-CN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GINI MDS IG MI LASSO MRMD Group LASSO</a:t>
              </a:r>
              <a:r>
                <a:rPr lang="zh-CN" altLang="en-US" sz="1400" b="1">
                  <a:solidFill>
                    <a:srgbClr val="0078AA"/>
                  </a:solidFill>
                  <a:ea typeface="微软雅黑" panose="020B0503020204020204" pitchFamily="34" charset="-122"/>
                </a:rPr>
                <a:t>：</a:t>
              </a:r>
              <a:endPara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187" name="Text Box 15"/>
            <p:cNvSpPr/>
            <p:nvPr>
              <p:custDataLst>
                <p:tags r:id="rId29"/>
              </p:custDataLst>
            </p:nvPr>
          </p:nvSpPr>
          <p:spPr>
            <a:xfrm>
              <a:off x="16" y="842"/>
              <a:ext cx="4510" cy="725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sz="1200">
                  <a:solidFill>
                    <a:srgbClr val="29292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分别使用，进行对比，选择最优方法，用于特征选择</a:t>
              </a:r>
              <a:endPara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634492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6343650" y="-22860"/>
            <a:ext cx="279971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StepA. Date-collection</a:t>
            </a: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443980" y="0"/>
            <a:ext cx="1149350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数据收集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219904" y="192360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标题 4"/>
          <p:cNvSpPr txBox="1"/>
          <p:nvPr/>
        </p:nvSpPr>
        <p:spPr>
          <a:xfrm>
            <a:off x="5165898" y="1947001"/>
            <a:ext cx="2268252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CD-HIT</a:t>
            </a: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27855" y="2355215"/>
            <a:ext cx="4529455" cy="1152639"/>
          </a:xfrm>
          <a:prstGeom prst="rect">
            <a:avLst/>
          </a:prstGeom>
        </p:spPr>
        <p:txBody>
          <a:bodyPr wrap="square" lIns="51433" tIns="25716" rIns="51433" bIns="25716">
            <a:noAutofit/>
          </a:bodyPr>
          <a:lstStyle/>
          <a:p>
            <a:pPr marL="0" lvl="0" indent="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功能：快速聚类和去冗余处理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目的：</a:t>
            </a:r>
            <a:r>
              <a:rPr lang="zh-CN" altLang="en-US" dirty="0"/>
              <a:t>消除蛋白质序列相似性大于 </a:t>
            </a:r>
            <a:r>
              <a:rPr lang="en-US" altLang="zh-CN" dirty="0"/>
              <a:t>30% </a:t>
            </a:r>
            <a:r>
              <a:rPr lang="zh-CN" altLang="en-US" dirty="0"/>
              <a:t>的序列，以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减少数据集的复杂性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Lato Light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" y="1275715"/>
            <a:ext cx="3609340" cy="273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634492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StepB. Feature encoding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84039" y="698917"/>
            <a:ext cx="1134126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31900"/>
            <a:ext cx="3659505" cy="2679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99610" y="1851660"/>
            <a:ext cx="45821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ym typeface="+mn-ea"/>
              </a:rPr>
              <a:t>EAAC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通过计算序列中每种氨基酸的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相对频率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，提供了一个有效的氨基酸组成特征。这种方法考虑了氨基酸在序列中的分布和组成，以便于捕捉序列的整体特征。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219904" y="130003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EAAC DDE</a:t>
            </a:r>
            <a:endParaRPr lang="zh-CN" altLang="en-US" sz="1350"/>
          </a:p>
        </p:txBody>
      </p:sp>
      <p:sp>
        <p:nvSpPr>
          <p:cNvPr id="23" name="文本框 22"/>
          <p:cNvSpPr txBox="1"/>
          <p:nvPr/>
        </p:nvSpPr>
        <p:spPr>
          <a:xfrm>
            <a:off x="4499610" y="3277870"/>
            <a:ext cx="45364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DDE 通过计算氨基酸对（即相邻的两个氨基酸）的频率，来捕捉序列中氨基酸对的分布信息。这种方法提供了关于氨基酸相互作用和序列特征的信息。</a:t>
            </a:r>
          </a:p>
        </p:txBody>
      </p:sp>
      <p:sp>
        <p:nvSpPr>
          <p:cNvPr id="24" name="矩形 23"/>
          <p:cNvSpPr/>
          <p:nvPr/>
        </p:nvSpPr>
        <p:spPr>
          <a:xfrm>
            <a:off x="6343650" y="-22860"/>
            <a:ext cx="279971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350"/>
          </a:p>
        </p:txBody>
      </p:sp>
      <p:sp>
        <p:nvSpPr>
          <p:cNvPr id="27" name="标题 4"/>
          <p:cNvSpPr txBox="1"/>
          <p:nvPr/>
        </p:nvSpPr>
        <p:spPr>
          <a:xfrm>
            <a:off x="6443980" y="0"/>
            <a:ext cx="1149350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特征编码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596519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5964555" y="-20320"/>
            <a:ext cx="317817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StepB. Feature encoding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12284" y="2322"/>
            <a:ext cx="1134126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特征编码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31900"/>
            <a:ext cx="3659505" cy="2679700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5219904" y="130003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CTD PseAAC AAindex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4873102" y="1781737"/>
            <a:ext cx="34124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成分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0070C0"/>
                </a:solidFill>
              </a:rPr>
              <a:t>过渡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00B050"/>
                </a:solidFill>
              </a:rPr>
              <a:t>分布</a:t>
            </a:r>
            <a:r>
              <a:rPr lang="zh-CN" altLang="en-US" dirty="0"/>
              <a:t>（</a:t>
            </a:r>
            <a:r>
              <a:rPr lang="en-US" altLang="zh-CN" dirty="0"/>
              <a:t>CTD</a:t>
            </a:r>
            <a:r>
              <a:rPr lang="zh-CN" altLang="en-US" dirty="0"/>
              <a:t>）用于表征抗菌肽序列的理化性质和氨基酸序列组成的分布模式。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596519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5964555" y="-20320"/>
            <a:ext cx="317817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StepB. Feature encoding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12284" y="2322"/>
            <a:ext cx="1134126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特征编码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31900"/>
            <a:ext cx="3659505" cy="2679700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5219904" y="130003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BLOSUM62</a:t>
            </a:r>
            <a:endParaRPr lang="zh-CN" altLang="en-US" sz="1350"/>
          </a:p>
        </p:txBody>
      </p:sp>
      <p:sp>
        <p:nvSpPr>
          <p:cNvPr id="7" name="文本框 6"/>
          <p:cNvSpPr txBox="1"/>
          <p:nvPr/>
        </p:nvSpPr>
        <p:spPr>
          <a:xfrm>
            <a:off x="4788024" y="2110085"/>
            <a:ext cx="3412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要求两个氨基酸序列的相同残基不超过</a:t>
            </a:r>
            <a:r>
              <a:rPr lang="en-US" altLang="zh-CN" dirty="0"/>
              <a:t>62%</a:t>
            </a:r>
            <a:r>
              <a:rPr lang="zh-CN" altLang="en-US" dirty="0"/>
              <a:t>，去除同源氨基酸片段，但允许一定程度的变异。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596519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5964555" y="-20320"/>
            <a:ext cx="317817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StepC. Feature fusion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12284" y="2322"/>
            <a:ext cx="1134126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特征融合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219904" y="130003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DE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240790"/>
            <a:ext cx="3316605" cy="26708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36390" y="1930400"/>
            <a:ext cx="4885690" cy="1447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 dirty="0"/>
              <a:t>这是一个优化算法，可以用于优化权重</a:t>
            </a:r>
            <a:r>
              <a:rPr lang="en-US" altLang="zh-CN" sz="1600" dirty="0"/>
              <a:t>w</a:t>
            </a:r>
            <a:r>
              <a:rPr lang="zh-CN" altLang="en-US" sz="1600" dirty="0"/>
              <a:t>。通过</a:t>
            </a:r>
            <a:r>
              <a:rPr lang="en-US" altLang="zh-CN" sz="1600" dirty="0"/>
              <a:t> DE </a:t>
            </a:r>
            <a:r>
              <a:rPr lang="zh-CN" altLang="en-US" sz="1600" dirty="0"/>
              <a:t>算法，可以自动调整这些权重，使得特征融合的结果在某种目标（如分类准确率）上表现最佳。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596519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5964555" y="-20320"/>
            <a:ext cx="317817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314515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StepD. Feature selection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12284" y="2322"/>
            <a:ext cx="1134126" cy="301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219904" y="1300034"/>
            <a:ext cx="2214246" cy="324036"/>
          </a:xfrm>
          <a:prstGeom prst="roundRect">
            <a:avLst>
              <a:gd name="adj" fmla="val 0"/>
            </a:avLst>
          </a:prstGeom>
          <a:solidFill>
            <a:srgbClr val="027BA8"/>
          </a:solidFill>
          <a:ln>
            <a:noFill/>
          </a:ln>
          <a:effectLst>
            <a:outerShdw blurRad="241300" dist="381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Group LASSO</a:t>
            </a:r>
            <a:endParaRPr lang="en-US" altLang="zh-CN" sz="1350" dirty="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262380"/>
            <a:ext cx="3494405" cy="2782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87947" y="1995686"/>
            <a:ext cx="4582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该方法在最小二乘法的基础上，通过对所有变量进行分组，增加了一个惩罚函数，使得小绝对值的系数可以被压缩到 </a:t>
            </a:r>
            <a:r>
              <a:rPr lang="en-US" altLang="zh-CN" dirty="0"/>
              <a:t>0</a:t>
            </a:r>
            <a:r>
              <a:rPr lang="zh-CN" altLang="en-US" dirty="0"/>
              <a:t>。然后，零系数的特征组将被丢弃，而非零系数的特征组将被保留。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-18391" y="5004425"/>
            <a:ext cx="9161915" cy="162018"/>
          </a:xfrm>
          <a:prstGeom prst="rect">
            <a:avLst/>
          </a:prstGeom>
          <a:solidFill>
            <a:schemeClr val="bg1">
              <a:lumMod val="8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-635" y="-20320"/>
            <a:ext cx="5965190" cy="323850"/>
          </a:xfrm>
          <a:prstGeom prst="rect">
            <a:avLst/>
          </a:prstGeom>
          <a:solidFill>
            <a:srgbClr val="027BA8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5964555" y="-20320"/>
            <a:ext cx="3178175" cy="323850"/>
          </a:xfrm>
          <a:prstGeom prst="rect">
            <a:avLst/>
          </a:prstGeom>
          <a:solidFill>
            <a:schemeClr val="tx1">
              <a:lumMod val="75000"/>
              <a:lumOff val="25000"/>
              <a:alpha val="9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标题 4"/>
          <p:cNvSpPr txBox="1"/>
          <p:nvPr/>
        </p:nvSpPr>
        <p:spPr>
          <a:xfrm>
            <a:off x="323215" y="0"/>
            <a:ext cx="4049395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>
                <a:solidFill>
                  <a:schemeClr val="bg1"/>
                </a:solidFill>
                <a:ea typeface="微软雅黑" panose="020B0503020204020204" pitchFamily="34" charset="-122"/>
                <a:sym typeface="+mn-ea"/>
              </a:rPr>
              <a:t>StepEF. Deep learning framework and evaluation</a:t>
            </a:r>
            <a:endParaRPr lang="en-US" altLang="zh-CN" sz="1350">
              <a:solidFill>
                <a:schemeClr val="bg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标题 4"/>
          <p:cNvSpPr txBox="1"/>
          <p:nvPr/>
        </p:nvSpPr>
        <p:spPr>
          <a:xfrm>
            <a:off x="6012180" y="2540"/>
            <a:ext cx="2545080" cy="3009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EF.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深度学习框架及评估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39090"/>
            <a:ext cx="9060815" cy="28403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354" y="3507854"/>
            <a:ext cx="906081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五折交叉验证：训练集被分成</a:t>
            </a:r>
            <a:r>
              <a:rPr lang="en-US" altLang="zh-CN" dirty="0"/>
              <a:t>5</a:t>
            </a:r>
            <a:r>
              <a:rPr lang="zh-CN" altLang="en-US" dirty="0"/>
              <a:t>个子集，模型在其中</a:t>
            </a:r>
            <a:r>
              <a:rPr lang="en-US" altLang="zh-CN" dirty="0"/>
              <a:t>4</a:t>
            </a:r>
            <a:r>
              <a:rPr lang="zh-CN" altLang="en-US" dirty="0"/>
              <a:t>个子集上继续</a:t>
            </a:r>
            <a:r>
              <a:rPr lang="zh-CN" altLang="en-US" dirty="0"/>
              <a:t>进行训练，而在剩下的</a:t>
            </a:r>
            <a:r>
              <a:rPr lang="en-US" altLang="zh-CN" dirty="0"/>
              <a:t>1</a:t>
            </a:r>
            <a:r>
              <a:rPr lang="zh-CN" altLang="en-US" dirty="0"/>
              <a:t>个子集上进行测试，这个过程会重复</a:t>
            </a:r>
            <a:r>
              <a:rPr lang="en-US" altLang="zh-CN" dirty="0"/>
              <a:t>5</a:t>
            </a:r>
            <a:r>
              <a:rPr lang="zh-CN" altLang="en-US" dirty="0"/>
              <a:t>次。</a:t>
            </a:r>
            <a:endParaRPr lang="en-US" altLang="zh-CN" dirty="0"/>
          </a:p>
          <a:p>
            <a:r>
              <a:rPr lang="zh-CN" altLang="en-US" dirty="0"/>
              <a:t>可以有效利用数据，减少过拟合，获得更可靠的性能评估。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373" y="750412"/>
            <a:ext cx="5921253" cy="364267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3863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2291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  研究结论</a:t>
            </a:r>
            <a:endParaRPr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293" name="Group 5"/>
          <p:cNvGrpSpPr/>
          <p:nvPr/>
        </p:nvGrpSpPr>
        <p:grpSpPr>
          <a:xfrm>
            <a:off x="1254125" y="2149475"/>
            <a:ext cx="863600" cy="863600"/>
            <a:chOff x="0" y="0"/>
            <a:chExt cx="1360" cy="1360"/>
          </a:xfrm>
        </p:grpSpPr>
        <p:pic>
          <p:nvPicPr>
            <p:cNvPr id="12294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" y="332"/>
              <a:ext cx="795" cy="797"/>
            </a:xfrm>
            <a:prstGeom prst="rect">
              <a:avLst/>
            </a:prstGeom>
            <a:noFill/>
            <a:ln>
              <a:noFill/>
              <a:bevel/>
            </a:ln>
          </p:spPr>
        </p:pic>
        <p:sp>
          <p:nvSpPr>
            <p:cNvPr id="12295" name="正圆 198"/>
            <p:cNvSpPr/>
            <p:nvPr/>
          </p:nvSpPr>
          <p:spPr>
            <a:xfrm>
              <a:off x="0" y="0"/>
              <a:ext cx="1360" cy="136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bevel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 征 编 码 结 果 对 比</a:t>
            </a:r>
            <a:endParaRPr lang="zh-CN" altLang="en-US" dirty="0"/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04" y="484188"/>
            <a:ext cx="7495392" cy="4530312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特 征 选 择 结 果 对 比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495" y="659213"/>
            <a:ext cx="5692883" cy="4187024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特 征 选 择 结 果 对 比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34290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深 度 学 习 模 型 结 果 对 比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647" y="704688"/>
            <a:ext cx="4686706" cy="3734124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深 度 学 习 模 型 结 果 对 比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2418" y="627534"/>
            <a:ext cx="5479164" cy="4227418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磷 酸 化 位 点 识 别 方 法 对 比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117" y="1052830"/>
            <a:ext cx="6157766" cy="3270478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 结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5" name="文本框 4"/>
          <p:cNvSpPr txBox="1"/>
          <p:nvPr/>
        </p:nvSpPr>
        <p:spPr>
          <a:xfrm>
            <a:off x="107504" y="678924"/>
            <a:ext cx="87129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研究背景和意义：识别磷酸化位点可以推测相关的宿主激酶，这为针对</a:t>
            </a:r>
            <a:r>
              <a:rPr lang="en-US" altLang="zh-CN" sz="1600" dirty="0"/>
              <a:t>SARS-CoV-2</a:t>
            </a:r>
            <a:r>
              <a:rPr lang="zh-CN" altLang="en-US" sz="1600" dirty="0"/>
              <a:t>的药物治疗提供了潜在的研究方向。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DE-MHAIPs</a:t>
            </a:r>
            <a:r>
              <a:rPr lang="zh-CN" altLang="en-US" sz="1600" dirty="0"/>
              <a:t>模型概述：创新方法：首次结合了</a:t>
            </a:r>
            <a:r>
              <a:rPr lang="zh-CN" altLang="en-US" sz="1600" b="1" dirty="0">
                <a:solidFill>
                  <a:srgbClr val="FF0000"/>
                </a:solidFill>
              </a:rPr>
              <a:t>多头注意力机制</a:t>
            </a:r>
            <a:r>
              <a:rPr lang="zh-CN" altLang="en-US" sz="1600" dirty="0"/>
              <a:t>（</a:t>
            </a:r>
            <a:r>
              <a:rPr lang="en-US" altLang="zh-CN" sz="1600" dirty="0"/>
              <a:t>Multi-Head Attention</a:t>
            </a:r>
            <a:r>
              <a:rPr lang="zh-CN" altLang="en-US" sz="1600" dirty="0"/>
              <a:t>）和</a:t>
            </a:r>
            <a:r>
              <a:rPr lang="zh-CN" altLang="en-US" sz="1600" b="1" dirty="0">
                <a:solidFill>
                  <a:srgbClr val="FF0000"/>
                </a:solidFill>
              </a:rPr>
              <a:t>长短期记忆网络</a:t>
            </a:r>
            <a:r>
              <a:rPr lang="zh-CN" altLang="en-US" sz="1600" dirty="0"/>
              <a:t>（</a:t>
            </a:r>
            <a:r>
              <a:rPr lang="en-US" altLang="zh-CN" sz="1600" dirty="0"/>
              <a:t>LSTM</a:t>
            </a:r>
            <a:r>
              <a:rPr lang="zh-CN" altLang="en-US" sz="1600" dirty="0"/>
              <a:t>）构建深度学习框架，用于识别</a:t>
            </a:r>
            <a:r>
              <a:rPr lang="en-US" altLang="zh-CN" sz="1600" dirty="0"/>
              <a:t>SARS-CoV-2</a:t>
            </a:r>
            <a:r>
              <a:rPr lang="zh-CN" altLang="en-US" sz="1600" dirty="0"/>
              <a:t>的磷酸化位点。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特征提取：使用</a:t>
            </a:r>
            <a:r>
              <a:rPr lang="zh-CN" altLang="en-US" sz="1600" b="1" dirty="0">
                <a:solidFill>
                  <a:srgbClr val="FF0000"/>
                </a:solidFill>
              </a:rPr>
              <a:t>六种特征提取方法</a:t>
            </a:r>
            <a:r>
              <a:rPr lang="zh-CN" altLang="en-US" sz="1600" dirty="0"/>
              <a:t>将蛋白质序列转换为数字信息，包括序列信息、物理化学性质和进化信息。结果显示，</a:t>
            </a:r>
            <a:r>
              <a:rPr lang="en-US" altLang="zh-CN" sz="1600" dirty="0"/>
              <a:t>EAAC</a:t>
            </a:r>
            <a:r>
              <a:rPr lang="zh-CN" altLang="en-US" sz="1600" dirty="0"/>
              <a:t>（氨基酸组成）、</a:t>
            </a:r>
            <a:r>
              <a:rPr lang="en-US" altLang="zh-CN" sz="1600" dirty="0"/>
              <a:t>CTD</a:t>
            </a:r>
            <a:r>
              <a:rPr lang="zh-CN" altLang="en-US" sz="1600" dirty="0"/>
              <a:t>（化学特性描述）和</a:t>
            </a:r>
            <a:r>
              <a:rPr lang="en-US" altLang="zh-CN" sz="1600" dirty="0"/>
              <a:t>BLOSUM62</a:t>
            </a:r>
            <a:r>
              <a:rPr lang="zh-CN" altLang="en-US" sz="1600" dirty="0"/>
              <a:t>（进化衍生信息）对模型贡献率较高。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特征融合：采用</a:t>
            </a:r>
            <a:r>
              <a:rPr lang="zh-CN" altLang="en-US" sz="1600" b="1" dirty="0">
                <a:solidFill>
                  <a:srgbClr val="FF0000"/>
                </a:solidFill>
              </a:rPr>
              <a:t>差分进化算法</a:t>
            </a:r>
            <a:r>
              <a:rPr lang="zh-CN" altLang="en-US" sz="1600" dirty="0"/>
              <a:t>融合多特征信息，增强模型的全局搜索能力。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最优特征选择：使用</a:t>
            </a:r>
            <a:r>
              <a:rPr lang="en-US" altLang="zh-CN" sz="1600" b="1" dirty="0">
                <a:solidFill>
                  <a:srgbClr val="FF0000"/>
                </a:solidFill>
              </a:rPr>
              <a:t>Group LASSO</a:t>
            </a:r>
            <a:r>
              <a:rPr lang="zh-CN" altLang="en-US" sz="1600" dirty="0"/>
              <a:t>方法获得最优特征向量，减少过拟合和梯度消失问题。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多头注意力机制：为重要的磷酸化位点信息分配更高的权重，捕捉更丰富的特征信息。</a:t>
            </a:r>
            <a:endParaRPr lang="en-US" altLang="zh-CN" sz="1600" dirty="0"/>
          </a:p>
        </p:txBody>
      </p:sp>
    </p:spTree>
  </p:cSld>
  <p:clrMapOvr>
    <a:masterClrMapping/>
  </p:clrMapOvr>
  <p:transition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 来 展 望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317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4" name="文本框 3"/>
          <p:cNvSpPr txBox="1"/>
          <p:nvPr/>
        </p:nvSpPr>
        <p:spPr>
          <a:xfrm>
            <a:off x="155414" y="1694587"/>
            <a:ext cx="8833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需要构建大规模、高质量的</a:t>
            </a:r>
            <a:r>
              <a:rPr lang="en-US" altLang="zh-CN" dirty="0"/>
              <a:t>SARS-CoV-2</a:t>
            </a:r>
            <a:r>
              <a:rPr lang="zh-CN" altLang="en-US" dirty="0"/>
              <a:t>磷酸化位点数据集，以应对高通量数据的更新和变化。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考虑更有效的优化算法和组合优化，以提高模型的预测能力。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未来将结合图注意力神经网络（</a:t>
            </a:r>
            <a:r>
              <a:rPr lang="en-US" altLang="zh-CN" dirty="0"/>
              <a:t>Graph Attention Neural Network</a:t>
            </a:r>
            <a:r>
              <a:rPr lang="zh-CN" altLang="en-US" dirty="0"/>
              <a:t>）和生成对抗神经网络（</a:t>
            </a:r>
            <a:r>
              <a:rPr lang="en-US" altLang="zh-CN" dirty="0"/>
              <a:t>Generative Adversarial Neural Network</a:t>
            </a:r>
            <a:r>
              <a:rPr lang="zh-CN" altLang="en-US" dirty="0"/>
              <a:t>）等算法，进一步提升</a:t>
            </a:r>
            <a:r>
              <a:rPr lang="en-US" altLang="zh-CN" dirty="0"/>
              <a:t>DE-MHAIPs</a:t>
            </a:r>
            <a:r>
              <a:rPr lang="zh-CN" altLang="en-US" dirty="0"/>
              <a:t>的预测性能。</a:t>
            </a:r>
            <a:endParaRPr lang="zh-CN" altLang="en-US" dirty="0"/>
          </a:p>
        </p:txBody>
      </p:sp>
    </p:spTree>
  </p:cSld>
  <p:clrMapOvr>
    <a:masterClrMapping/>
  </p:clrMapOvr>
  <p:transition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/>
          <p:nvPr/>
        </p:nvSpPr>
        <p:spPr>
          <a:xfrm>
            <a:off x="11113" y="1958975"/>
            <a:ext cx="9140825" cy="136366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87" name="Text Box 3"/>
          <p:cNvSpPr/>
          <p:nvPr/>
        </p:nvSpPr>
        <p:spPr>
          <a:xfrm>
            <a:off x="11113" y="2349500"/>
            <a:ext cx="9140825" cy="64516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en-US" altLang="zh-CN" sz="3600" b="1">
                <a:solidFill>
                  <a:schemeClr val="bg1"/>
                </a:solidFill>
                <a:ea typeface="微软雅黑" panose="020B0503020204020204" pitchFamily="34" charset="-122"/>
              </a:rPr>
              <a:t>Thanks</a:t>
            </a:r>
            <a:endParaRPr lang="en-US" altLang="zh-CN" sz="3600" b="1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6388" name="Rectangle 15"/>
          <p:cNvSpPr/>
          <p:nvPr/>
        </p:nvSpPr>
        <p:spPr>
          <a:xfrm>
            <a:off x="1588" y="-20637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89" name="Rectangle 16"/>
          <p:cNvSpPr/>
          <p:nvPr/>
        </p:nvSpPr>
        <p:spPr>
          <a:xfrm>
            <a:off x="230188" y="-19050"/>
            <a:ext cx="457200" cy="1428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0" name="Rectangle 17"/>
          <p:cNvSpPr/>
          <p:nvPr/>
        </p:nvSpPr>
        <p:spPr>
          <a:xfrm>
            <a:off x="8705850" y="-11112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1" name="Rectangle 18"/>
          <p:cNvSpPr/>
          <p:nvPr/>
        </p:nvSpPr>
        <p:spPr>
          <a:xfrm>
            <a:off x="8423275" y="-11112"/>
            <a:ext cx="457200" cy="1444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2" name="Rectangle 19"/>
          <p:cNvSpPr/>
          <p:nvPr/>
        </p:nvSpPr>
        <p:spPr>
          <a:xfrm>
            <a:off x="995363" y="4114800"/>
            <a:ext cx="76200" cy="2063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3" name="Text Box 20"/>
          <p:cNvSpPr txBox="1">
            <a:spLocks noChangeArrowheads="1"/>
          </p:cNvSpPr>
          <p:nvPr/>
        </p:nvSpPr>
        <p:spPr bwMode="auto">
          <a:xfrm>
            <a:off x="1052513" y="4057650"/>
            <a:ext cx="186690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/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指导老师：朱善良</a:t>
            </a:r>
            <a:endParaRPr lang="zh-CN" altLang="en-US" sz="1400" b="1" spc="0">
              <a:solidFill>
                <a:srgbClr val="0059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394" name="Group 21"/>
          <p:cNvGrpSpPr/>
          <p:nvPr/>
        </p:nvGrpSpPr>
        <p:grpSpPr>
          <a:xfrm>
            <a:off x="3911600" y="4051300"/>
            <a:ext cx="1592263" cy="306705"/>
            <a:chOff x="0" y="0"/>
            <a:chExt cx="2508" cy="483"/>
          </a:xfrm>
        </p:grpSpPr>
        <p:sp>
          <p:nvSpPr>
            <p:cNvPr id="16400" name="Rectangle 22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16401" name="Text Box 23"/>
            <p:cNvSpPr txBox="1">
              <a:spLocks noChangeArrowheads="1"/>
            </p:cNvSpPr>
            <p:nvPr/>
          </p:nvSpPr>
          <p:spPr bwMode="auto">
            <a:xfrm>
              <a:off x="90" y="0"/>
              <a:ext cx="2418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 dirty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学生：</a:t>
              </a:r>
              <a:r>
                <a:rPr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杜博</a:t>
              </a:r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395" name="Group 24"/>
          <p:cNvGrpSpPr/>
          <p:nvPr/>
        </p:nvGrpSpPr>
        <p:grpSpPr>
          <a:xfrm>
            <a:off x="6692900" y="4044950"/>
            <a:ext cx="2187575" cy="306705"/>
            <a:chOff x="0" y="0"/>
            <a:chExt cx="3446" cy="483"/>
          </a:xfrm>
        </p:grpSpPr>
        <p:sp>
          <p:nvSpPr>
            <p:cNvPr id="16398" name="Rectangle 25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16399" name="Text Box 26"/>
            <p:cNvSpPr txBox="1">
              <a:spLocks noChangeArrowheads="1"/>
            </p:cNvSpPr>
            <p:nvPr/>
          </p:nvSpPr>
          <p:spPr bwMode="auto">
            <a:xfrm>
              <a:off x="90" y="0"/>
              <a:ext cx="3356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汇报时间：</a:t>
              </a:r>
              <a:r>
                <a:rPr lang="en-US" altLang="zh-CN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2024.12.23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16396" name="Line 27"/>
          <p:cNvCxnSpPr/>
          <p:nvPr/>
        </p:nvCxnSpPr>
        <p:spPr>
          <a:xfrm>
            <a:off x="11113" y="2003425"/>
            <a:ext cx="9151937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cxnSp>
        <p:nvCxnSpPr>
          <p:cNvPr id="16397" name="Line 29"/>
          <p:cNvCxnSpPr/>
          <p:nvPr/>
        </p:nvCxnSpPr>
        <p:spPr>
          <a:xfrm>
            <a:off x="-6350" y="3282950"/>
            <a:ext cx="9150350" cy="0"/>
          </a:xfrm>
          <a:prstGeom prst="line">
            <a:avLst/>
          </a:prstGeom>
          <a:noFill/>
          <a:ln w="19050">
            <a:solidFill>
              <a:schemeClr val="bg1"/>
            </a:solidFill>
            <a:bevel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2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3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4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5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6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7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8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9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0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1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2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3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4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5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6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7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8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9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0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1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2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3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4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5.xml><?xml version="1.0" encoding="utf-8"?>
<p:tagLst xmlns:p="http://schemas.openxmlformats.org/presentationml/2006/main">
  <p:tag name="KSO_WM_DIAGRAM_VIRTUALLY_FRAME" val="{&quot;height&quot;:211.25,&quot;left&quot;:21.5,&quot;top&quot;:128.75,&quot;width&quot;:666.95}"/>
</p:tagLst>
</file>

<file path=ppt/tags/tag26.xml><?xml version="1.0" encoding="utf-8"?>
<p:tagLst xmlns:p="http://schemas.openxmlformats.org/presentationml/2006/main">
  <p:tag name="KSO_WM_DIAGRAM_VIRTUALLY_FRAME" val="{&quot;height&quot;:211.25,&quot;left&quot;:21.5,&quot;top&quot;:128.75,&quot;width&quot;:666.95}"/>
</p:tagLst>
</file>

<file path=ppt/tags/tag27.xml><?xml version="1.0" encoding="utf-8"?>
<p:tagLst xmlns:p="http://schemas.openxmlformats.org/presentationml/2006/main">
  <p:tag name="KSO_WM_DIAGRAM_VIRTUALLY_FRAME" val="{&quot;height&quot;:211.25,&quot;left&quot;:21.5,&quot;top&quot;:128.75,&quot;width&quot;:666.95}"/>
</p:tagLst>
</file>

<file path=ppt/tags/tag28.xml><?xml version="1.0" encoding="utf-8"?>
<p:tagLst xmlns:p="http://schemas.openxmlformats.org/presentationml/2006/main">
  <p:tag name="KSO_WM_DIAGRAM_VIRTUALLY_FRAME" val="{&quot;height&quot;:211.25,&quot;left&quot;:21.5,&quot;top&quot;:128.75,&quot;width&quot;:666.95}"/>
</p:tagLst>
</file>

<file path=ppt/tags/tag29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30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1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2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3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4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5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6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7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8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39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0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1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2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3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4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5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6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7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8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49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0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1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2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3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4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5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6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7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8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59.xml><?xml version="1.0" encoding="utf-8"?>
<p:tagLst xmlns:p="http://schemas.openxmlformats.org/presentationml/2006/main">
  <p:tag name="KSO_WM_DIAGRAM_VIRTUALLY_FRAME" val="{&quot;height&quot;:318.2,&quot;left&quot;:76.5,&quot;top&quot;:55.05,&quot;width&quot;:609.8}"/>
</p:tagLst>
</file>

<file path=ppt/tags/tag60.xml><?xml version="1.0" encoding="utf-8"?>
<p:tagLst xmlns:p="http://schemas.openxmlformats.org/presentationml/2006/main">
  <p:tag name="AS_NET" val="4.0.30319.42000"/>
  <p:tag name="AS_OS" val="Microsoft Windows NT 6.2.9200.0"/>
  <p:tag name="AS_RELEASE_DATE" val="2021.06.14"/>
  <p:tag name="AS_TITLE" val="Aspose.Slides for .NET 4.0 Client Profile"/>
  <p:tag name="AS_VERSION" val="21.6"/>
  <p:tag name="COMMONDATA" val="eyJoZGlkIjoiYTQ5NTk2MzMzOWQxNzUwYzkwNjMyY2E2MWZlNmEyNjcifQ=="/>
</p:tagLst>
</file>

<file path=ppt/theme/theme1.xml><?xml version="1.0" encoding="utf-8"?>
<a:theme xmlns:a="http://schemas.openxmlformats.org/drawingml/2006/main" name="PPTe吧 | PPT爱好者之家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演示</Application>
  <PresentationFormat>全屏显示(16:9)</PresentationFormat>
  <Paragraphs>206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微软雅黑</vt:lpstr>
      <vt:lpstr>Arial Unicode MS</vt:lpstr>
      <vt:lpstr>Lato Light</vt:lpstr>
      <vt:lpstr>Segoe Print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风华正茂Dango.</cp:lastModifiedBy>
  <cp:revision>101</cp:revision>
  <dcterms:created xsi:type="dcterms:W3CDTF">2024-12-03T05:51:00Z</dcterms:created>
  <dcterms:modified xsi:type="dcterms:W3CDTF">2024-12-24T05:27:37Z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EE4C3560DBF140D4BEA67E389BFFB35F_12</vt:lpwstr>
  </property>
</Properties>
</file>