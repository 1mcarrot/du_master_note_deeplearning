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8" r:id="rId3"/>
    <p:sldId id="259" r:id="rId5"/>
    <p:sldId id="268" r:id="rId6"/>
    <p:sldId id="261" r:id="rId7"/>
    <p:sldId id="278" r:id="rId8"/>
    <p:sldId id="318" r:id="rId9"/>
    <p:sldId id="330" r:id="rId10"/>
    <p:sldId id="332" r:id="rId11"/>
    <p:sldId id="366" r:id="rId12"/>
    <p:sldId id="367" r:id="rId13"/>
    <p:sldId id="368" r:id="rId14"/>
    <p:sldId id="357" r:id="rId15"/>
    <p:sldId id="369" r:id="rId16"/>
    <p:sldId id="282" r:id="rId17"/>
    <p:sldId id="316" r:id="rId18"/>
    <p:sldId id="370" r:id="rId19"/>
    <p:sldId id="371" r:id="rId20"/>
    <p:sldId id="373" r:id="rId21"/>
    <p:sldId id="374" r:id="rId22"/>
    <p:sldId id="375" r:id="rId23"/>
    <p:sldId id="376" r:id="rId24"/>
    <p:sldId id="377" r:id="rId25"/>
    <p:sldId id="378" r:id="rId26"/>
    <p:sldId id="284" r:id="rId27"/>
    <p:sldId id="352" r:id="rId28"/>
    <p:sldId id="288" r:id="rId29"/>
  </p:sldIdLst>
  <p:sldSz cx="9144000" cy="5143500" type="screen16x9"/>
  <p:notesSz cx="6858000" cy="9144000"/>
  <p:embeddedFontLst>
    <p:embeddedFont>
      <p:font typeface="Calibri" panose="020F0502020204030204" pitchFamily="34" charset="0"/>
      <p:regular r:id="rId33"/>
      <p:bold r:id="rId34"/>
      <p:italic r:id="rId35"/>
      <p:boldItalic r:id="rId36"/>
    </p:embeddedFont>
    <p:embeddedFont>
      <p:font typeface="微软雅黑" panose="020B0503020204020204" pitchFamily="34" charset="-122"/>
      <p:regular r:id="rId37"/>
    </p:embeddedFont>
  </p:embeddedFontLst>
  <p:custDataLst>
    <p:tags r:id="rId38"/>
  </p:custDataLst>
  <p:defaultTex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sz="1800" b="0" i="0" u="none" baseline="0">
        <a:solidFill>
          <a:schemeClr val="tx1"/>
        </a:solidFill>
        <a:effectLst/>
        <a:latin typeface="Arial" panose="020B0604020202020204" pitchFamily="34" charset="0"/>
        <a:ea typeface="宋体" panose="02010600030101010101" pitchFamily="2" charset="-122"/>
      </a:defRPr>
    </a:lvl5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586" y="82"/>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gs" Target="tags/tag25.xml"/><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0213" cy="457200"/>
          </a:xfrm>
          <a:prstGeom prst="rect">
            <a:avLst/>
          </a:prstGeom>
          <a:noFill/>
          <a:ln w="9525">
            <a:noFill/>
            <a:miter lim="800000"/>
          </a:ln>
          <a:effectLst/>
        </p:spPr>
        <p:txBody>
          <a:bodyPr numCol="1" compatLnSpc="1"/>
          <a:lstStyle>
            <a:defPPr>
              <a:defRPr lang="zh-CN"/>
            </a:defPPr>
            <a:lvl1pPr marL="0" indent="0" algn="l" defTabSz="914400" rtl="0" eaLnBrk="1" fontAlgn="base" latinLnBrk="0" hangingPunct="1">
              <a:lnSpc>
                <a:spcPct val="100000"/>
              </a:lnSpc>
              <a:spcBef>
                <a:spcPct val="0"/>
              </a:spcBef>
              <a:spcAft>
                <a:spcPct val="0"/>
              </a:spcAft>
              <a:buClrTx/>
              <a:buSzTx/>
              <a:buFontTx/>
              <a:buNone/>
              <a:defRPr kumimoji="0" lang="zh-CN" altLang="en-US"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lang="zh-CN" altLang="en-US"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lang="zh-CN" altLang="en-US"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lang="zh-CN" altLang="en-US"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lang="zh-CN" altLang="en-US" sz="1800" b="0" i="0" u="none" kern="1200" baseline="0">
                <a:solidFill>
                  <a:schemeClr val="tx1"/>
                </a:solidFill>
                <a:effectLst/>
                <a:latin typeface="+mn-lt"/>
                <a:ea typeface="+mn-ea"/>
                <a:cs typeface="+mn-cs"/>
              </a:defRPr>
            </a:lvl5pPr>
            <a:lvl6pPr marL="2286000" algn="l" defTabSz="914400" rtl="0" eaLnBrk="1" latinLnBrk="0" hangingPunct="1">
              <a:defRPr lang="zh-CN" altLang="en-US" sz="1800" kern="1200">
                <a:solidFill>
                  <a:schemeClr val="tx1"/>
                </a:solidFill>
                <a:latin typeface="+mn-lt"/>
                <a:ea typeface="+mn-ea"/>
                <a:cs typeface="+mn-cs"/>
              </a:defRPr>
            </a:lvl6pPr>
            <a:lvl7pPr marL="2743200" algn="l" defTabSz="914400" rtl="0" eaLnBrk="1" latinLnBrk="0" hangingPunct="1">
              <a:defRPr lang="zh-CN" altLang="en-US" sz="1800" kern="1200">
                <a:solidFill>
                  <a:schemeClr val="tx1"/>
                </a:solidFill>
                <a:latin typeface="+mn-lt"/>
                <a:ea typeface="+mn-ea"/>
                <a:cs typeface="+mn-cs"/>
              </a:defRPr>
            </a:lvl7pPr>
            <a:lvl8pPr marL="3200400" algn="l" defTabSz="914400" rtl="0" eaLnBrk="1" latinLnBrk="0" hangingPunct="1">
              <a:defRPr lang="zh-CN" altLang="en-US" sz="1800" kern="1200">
                <a:solidFill>
                  <a:schemeClr val="tx1"/>
                </a:solidFill>
                <a:latin typeface="+mn-lt"/>
                <a:ea typeface="+mn-ea"/>
                <a:cs typeface="+mn-cs"/>
              </a:defRPr>
            </a:lvl8pPr>
            <a:lvl9pPr marL="3657600" algn="l" defTabSz="914400" rtl="0" eaLnBrk="1" latinLnBrk="0" hangingPunct="1">
              <a:defRPr lang="zh-CN" altLang="en-US" sz="1800" kern="1200">
                <a:solidFill>
                  <a:schemeClr val="tx1"/>
                </a:solidFill>
                <a:latin typeface="+mn-lt"/>
                <a:ea typeface="+mn-ea"/>
                <a:cs typeface="+mn-cs"/>
              </a:defRPr>
            </a:lvl9pPr>
          </a:lstStyle>
          <a:p>
            <a:pPr marL="0" lvl="0" indent="0" eaLnBrk="1" hangingPunct="1"/>
            <a:endParaRPr lang="zh-CN" altLang="en-US" sz="1200"/>
          </a:p>
        </p:txBody>
      </p:sp>
      <p:sp>
        <p:nvSpPr>
          <p:cNvPr id="1741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2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r" eaLnBrk="1" hangingPunct="1"/>
            <a:fld id="{EC1B255A-C6F3-4AFB-92E2-EA6F97F7890F}" type="datetime1">
              <a:rPr lang="zh-CN" altLang="en-US" sz="1200"/>
            </a:fld>
            <a:endParaRPr lang="en-US" altLang="zh-CN" sz="1200"/>
          </a:p>
        </p:txBody>
      </p:sp>
      <p:sp>
        <p:nvSpPr>
          <p:cNvPr id="17412" name="Rectangle 4"/>
          <p:cNvSpPr>
            <a:spLocks noGrp="1" noRot="1" noChangeAspect="1"/>
          </p:cNvSpPr>
          <p:nvPr>
            <p:ph type="sldImg" idx="2"/>
          </p:nvPr>
        </p:nvSpPr>
        <p:spPr>
          <a:xfrm>
            <a:off x="1143000" y="685800"/>
            <a:ext cx="4572000" cy="3429000"/>
          </a:xfrm>
          <a:prstGeom prst="rect">
            <a:avLst/>
          </a:prstGeom>
          <a:noFill/>
          <a:ln>
            <a:noFill/>
            <a:miter lim="800000"/>
          </a:ln>
        </p:spPr>
      </p:sp>
      <p:sp>
        <p:nvSpPr>
          <p:cNvPr id="1741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numCol="1" anchor="ctr" anchorCtr="0" compatLnSpc="1"/>
          <a:lstStyle>
            <a:lvl1pPr marL="0" indent="0" algn="l" defTabSz="914400" rtl="0" eaLnBrk="0" fontAlgn="base" hangingPunct="0">
              <a:lnSpc>
                <a:spcPct val="100000"/>
              </a:lnSpc>
              <a:spcBef>
                <a:spcPct val="30000"/>
              </a:spcBef>
              <a:spcAft>
                <a:spcPct val="0"/>
              </a:spcAft>
              <a:buClrTx/>
              <a:buSzTx/>
              <a:buFontTx/>
              <a:buNone/>
              <a:defRPr kumimoji="0" lang="zh-CN" altLang="en-US" sz="1200" b="0" i="0" u="none" baseline="0">
                <a:solidFill>
                  <a:schemeClr val="tx1"/>
                </a:solidFill>
                <a:effectLst/>
                <a:latin typeface="Calibri" panose="020F0502020204030204" pitchFamily="34" charset="0"/>
                <a:ea typeface="宋体" panose="02010600030101010101" pitchFamily="2" charset="-122"/>
              </a:defRPr>
            </a:lvl1pPr>
            <a:lvl2pPr marL="457200" indent="0" algn="l" defTabSz="914400" rtl="0" eaLnBrk="0" fontAlgn="base" hangingPunct="0">
              <a:lnSpc>
                <a:spcPct val="100000"/>
              </a:lnSpc>
              <a:spcBef>
                <a:spcPct val="30000"/>
              </a:spcBef>
              <a:spcAft>
                <a:spcPct val="0"/>
              </a:spcAft>
              <a:buClrTx/>
              <a:buSzTx/>
              <a:buFontTx/>
              <a:buNone/>
              <a:defRPr kumimoji="0" lang="zh-CN" altLang="en-US" sz="1200" b="0" i="0" u="none" baseline="0">
                <a:solidFill>
                  <a:schemeClr val="tx1"/>
                </a:solidFill>
                <a:effectLst/>
                <a:latin typeface="Calibri" panose="020F0502020204030204" pitchFamily="34" charset="0"/>
                <a:ea typeface="宋体" panose="02010600030101010101" pitchFamily="2" charset="-122"/>
              </a:defRPr>
            </a:lvl2pPr>
            <a:lvl3pPr marL="914400" indent="0" algn="l" defTabSz="914400" rtl="0" eaLnBrk="0" fontAlgn="base" hangingPunct="0">
              <a:lnSpc>
                <a:spcPct val="100000"/>
              </a:lnSpc>
              <a:spcBef>
                <a:spcPct val="30000"/>
              </a:spcBef>
              <a:spcAft>
                <a:spcPct val="0"/>
              </a:spcAft>
              <a:buClrTx/>
              <a:buSzTx/>
              <a:buFontTx/>
              <a:buNone/>
              <a:defRPr kumimoji="0" lang="zh-CN" altLang="en-US" sz="1200" b="0" i="0" u="none" baseline="0">
                <a:solidFill>
                  <a:schemeClr val="tx1"/>
                </a:solidFill>
                <a:effectLst/>
                <a:latin typeface="Calibri" panose="020F0502020204030204" pitchFamily="34" charset="0"/>
                <a:ea typeface="宋体" panose="02010600030101010101" pitchFamily="2" charset="-122"/>
              </a:defRPr>
            </a:lvl3pPr>
            <a:lvl4pPr marL="1371600" indent="0" algn="l" defTabSz="914400" rtl="0" eaLnBrk="0" fontAlgn="base" hangingPunct="0">
              <a:lnSpc>
                <a:spcPct val="100000"/>
              </a:lnSpc>
              <a:spcBef>
                <a:spcPct val="30000"/>
              </a:spcBef>
              <a:spcAft>
                <a:spcPct val="0"/>
              </a:spcAft>
              <a:buClrTx/>
              <a:buSzTx/>
              <a:buFontTx/>
              <a:buNone/>
              <a:defRPr kumimoji="0" lang="zh-CN" altLang="en-US" sz="1200" b="0" i="0" u="none" baseline="0">
                <a:solidFill>
                  <a:schemeClr val="tx1"/>
                </a:solidFill>
                <a:effectLst/>
                <a:latin typeface="Calibri" panose="020F0502020204030204" pitchFamily="34" charset="0"/>
                <a:ea typeface="宋体" panose="02010600030101010101" pitchFamily="2" charset="-122"/>
              </a:defRPr>
            </a:lvl4pPr>
            <a:lvl5pPr marL="1828800" indent="0" algn="l" defTabSz="914400" rtl="0" eaLnBrk="0" fontAlgn="base" hangingPunct="0">
              <a:lnSpc>
                <a:spcPct val="100000"/>
              </a:lnSpc>
              <a:spcBef>
                <a:spcPct val="30000"/>
              </a:spcBef>
              <a:spcAft>
                <a:spcPct val="0"/>
              </a:spcAft>
              <a:buClrTx/>
              <a:buSzTx/>
              <a:buFontTx/>
              <a:buNone/>
              <a:defRPr kumimoji="0" lang="zh-CN" altLang="en-US" sz="1200" b="0" i="0" u="none" baseline="0">
                <a:solidFill>
                  <a:schemeClr val="tx1"/>
                </a:solidFill>
                <a:effectLst/>
                <a:latin typeface="Calibri" panose="020F0502020204030204" pitchFamily="34" charset="0"/>
                <a:ea typeface="宋体" panose="02010600030101010101" pitchFamily="2" charset="-122"/>
              </a:defRPr>
            </a:lvl5pPr>
          </a:lstStyle>
          <a:p>
            <a:pPr lvl="0"/>
            <a:r>
              <a:t>单击此处编辑母版文本样式</a:t>
            </a:r>
          </a:p>
          <a:p>
            <a:pPr lvl="1"/>
            <a:r>
              <a:t>第二级</a:t>
            </a:r>
          </a:p>
          <a:p>
            <a:pPr lvl="2"/>
            <a:r>
              <a:t>第三级</a:t>
            </a:r>
          </a:p>
          <a:p>
            <a:pPr lvl="3"/>
            <a:r>
              <a:t>第四级</a:t>
            </a:r>
          </a:p>
          <a:p>
            <a:pPr lvl="4"/>
            <a:r>
              <a:t>第五级</a:t>
            </a:r>
          </a:p>
        </p:txBody>
      </p:sp>
      <p:sp>
        <p:nvSpPr>
          <p:cNvPr id="17414" name="Rectangle 6"/>
          <p:cNvSpPr>
            <a:spLocks noGrp="1" noChangeArrowheads="1"/>
          </p:cNvSpPr>
          <p:nvPr>
            <p:ph type="ftr" sz="quarter" idx="4"/>
          </p:nvPr>
        </p:nvSpPr>
        <p:spPr bwMode="auto">
          <a:xfrm>
            <a:off x="0" y="8685213"/>
            <a:ext cx="2970213" cy="457200"/>
          </a:xfrm>
          <a:prstGeom prst="rect">
            <a:avLst/>
          </a:prstGeom>
          <a:noFill/>
          <a:ln w="9525">
            <a:noFill/>
            <a:miter lim="800000"/>
          </a:ln>
          <a:effectLst/>
        </p:spPr>
        <p:txBody>
          <a:bodyPr numCol="1" anchor="b" anchorCtr="0"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2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eaLnBrk="1" hangingPunct="1"/>
            <a:endParaRPr lang="en-US" altLang="zh-CN" sz="1200"/>
          </a:p>
        </p:txBody>
      </p:sp>
      <p:sp>
        <p:nvSpPr>
          <p:cNvPr id="1741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numCol="1" anchor="b" anchorCtr="0"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2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r" eaLnBrk="1" hangingPunct="1"/>
            <a:fld id="{D22BFC5B-7C49-4F8A-8AAC-64C6D9668A2C}" type="slidenum">
              <a:rPr lang="zh-CN" altLang="en-US" sz="1200"/>
            </a:fld>
            <a:endParaRPr lang="en-US" altLang="zh-CN" sz="1200"/>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1</a:t>
            </a:r>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2</a:t>
            </a:r>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3</a:t>
            </a:r>
            <a:endParaRPr lang="en-US" altLang="zh-CN"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5</a:t>
            </a:r>
            <a:endParaRPr lang="en-US" altLang="zh-CN"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8</a:t>
            </a:r>
            <a:endParaRPr lang="en-US" altLang="zh-CN"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4</a:t>
            </a:r>
            <a:endParaRPr lang="en-US" altLang="zh-CN"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11</a:t>
            </a:r>
            <a:endParaRPr lang="en-US" altLang="zh-CN"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6</a:t>
            </a:r>
            <a:endParaRPr lang="en-US" altLang="zh-CN"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lvl="0" indent="0" algn="r" eaLnBrk="1" hangingPunct="1"/>
            <a:r>
              <a:rPr lang="en-US" altLang="zh-CN" sz="1200"/>
              <a:t>15</a:t>
            </a:r>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5"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6"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5"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6"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79638"/>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5"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6"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6"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7"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8"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9"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4"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5"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3"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4"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6"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7"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6"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7"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5"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6"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fld id="{928364B9-60DE-45E0-8829-DC47DB291339}" type="datetime1">
              <a:rPr lang="zh-CN" altLang="en-US" sz="1400"/>
            </a:fld>
            <a:endParaRPr lang="en-US" altLang="zh-CN" sz="1400"/>
          </a:p>
        </p:txBody>
      </p:sp>
      <p:sp>
        <p:nvSpPr>
          <p:cNvPr id="5" name="Rectangle 5"/>
          <p:cNvSpPr>
            <a:spLocks noGrp="1" noChangeArrowheads="1"/>
          </p:cNvSpPr>
          <p:nvPr>
            <p:ph type="ftr" sz="quarter" idx="11"/>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6" name="Rectangle 6"/>
          <p:cNvSpPr>
            <a:spLocks noGrp="1" noChangeArrowheads="1"/>
          </p:cNvSpPr>
          <p:nvPr>
            <p:ph type="sldNum" sz="quarter" idx="12"/>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fld id="{D88217C3-B87D-4426-A8B3-65B7B98706BD}" type="slidenum">
              <a:rPr lang="zh-CN" altLang="en-US" sz="1400"/>
            </a:fld>
            <a:endParaRPr lang="en-US" altLang="zh-CN" sz="1400"/>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06375"/>
            <a:ext cx="8229600" cy="857250"/>
          </a:xfrm>
          <a:prstGeom prst="rect">
            <a:avLst/>
          </a:prstGeom>
          <a:noFill/>
          <a:ln>
            <a:noFill/>
            <a:miter lim="800000"/>
          </a:ln>
        </p:spPr>
        <p:txBody>
          <a:bodyPr anchor="ctr" anchorCtr="0"/>
          <a:lstStyle>
            <a:lvl1pPr marL="0" indent="0" algn="ctr" defTabSz="914400" rtl="0" eaLnBrk="0" fontAlgn="base" hangingPunct="0">
              <a:lnSpc>
                <a:spcPct val="100000"/>
              </a:lnSpc>
              <a:spcBef>
                <a:spcPct val="0"/>
              </a:spcBef>
              <a:spcAft>
                <a:spcPct val="0"/>
              </a:spcAft>
              <a:buClrTx/>
              <a:buSzTx/>
              <a:buFontTx/>
              <a:buNone/>
              <a:defRPr kumimoji="0" lang="zh-CN" altLang="en-US" sz="4400" b="0" i="0" u="none" baseline="0">
                <a:solidFill>
                  <a:schemeClr val="tx2"/>
                </a:solidFill>
                <a:latin typeface="Arial" panose="020B0604020202020204" pitchFamily="34" charset="0"/>
                <a:ea typeface="宋体" panose="02010600030101010101" pitchFamily="2" charset="-122"/>
                <a:cs typeface="+mj-cs"/>
              </a:defRPr>
            </a:lvl1pPr>
          </a:lstStyle>
          <a:p>
            <a:pPr lvl="0"/>
            <a:r>
              <a:rPr lang="zh-CN" altLang="en-US"/>
              <a:t>单击此处编辑母版标题样式</a:t>
            </a:r>
            <a:endParaRPr lang="zh-CN" altLang="en-US"/>
          </a:p>
        </p:txBody>
      </p:sp>
      <p:sp>
        <p:nvSpPr>
          <p:cNvPr id="1027" name="Rectangle 3"/>
          <p:cNvSpPr>
            <a:spLocks noGrp="1"/>
          </p:cNvSpPr>
          <p:nvPr>
            <p:ph type="body" idx="1"/>
          </p:nvPr>
        </p:nvSpPr>
        <p:spPr>
          <a:xfrm>
            <a:off x="457200" y="1200150"/>
            <a:ext cx="8229600" cy="3394075"/>
          </a:xfrm>
          <a:prstGeom prst="rect">
            <a:avLst/>
          </a:prstGeom>
          <a:noFill/>
          <a:ln>
            <a:noFill/>
            <a:miter lim="800000"/>
          </a:ln>
        </p:spPr>
        <p:txBody>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baseline="0">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baseline="0">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baseline="0">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baseline="0">
                <a:solidFill>
                  <a:schemeClr val="tx1"/>
                </a:solidFill>
                <a:effectLst/>
                <a:latin typeface="+mn-lt"/>
                <a:ea typeface="+mn-ea"/>
              </a:defRPr>
            </a:lvl5pPr>
            <a:lvl6pPr marL="2514600" indent="-228600" algn="l" rtl="0" eaLnBrk="0" fontAlgn="base" hangingPunct="0">
              <a:spcBef>
                <a:spcPct val="20000"/>
              </a:spcBef>
              <a:spcAft>
                <a:spcPct val="0"/>
              </a:spcAft>
              <a:buChar char="»"/>
              <a:defRPr lang="zh-CN" altLang="en-US" sz="2000">
                <a:solidFill>
                  <a:schemeClr val="tx1"/>
                </a:solidFill>
                <a:latin typeface="+mn-lt"/>
                <a:ea typeface="+mn-ea"/>
              </a:defRPr>
            </a:lvl6pPr>
            <a:lvl7pPr marL="2971800" indent="-228600" algn="l" rtl="0" eaLnBrk="0" fontAlgn="base" hangingPunct="0">
              <a:spcBef>
                <a:spcPct val="20000"/>
              </a:spcBef>
              <a:spcAft>
                <a:spcPct val="0"/>
              </a:spcAft>
              <a:buChar char="»"/>
              <a:defRPr lang="zh-CN" altLang="en-US" sz="2000">
                <a:solidFill>
                  <a:schemeClr val="tx1"/>
                </a:solidFill>
                <a:latin typeface="+mn-lt"/>
                <a:ea typeface="+mn-ea"/>
              </a:defRPr>
            </a:lvl7pPr>
            <a:lvl8pPr marL="3429000" indent="-228600" algn="l" rtl="0" eaLnBrk="0" fontAlgn="base" hangingPunct="0">
              <a:spcBef>
                <a:spcPct val="20000"/>
              </a:spcBef>
              <a:spcAft>
                <a:spcPct val="0"/>
              </a:spcAft>
              <a:buChar char="»"/>
              <a:defRPr lang="zh-CN" altLang="en-US" sz="2000">
                <a:solidFill>
                  <a:schemeClr val="tx1"/>
                </a:solidFill>
                <a:latin typeface="+mn-lt"/>
                <a:ea typeface="+mn-ea"/>
              </a:defRPr>
            </a:lvl8pPr>
            <a:lvl9pPr marL="3886200" indent="-228600" algn="l" rtl="0" eaLnBrk="0" fontAlgn="base" hangingPunct="0">
              <a:spcBef>
                <a:spcPct val="20000"/>
              </a:spcBef>
              <a:spcAft>
                <a:spcPct val="0"/>
              </a:spcAft>
              <a:buChar char="»"/>
              <a:defRPr lang="zh-CN" altLang="en-US" sz="2000">
                <a:solidFill>
                  <a:schemeClr val="tx1"/>
                </a:solidFill>
                <a:latin typeface="+mn-lt"/>
                <a:ea typeface="+mn-ea"/>
              </a:defRPr>
            </a:lvl9pPr>
          </a:lstStyle>
          <a:p>
            <a:pPr lvl="0"/>
            <a:r>
              <a:rPr lang="zh-CN" altLang="en-US"/>
              <a:t>单击此处编辑母版文本样式</a:t>
            </a:r>
            <a:endParaRPr lang="zh-CN" altLang="en-US"/>
          </a:p>
          <a:p>
            <a:pPr lvl="0"/>
            <a:r>
              <a:rPr lang="zh-CN" altLang="en-US"/>
              <a:t>第二级</a:t>
            </a:r>
            <a:endParaRPr lang="zh-CN" altLang="en-US"/>
          </a:p>
          <a:p>
            <a:pPr lvl="0"/>
            <a:r>
              <a:rPr lang="zh-CN" altLang="en-US"/>
              <a:t>第三级</a:t>
            </a:r>
            <a:endParaRPr lang="zh-CN" altLang="en-US"/>
          </a:p>
          <a:p>
            <a:pPr lvl="0"/>
            <a:r>
              <a:rPr lang="zh-CN" altLang="en-US"/>
              <a:t>第四级</a:t>
            </a:r>
            <a:endParaRPr lang="zh-CN" altLang="en-US"/>
          </a:p>
          <a:p>
            <a:pPr lvl="0"/>
            <a:r>
              <a:rPr lang="zh-CN" altLang="en-US"/>
              <a:t>第五级</a:t>
            </a:r>
            <a:endParaRPr lang="zh-CN" altLang="en-US"/>
          </a:p>
        </p:txBody>
      </p:sp>
      <p:sp>
        <p:nvSpPr>
          <p:cNvPr id="1028" name="Rectangle 4"/>
          <p:cNvSpPr>
            <a:spLocks noGrp="1" noChangeArrowheads="1"/>
          </p:cNvSpPr>
          <p:nvPr>
            <p:ph type="dt" sz="half" idx="2"/>
          </p:nvPr>
        </p:nvSpPr>
        <p:spPr bwMode="auto">
          <a:xfrm>
            <a:off x="457200" y="4683125"/>
            <a:ext cx="2133600" cy="358775"/>
          </a:xfrm>
          <a:prstGeom prst="rect">
            <a:avLst/>
          </a:prstGeom>
          <a:noFill/>
          <a:ln w="9525">
            <a:noFill/>
            <a:miter lim="800000"/>
          </a:ln>
        </p:spPr>
        <p:txBody>
          <a:bodyPr numCol="1" compatLnSpc="1"/>
          <a:lstStyle>
            <a:defPPr>
              <a:defRPr lang="zh-CN"/>
            </a:defPPr>
            <a:lvl1pPr marL="0" indent="0" algn="l"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eaLnBrk="1" hangingPunct="1"/>
            <a:r>
              <a:rPr lang="en-US" altLang="zh-CN" sz="1400"/>
              <a:t>2022/7/23</a:t>
            </a:r>
            <a:endParaRPr lang="en-US" altLang="zh-CN" sz="1400"/>
          </a:p>
        </p:txBody>
      </p:sp>
      <p:sp>
        <p:nvSpPr>
          <p:cNvPr id="1029" name="Rectangle 5"/>
          <p:cNvSpPr>
            <a:spLocks noGrp="1" noChangeArrowheads="1"/>
          </p:cNvSpPr>
          <p:nvPr>
            <p:ph type="ftr" sz="quarter" idx="3"/>
          </p:nvPr>
        </p:nvSpPr>
        <p:spPr bwMode="auto">
          <a:xfrm>
            <a:off x="3124200" y="4683125"/>
            <a:ext cx="2895600" cy="358775"/>
          </a:xfrm>
          <a:prstGeom prst="rect">
            <a:avLst/>
          </a:prstGeom>
          <a:noFill/>
          <a:ln w="9525">
            <a:noFill/>
            <a:miter lim="800000"/>
          </a:ln>
        </p:spPr>
        <p:txBody>
          <a:bodyPr numCol="1" compatLnSpc="1"/>
          <a:lstStyle>
            <a:defPPr>
              <a:defRPr lang="zh-CN"/>
            </a:defPPr>
            <a:lvl1pPr marL="0" indent="0" algn="ct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ctr" eaLnBrk="1" hangingPunct="1"/>
            <a:endParaRPr lang="en-US" altLang="zh-CN" sz="1400"/>
          </a:p>
        </p:txBody>
      </p:sp>
      <p:sp>
        <p:nvSpPr>
          <p:cNvPr id="1030" name="Rectangle 6"/>
          <p:cNvSpPr>
            <a:spLocks noGrp="1" noChangeArrowheads="1"/>
          </p:cNvSpPr>
          <p:nvPr>
            <p:ph type="sldNum" sz="quarter" idx="4"/>
          </p:nvPr>
        </p:nvSpPr>
        <p:spPr bwMode="auto">
          <a:xfrm>
            <a:off x="6553200" y="4683125"/>
            <a:ext cx="2133600" cy="358775"/>
          </a:xfrm>
          <a:prstGeom prst="rect">
            <a:avLst/>
          </a:prstGeom>
          <a:noFill/>
          <a:ln w="9525">
            <a:noFill/>
            <a:miter lim="800000"/>
          </a:ln>
        </p:spPr>
        <p:txBody>
          <a:bodyPr numCol="1" compatLnSpc="1"/>
          <a:lstStyle>
            <a:defPPr>
              <a:defRPr lang="zh-CN"/>
            </a:defPPr>
            <a:lvl1pPr marL="0" indent="0" algn="r" defTabSz="914400" rtl="0" eaLnBrk="1" fontAlgn="base" hangingPunct="1">
              <a:lnSpc>
                <a:spcPct val="100000"/>
              </a:lnSpc>
              <a:spcBef>
                <a:spcPct val="0"/>
              </a:spcBef>
              <a:spcAft>
                <a:spcPct val="0"/>
              </a:spcAft>
              <a:buClrTx/>
              <a:buSzTx/>
              <a:buFont typeface="Arial" panose="020B0604020202020204" pitchFamily="34" charset="0"/>
              <a:buNone/>
              <a:defRPr kumimoji="0" lang="zh-CN" altLang="en-US" sz="14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lvl="0" algn="r" eaLnBrk="1" hangingPunct="1"/>
            <a:r>
              <a:rPr lang="en-US" altLang="zh-CN" sz="1400"/>
              <a:t>‹#›</a:t>
            </a:r>
            <a:endParaRPr lang="en-US" altLang="zh-CN"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marL="0" indent="0" algn="ctr" defTabSz="914400" rtl="0" eaLnBrk="0" fontAlgn="base" hangingPunct="0">
        <a:lnSpc>
          <a:spcPct val="100000"/>
        </a:lnSpc>
        <a:spcBef>
          <a:spcPct val="0"/>
        </a:spcBef>
        <a:spcAft>
          <a:spcPct val="0"/>
        </a:spcAft>
        <a:buClrTx/>
        <a:buSzTx/>
        <a:buFontTx/>
        <a:buNone/>
        <a:defRPr kumimoji="0" sz="4400" b="0" i="0" u="none" baseline="0">
          <a:solidFill>
            <a:schemeClr val="tx2"/>
          </a:solidFill>
          <a:effectLst/>
          <a:latin typeface="Arial" panose="020B0604020202020204" pitchFamily="34" charset="0"/>
          <a:ea typeface="宋体" panose="02010600030101010101" pitchFamily="2" charset="-122"/>
          <a:cs typeface="+mj-cs"/>
        </a:defRPr>
      </a:lvl1pPr>
    </p:titleStyle>
    <p:bodyStyle>
      <a:lvl1pPr marL="342900" indent="-342900" algn="l" defTabSz="914400" rtl="0" eaLnBrk="0" fontAlgn="base" hangingPunct="0">
        <a:lnSpc>
          <a:spcPct val="100000"/>
        </a:lnSpc>
        <a:spcBef>
          <a:spcPct val="20000"/>
        </a:spcBef>
        <a:spcAft>
          <a:spcPct val="0"/>
        </a:spcAft>
        <a:buClrTx/>
        <a:buSzTx/>
        <a:buFontTx/>
        <a:buChar char="•"/>
        <a:defRPr kumimoji="0" sz="3200" b="0" i="0" u="none"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sz="2800" b="0" i="0" u="none" baseline="0">
          <a:solidFill>
            <a:schemeClr val="tx1"/>
          </a:solidFill>
          <a:effectLst/>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sz="2400" b="0" i="0" u="none" baseline="0">
          <a:solidFill>
            <a:schemeClr val="tx1"/>
          </a:solidFill>
          <a:effectLst/>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sz="2000" b="0" i="0" u="none" baseline="0">
          <a:solidFill>
            <a:schemeClr val="tx1"/>
          </a:solidFill>
          <a:effectLst/>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sz="2000" b="0" i="0" u="none" baseline="0">
          <a:solidFill>
            <a:schemeClr val="tx1"/>
          </a:solidFill>
          <a:effectLst/>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2.xml"/><Relationship Id="rId25" Type="http://schemas.openxmlformats.org/officeDocument/2006/relationships/slideLayout" Target="../slideLayouts/slideLayout7.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image" Target="../media/image1.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image" Target="../media/image4.emf"/><Relationship Id="rId1" Type="http://schemas.openxmlformats.org/officeDocument/2006/relationships/image" Target="../media/image1.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image" Target="../media/image8.emf"/><Relationship Id="rId1" Type="http://schemas.openxmlformats.org/officeDocument/2006/relationships/image" Target="../media/image1.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image" Target="../media/image16.emf"/><Relationship Id="rId1" Type="http://schemas.openxmlformats.org/officeDocument/2006/relationships/image" Target="../media/image1.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3"/>
          <p:cNvSpPr txBox="1">
            <a:spLocks noChangeArrowheads="1"/>
          </p:cNvSpPr>
          <p:nvPr/>
        </p:nvSpPr>
        <p:spPr bwMode="auto">
          <a:xfrm>
            <a:off x="35560" y="411480"/>
            <a:ext cx="9079865" cy="1753235"/>
          </a:xfrm>
          <a:prstGeom prst="rect">
            <a:avLst/>
          </a:prstGeom>
          <a:noFill/>
          <a:ln w="9525">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marR="0" lvl="0" indent="0" algn="l"/>
            <a:r>
              <a:rPr lang="en-US" altLang="zh-CN" sz="3600" b="1">
                <a:solidFill>
                  <a:srgbClr val="00597E"/>
                </a:solidFill>
                <a:effectLst>
                  <a:outerShdw blurRad="38100" dist="38100" dir="2700000" algn="tl">
                    <a:srgbClr val="000000">
                      <a:alpha val="43137"/>
                    </a:srgbClr>
                  </a:outerShdw>
                </a:effectLst>
                <a:ea typeface="微软雅黑" panose="020B0503020204020204" pitchFamily="34" charset="-122"/>
              </a:rPr>
              <a:t>Unsupervised evolution of protein and antibody complexes with a structure-informed language model</a:t>
            </a:r>
            <a:endParaRPr lang="en-US" altLang="zh-CN" sz="3600" b="1">
              <a:solidFill>
                <a:srgbClr val="00597E"/>
              </a:solidFill>
              <a:effectLst>
                <a:outerShdw blurRad="38100" dist="38100" dir="2700000" algn="tl">
                  <a:srgbClr val="000000">
                    <a:alpha val="43137"/>
                  </a:srgbClr>
                </a:outerShdw>
              </a:effectLst>
              <a:ea typeface="微软雅黑" panose="020B0503020204020204" pitchFamily="34" charset="-122"/>
            </a:endParaRPr>
          </a:p>
        </p:txBody>
      </p:sp>
      <p:sp>
        <p:nvSpPr>
          <p:cNvPr id="2057" name="Rectangle 15"/>
          <p:cNvSpPr/>
          <p:nvPr/>
        </p:nvSpPr>
        <p:spPr>
          <a:xfrm>
            <a:off x="1588" y="-20637"/>
            <a:ext cx="457200" cy="288925"/>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2058" name="Rectangle 16"/>
          <p:cNvSpPr/>
          <p:nvPr/>
        </p:nvSpPr>
        <p:spPr>
          <a:xfrm>
            <a:off x="230188" y="-19050"/>
            <a:ext cx="457200" cy="142875"/>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2059" name="Rectangle 17"/>
          <p:cNvSpPr/>
          <p:nvPr/>
        </p:nvSpPr>
        <p:spPr>
          <a:xfrm>
            <a:off x="8705850" y="-11112"/>
            <a:ext cx="457200" cy="288925"/>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2060" name="Rectangle 18"/>
          <p:cNvSpPr/>
          <p:nvPr/>
        </p:nvSpPr>
        <p:spPr>
          <a:xfrm>
            <a:off x="8423275" y="-11112"/>
            <a:ext cx="457200" cy="144462"/>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2061" name="Rectangle 19"/>
          <p:cNvSpPr/>
          <p:nvPr/>
        </p:nvSpPr>
        <p:spPr>
          <a:xfrm>
            <a:off x="359728" y="4336733"/>
            <a:ext cx="76200" cy="207962"/>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2062" name="Text Box 20"/>
          <p:cNvSpPr txBox="1">
            <a:spLocks noChangeArrowheads="1"/>
          </p:cNvSpPr>
          <p:nvPr/>
        </p:nvSpPr>
        <p:spPr bwMode="auto">
          <a:xfrm>
            <a:off x="416878" y="4281170"/>
            <a:ext cx="1866900" cy="306705"/>
          </a:xfrm>
          <a:prstGeom prst="rect">
            <a:avLst/>
          </a:prstGeom>
          <a:noFill/>
          <a:ln w="9525">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marR="0" lvl="0" indent="0"/>
            <a:r>
              <a:rPr lang="zh-CN" altLang="en-US"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指导教师：</a:t>
            </a:r>
            <a:r>
              <a:rPr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朱善良</a:t>
            </a:r>
            <a:endParaRPr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endParaRPr>
          </a:p>
        </p:txBody>
      </p:sp>
      <p:grpSp>
        <p:nvGrpSpPr>
          <p:cNvPr id="2063" name="Group 21"/>
          <p:cNvGrpSpPr/>
          <p:nvPr/>
        </p:nvGrpSpPr>
        <p:grpSpPr>
          <a:xfrm>
            <a:off x="3275965" y="4273233"/>
            <a:ext cx="1592263" cy="306705"/>
            <a:chOff x="0" y="0"/>
            <a:chExt cx="2508" cy="483"/>
          </a:xfrm>
        </p:grpSpPr>
        <p:sp>
          <p:nvSpPr>
            <p:cNvPr id="2071" name="Rectangle 22"/>
            <p:cNvSpPr/>
            <p:nvPr/>
          </p:nvSpPr>
          <p:spPr>
            <a:xfrm>
              <a:off x="0" y="89"/>
              <a:ext cx="120" cy="328"/>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2072" name="Text Box 23"/>
            <p:cNvSpPr txBox="1">
              <a:spLocks noChangeArrowheads="1"/>
            </p:cNvSpPr>
            <p:nvPr/>
          </p:nvSpPr>
          <p:spPr bwMode="auto">
            <a:xfrm>
              <a:off x="90" y="0"/>
              <a:ext cx="2418" cy="483"/>
            </a:xfrm>
            <a:prstGeom prst="rect">
              <a:avLst/>
            </a:prstGeom>
            <a:noFill/>
            <a:ln w="9525">
              <a:noFill/>
              <a:miter lim="800000"/>
            </a:ln>
            <a:effectLst/>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marR="0" lvl="0" indent="0"/>
              <a:r>
                <a:rPr lang="zh-CN" altLang="en-US"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汇报人：杜博 </a:t>
              </a:r>
              <a:endParaRPr lang="zh-CN" altLang="en-US" sz="1400" b="1">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endParaRPr>
            </a:p>
          </p:txBody>
        </p:sp>
      </p:grpSp>
      <p:grpSp>
        <p:nvGrpSpPr>
          <p:cNvPr id="2064" name="Group 24"/>
          <p:cNvGrpSpPr/>
          <p:nvPr/>
        </p:nvGrpSpPr>
        <p:grpSpPr>
          <a:xfrm>
            <a:off x="5917565" y="4259263"/>
            <a:ext cx="2187575" cy="306705"/>
            <a:chOff x="0" y="0"/>
            <a:chExt cx="3446" cy="483"/>
          </a:xfrm>
        </p:grpSpPr>
        <p:sp>
          <p:nvSpPr>
            <p:cNvPr id="2069" name="Rectangle 25"/>
            <p:cNvSpPr/>
            <p:nvPr/>
          </p:nvSpPr>
          <p:spPr>
            <a:xfrm>
              <a:off x="0" y="89"/>
              <a:ext cx="120" cy="328"/>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2070" name="Text Box 26"/>
            <p:cNvSpPr txBox="1">
              <a:spLocks noChangeArrowheads="1"/>
            </p:cNvSpPr>
            <p:nvPr/>
          </p:nvSpPr>
          <p:spPr bwMode="auto">
            <a:xfrm>
              <a:off x="90" y="0"/>
              <a:ext cx="3356" cy="483"/>
            </a:xfrm>
            <a:prstGeom prst="rect">
              <a:avLst/>
            </a:prstGeom>
            <a:noFill/>
            <a:ln w="9525">
              <a:noFill/>
              <a:miter lim="800000"/>
            </a:ln>
            <a:effectLst/>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marR="0" lvl="0" indent="0"/>
              <a:r>
                <a:rPr lang="zh-CN" altLang="en-US"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汇报时间：</a:t>
              </a:r>
              <a:r>
                <a:rPr lang="en-US" altLang="zh-CN"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2025.1.3</a:t>
              </a:r>
              <a:endParaRPr lang="zh-CN" altLang="en-US" sz="1400" b="1">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endParaRPr>
            </a:p>
          </p:txBody>
        </p:sp>
      </p:grpSp>
      <p:cxnSp>
        <p:nvCxnSpPr>
          <p:cNvPr id="2065" name="Line 27"/>
          <p:cNvCxnSpPr/>
          <p:nvPr/>
        </p:nvCxnSpPr>
        <p:spPr>
          <a:xfrm>
            <a:off x="11113" y="2433638"/>
            <a:ext cx="9151937" cy="0"/>
          </a:xfrm>
          <a:prstGeom prst="line">
            <a:avLst/>
          </a:prstGeom>
          <a:noFill/>
          <a:ln w="19050">
            <a:solidFill>
              <a:schemeClr val="bg1"/>
            </a:solidFill>
            <a:miter lim="800000"/>
          </a:ln>
        </p:spPr>
      </p:cxnSp>
      <p:cxnSp>
        <p:nvCxnSpPr>
          <p:cNvPr id="2067" name="Line 29"/>
          <p:cNvCxnSpPr/>
          <p:nvPr/>
        </p:nvCxnSpPr>
        <p:spPr>
          <a:xfrm>
            <a:off x="-6350" y="3713163"/>
            <a:ext cx="9150350" cy="0"/>
          </a:xfrm>
          <a:prstGeom prst="line">
            <a:avLst/>
          </a:prstGeom>
          <a:noFill/>
          <a:ln w="19050">
            <a:solidFill>
              <a:schemeClr val="bg1"/>
            </a:solidFill>
            <a:miter lim="800000"/>
          </a:ln>
        </p:spPr>
      </p:cxnSp>
      <p:sp>
        <p:nvSpPr>
          <p:cNvPr id="2" name="文本框 1"/>
          <p:cNvSpPr txBox="1"/>
          <p:nvPr/>
        </p:nvSpPr>
        <p:spPr>
          <a:xfrm>
            <a:off x="35560" y="2355215"/>
            <a:ext cx="8376285" cy="521970"/>
          </a:xfrm>
          <a:prstGeom prst="rect">
            <a:avLst/>
          </a:prstGeom>
          <a:noFill/>
        </p:spPr>
        <p:txBody>
          <a:bodyPr wrap="square" rtlCol="0" anchor="t">
            <a:spAutoFit/>
          </a:bodyPr>
          <a:lstStyle/>
          <a:p>
            <a:r>
              <a:rPr lang="zh-CN" altLang="en-US" sz="2800" b="1">
                <a:solidFill>
                  <a:srgbClr val="00597E"/>
                </a:solidFill>
                <a:effectLst>
                  <a:outerShdw blurRad="38100" dist="38100" dir="2700000" algn="tl">
                    <a:srgbClr val="000000">
                      <a:alpha val="43137"/>
                    </a:srgbClr>
                  </a:outerShdw>
                </a:effectLst>
                <a:ea typeface="微软雅黑" panose="020B0503020204020204" pitchFamily="34" charset="-122"/>
                <a:sym typeface="+mn-ea"/>
              </a:rPr>
              <a:t>无监督蛋白质和抗体复合物的结构信息语言模型演化</a:t>
            </a:r>
            <a:endParaRPr lang="zh-CN" altLang="en-US" sz="2800" b="1">
              <a:solidFill>
                <a:srgbClr val="00597E"/>
              </a:solidFill>
              <a:effectLst>
                <a:outerShdw blurRad="38100" dist="38100" dir="2700000" algn="tl">
                  <a:srgbClr val="000000">
                    <a:alpha val="43137"/>
                  </a:srgbClr>
                </a:outerShdw>
              </a:effectLst>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Group 2"/>
          <p:cNvGrpSpPr/>
          <p:nvPr>
            <p:custDataLst>
              <p:tags r:id="rId1"/>
            </p:custDataLst>
          </p:nvPr>
        </p:nvGrpSpPr>
        <p:grpSpPr>
          <a:xfrm>
            <a:off x="4644073" y="749300"/>
            <a:ext cx="3602037" cy="844550"/>
            <a:chOff x="0" y="0"/>
            <a:chExt cx="5672" cy="1330"/>
          </a:xfrm>
        </p:grpSpPr>
        <p:grpSp>
          <p:nvGrpSpPr>
            <p:cNvPr id="3108" name="Group 3"/>
            <p:cNvGrpSpPr/>
            <p:nvPr/>
          </p:nvGrpSpPr>
          <p:grpSpPr>
            <a:xfrm>
              <a:off x="0" y="0"/>
              <a:ext cx="5672" cy="1330"/>
              <a:chOff x="0" y="0"/>
              <a:chExt cx="5672" cy="1330"/>
            </a:xfrm>
          </p:grpSpPr>
          <p:sp>
            <p:nvSpPr>
              <p:cNvPr id="3110" name="Rectangle 4"/>
              <p:cNvSpPr/>
              <p:nvPr>
                <p:custDataLst>
                  <p:tags r:id="rId2"/>
                </p:custDataLst>
              </p:nvPr>
            </p:nvSpPr>
            <p:spPr>
              <a:xfrm>
                <a:off x="16" y="325"/>
                <a:ext cx="5655" cy="680"/>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11" name="Rectangle 5"/>
              <p:cNvSpPr/>
              <p:nvPr>
                <p:custDataLst>
                  <p:tags r:id="rId3"/>
                </p:custDataLst>
              </p:nvPr>
            </p:nvSpPr>
            <p:spPr>
              <a:xfrm>
                <a:off x="4091" y="0"/>
                <a:ext cx="1020" cy="340"/>
              </a:xfrm>
              <a:prstGeom prst="rect">
                <a:avLst/>
              </a:prstGeom>
              <a:solidFill>
                <a:srgbClr val="4BCAFF"/>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12" name="AutoShape 6"/>
              <p:cNvSpPr/>
              <p:nvPr>
                <p:custDataLst>
                  <p:tags r:id="rId4"/>
                </p:custDataLst>
              </p:nvPr>
            </p:nvSpPr>
            <p:spPr>
              <a:xfrm>
                <a:off x="5112" y="0"/>
                <a:ext cx="561"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13" name="AutoShape 7"/>
              <p:cNvSpPr/>
              <p:nvPr>
                <p:custDataLst>
                  <p:tags r:id="rId5"/>
                </p:custDataLst>
              </p:nvPr>
            </p:nvSpPr>
            <p:spPr>
              <a:xfrm rot="10800000">
                <a:off x="0" y="990"/>
                <a:ext cx="583"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sp>
          <p:nvSpPr>
            <p:cNvPr id="3109" name="Text Box 8"/>
            <p:cNvSpPr/>
            <p:nvPr>
              <p:custDataLst>
                <p:tags r:id="rId6"/>
              </p:custDataLst>
            </p:nvPr>
          </p:nvSpPr>
          <p:spPr>
            <a:xfrm>
              <a:off x="0" y="340"/>
              <a:ext cx="3629" cy="628"/>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zh-CN" altLang="en-US" sz="2000" b="1">
                  <a:solidFill>
                    <a:srgbClr val="FFFF00"/>
                  </a:solidFill>
                  <a:ea typeface="微软雅黑" panose="020B0503020204020204" pitchFamily="34" charset="-122"/>
                </a:rPr>
                <a:t>第一章    论文摘要</a:t>
              </a:r>
              <a:endParaRPr lang="zh-CN" altLang="en-US" sz="2000" b="1">
                <a:solidFill>
                  <a:srgbClr val="FFFF00"/>
                </a:solidFill>
                <a:ea typeface="微软雅黑" panose="020B0503020204020204" pitchFamily="34" charset="-122"/>
              </a:endParaRPr>
            </a:p>
          </p:txBody>
        </p:sp>
      </p:grpSp>
      <p:grpSp>
        <p:nvGrpSpPr>
          <p:cNvPr id="3075" name="Group 9"/>
          <p:cNvGrpSpPr/>
          <p:nvPr>
            <p:custDataLst>
              <p:tags r:id="rId7"/>
            </p:custDataLst>
          </p:nvPr>
        </p:nvGrpSpPr>
        <p:grpSpPr>
          <a:xfrm>
            <a:off x="4644073" y="1593850"/>
            <a:ext cx="3602037" cy="844550"/>
            <a:chOff x="0" y="0"/>
            <a:chExt cx="5672" cy="1330"/>
          </a:xfrm>
        </p:grpSpPr>
        <p:grpSp>
          <p:nvGrpSpPr>
            <p:cNvPr id="3102" name="Group 10"/>
            <p:cNvGrpSpPr/>
            <p:nvPr/>
          </p:nvGrpSpPr>
          <p:grpSpPr>
            <a:xfrm>
              <a:off x="0" y="0"/>
              <a:ext cx="5672" cy="1330"/>
              <a:chOff x="0" y="0"/>
              <a:chExt cx="5672" cy="1330"/>
            </a:xfrm>
          </p:grpSpPr>
          <p:sp>
            <p:nvSpPr>
              <p:cNvPr id="3104" name="Rectangle 11"/>
              <p:cNvSpPr/>
              <p:nvPr>
                <p:custDataLst>
                  <p:tags r:id="rId8"/>
                </p:custDataLst>
              </p:nvPr>
            </p:nvSpPr>
            <p:spPr>
              <a:xfrm>
                <a:off x="16" y="325"/>
                <a:ext cx="5655" cy="680"/>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05" name="Rectangle 12"/>
              <p:cNvSpPr/>
              <p:nvPr>
                <p:custDataLst>
                  <p:tags r:id="rId9"/>
                </p:custDataLst>
              </p:nvPr>
            </p:nvSpPr>
            <p:spPr>
              <a:xfrm>
                <a:off x="4091" y="0"/>
                <a:ext cx="1020" cy="340"/>
              </a:xfrm>
              <a:prstGeom prst="rect">
                <a:avLst/>
              </a:prstGeom>
              <a:solidFill>
                <a:srgbClr val="4BCAFF"/>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06" name="AutoShape 13"/>
              <p:cNvSpPr/>
              <p:nvPr>
                <p:custDataLst>
                  <p:tags r:id="rId10"/>
                </p:custDataLst>
              </p:nvPr>
            </p:nvSpPr>
            <p:spPr>
              <a:xfrm>
                <a:off x="5112" y="0"/>
                <a:ext cx="561"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07" name="AutoShape 14"/>
              <p:cNvSpPr/>
              <p:nvPr>
                <p:custDataLst>
                  <p:tags r:id="rId11"/>
                </p:custDataLst>
              </p:nvPr>
            </p:nvSpPr>
            <p:spPr>
              <a:xfrm rot="10800000">
                <a:off x="0" y="990"/>
                <a:ext cx="583"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sp>
          <p:nvSpPr>
            <p:cNvPr id="3103" name="Text Box 15"/>
            <p:cNvSpPr/>
            <p:nvPr>
              <p:custDataLst>
                <p:tags r:id="rId12"/>
              </p:custDataLst>
            </p:nvPr>
          </p:nvSpPr>
          <p:spPr>
            <a:xfrm>
              <a:off x="0" y="340"/>
              <a:ext cx="3629" cy="628"/>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zh-CN" altLang="en-US" sz="2000" b="1">
                  <a:solidFill>
                    <a:srgbClr val="FFFF00"/>
                  </a:solidFill>
                  <a:ea typeface="微软雅黑" panose="020B0503020204020204" pitchFamily="34" charset="-122"/>
                </a:rPr>
                <a:t>第二章    研究背景</a:t>
              </a:r>
              <a:endParaRPr lang="zh-CN" altLang="en-US" sz="2000" b="1">
                <a:solidFill>
                  <a:srgbClr val="FFFF00"/>
                </a:solidFill>
                <a:ea typeface="微软雅黑" panose="020B0503020204020204" pitchFamily="34" charset="-122"/>
              </a:endParaRPr>
            </a:p>
          </p:txBody>
        </p:sp>
      </p:grpSp>
      <p:grpSp>
        <p:nvGrpSpPr>
          <p:cNvPr id="3076" name="Group 16"/>
          <p:cNvGrpSpPr/>
          <p:nvPr>
            <p:custDataLst>
              <p:tags r:id="rId13"/>
            </p:custDataLst>
          </p:nvPr>
        </p:nvGrpSpPr>
        <p:grpSpPr>
          <a:xfrm>
            <a:off x="4644073" y="2438400"/>
            <a:ext cx="3602037" cy="844550"/>
            <a:chOff x="0" y="0"/>
            <a:chExt cx="5672" cy="1330"/>
          </a:xfrm>
        </p:grpSpPr>
        <p:grpSp>
          <p:nvGrpSpPr>
            <p:cNvPr id="3096" name="Group 17"/>
            <p:cNvGrpSpPr/>
            <p:nvPr/>
          </p:nvGrpSpPr>
          <p:grpSpPr>
            <a:xfrm>
              <a:off x="0" y="0"/>
              <a:ext cx="5672" cy="1330"/>
              <a:chOff x="0" y="0"/>
              <a:chExt cx="5672" cy="1330"/>
            </a:xfrm>
          </p:grpSpPr>
          <p:sp>
            <p:nvSpPr>
              <p:cNvPr id="3098" name="Rectangle 18"/>
              <p:cNvSpPr/>
              <p:nvPr>
                <p:custDataLst>
                  <p:tags r:id="rId14"/>
                </p:custDataLst>
              </p:nvPr>
            </p:nvSpPr>
            <p:spPr>
              <a:xfrm>
                <a:off x="16" y="325"/>
                <a:ext cx="5655" cy="680"/>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099" name="Rectangle 19"/>
              <p:cNvSpPr/>
              <p:nvPr>
                <p:custDataLst>
                  <p:tags r:id="rId15"/>
                </p:custDataLst>
              </p:nvPr>
            </p:nvSpPr>
            <p:spPr>
              <a:xfrm>
                <a:off x="4091" y="0"/>
                <a:ext cx="1020" cy="340"/>
              </a:xfrm>
              <a:prstGeom prst="rect">
                <a:avLst/>
              </a:prstGeom>
              <a:solidFill>
                <a:srgbClr val="4BCAFF"/>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00" name="AutoShape 20"/>
              <p:cNvSpPr/>
              <p:nvPr>
                <p:custDataLst>
                  <p:tags r:id="rId16"/>
                </p:custDataLst>
              </p:nvPr>
            </p:nvSpPr>
            <p:spPr>
              <a:xfrm>
                <a:off x="5112" y="0"/>
                <a:ext cx="561"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101" name="AutoShape 21"/>
              <p:cNvSpPr/>
              <p:nvPr>
                <p:custDataLst>
                  <p:tags r:id="rId17"/>
                </p:custDataLst>
              </p:nvPr>
            </p:nvSpPr>
            <p:spPr>
              <a:xfrm rot="10800000">
                <a:off x="0" y="990"/>
                <a:ext cx="583"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sp>
          <p:nvSpPr>
            <p:cNvPr id="3097" name="Text Box 22"/>
            <p:cNvSpPr/>
            <p:nvPr>
              <p:custDataLst>
                <p:tags r:id="rId18"/>
              </p:custDataLst>
            </p:nvPr>
          </p:nvSpPr>
          <p:spPr>
            <a:xfrm>
              <a:off x="0" y="340"/>
              <a:ext cx="3629" cy="628"/>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zh-CN" altLang="en-US" sz="2000" b="1">
                  <a:solidFill>
                    <a:srgbClr val="FFFF00"/>
                  </a:solidFill>
                  <a:ea typeface="微软雅黑" panose="020B0503020204020204" pitchFamily="34" charset="-122"/>
                </a:rPr>
                <a:t>第三章    研究过程</a:t>
              </a:r>
              <a:endParaRPr lang="zh-CN" altLang="en-US"/>
            </a:p>
          </p:txBody>
        </p:sp>
      </p:grpSp>
      <p:grpSp>
        <p:nvGrpSpPr>
          <p:cNvPr id="3077" name="Group 23"/>
          <p:cNvGrpSpPr/>
          <p:nvPr>
            <p:custDataLst>
              <p:tags r:id="rId19"/>
            </p:custDataLst>
          </p:nvPr>
        </p:nvGrpSpPr>
        <p:grpSpPr>
          <a:xfrm>
            <a:off x="4628198" y="3300413"/>
            <a:ext cx="3602037" cy="844550"/>
            <a:chOff x="0" y="0"/>
            <a:chExt cx="5672" cy="1330"/>
          </a:xfrm>
        </p:grpSpPr>
        <p:grpSp>
          <p:nvGrpSpPr>
            <p:cNvPr id="3090" name="Group 24"/>
            <p:cNvGrpSpPr/>
            <p:nvPr/>
          </p:nvGrpSpPr>
          <p:grpSpPr>
            <a:xfrm>
              <a:off x="0" y="0"/>
              <a:ext cx="5672" cy="1330"/>
              <a:chOff x="0" y="0"/>
              <a:chExt cx="5672" cy="1330"/>
            </a:xfrm>
          </p:grpSpPr>
          <p:sp>
            <p:nvSpPr>
              <p:cNvPr id="3092" name="Rectangle 25"/>
              <p:cNvSpPr/>
              <p:nvPr>
                <p:custDataLst>
                  <p:tags r:id="rId20"/>
                </p:custDataLst>
              </p:nvPr>
            </p:nvSpPr>
            <p:spPr>
              <a:xfrm>
                <a:off x="16" y="325"/>
                <a:ext cx="5655" cy="680"/>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093" name="Rectangle 26"/>
              <p:cNvSpPr/>
              <p:nvPr>
                <p:custDataLst>
                  <p:tags r:id="rId21"/>
                </p:custDataLst>
              </p:nvPr>
            </p:nvSpPr>
            <p:spPr>
              <a:xfrm>
                <a:off x="4091" y="0"/>
                <a:ext cx="1020" cy="340"/>
              </a:xfrm>
              <a:prstGeom prst="rect">
                <a:avLst/>
              </a:prstGeom>
              <a:solidFill>
                <a:srgbClr val="4BCAFF"/>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094" name="AutoShape 27"/>
              <p:cNvSpPr/>
              <p:nvPr>
                <p:custDataLst>
                  <p:tags r:id="rId22"/>
                </p:custDataLst>
              </p:nvPr>
            </p:nvSpPr>
            <p:spPr>
              <a:xfrm>
                <a:off x="5112" y="0"/>
                <a:ext cx="561"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095" name="AutoShape 28"/>
              <p:cNvSpPr/>
              <p:nvPr>
                <p:custDataLst>
                  <p:tags r:id="rId23"/>
                </p:custDataLst>
              </p:nvPr>
            </p:nvSpPr>
            <p:spPr>
              <a:xfrm rot="10800000">
                <a:off x="0" y="990"/>
                <a:ext cx="583" cy="340"/>
              </a:xfrm>
              <a:prstGeom prst="rtTriangle">
                <a:avLst/>
              </a:prstGeom>
              <a:solidFill>
                <a:srgbClr val="00AAD4"/>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sp>
          <p:nvSpPr>
            <p:cNvPr id="3091" name="Text Box 29"/>
            <p:cNvSpPr/>
            <p:nvPr>
              <p:custDataLst>
                <p:tags r:id="rId24"/>
              </p:custDataLst>
            </p:nvPr>
          </p:nvSpPr>
          <p:spPr>
            <a:xfrm>
              <a:off x="0" y="340"/>
              <a:ext cx="3629" cy="628"/>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zh-CN" altLang="en-US" sz="2000" b="1">
                  <a:solidFill>
                    <a:srgbClr val="FFFF00"/>
                  </a:solidFill>
                  <a:ea typeface="微软雅黑" panose="020B0503020204020204" pitchFamily="34" charset="-122"/>
                </a:rPr>
                <a:t>第四章    研究结论</a:t>
              </a:r>
              <a:endParaRPr lang="zh-CN" altLang="en-US"/>
            </a:p>
          </p:txBody>
        </p:sp>
      </p:grpSp>
      <p:sp>
        <p:nvSpPr>
          <p:cNvPr id="3079" name="Rectangle 37"/>
          <p:cNvSpPr/>
          <p:nvPr/>
        </p:nvSpPr>
        <p:spPr>
          <a:xfrm>
            <a:off x="1588" y="-19050"/>
            <a:ext cx="3636962" cy="5183188"/>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080" name="Text Box 38"/>
          <p:cNvSpPr/>
          <p:nvPr/>
        </p:nvSpPr>
        <p:spPr>
          <a:xfrm>
            <a:off x="1588" y="1816100"/>
            <a:ext cx="3638550" cy="1323439"/>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r>
              <a:rPr lang="en-US" altLang="zh-CN" sz="4000" b="1">
                <a:solidFill>
                  <a:schemeClr val="bg1"/>
                </a:solidFill>
                <a:ea typeface="微软雅黑" panose="020B0503020204020204" pitchFamily="34" charset="-122"/>
              </a:rPr>
              <a:t>【 </a:t>
            </a:r>
            <a:r>
              <a:rPr lang="zh-CN" altLang="en-US" sz="4000" b="1">
                <a:solidFill>
                  <a:schemeClr val="bg1"/>
                </a:solidFill>
                <a:ea typeface="微软雅黑" panose="020B0503020204020204" pitchFamily="34" charset="-122"/>
              </a:rPr>
              <a:t>目   录 </a:t>
            </a:r>
            <a:r>
              <a:rPr lang="en-US" altLang="zh-CN" sz="4000" b="1">
                <a:solidFill>
                  <a:schemeClr val="bg1"/>
                </a:solidFill>
                <a:ea typeface="微软雅黑" panose="020B0503020204020204" pitchFamily="34" charset="-122"/>
              </a:rPr>
              <a:t>】</a:t>
            </a:r>
            <a:endParaRPr lang="en-US" altLang="zh-CN" sz="4000" b="1">
              <a:solidFill>
                <a:schemeClr val="bg1"/>
              </a:solidFill>
              <a:ea typeface="微软雅黑" panose="020B0503020204020204" pitchFamily="34" charset="-122"/>
            </a:endParaRPr>
          </a:p>
          <a:p>
            <a:pPr marL="0" lvl="0" indent="0" algn="ctr"/>
            <a:r>
              <a:rPr lang="en-US" altLang="zh-CN" sz="4000" b="1">
                <a:solidFill>
                  <a:schemeClr val="bg1"/>
                </a:solidFill>
                <a:ea typeface="微软雅黑" panose="020B0503020204020204" pitchFamily="34" charset="-122"/>
              </a:rPr>
              <a:t>CONTENTS</a:t>
            </a:r>
            <a:endParaRPr lang="zh-CN" altLang="en-US" sz="3200">
              <a:solidFill>
                <a:schemeClr val="bg1"/>
              </a:solidFill>
              <a:ea typeface="微软雅黑" panose="020B0503020204020204" pitchFamily="34" charset="-122"/>
            </a:endParaRPr>
          </a:p>
        </p:txBody>
      </p:sp>
      <p:cxnSp>
        <p:nvCxnSpPr>
          <p:cNvPr id="3081" name="Line 39"/>
          <p:cNvCxnSpPr/>
          <p:nvPr/>
        </p:nvCxnSpPr>
        <p:spPr>
          <a:xfrm>
            <a:off x="3563938" y="-19050"/>
            <a:ext cx="1587" cy="5183188"/>
          </a:xfrm>
          <a:prstGeom prst="line">
            <a:avLst/>
          </a:prstGeom>
          <a:noFill/>
          <a:ln w="19050">
            <a:solidFill>
              <a:schemeClr val="bg1"/>
            </a:solidFill>
            <a:miter lim="800000"/>
          </a:ln>
        </p:spPr>
      </p:cxnSp>
      <p:sp>
        <p:nvSpPr>
          <p:cNvPr id="3082" name="AutoShape 40"/>
          <p:cNvSpPr/>
          <p:nvPr/>
        </p:nvSpPr>
        <p:spPr>
          <a:xfrm rot="10800000">
            <a:off x="8693150" y="0"/>
            <a:ext cx="455613" cy="423863"/>
          </a:xfrm>
          <a:prstGeom prst="rtTriangle">
            <a:avLst/>
          </a:prstGeom>
          <a:solidFill>
            <a:srgbClr val="008FC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3083" name="AutoShape 41"/>
          <p:cNvSpPr/>
          <p:nvPr/>
        </p:nvSpPr>
        <p:spPr>
          <a:xfrm rot="16200000">
            <a:off x="8740775" y="4756150"/>
            <a:ext cx="360363" cy="455613"/>
          </a:xfrm>
          <a:prstGeom prst="rtTriangle">
            <a:avLst/>
          </a:prstGeom>
          <a:solidFill>
            <a:srgbClr val="008FC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500"/>
                                  </p:stCondLst>
                                  <p:childTnLst>
                                    <p:set>
                                      <p:cBhvr>
                                        <p:cTn id="6" dur="1" fill="hold">
                                          <p:stCondLst>
                                            <p:cond delay="0"/>
                                          </p:stCondLst>
                                        </p:cTn>
                                        <p:tgtEl>
                                          <p:spTgt spid="3074"/>
                                        </p:tgtEl>
                                        <p:attrNameLst>
                                          <p:attrName>style.visibility</p:attrName>
                                        </p:attrNameLst>
                                      </p:cBhvr>
                                      <p:to>
                                        <p:strVal val="visible"/>
                                      </p:to>
                                    </p:set>
                                    <p:animEffect transition="in" filter="slide(fromBottom)">
                                      <p:cBhvr>
                                        <p:cTn id="7" dur="500" fill="hold"/>
                                        <p:tgtEl>
                                          <p:spTgt spid="3074"/>
                                        </p:tgtEl>
                                      </p:cBhvr>
                                    </p:animEffect>
                                  </p:childTnLst>
                                </p:cTn>
                              </p:par>
                              <p:par>
                                <p:cTn id="8" presetID="12" presetClass="entr" presetSubtype="4" fill="hold" nodeType="withEffect">
                                  <p:stCondLst>
                                    <p:cond delay="1000"/>
                                  </p:stCondLst>
                                  <p:childTnLst>
                                    <p:set>
                                      <p:cBhvr>
                                        <p:cTn id="9" dur="1" fill="hold">
                                          <p:stCondLst>
                                            <p:cond delay="0"/>
                                          </p:stCondLst>
                                        </p:cTn>
                                        <p:tgtEl>
                                          <p:spTgt spid="3075"/>
                                        </p:tgtEl>
                                        <p:attrNameLst>
                                          <p:attrName>style.visibility</p:attrName>
                                        </p:attrNameLst>
                                      </p:cBhvr>
                                      <p:to>
                                        <p:strVal val="visible"/>
                                      </p:to>
                                    </p:set>
                                    <p:animEffect transition="in" filter="slide(fromBottom)">
                                      <p:cBhvr>
                                        <p:cTn id="10" dur="500" fill="hold"/>
                                        <p:tgtEl>
                                          <p:spTgt spid="3075"/>
                                        </p:tgtEl>
                                      </p:cBhvr>
                                    </p:animEffect>
                                  </p:childTnLst>
                                </p:cTn>
                              </p:par>
                              <p:par>
                                <p:cTn id="11" presetID="12" presetClass="entr" presetSubtype="4" fill="hold" nodeType="withEffect">
                                  <p:stCondLst>
                                    <p:cond delay="1500"/>
                                  </p:stCondLst>
                                  <p:childTnLst>
                                    <p:set>
                                      <p:cBhvr>
                                        <p:cTn id="12" dur="1" fill="hold">
                                          <p:stCondLst>
                                            <p:cond delay="0"/>
                                          </p:stCondLst>
                                        </p:cTn>
                                        <p:tgtEl>
                                          <p:spTgt spid="3076"/>
                                        </p:tgtEl>
                                        <p:attrNameLst>
                                          <p:attrName>style.visibility</p:attrName>
                                        </p:attrNameLst>
                                      </p:cBhvr>
                                      <p:to>
                                        <p:strVal val="visible"/>
                                      </p:to>
                                    </p:set>
                                    <p:animEffect transition="in" filter="slide(fromBottom)">
                                      <p:cBhvr>
                                        <p:cTn id="13" dur="500" fill="hold"/>
                                        <p:tgtEl>
                                          <p:spTgt spid="3076"/>
                                        </p:tgtEl>
                                      </p:cBhvr>
                                    </p:animEffect>
                                  </p:childTnLst>
                                </p:cTn>
                              </p:par>
                              <p:par>
                                <p:cTn id="14" presetID="12" presetClass="entr" presetSubtype="4" fill="hold" nodeType="withEffect">
                                  <p:stCondLst>
                                    <p:cond delay="2000"/>
                                  </p:stCondLst>
                                  <p:childTnLst>
                                    <p:set>
                                      <p:cBhvr>
                                        <p:cTn id="15" dur="1" fill="hold">
                                          <p:stCondLst>
                                            <p:cond delay="0"/>
                                          </p:stCondLst>
                                        </p:cTn>
                                        <p:tgtEl>
                                          <p:spTgt spid="3077"/>
                                        </p:tgtEl>
                                        <p:attrNameLst>
                                          <p:attrName>style.visibility</p:attrName>
                                        </p:attrNameLst>
                                      </p:cBhvr>
                                      <p:to>
                                        <p:strVal val="visible"/>
                                      </p:to>
                                    </p:set>
                                    <p:animEffect transition="in" filter="slide(fromBottom)">
                                      <p:cBhvr>
                                        <p:cTn id="16" dur="500" fill="hold"/>
                                        <p:tgtEl>
                                          <p:spTgt spid="3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p:cNvPicPr>
          <p:nvPr/>
        </p:nvPicPr>
        <p:blipFill>
          <a:blip r:embed="rId1"/>
          <a:stretch>
            <a:fillRect/>
          </a:stretch>
        </p:blipFill>
        <p:spPr>
          <a:xfrm>
            <a:off x="0" y="1693863"/>
            <a:ext cx="9144000" cy="1755775"/>
          </a:xfrm>
          <a:prstGeom prst="rect">
            <a:avLst/>
          </a:prstGeom>
          <a:noFill/>
          <a:ln>
            <a:noFill/>
            <a:miter lim="800000"/>
            <a:headEnd/>
            <a:tailEnd/>
          </a:ln>
        </p:spPr>
      </p:pic>
      <p:grpSp>
        <p:nvGrpSpPr>
          <p:cNvPr id="4099" name="Group 3"/>
          <p:cNvGrpSpPr/>
          <p:nvPr/>
        </p:nvGrpSpPr>
        <p:grpSpPr>
          <a:xfrm>
            <a:off x="1231900" y="2146300"/>
            <a:ext cx="863600" cy="863600"/>
            <a:chOff x="0" y="0"/>
            <a:chExt cx="1928" cy="1928"/>
          </a:xfrm>
        </p:grpSpPr>
        <p:pic>
          <p:nvPicPr>
            <p:cNvPr id="4102" name="Picture 4"/>
            <p:cNvPicPr>
              <a:picLocks noChangeAspect="1"/>
            </p:cNvPicPr>
            <p:nvPr/>
          </p:nvPicPr>
          <p:blipFill>
            <a:blip r:embed="rId2"/>
            <a:stretch>
              <a:fillRect/>
            </a:stretch>
          </p:blipFill>
          <p:spPr>
            <a:xfrm>
              <a:off x="403" y="461"/>
              <a:ext cx="1247" cy="1024"/>
            </a:xfrm>
            <a:prstGeom prst="rect">
              <a:avLst/>
            </a:prstGeom>
            <a:noFill/>
            <a:ln>
              <a:noFill/>
              <a:miter lim="800000"/>
              <a:headEnd/>
              <a:tailEnd/>
            </a:ln>
          </p:spPr>
        </p:pic>
        <p:sp>
          <p:nvSpPr>
            <p:cNvPr id="4103" name="正圆 108"/>
            <p:cNvSpPr/>
            <p:nvPr/>
          </p:nvSpPr>
          <p:spPr>
            <a:xfrm>
              <a:off x="0" y="0"/>
              <a:ext cx="1928" cy="1928"/>
            </a:xfrm>
            <a:prstGeom prst="ellipse">
              <a:avLst/>
            </a:prstGeom>
            <a:noFill/>
            <a:ln w="28575">
              <a:solidFill>
                <a:schemeClr val="bg1"/>
              </a:solid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sp>
        <p:nvSpPr>
          <p:cNvPr id="4100" name="Text Box 6"/>
          <p:cNvSpPr/>
          <p:nvPr/>
        </p:nvSpPr>
        <p:spPr>
          <a:xfrm>
            <a:off x="3709988" y="2322513"/>
            <a:ext cx="5434012" cy="52197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r>
              <a:rPr lang="zh-CN" altLang="en-US" sz="2800">
                <a:solidFill>
                  <a:schemeClr val="bg1"/>
                </a:solidFill>
                <a:latin typeface="微软雅黑" panose="020B0503020204020204" pitchFamily="34" charset="-122"/>
                <a:ea typeface="微软雅黑" panose="020B0503020204020204" pitchFamily="34" charset="-122"/>
              </a:rPr>
              <a:t>第一章 </a:t>
            </a:r>
            <a:r>
              <a:rPr lang="en-US" altLang="zh-CN" sz="2800">
                <a:solidFill>
                  <a:schemeClr val="bg1"/>
                </a:solidFill>
                <a:latin typeface="微软雅黑" panose="020B0503020204020204" pitchFamily="34" charset="-122"/>
                <a:ea typeface="微软雅黑" panose="020B0503020204020204" pitchFamily="34" charset="-122"/>
              </a:rPr>
              <a:t>   </a:t>
            </a:r>
            <a:r>
              <a:rPr lang="zh-CN" altLang="en-US" sz="2800">
                <a:solidFill>
                  <a:schemeClr val="bg1"/>
                </a:solidFill>
                <a:latin typeface="微软雅黑" panose="020B0503020204020204" pitchFamily="34" charset="-122"/>
                <a:ea typeface="微软雅黑" panose="020B0503020204020204" pitchFamily="34" charset="-122"/>
              </a:rPr>
              <a:t>论文摘要   </a:t>
            </a:r>
            <a:endParaRPr lang="en-US" altLang="zh-CN" sz="2800">
              <a:solidFill>
                <a:schemeClr val="bg1"/>
              </a:solidFill>
              <a:latin typeface="微软雅黑" panose="020B0503020204020204" pitchFamily="34" charset="-122"/>
              <a:ea typeface="微软雅黑" panose="020B0503020204020204" pitchFamily="34" charset="-122"/>
            </a:endParaRPr>
          </a:p>
        </p:txBody>
      </p:sp>
      <p:pic>
        <p:nvPicPr>
          <p:cNvPr id="4" name="图片 3" descr="青岛科技大学LOGO"/>
          <p:cNvPicPr>
            <a:picLocks noChangeAspect="1"/>
          </p:cNvPicPr>
          <p:nvPr/>
        </p:nvPicPr>
        <p:blipFill>
          <a:blip r:embed="rId3"/>
          <a:stretch>
            <a:fillRect/>
          </a:stretch>
        </p:blipFill>
        <p:spPr>
          <a:xfrm>
            <a:off x="0" y="51435"/>
            <a:ext cx="3364998" cy="722071"/>
          </a:xfrm>
          <a:prstGeom prst="rect">
            <a:avLst/>
          </a:prstGeom>
        </p:spPr>
      </p:pic>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1.1  </a:t>
            </a:r>
            <a:r>
              <a:rPr lang="zh-CN" altLang="en-US" sz="2000" b="1">
                <a:solidFill>
                  <a:schemeClr val="bg1"/>
                </a:solidFill>
                <a:latin typeface="微软雅黑" panose="020B0503020204020204" pitchFamily="34" charset="-122"/>
                <a:ea typeface="微软雅黑" panose="020B0503020204020204" pitchFamily="34" charset="-122"/>
              </a:rPr>
              <a:t>论</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文</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摘</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要</a:t>
            </a:r>
            <a:endParaRPr lang="zh-CN" altLang="en-US"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sp>
        <p:nvSpPr>
          <p:cNvPr id="5127" name="Text Box 8"/>
          <p:cNvSpPr/>
          <p:nvPr/>
        </p:nvSpPr>
        <p:spPr>
          <a:xfrm>
            <a:off x="179705" y="699135"/>
            <a:ext cx="8924290" cy="829945"/>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nSpc>
                <a:spcPct val="150000"/>
              </a:lnSpc>
            </a:pPr>
            <a:r>
              <a:rPr lang="zh-CN" altLang="en-US" sz="1600">
                <a:solidFill>
                  <a:srgbClr val="292929"/>
                </a:solidFill>
                <a:latin typeface="宋体" panose="02010600030101010101" pitchFamily="2" charset="-122"/>
              </a:rPr>
              <a:t>背景：大型语言模型基于</a:t>
            </a:r>
            <a:r>
              <a:rPr lang="zh-CN" altLang="en-US" sz="1600" b="1">
                <a:solidFill>
                  <a:srgbClr val="FF0000"/>
                </a:solidFill>
                <a:latin typeface="宋体" panose="02010600030101010101" pitchFamily="2" charset="-122"/>
              </a:rPr>
              <a:t>序列信息</a:t>
            </a:r>
            <a:r>
              <a:rPr lang="zh-CN" altLang="en-US" sz="1600">
                <a:solidFill>
                  <a:srgbClr val="292929"/>
                </a:solidFill>
                <a:latin typeface="宋体" panose="02010600030101010101" pitchFamily="2" charset="-122"/>
              </a:rPr>
              <a:t>可以学习蛋白质设计的原则，但蛋白质的</a:t>
            </a:r>
            <a:r>
              <a:rPr lang="zh-CN" altLang="en-US" sz="1600" b="1">
                <a:solidFill>
                  <a:srgbClr val="FF0000"/>
                </a:solidFill>
                <a:latin typeface="宋体" panose="02010600030101010101" pitchFamily="2" charset="-122"/>
              </a:rPr>
              <a:t>三维结构</a:t>
            </a:r>
            <a:r>
              <a:rPr lang="zh-CN" altLang="en-US" sz="1600">
                <a:solidFill>
                  <a:srgbClr val="292929"/>
                </a:solidFill>
                <a:latin typeface="宋体" panose="02010600030101010101" pitchFamily="2" charset="-122"/>
              </a:rPr>
              <a:t>对其功能和活性至关重要。</a:t>
            </a:r>
            <a:endParaRPr lang="zh-CN" altLang="en-US" sz="1600">
              <a:solidFill>
                <a:srgbClr val="292929"/>
              </a:solidFill>
              <a:latin typeface="宋体" panose="02010600030101010101" pitchFamily="2" charset="-122"/>
            </a:endParaRPr>
          </a:p>
        </p:txBody>
      </p:sp>
      <p:sp>
        <p:nvSpPr>
          <p:cNvPr id="2" name="文本框 1"/>
          <p:cNvSpPr txBox="1"/>
          <p:nvPr/>
        </p:nvSpPr>
        <p:spPr>
          <a:xfrm>
            <a:off x="179705" y="1614170"/>
            <a:ext cx="8551545" cy="337185"/>
          </a:xfrm>
          <a:prstGeom prst="rect">
            <a:avLst/>
          </a:prstGeom>
        </p:spPr>
        <p:txBody>
          <a:bodyPr wrap="square">
            <a:spAutoFit/>
          </a:bodyPr>
          <a:lstStyle/>
          <a:p>
            <a:r>
              <a:rPr lang="zh-CN" altLang="en-US" sz="1600"/>
              <a:t>研究</a:t>
            </a:r>
            <a:r>
              <a:rPr lang="zh-CN" altLang="en-US" sz="1600"/>
              <a:t>目标：结合蛋白质结构信息与语言模型，以指导蛋白质的进化</a:t>
            </a:r>
            <a:endParaRPr lang="zh-CN" altLang="en-US" sz="1600"/>
          </a:p>
        </p:txBody>
      </p:sp>
      <p:sp>
        <p:nvSpPr>
          <p:cNvPr id="3" name="文本框 2"/>
          <p:cNvSpPr txBox="1"/>
          <p:nvPr/>
        </p:nvSpPr>
        <p:spPr>
          <a:xfrm>
            <a:off x="179705" y="2036445"/>
            <a:ext cx="8778240" cy="829945"/>
          </a:xfrm>
          <a:prstGeom prst="rect">
            <a:avLst/>
          </a:prstGeom>
        </p:spPr>
        <p:txBody>
          <a:bodyPr wrap="square">
            <a:spAutoFit/>
          </a:bodyPr>
          <a:lstStyle/>
          <a:p>
            <a:r>
              <a:rPr lang="zh-CN" altLang="en-US" sz="1600"/>
              <a:t>研究方法： </a:t>
            </a:r>
            <a:endParaRPr lang="zh-CN" altLang="en-US" sz="1600"/>
          </a:p>
          <a:p>
            <a:r>
              <a:rPr lang="en-US" altLang="zh-CN" sz="1600"/>
              <a:t>1. </a:t>
            </a:r>
            <a:r>
              <a:rPr lang="zh-CN" altLang="en-US" sz="1600"/>
              <a:t>使用结构主链坐标增强的通用蛋白质语言模型。</a:t>
            </a:r>
            <a:endParaRPr lang="zh-CN" altLang="en-US" sz="1600"/>
          </a:p>
          <a:p>
            <a:r>
              <a:rPr lang="en-US" altLang="zh-CN" sz="1600"/>
              <a:t>2. </a:t>
            </a:r>
            <a:r>
              <a:rPr lang="zh-CN" altLang="en-US" sz="1600"/>
              <a:t>扩展</a:t>
            </a:r>
            <a:r>
              <a:rPr lang="en-US" altLang="zh-CN" sz="1600"/>
              <a:t>ESM-IF1</a:t>
            </a:r>
            <a:r>
              <a:rPr lang="zh-CN" altLang="en-US" sz="1600"/>
              <a:t>模型以工程化蛋白质复合物。</a:t>
            </a:r>
            <a:endParaRPr lang="zh-CN" altLang="en-US" sz="1600"/>
          </a:p>
        </p:txBody>
      </p:sp>
      <p:sp>
        <p:nvSpPr>
          <p:cNvPr id="5" name="文本框 4"/>
          <p:cNvSpPr txBox="1"/>
          <p:nvPr/>
        </p:nvSpPr>
        <p:spPr>
          <a:xfrm>
            <a:off x="179705" y="3373755"/>
            <a:ext cx="8778240" cy="337185"/>
          </a:xfrm>
          <a:prstGeom prst="rect">
            <a:avLst/>
          </a:prstGeom>
          <a:noFill/>
        </p:spPr>
        <p:txBody>
          <a:bodyPr wrap="square" rtlCol="0" anchor="t">
            <a:spAutoFit/>
          </a:bodyPr>
          <a:lstStyle/>
          <a:p>
            <a:r>
              <a:rPr lang="zh-CN" altLang="en-US" sz="1600">
                <a:sym typeface="+mn-ea"/>
              </a:rPr>
              <a:t>研究结果：在对抗</a:t>
            </a:r>
            <a:r>
              <a:rPr lang="en-US" altLang="zh-CN" sz="1600">
                <a:sym typeface="+mn-ea"/>
              </a:rPr>
              <a:t>BQ.1.1</a:t>
            </a:r>
            <a:r>
              <a:rPr lang="zh-CN" altLang="en-US" sz="1600">
                <a:sym typeface="+mn-ea"/>
              </a:rPr>
              <a:t>和</a:t>
            </a:r>
            <a:r>
              <a:rPr lang="en-US" altLang="zh-CN" sz="1600">
                <a:sym typeface="+mn-ea"/>
              </a:rPr>
              <a:t>XBB.1.5</a:t>
            </a:r>
            <a:r>
              <a:rPr lang="zh-CN" altLang="en-US" sz="1600">
                <a:sym typeface="+mn-ea"/>
              </a:rPr>
              <a:t>病毒变体时，中和能力提高了</a:t>
            </a:r>
            <a:r>
              <a:rPr lang="en-US" altLang="zh-CN" sz="1600">
                <a:sym typeface="+mn-ea"/>
              </a:rPr>
              <a:t>25</a:t>
            </a:r>
            <a:r>
              <a:rPr lang="zh-CN" altLang="en-US" sz="1600">
                <a:sym typeface="+mn-ea"/>
              </a:rPr>
              <a:t>倍，亲和力提高了</a:t>
            </a:r>
            <a:r>
              <a:rPr lang="en-US" altLang="zh-CN" sz="1600">
                <a:sym typeface="+mn-ea"/>
              </a:rPr>
              <a:t>37</a:t>
            </a:r>
            <a:r>
              <a:rPr lang="zh-CN" altLang="en-US" sz="1600">
                <a:sym typeface="+mn-ea"/>
              </a:rPr>
              <a:t>倍。</a:t>
            </a:r>
            <a:endParaRPr lang="zh-CN" altLang="en-US" sz="1600">
              <a:sym typeface="+mn-ea"/>
            </a:endParaRPr>
          </a:p>
        </p:txBody>
      </p:sp>
      <p:sp>
        <p:nvSpPr>
          <p:cNvPr id="6" name="文本框 5"/>
          <p:cNvSpPr txBox="1"/>
          <p:nvPr/>
        </p:nvSpPr>
        <p:spPr>
          <a:xfrm>
            <a:off x="179705" y="2951480"/>
            <a:ext cx="6945630" cy="337185"/>
          </a:xfrm>
          <a:prstGeom prst="rect">
            <a:avLst/>
          </a:prstGeom>
        </p:spPr>
        <p:txBody>
          <a:bodyPr wrap="square">
            <a:spAutoFit/>
          </a:bodyPr>
          <a:p>
            <a:r>
              <a:rPr lang="zh-CN" altLang="en-US" sz="1600"/>
              <a:t>实验筛选了约</a:t>
            </a:r>
            <a:r>
              <a:rPr lang="en-US" altLang="zh-CN" sz="1600"/>
              <a:t>30</a:t>
            </a:r>
            <a:r>
              <a:rPr lang="zh-CN" altLang="en-US" sz="1600"/>
              <a:t>种临床抗体变体，针对</a:t>
            </a:r>
            <a:r>
              <a:rPr lang="en-US" altLang="zh-CN" sz="1600"/>
              <a:t>SARS-CoV-2</a:t>
            </a:r>
            <a:r>
              <a:rPr lang="zh-CN" altLang="en-US" sz="1600"/>
              <a:t>病毒。</a:t>
            </a:r>
            <a:endParaRPr lang="zh-CN" altLang="en-US" sz="1600"/>
          </a:p>
        </p:txBody>
      </p:sp>
      <p:sp>
        <p:nvSpPr>
          <p:cNvPr id="7" name="文本框 6"/>
          <p:cNvSpPr txBox="1"/>
          <p:nvPr/>
        </p:nvSpPr>
        <p:spPr>
          <a:xfrm>
            <a:off x="179705" y="3796030"/>
            <a:ext cx="8018145" cy="337185"/>
          </a:xfrm>
          <a:prstGeom prst="rect">
            <a:avLst/>
          </a:prstGeom>
        </p:spPr>
        <p:txBody>
          <a:bodyPr wrap="square">
            <a:spAutoFit/>
          </a:bodyPr>
          <a:p>
            <a:r>
              <a:rPr lang="zh-CN" altLang="en-US" sz="1600"/>
              <a:t>研究结论：整合结构信息能有效识别蛋白质进化路径，无需特定任务的训练数据。</a:t>
            </a:r>
            <a:endParaRPr lang="zh-CN" altLang="en-US" sz="1600"/>
          </a:p>
        </p:txBody>
      </p:sp>
    </p:spTree>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p:cNvPicPr>
          <p:nvPr/>
        </p:nvPicPr>
        <p:blipFill>
          <a:blip r:embed="rId1"/>
          <a:stretch>
            <a:fillRect/>
          </a:stretch>
        </p:blipFill>
        <p:spPr>
          <a:xfrm>
            <a:off x="0" y="1693863"/>
            <a:ext cx="9144000" cy="1755775"/>
          </a:xfrm>
          <a:prstGeom prst="rect">
            <a:avLst/>
          </a:prstGeom>
          <a:noFill/>
          <a:ln>
            <a:noFill/>
            <a:miter lim="800000"/>
            <a:headEnd/>
            <a:tailEnd/>
          </a:ln>
        </p:spPr>
      </p:pic>
      <p:sp>
        <p:nvSpPr>
          <p:cNvPr id="6147" name="Text Box 6"/>
          <p:cNvSpPr/>
          <p:nvPr/>
        </p:nvSpPr>
        <p:spPr>
          <a:xfrm>
            <a:off x="3709988" y="2322513"/>
            <a:ext cx="5434012" cy="52197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r>
              <a:rPr lang="zh-CN" altLang="en-US" sz="2800">
                <a:solidFill>
                  <a:schemeClr val="bg1"/>
                </a:solidFill>
                <a:latin typeface="微软雅黑" panose="020B0503020204020204" pitchFamily="34" charset="-122"/>
                <a:ea typeface="微软雅黑" panose="020B0503020204020204" pitchFamily="34" charset="-122"/>
              </a:rPr>
              <a:t>第二章</a:t>
            </a:r>
            <a:r>
              <a:rPr lang="en-US" altLang="zh-CN" sz="2800">
                <a:solidFill>
                  <a:schemeClr val="bg1"/>
                </a:solidFill>
                <a:latin typeface="微软雅黑" panose="020B0503020204020204" pitchFamily="34" charset="-122"/>
                <a:ea typeface="微软雅黑" panose="020B0503020204020204" pitchFamily="34" charset="-122"/>
              </a:rPr>
              <a:t>    </a:t>
            </a:r>
            <a:r>
              <a:rPr lang="zh-CN" altLang="en-US" sz="2800">
                <a:solidFill>
                  <a:schemeClr val="bg1"/>
                </a:solidFill>
                <a:latin typeface="微软雅黑" panose="020B0503020204020204" pitchFamily="34" charset="-122"/>
                <a:ea typeface="微软雅黑" panose="020B0503020204020204" pitchFamily="34" charset="-122"/>
              </a:rPr>
              <a:t>研究背景</a:t>
            </a:r>
            <a:endParaRPr lang="zh-CN" altLang="en-US" sz="2800">
              <a:solidFill>
                <a:schemeClr val="bg1"/>
              </a:solidFill>
              <a:latin typeface="微软雅黑" panose="020B0503020204020204" pitchFamily="34" charset="-122"/>
              <a:ea typeface="微软雅黑" panose="020B0503020204020204" pitchFamily="34" charset="-122"/>
            </a:endParaRPr>
          </a:p>
        </p:txBody>
      </p:sp>
      <p:grpSp>
        <p:nvGrpSpPr>
          <p:cNvPr id="6149" name="Group 5"/>
          <p:cNvGrpSpPr/>
          <p:nvPr/>
        </p:nvGrpSpPr>
        <p:grpSpPr>
          <a:xfrm>
            <a:off x="1254125" y="2159000"/>
            <a:ext cx="863600" cy="863600"/>
            <a:chOff x="0" y="0"/>
            <a:chExt cx="1360" cy="1360"/>
          </a:xfrm>
        </p:grpSpPr>
        <p:pic>
          <p:nvPicPr>
            <p:cNvPr id="6150" name="Picture 11"/>
            <p:cNvPicPr>
              <a:picLocks noChangeAspect="1"/>
            </p:cNvPicPr>
            <p:nvPr/>
          </p:nvPicPr>
          <p:blipFill>
            <a:blip r:embed="rId2"/>
            <a:stretch>
              <a:fillRect/>
            </a:stretch>
          </p:blipFill>
          <p:spPr>
            <a:xfrm>
              <a:off x="235" y="193"/>
              <a:ext cx="877" cy="940"/>
            </a:xfrm>
            <a:prstGeom prst="rect">
              <a:avLst/>
            </a:prstGeom>
            <a:noFill/>
            <a:ln>
              <a:noFill/>
              <a:bevel/>
            </a:ln>
          </p:spPr>
        </p:pic>
        <p:sp>
          <p:nvSpPr>
            <p:cNvPr id="6151" name="正圆 198"/>
            <p:cNvSpPr/>
            <p:nvPr/>
          </p:nvSpPr>
          <p:spPr>
            <a:xfrm>
              <a:off x="0" y="0"/>
              <a:ext cx="1360" cy="1360"/>
            </a:xfrm>
            <a:prstGeom prst="ellipse">
              <a:avLst/>
            </a:prstGeom>
            <a:noFill/>
            <a:ln w="28575">
              <a:solidFill>
                <a:schemeClr val="bg1"/>
              </a:solidFill>
              <a:bevel/>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pic>
        <p:nvPicPr>
          <p:cNvPr id="4" name="图片 3" descr="青岛科技大学LOGO"/>
          <p:cNvPicPr>
            <a:picLocks noChangeAspect="1"/>
          </p:cNvPicPr>
          <p:nvPr/>
        </p:nvPicPr>
        <p:blipFill>
          <a:blip r:embed="rId3"/>
          <a:stretch>
            <a:fillRect/>
          </a:stretch>
        </p:blipFill>
        <p:spPr>
          <a:xfrm>
            <a:off x="0" y="51435"/>
            <a:ext cx="3364998" cy="722071"/>
          </a:xfrm>
          <a:prstGeom prst="rect">
            <a:avLst/>
          </a:prstGeom>
        </p:spPr>
      </p:pic>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2.1  </a:t>
            </a:r>
            <a:r>
              <a:rPr sz="2000" b="1">
                <a:solidFill>
                  <a:schemeClr val="bg1"/>
                </a:solidFill>
                <a:latin typeface="微软雅黑" panose="020B0503020204020204" pitchFamily="34" charset="-122"/>
                <a:ea typeface="微软雅黑" panose="020B0503020204020204" pitchFamily="34" charset="-122"/>
              </a:rPr>
              <a:t>进</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化</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过</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程</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相</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关</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知</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识</a:t>
            </a:r>
            <a:endParaRPr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sp>
        <p:nvSpPr>
          <p:cNvPr id="12" name="文本框 11"/>
          <p:cNvSpPr txBox="1"/>
          <p:nvPr/>
        </p:nvSpPr>
        <p:spPr>
          <a:xfrm>
            <a:off x="179705" y="690245"/>
            <a:ext cx="7926705"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进化过程：</a:t>
            </a:r>
            <a:endParaRPr lang="zh-CN" altLang="en-US" sz="1400" b="1">
              <a:solidFill>
                <a:srgbClr val="0078AA"/>
              </a:solidFill>
              <a:ea typeface="微软雅黑" panose="020B0503020204020204" pitchFamily="34" charset="-122"/>
              <a:sym typeface="+mn-ea"/>
            </a:endParaRPr>
          </a:p>
        </p:txBody>
      </p:sp>
      <p:sp>
        <p:nvSpPr>
          <p:cNvPr id="14" name="文本框 13"/>
          <p:cNvSpPr txBox="1"/>
          <p:nvPr/>
        </p:nvSpPr>
        <p:spPr>
          <a:xfrm>
            <a:off x="179705" y="1282700"/>
            <a:ext cx="8617585" cy="306705"/>
          </a:xfrm>
          <a:prstGeom prst="rect">
            <a:avLst/>
          </a:prstGeom>
          <a:noFill/>
        </p:spPr>
        <p:txBody>
          <a:bodyPr wrap="square" rtlCol="0" anchor="t">
            <a:spAutoFit/>
          </a:bodyPr>
          <a:p>
            <a:r>
              <a:rPr lang="zh-CN" altLang="en-US" sz="1400">
                <a:sym typeface="+mn-ea"/>
              </a:rPr>
              <a:t>进化通过探索潜在突变的广阔搜索空间，产生多样的生物序列蛋白质，并获得那些提高适应性的突变。</a:t>
            </a:r>
            <a:endParaRPr lang="zh-CN" altLang="en-US" sz="1400">
              <a:sym typeface="+mn-ea"/>
            </a:endParaRPr>
          </a:p>
        </p:txBody>
      </p:sp>
      <p:sp>
        <p:nvSpPr>
          <p:cNvPr id="15" name="文本框 14"/>
          <p:cNvSpPr txBox="1"/>
          <p:nvPr/>
        </p:nvSpPr>
        <p:spPr>
          <a:xfrm>
            <a:off x="179705" y="187515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三维结构的重要性：</a:t>
            </a:r>
            <a:endParaRPr lang="zh-CN" altLang="en-US" sz="1400" b="1">
              <a:solidFill>
                <a:srgbClr val="0078AA"/>
              </a:solidFill>
              <a:ea typeface="微软雅黑" panose="020B0503020204020204" pitchFamily="34" charset="-122"/>
              <a:sym typeface="+mn-ea"/>
            </a:endParaRPr>
          </a:p>
        </p:txBody>
      </p:sp>
      <p:sp>
        <p:nvSpPr>
          <p:cNvPr id="16" name="文本框 15"/>
          <p:cNvSpPr txBox="1"/>
          <p:nvPr/>
        </p:nvSpPr>
        <p:spPr>
          <a:xfrm>
            <a:off x="179705" y="2467610"/>
            <a:ext cx="4572000" cy="306705"/>
          </a:xfrm>
          <a:prstGeom prst="rect">
            <a:avLst/>
          </a:prstGeom>
          <a:noFill/>
        </p:spPr>
        <p:txBody>
          <a:bodyPr wrap="square" rtlCol="0" anchor="t">
            <a:spAutoFit/>
          </a:bodyPr>
          <a:p>
            <a:r>
              <a:rPr lang="zh-CN" altLang="en-US" sz="1400">
                <a:sym typeface="+mn-ea"/>
              </a:rPr>
              <a:t>蛋白质的功能和活性由其编码的三维结构决定。</a:t>
            </a:r>
            <a:endParaRPr lang="zh-CN" altLang="en-US" sz="1400">
              <a:sym typeface="+mn-ea"/>
            </a:endParaRPr>
          </a:p>
        </p:txBody>
      </p:sp>
      <p:sp>
        <p:nvSpPr>
          <p:cNvPr id="17" name="文本框 16"/>
          <p:cNvSpPr txBox="1"/>
          <p:nvPr/>
        </p:nvSpPr>
        <p:spPr>
          <a:xfrm>
            <a:off x="179705" y="306006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突变与结构变化：</a:t>
            </a:r>
            <a:endParaRPr lang="zh-CN" altLang="en-US" sz="1400" b="1">
              <a:solidFill>
                <a:srgbClr val="0078AA"/>
              </a:solidFill>
              <a:ea typeface="微软雅黑" panose="020B0503020204020204" pitchFamily="34" charset="-122"/>
              <a:sym typeface="+mn-ea"/>
            </a:endParaRPr>
          </a:p>
        </p:txBody>
      </p:sp>
      <p:sp>
        <p:nvSpPr>
          <p:cNvPr id="18" name="文本框 17"/>
          <p:cNvSpPr txBox="1"/>
          <p:nvPr/>
        </p:nvSpPr>
        <p:spPr>
          <a:xfrm>
            <a:off x="179705" y="3652520"/>
            <a:ext cx="4572000" cy="306705"/>
          </a:xfrm>
          <a:prstGeom prst="rect">
            <a:avLst/>
          </a:prstGeom>
          <a:noFill/>
        </p:spPr>
        <p:txBody>
          <a:bodyPr wrap="square" rtlCol="0" anchor="t">
            <a:spAutoFit/>
          </a:bodyPr>
          <a:p>
            <a:r>
              <a:rPr lang="zh-CN" altLang="en-US" sz="1400">
                <a:sym typeface="+mn-ea"/>
              </a:rPr>
              <a:t>蛋白质在积累突变时，伴随相应的结构变化。</a:t>
            </a:r>
            <a:endParaRPr lang="zh-CN" altLang="en-US" sz="1400">
              <a:sym typeface="+mn-ea"/>
            </a:endParaRPr>
          </a:p>
        </p:txBody>
      </p:sp>
    </p:spTree>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2.2  </a:t>
            </a:r>
            <a:r>
              <a:rPr sz="2000" b="1">
                <a:solidFill>
                  <a:schemeClr val="bg1"/>
                </a:solidFill>
                <a:latin typeface="微软雅黑" panose="020B0503020204020204" pitchFamily="34" charset="-122"/>
                <a:ea typeface="微软雅黑" panose="020B0503020204020204" pitchFamily="34" charset="-122"/>
              </a:rPr>
              <a:t>突</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变</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的</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影</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响</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和</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挑</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战</a:t>
            </a:r>
            <a:endParaRPr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sp>
        <p:nvSpPr>
          <p:cNvPr id="2" name="文本框 1"/>
          <p:cNvSpPr txBox="1"/>
          <p:nvPr/>
        </p:nvSpPr>
        <p:spPr>
          <a:xfrm>
            <a:off x="252095" y="699135"/>
            <a:ext cx="7848600" cy="337185"/>
          </a:xfrm>
          <a:prstGeom prst="rect">
            <a:avLst/>
          </a:prstGeom>
        </p:spPr>
        <p:txBody>
          <a:bodyPr wrap="square">
            <a:spAutoFit/>
          </a:bodyPr>
          <a:p>
            <a:r>
              <a:rPr lang="zh-CN" altLang="en-US" sz="1600" b="1">
                <a:solidFill>
                  <a:srgbClr val="0070C0"/>
                </a:solidFill>
              </a:rPr>
              <a:t>序列变更会导致蛋白质的结构分化，</a:t>
            </a:r>
            <a:r>
              <a:rPr lang="zh-CN" altLang="en-US" sz="1600">
                <a:solidFill>
                  <a:schemeClr val="tx1"/>
                </a:solidFill>
              </a:rPr>
              <a:t>这</a:t>
            </a:r>
            <a:r>
              <a:rPr lang="zh-CN" altLang="en-US" sz="1600"/>
              <a:t>对</a:t>
            </a:r>
            <a:r>
              <a:rPr lang="zh-CN" altLang="en-US" sz="1600"/>
              <a:t>逐步进化改进蛋白质构成了重大挑战。</a:t>
            </a:r>
            <a:endParaRPr lang="zh-CN" altLang="en-US" sz="1600"/>
          </a:p>
        </p:txBody>
      </p:sp>
      <p:sp>
        <p:nvSpPr>
          <p:cNvPr id="4" name="文本框 3"/>
          <p:cNvSpPr txBox="1"/>
          <p:nvPr/>
        </p:nvSpPr>
        <p:spPr>
          <a:xfrm>
            <a:off x="252095" y="142430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突变的影响：</a:t>
            </a:r>
            <a:endParaRPr lang="zh-CN" altLang="en-US" sz="1400" b="1">
              <a:solidFill>
                <a:srgbClr val="0078AA"/>
              </a:solidFill>
              <a:ea typeface="微软雅黑" panose="020B0503020204020204" pitchFamily="34" charset="-122"/>
              <a:sym typeface="+mn-ea"/>
            </a:endParaRPr>
          </a:p>
        </p:txBody>
      </p:sp>
      <p:sp>
        <p:nvSpPr>
          <p:cNvPr id="5" name="文本框 4"/>
          <p:cNvSpPr txBox="1"/>
          <p:nvPr/>
        </p:nvSpPr>
        <p:spPr>
          <a:xfrm>
            <a:off x="252095" y="2118995"/>
            <a:ext cx="7941310" cy="306705"/>
          </a:xfrm>
          <a:prstGeom prst="rect">
            <a:avLst/>
          </a:prstGeom>
          <a:noFill/>
        </p:spPr>
        <p:txBody>
          <a:bodyPr wrap="square" rtlCol="0" anchor="t">
            <a:spAutoFit/>
          </a:bodyPr>
          <a:p>
            <a:r>
              <a:rPr lang="zh-CN" altLang="en-US" sz="1400">
                <a:sym typeface="+mn-ea"/>
              </a:rPr>
              <a:t>在人工进化的多个轮次中添加的突变可能导致</a:t>
            </a:r>
            <a:r>
              <a:rPr lang="zh-CN" altLang="en-US" sz="1400" b="1">
                <a:sym typeface="+mn-ea"/>
              </a:rPr>
              <a:t>蛋白质结构不稳定</a:t>
            </a:r>
            <a:r>
              <a:rPr lang="zh-CN" altLang="en-US" sz="1400">
                <a:sym typeface="+mn-ea"/>
              </a:rPr>
              <a:t>，降低蛋白质的</a:t>
            </a:r>
            <a:r>
              <a:rPr lang="zh-CN" altLang="en-US" sz="1400" b="1">
                <a:sym typeface="+mn-ea"/>
              </a:rPr>
              <a:t>可进化性</a:t>
            </a:r>
            <a:r>
              <a:rPr lang="zh-CN" altLang="en-US" sz="1400">
                <a:sym typeface="+mn-ea"/>
              </a:rPr>
              <a:t>。</a:t>
            </a:r>
            <a:endParaRPr lang="zh-CN" altLang="en-US" sz="1400">
              <a:sym typeface="+mn-ea"/>
            </a:endParaRPr>
          </a:p>
        </p:txBody>
      </p:sp>
      <p:sp>
        <p:nvSpPr>
          <p:cNvPr id="6" name="文本框 5"/>
          <p:cNvSpPr txBox="1"/>
          <p:nvPr/>
        </p:nvSpPr>
        <p:spPr>
          <a:xfrm>
            <a:off x="252095" y="281368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识别有利突变的困难：</a:t>
            </a:r>
            <a:endParaRPr lang="zh-CN" altLang="en-US" sz="1400" b="1">
              <a:solidFill>
                <a:srgbClr val="0078AA"/>
              </a:solidFill>
              <a:ea typeface="微软雅黑" panose="020B0503020204020204" pitchFamily="34" charset="-122"/>
              <a:sym typeface="+mn-ea"/>
            </a:endParaRPr>
          </a:p>
        </p:txBody>
      </p:sp>
      <p:sp>
        <p:nvSpPr>
          <p:cNvPr id="9" name="文本框 8"/>
          <p:cNvSpPr txBox="1"/>
          <p:nvPr/>
        </p:nvSpPr>
        <p:spPr>
          <a:xfrm>
            <a:off x="252095" y="3508375"/>
            <a:ext cx="7420610" cy="306705"/>
          </a:xfrm>
          <a:prstGeom prst="rect">
            <a:avLst/>
          </a:prstGeom>
          <a:noFill/>
        </p:spPr>
        <p:txBody>
          <a:bodyPr wrap="square" rtlCol="0">
            <a:spAutoFit/>
          </a:bodyPr>
          <a:p>
            <a:r>
              <a:rPr lang="zh-CN" altLang="en-US" sz="1400"/>
              <a:t>大多数突变对典型蛋白质都是有害的，只有极少数突变是有益的。</a:t>
            </a:r>
            <a:endParaRPr lang="zh-CN" altLang="en-US" sz="1400"/>
          </a:p>
        </p:txBody>
      </p:sp>
    </p:spTree>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2.3  </a:t>
            </a:r>
            <a:r>
              <a:rPr sz="2000" b="1">
                <a:solidFill>
                  <a:schemeClr val="bg1"/>
                </a:solidFill>
                <a:latin typeface="微软雅黑" panose="020B0503020204020204" pitchFamily="34" charset="-122"/>
                <a:ea typeface="微软雅黑" panose="020B0503020204020204" pitchFamily="34" charset="-122"/>
              </a:rPr>
              <a:t>包</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含</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结</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构</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信</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息</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的</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蛋</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白</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质</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语</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言</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模</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型</a:t>
            </a:r>
            <a:endParaRPr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sp>
        <p:nvSpPr>
          <p:cNvPr id="14" name="文本框 13"/>
          <p:cNvSpPr txBox="1"/>
          <p:nvPr/>
        </p:nvSpPr>
        <p:spPr>
          <a:xfrm>
            <a:off x="323850" y="77152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研究目标：</a:t>
            </a:r>
            <a:endParaRPr lang="zh-CN" altLang="en-US" sz="1400" b="1">
              <a:solidFill>
                <a:srgbClr val="0078AA"/>
              </a:solidFill>
              <a:ea typeface="微软雅黑" panose="020B0503020204020204" pitchFamily="34" charset="-122"/>
              <a:sym typeface="+mn-ea"/>
            </a:endParaRPr>
          </a:p>
        </p:txBody>
      </p:sp>
      <p:sp>
        <p:nvSpPr>
          <p:cNvPr id="15" name="文本框 14"/>
          <p:cNvSpPr txBox="1"/>
          <p:nvPr/>
        </p:nvSpPr>
        <p:spPr>
          <a:xfrm>
            <a:off x="323850" y="1405255"/>
            <a:ext cx="5735320" cy="306705"/>
          </a:xfrm>
          <a:prstGeom prst="rect">
            <a:avLst/>
          </a:prstGeom>
          <a:noFill/>
        </p:spPr>
        <p:txBody>
          <a:bodyPr wrap="square" rtlCol="0" anchor="t">
            <a:spAutoFit/>
          </a:bodyPr>
          <a:p>
            <a:r>
              <a:rPr lang="zh-CN" altLang="en-US" sz="1400">
                <a:sym typeface="+mn-ea"/>
              </a:rPr>
              <a:t>解决蛋白质设计中的结构约束和高维突变搜索空间问题。</a:t>
            </a:r>
            <a:endParaRPr lang="zh-CN" altLang="en-US" sz="1400">
              <a:sym typeface="+mn-ea"/>
            </a:endParaRPr>
          </a:p>
        </p:txBody>
      </p:sp>
      <p:sp>
        <p:nvSpPr>
          <p:cNvPr id="16" name="文本框 15"/>
          <p:cNvSpPr txBox="1"/>
          <p:nvPr/>
        </p:nvSpPr>
        <p:spPr>
          <a:xfrm>
            <a:off x="323850" y="203898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方法：</a:t>
            </a:r>
            <a:endParaRPr lang="zh-CN" altLang="en-US" sz="1400" b="1">
              <a:solidFill>
                <a:srgbClr val="0078AA"/>
              </a:solidFill>
              <a:ea typeface="微软雅黑" panose="020B0503020204020204" pitchFamily="34" charset="-122"/>
              <a:sym typeface="+mn-ea"/>
            </a:endParaRPr>
          </a:p>
        </p:txBody>
      </p:sp>
      <p:sp>
        <p:nvSpPr>
          <p:cNvPr id="18" name="文本框 17"/>
          <p:cNvSpPr txBox="1"/>
          <p:nvPr/>
        </p:nvSpPr>
        <p:spPr>
          <a:xfrm>
            <a:off x="323850" y="2672715"/>
            <a:ext cx="8227695" cy="306705"/>
          </a:xfrm>
          <a:prstGeom prst="rect">
            <a:avLst/>
          </a:prstGeom>
          <a:noFill/>
        </p:spPr>
        <p:txBody>
          <a:bodyPr wrap="square" rtlCol="0">
            <a:spAutoFit/>
          </a:bodyPr>
          <a:p>
            <a:pPr marL="0" lvl="1"/>
            <a:r>
              <a:rPr lang="zh-CN" altLang="en-US" sz="1400"/>
              <a:t>使用</a:t>
            </a:r>
            <a:r>
              <a:rPr lang="zh-CN" altLang="en-US" sz="1400">
                <a:sym typeface="+mn-ea"/>
              </a:rPr>
              <a:t>结合结构信息的蛋白质语言模型</a:t>
            </a:r>
            <a:r>
              <a:rPr lang="en-US" altLang="zh-CN" sz="1400">
                <a:sym typeface="+mn-ea"/>
              </a:rPr>
              <a:t>ESM-IF1</a:t>
            </a:r>
            <a:r>
              <a:rPr lang="zh-CN" altLang="en-US" sz="1400">
                <a:sym typeface="+mn-ea"/>
              </a:rPr>
              <a:t>，在数百万个非冗余的单序列</a:t>
            </a:r>
            <a:r>
              <a:rPr lang="en-US" altLang="zh-CN" sz="1400">
                <a:sym typeface="+mn-ea"/>
              </a:rPr>
              <a:t>-</a:t>
            </a:r>
            <a:r>
              <a:rPr lang="zh-CN" altLang="en-US" sz="1400">
                <a:sym typeface="+mn-ea"/>
              </a:rPr>
              <a:t>结构对上进行训练。</a:t>
            </a:r>
            <a:endParaRPr lang="zh-CN" altLang="en-US" sz="1400">
              <a:sym typeface="+mn-ea"/>
            </a:endParaRPr>
          </a:p>
        </p:txBody>
      </p:sp>
      <p:sp>
        <p:nvSpPr>
          <p:cNvPr id="19" name="文本框 18"/>
          <p:cNvSpPr txBox="1"/>
          <p:nvPr/>
        </p:nvSpPr>
        <p:spPr>
          <a:xfrm>
            <a:off x="323850" y="330644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模型任务：</a:t>
            </a:r>
            <a:endParaRPr lang="zh-CN" altLang="en-US" sz="1400" b="1">
              <a:solidFill>
                <a:srgbClr val="0078AA"/>
              </a:solidFill>
              <a:ea typeface="微软雅黑" panose="020B0503020204020204" pitchFamily="34" charset="-122"/>
              <a:sym typeface="+mn-ea"/>
            </a:endParaRPr>
          </a:p>
        </p:txBody>
      </p:sp>
      <p:sp>
        <p:nvSpPr>
          <p:cNvPr id="20" name="文本框 19"/>
          <p:cNvSpPr txBox="1"/>
          <p:nvPr/>
        </p:nvSpPr>
        <p:spPr>
          <a:xfrm>
            <a:off x="323850" y="3940175"/>
            <a:ext cx="8027670" cy="521970"/>
          </a:xfrm>
          <a:prstGeom prst="rect">
            <a:avLst/>
          </a:prstGeom>
          <a:noFill/>
        </p:spPr>
        <p:txBody>
          <a:bodyPr wrap="square" rtlCol="0" anchor="t">
            <a:spAutoFit/>
          </a:bodyPr>
          <a:p>
            <a:r>
              <a:rPr lang="zh-CN" altLang="en-US" sz="1400">
                <a:sym typeface="+mn-ea"/>
              </a:rPr>
              <a:t>与结构预测工具（如</a:t>
            </a:r>
            <a:r>
              <a:rPr lang="en-US" altLang="zh-CN" sz="1400">
                <a:sym typeface="+mn-ea"/>
              </a:rPr>
              <a:t>AlphaFold</a:t>
            </a:r>
            <a:r>
              <a:rPr lang="zh-CN" altLang="en-US" sz="1400">
                <a:sym typeface="+mn-ea"/>
              </a:rPr>
              <a:t>和</a:t>
            </a:r>
            <a:r>
              <a:rPr lang="en-US" altLang="zh-CN" sz="1400">
                <a:sym typeface="+mn-ea"/>
              </a:rPr>
              <a:t>ESMFold</a:t>
            </a:r>
            <a:r>
              <a:rPr lang="zh-CN" altLang="en-US" sz="1400">
                <a:sym typeface="+mn-ea"/>
              </a:rPr>
              <a:t>）相反，模型的任务是预测能够采用特定目标结构折叠的氨基酸序列。</a:t>
            </a:r>
            <a:endParaRPr lang="zh-CN" altLang="en-US" sz="1400">
              <a:sym typeface="+mn-ea"/>
            </a:endParaRPr>
          </a:p>
        </p:txBody>
      </p:sp>
    </p:spTree>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2.3  </a:t>
            </a:r>
            <a:r>
              <a:rPr sz="2000" b="1">
                <a:solidFill>
                  <a:schemeClr val="bg1"/>
                </a:solidFill>
                <a:latin typeface="微软雅黑" panose="020B0503020204020204" pitchFamily="34" charset="-122"/>
                <a:ea typeface="微软雅黑" panose="020B0503020204020204" pitchFamily="34" charset="-122"/>
              </a:rPr>
              <a:t>包</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含</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结</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构</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信</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息</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的</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蛋</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白</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质</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语</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言</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模</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型</a:t>
            </a:r>
            <a:endParaRPr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2" name="图片 1"/>
          <p:cNvPicPr>
            <a:picLocks noChangeAspect="1"/>
          </p:cNvPicPr>
          <p:nvPr/>
        </p:nvPicPr>
        <p:blipFill>
          <a:blip r:embed="rId1"/>
          <a:stretch>
            <a:fillRect/>
          </a:stretch>
        </p:blipFill>
        <p:spPr>
          <a:xfrm>
            <a:off x="2667000" y="807720"/>
            <a:ext cx="3810000" cy="3528060"/>
          </a:xfrm>
          <a:prstGeom prst="rect">
            <a:avLst/>
          </a:prstGeom>
        </p:spPr>
      </p:pic>
    </p:spTree>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2.4  </a:t>
            </a:r>
            <a:r>
              <a:rPr lang="zh-CN" altLang="en-US" sz="2000" b="1">
                <a:solidFill>
                  <a:schemeClr val="bg1"/>
                </a:solidFill>
                <a:latin typeface="微软雅黑" panose="020B0503020204020204" pitchFamily="34" charset="-122"/>
                <a:ea typeface="微软雅黑" panose="020B0503020204020204" pitchFamily="34" charset="-122"/>
              </a:rPr>
              <a:t>混</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合</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自</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回</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归</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模</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型</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的</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架</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构</a:t>
            </a:r>
            <a:endParaRPr lang="zh-CN" altLang="en-US"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sp>
        <p:nvSpPr>
          <p:cNvPr id="3" name="文本框 2"/>
          <p:cNvSpPr txBox="1"/>
          <p:nvPr/>
        </p:nvSpPr>
        <p:spPr>
          <a:xfrm>
            <a:off x="395605" y="771525"/>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自回归建模：</a:t>
            </a:r>
            <a:endParaRPr lang="zh-CN" altLang="en-US" sz="1400" b="1">
              <a:solidFill>
                <a:srgbClr val="0078AA"/>
              </a:solidFill>
              <a:ea typeface="微软雅黑" panose="020B0503020204020204" pitchFamily="34" charset="-122"/>
              <a:sym typeface="+mn-ea"/>
            </a:endParaRPr>
          </a:p>
        </p:txBody>
      </p:sp>
      <p:sp>
        <p:nvSpPr>
          <p:cNvPr id="4" name="文本框 3"/>
          <p:cNvSpPr txBox="1"/>
          <p:nvPr/>
        </p:nvSpPr>
        <p:spPr>
          <a:xfrm>
            <a:off x="395605" y="1393825"/>
            <a:ext cx="7236460" cy="306705"/>
          </a:xfrm>
          <a:prstGeom prst="rect">
            <a:avLst/>
          </a:prstGeom>
          <a:noFill/>
        </p:spPr>
        <p:txBody>
          <a:bodyPr wrap="square" rtlCol="0" anchor="t">
            <a:spAutoFit/>
          </a:bodyPr>
          <a:p>
            <a:r>
              <a:rPr lang="zh-CN" altLang="en-US" sz="1400">
                <a:sym typeface="+mn-ea"/>
              </a:rPr>
              <a:t>通过考虑前一个氨基酸序列和整个结构的主链坐标来预测氨基酸的身份。</a:t>
            </a:r>
            <a:endParaRPr lang="zh-CN" altLang="en-US" sz="1400">
              <a:sym typeface="+mn-ea"/>
            </a:endParaRPr>
          </a:p>
        </p:txBody>
      </p:sp>
      <p:sp>
        <p:nvSpPr>
          <p:cNvPr id="5" name="文本框 4"/>
          <p:cNvSpPr txBox="1"/>
          <p:nvPr/>
        </p:nvSpPr>
        <p:spPr>
          <a:xfrm>
            <a:off x="395605" y="2231390"/>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结果预期：</a:t>
            </a:r>
            <a:endParaRPr lang="zh-CN" altLang="en-US" sz="1400" b="1">
              <a:solidFill>
                <a:srgbClr val="0078AA"/>
              </a:solidFill>
              <a:ea typeface="微软雅黑" panose="020B0503020204020204" pitchFamily="34" charset="-122"/>
              <a:sym typeface="+mn-ea"/>
            </a:endParaRPr>
          </a:p>
        </p:txBody>
      </p:sp>
      <p:sp>
        <p:nvSpPr>
          <p:cNvPr id="7" name="文本框 6"/>
          <p:cNvSpPr txBox="1"/>
          <p:nvPr/>
        </p:nvSpPr>
        <p:spPr>
          <a:xfrm>
            <a:off x="395605" y="2853690"/>
            <a:ext cx="8568055" cy="306705"/>
          </a:xfrm>
          <a:prstGeom prst="rect">
            <a:avLst/>
          </a:prstGeom>
          <a:noFill/>
        </p:spPr>
        <p:txBody>
          <a:bodyPr wrap="square" rtlCol="0">
            <a:spAutoFit/>
          </a:bodyPr>
          <a:p>
            <a:pPr marL="0" lvl="1"/>
            <a:r>
              <a:rPr lang="zh-CN" altLang="en-US" sz="1400">
                <a:sym typeface="+mn-ea"/>
              </a:rPr>
              <a:t>由结构信息驱动的语言模型赋予高评分的序列，预计能够以高置信度折叠成输入结构的主链。</a:t>
            </a:r>
            <a:endParaRPr lang="zh-CN" altLang="en-US" sz="1400">
              <a:sym typeface="+mn-ea"/>
            </a:endParaRPr>
          </a:p>
        </p:txBody>
      </p:sp>
    </p:spTree>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2.4  </a:t>
            </a:r>
            <a:r>
              <a:rPr sz="2000" b="1">
                <a:solidFill>
                  <a:schemeClr val="bg1"/>
                </a:solidFill>
                <a:latin typeface="微软雅黑" panose="020B0503020204020204" pitchFamily="34" charset="-122"/>
                <a:ea typeface="微软雅黑" panose="020B0503020204020204" pitchFamily="34" charset="-122"/>
                <a:sym typeface="+mn-ea"/>
              </a:rPr>
              <a:t>混</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合</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自</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回</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归</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模</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型</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的</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架</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构</a:t>
            </a:r>
            <a:endParaRPr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2" name="图片 1"/>
          <p:cNvPicPr>
            <a:picLocks noChangeAspect="1"/>
          </p:cNvPicPr>
          <p:nvPr/>
        </p:nvPicPr>
        <p:blipFill>
          <a:blip r:embed="rId1"/>
          <a:stretch>
            <a:fillRect/>
          </a:stretch>
        </p:blipFill>
        <p:spPr>
          <a:xfrm>
            <a:off x="2339975" y="591820"/>
            <a:ext cx="4302760" cy="4258310"/>
          </a:xfrm>
          <a:prstGeom prst="rect">
            <a:avLst/>
          </a:prstGeom>
        </p:spPr>
      </p:pic>
    </p:spTree>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2.5  </a:t>
            </a:r>
            <a:r>
              <a:rPr lang="zh-CN" altLang="en-US" sz="2000" b="1">
                <a:solidFill>
                  <a:schemeClr val="bg1"/>
                </a:solidFill>
                <a:latin typeface="微软雅黑" panose="020B0503020204020204" pitchFamily="34" charset="-122"/>
                <a:ea typeface="微软雅黑" panose="020B0503020204020204" pitchFamily="34" charset="-122"/>
              </a:rPr>
              <a:t>突</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变</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空</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间</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与</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适</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应</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性</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景</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观</a:t>
            </a:r>
            <a:endParaRPr lang="zh-CN" altLang="en-US"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sp>
        <p:nvSpPr>
          <p:cNvPr id="3" name="文本框 2"/>
          <p:cNvSpPr txBox="1"/>
          <p:nvPr/>
        </p:nvSpPr>
        <p:spPr>
          <a:xfrm>
            <a:off x="539750" y="843280"/>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逆折叠问题：</a:t>
            </a:r>
            <a:endParaRPr lang="zh-CN" altLang="en-US" sz="1400" b="1">
              <a:solidFill>
                <a:srgbClr val="0078AA"/>
              </a:solidFill>
              <a:ea typeface="微软雅黑" panose="020B0503020204020204" pitchFamily="34" charset="-122"/>
              <a:sym typeface="+mn-ea"/>
            </a:endParaRPr>
          </a:p>
        </p:txBody>
      </p:sp>
      <p:sp>
        <p:nvSpPr>
          <p:cNvPr id="4" name="文本框 3"/>
          <p:cNvSpPr txBox="1"/>
          <p:nvPr/>
        </p:nvSpPr>
        <p:spPr>
          <a:xfrm>
            <a:off x="539750" y="1404620"/>
            <a:ext cx="4572000" cy="306705"/>
          </a:xfrm>
          <a:prstGeom prst="rect">
            <a:avLst/>
          </a:prstGeom>
          <a:noFill/>
        </p:spPr>
        <p:txBody>
          <a:bodyPr wrap="square" rtlCol="0" anchor="t">
            <a:spAutoFit/>
          </a:bodyPr>
          <a:p>
            <a:r>
              <a:rPr lang="zh-CN" altLang="en-US" sz="1400">
                <a:sym typeface="+mn-ea"/>
              </a:rPr>
              <a:t>设计用于特定目标结构的序列常常不保证功能性。</a:t>
            </a:r>
            <a:endParaRPr lang="zh-CN" altLang="en-US" sz="1400">
              <a:sym typeface="+mn-ea"/>
            </a:endParaRPr>
          </a:p>
        </p:txBody>
      </p:sp>
      <p:sp>
        <p:nvSpPr>
          <p:cNvPr id="5" name="文本框 4"/>
          <p:cNvSpPr txBox="1"/>
          <p:nvPr/>
        </p:nvSpPr>
        <p:spPr>
          <a:xfrm>
            <a:off x="539750" y="1965960"/>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结构约束：</a:t>
            </a:r>
            <a:endParaRPr lang="zh-CN" altLang="en-US" sz="1400" b="1">
              <a:solidFill>
                <a:srgbClr val="0078AA"/>
              </a:solidFill>
              <a:ea typeface="微软雅黑" panose="020B0503020204020204" pitchFamily="34" charset="-122"/>
              <a:sym typeface="+mn-ea"/>
            </a:endParaRPr>
          </a:p>
        </p:txBody>
      </p:sp>
      <p:sp>
        <p:nvSpPr>
          <p:cNvPr id="6" name="文本框 5"/>
          <p:cNvSpPr txBox="1"/>
          <p:nvPr/>
        </p:nvSpPr>
        <p:spPr>
          <a:xfrm>
            <a:off x="539750" y="3088640"/>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设计框架：</a:t>
            </a:r>
            <a:endParaRPr lang="zh-CN" altLang="en-US" sz="1400" b="1">
              <a:solidFill>
                <a:srgbClr val="0078AA"/>
              </a:solidFill>
              <a:ea typeface="微软雅黑" panose="020B0503020204020204" pitchFamily="34" charset="-122"/>
              <a:sym typeface="+mn-ea"/>
            </a:endParaRPr>
          </a:p>
        </p:txBody>
      </p:sp>
      <p:sp>
        <p:nvSpPr>
          <p:cNvPr id="7" name="文本框 6"/>
          <p:cNvSpPr txBox="1"/>
          <p:nvPr/>
        </p:nvSpPr>
        <p:spPr>
          <a:xfrm>
            <a:off x="539750" y="3649980"/>
            <a:ext cx="7877810" cy="521970"/>
          </a:xfrm>
          <a:prstGeom prst="rect">
            <a:avLst/>
          </a:prstGeom>
          <a:noFill/>
        </p:spPr>
        <p:txBody>
          <a:bodyPr wrap="square" rtlCol="0" anchor="t">
            <a:spAutoFit/>
          </a:bodyPr>
          <a:p>
            <a:r>
              <a:rPr lang="zh-CN" altLang="en-US" sz="1400">
                <a:sym typeface="+mn-ea"/>
              </a:rPr>
              <a:t>不建模明确的功能或适应性，而是利用序列</a:t>
            </a:r>
            <a:r>
              <a:rPr lang="en-US" altLang="zh-CN" sz="1400">
                <a:sym typeface="+mn-ea"/>
              </a:rPr>
              <a:t>-</a:t>
            </a:r>
            <a:r>
              <a:rPr lang="zh-CN" altLang="en-US" sz="1400">
                <a:sym typeface="+mn-ea"/>
              </a:rPr>
              <a:t>结构的退化性，探索保持主链折叠的区域，以间接研究适应性景观。</a:t>
            </a:r>
            <a:endParaRPr lang="zh-CN" altLang="en-US" sz="1400">
              <a:sym typeface="+mn-ea"/>
            </a:endParaRPr>
          </a:p>
        </p:txBody>
      </p:sp>
      <p:sp>
        <p:nvSpPr>
          <p:cNvPr id="8" name="文本框 7"/>
          <p:cNvSpPr txBox="1"/>
          <p:nvPr/>
        </p:nvSpPr>
        <p:spPr>
          <a:xfrm>
            <a:off x="539750" y="2527300"/>
            <a:ext cx="7360285" cy="306705"/>
          </a:xfrm>
          <a:prstGeom prst="rect">
            <a:avLst/>
          </a:prstGeom>
          <a:noFill/>
        </p:spPr>
        <p:txBody>
          <a:bodyPr wrap="square" rtlCol="0" anchor="t">
            <a:spAutoFit/>
          </a:bodyPr>
          <a:p>
            <a:r>
              <a:rPr lang="zh-CN" altLang="en-US" sz="1400">
                <a:sym typeface="+mn-ea"/>
              </a:rPr>
              <a:t>许多序列可以折叠为相同的主链构象，这是寻找最佳序列设计的障碍</a:t>
            </a:r>
            <a:endParaRPr lang="zh-CN" altLang="en-US" sz="1400">
              <a:sym typeface="+mn-ea"/>
            </a:endParaRPr>
          </a:p>
        </p:txBody>
      </p:sp>
    </p:spTree>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2.5  </a:t>
            </a:r>
            <a:r>
              <a:rPr lang="zh-CN" altLang="en-US" sz="2000" b="1">
                <a:solidFill>
                  <a:schemeClr val="bg1"/>
                </a:solidFill>
                <a:latin typeface="微软雅黑" panose="020B0503020204020204" pitchFamily="34" charset="-122"/>
                <a:ea typeface="微软雅黑" panose="020B0503020204020204" pitchFamily="34" charset="-122"/>
              </a:rPr>
              <a:t>突</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变</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空</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间</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与</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适</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应</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性</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景</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观</a:t>
            </a:r>
            <a:endParaRPr lang="zh-CN" altLang="en-US"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3" name="图片 2"/>
          <p:cNvPicPr>
            <a:picLocks noChangeAspect="1"/>
          </p:cNvPicPr>
          <p:nvPr/>
        </p:nvPicPr>
        <p:blipFill>
          <a:blip r:embed="rId1"/>
          <a:stretch>
            <a:fillRect/>
          </a:stretch>
        </p:blipFill>
        <p:spPr>
          <a:xfrm>
            <a:off x="2397760" y="619125"/>
            <a:ext cx="4351655" cy="4195445"/>
          </a:xfrm>
          <a:prstGeom prst="rect">
            <a:avLst/>
          </a:prstGeom>
        </p:spPr>
      </p:pic>
    </p:spTree>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p:cNvPicPr>
          <p:nvPr/>
        </p:nvPicPr>
        <p:blipFill>
          <a:blip r:embed="rId1"/>
          <a:stretch>
            <a:fillRect/>
          </a:stretch>
        </p:blipFill>
        <p:spPr>
          <a:xfrm>
            <a:off x="0" y="1693863"/>
            <a:ext cx="9144000" cy="1755775"/>
          </a:xfrm>
          <a:prstGeom prst="rect">
            <a:avLst/>
          </a:prstGeom>
          <a:noFill/>
          <a:ln>
            <a:noFill/>
            <a:miter lim="800000"/>
            <a:headEnd/>
            <a:tailEnd/>
          </a:ln>
        </p:spPr>
      </p:pic>
      <p:sp>
        <p:nvSpPr>
          <p:cNvPr id="9219" name="Text Box 6"/>
          <p:cNvSpPr/>
          <p:nvPr/>
        </p:nvSpPr>
        <p:spPr>
          <a:xfrm>
            <a:off x="3709988" y="2322513"/>
            <a:ext cx="5434012" cy="519112"/>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r>
              <a:rPr lang="zh-CN" altLang="en-US" sz="2800">
                <a:solidFill>
                  <a:schemeClr val="bg1"/>
                </a:solidFill>
                <a:latin typeface="微软雅黑" panose="020B0503020204020204" pitchFamily="34" charset="-122"/>
                <a:ea typeface="微软雅黑" panose="020B0503020204020204" pitchFamily="34" charset="-122"/>
              </a:rPr>
              <a:t>第三章    研究过程</a:t>
            </a:r>
            <a:endParaRPr sz="2800">
              <a:solidFill>
                <a:schemeClr val="bg1"/>
              </a:solidFill>
              <a:latin typeface="微软雅黑" panose="020B0503020204020204" pitchFamily="34" charset="-122"/>
              <a:ea typeface="微软雅黑" panose="020B0503020204020204" pitchFamily="34" charset="-122"/>
            </a:endParaRPr>
          </a:p>
        </p:txBody>
      </p:sp>
      <p:grpSp>
        <p:nvGrpSpPr>
          <p:cNvPr id="9221" name="Group 5"/>
          <p:cNvGrpSpPr/>
          <p:nvPr/>
        </p:nvGrpSpPr>
        <p:grpSpPr>
          <a:xfrm>
            <a:off x="1254125" y="2136775"/>
            <a:ext cx="863600" cy="863600"/>
            <a:chOff x="0" y="0"/>
            <a:chExt cx="1360" cy="1360"/>
          </a:xfrm>
        </p:grpSpPr>
        <p:pic>
          <p:nvPicPr>
            <p:cNvPr id="9222" name="Picture 8"/>
            <p:cNvPicPr>
              <a:picLocks noChangeAspect="1"/>
            </p:cNvPicPr>
            <p:nvPr/>
          </p:nvPicPr>
          <p:blipFill>
            <a:blip r:embed="rId2"/>
            <a:stretch>
              <a:fillRect/>
            </a:stretch>
          </p:blipFill>
          <p:spPr>
            <a:xfrm>
              <a:off x="305" y="256"/>
              <a:ext cx="808" cy="816"/>
            </a:xfrm>
            <a:prstGeom prst="rect">
              <a:avLst/>
            </a:prstGeom>
            <a:noFill/>
            <a:ln>
              <a:noFill/>
              <a:bevel/>
            </a:ln>
          </p:spPr>
        </p:pic>
        <p:sp>
          <p:nvSpPr>
            <p:cNvPr id="9223" name="正圆 198"/>
            <p:cNvSpPr/>
            <p:nvPr/>
          </p:nvSpPr>
          <p:spPr>
            <a:xfrm>
              <a:off x="0" y="0"/>
              <a:ext cx="1360" cy="1360"/>
            </a:xfrm>
            <a:prstGeom prst="ellipse">
              <a:avLst/>
            </a:prstGeom>
            <a:noFill/>
            <a:ln w="28575">
              <a:solidFill>
                <a:schemeClr val="bg1"/>
              </a:solidFill>
              <a:bevel/>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pic>
        <p:nvPicPr>
          <p:cNvPr id="4" name="图片 3" descr="青岛科技大学LOGO"/>
          <p:cNvPicPr>
            <a:picLocks noChangeAspect="1"/>
          </p:cNvPicPr>
          <p:nvPr/>
        </p:nvPicPr>
        <p:blipFill>
          <a:blip r:embed="rId3"/>
          <a:stretch>
            <a:fillRect/>
          </a:stretch>
        </p:blipFill>
        <p:spPr>
          <a:xfrm>
            <a:off x="0" y="51435"/>
            <a:ext cx="3364998" cy="722071"/>
          </a:xfrm>
          <a:prstGeom prst="rect">
            <a:avLst/>
          </a:prstGeom>
        </p:spPr>
      </p:pic>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3.1  </a:t>
            </a:r>
            <a:r>
              <a:rPr lang="zh-CN" altLang="en-US" sz="2000" b="1">
                <a:solidFill>
                  <a:schemeClr val="bg1"/>
                </a:solidFill>
                <a:latin typeface="微软雅黑" panose="020B0503020204020204" pitchFamily="34" charset="-122"/>
                <a:ea typeface="微软雅黑" panose="020B0503020204020204" pitchFamily="34" charset="-122"/>
              </a:rPr>
              <a:t>结</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构</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信</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息</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对</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语</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言</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模</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型</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的</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增</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强</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效</a:t>
            </a:r>
            <a:r>
              <a:rPr lang="en-US" altLang="zh-CN" sz="2000" b="1">
                <a:solidFill>
                  <a:schemeClr val="bg1"/>
                </a:solidFill>
                <a:latin typeface="微软雅黑" panose="020B0503020204020204" pitchFamily="34" charset="-122"/>
                <a:ea typeface="微软雅黑" panose="020B0503020204020204" pitchFamily="34" charset="-122"/>
              </a:rPr>
              <a:t> </a:t>
            </a:r>
            <a:r>
              <a:rPr lang="zh-CN" altLang="en-US" sz="2000" b="1">
                <a:solidFill>
                  <a:schemeClr val="bg1"/>
                </a:solidFill>
                <a:latin typeface="微软雅黑" panose="020B0503020204020204" pitchFamily="34" charset="-122"/>
                <a:ea typeface="微软雅黑" panose="020B0503020204020204" pitchFamily="34" charset="-122"/>
              </a:rPr>
              <a:t>果</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评</a:t>
            </a:r>
            <a:r>
              <a:rPr lang="en-US" altLang="zh-CN" sz="2000" b="1">
                <a:solidFill>
                  <a:schemeClr val="bg1"/>
                </a:solidFill>
                <a:latin typeface="微软雅黑" panose="020B0503020204020204" pitchFamily="34" charset="-122"/>
                <a:ea typeface="微软雅黑" panose="020B0503020204020204" pitchFamily="34" charset="-122"/>
              </a:rPr>
              <a:t> </a:t>
            </a:r>
            <a:r>
              <a:rPr sz="2000" b="1">
                <a:solidFill>
                  <a:schemeClr val="bg1"/>
                </a:solidFill>
                <a:latin typeface="微软雅黑" panose="020B0503020204020204" pitchFamily="34" charset="-122"/>
                <a:ea typeface="微软雅黑" panose="020B0503020204020204" pitchFamily="34" charset="-122"/>
              </a:rPr>
              <a:t>估</a:t>
            </a:r>
            <a:endParaRPr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sp>
        <p:nvSpPr>
          <p:cNvPr id="2" name="文本框 1"/>
          <p:cNvSpPr txBox="1"/>
          <p:nvPr/>
        </p:nvSpPr>
        <p:spPr>
          <a:xfrm>
            <a:off x="252095" y="843280"/>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研究目的：</a:t>
            </a:r>
            <a:endParaRPr lang="zh-CN" altLang="en-US" sz="1400" b="1">
              <a:solidFill>
                <a:srgbClr val="0078AA"/>
              </a:solidFill>
              <a:ea typeface="微软雅黑" panose="020B0503020204020204" pitchFamily="34" charset="-122"/>
              <a:sym typeface="+mn-ea"/>
            </a:endParaRPr>
          </a:p>
        </p:txBody>
      </p:sp>
      <p:sp>
        <p:nvSpPr>
          <p:cNvPr id="4" name="文本框 3"/>
          <p:cNvSpPr txBox="1"/>
          <p:nvPr/>
        </p:nvSpPr>
        <p:spPr>
          <a:xfrm>
            <a:off x="252095" y="1491615"/>
            <a:ext cx="7450455" cy="306705"/>
          </a:xfrm>
          <a:prstGeom prst="rect">
            <a:avLst/>
          </a:prstGeom>
        </p:spPr>
        <p:txBody>
          <a:bodyPr wrap="square">
            <a:spAutoFit/>
          </a:bodyPr>
          <a:p>
            <a:pPr>
              <a:buFont typeface="Arial" panose="020B0604020202020204"/>
            </a:pPr>
            <a:r>
              <a:rPr lang="zh-CN" altLang="en-US" sz="1400"/>
              <a:t>评估结构信息对语言模型的增强效果，指导蛋白质突变预测以提高活性。</a:t>
            </a:r>
            <a:endParaRPr lang="zh-CN" altLang="en-US" sz="1400"/>
          </a:p>
        </p:txBody>
      </p:sp>
      <p:sp>
        <p:nvSpPr>
          <p:cNvPr id="5" name="文本框 4"/>
          <p:cNvSpPr txBox="1"/>
          <p:nvPr/>
        </p:nvSpPr>
        <p:spPr>
          <a:xfrm>
            <a:off x="252095" y="2139950"/>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研究对象：</a:t>
            </a:r>
            <a:endParaRPr lang="zh-CN" altLang="en-US" sz="1400" b="1">
              <a:solidFill>
                <a:srgbClr val="0078AA"/>
              </a:solidFill>
              <a:ea typeface="微软雅黑" panose="020B0503020204020204" pitchFamily="34" charset="-122"/>
              <a:sym typeface="+mn-ea"/>
            </a:endParaRPr>
          </a:p>
        </p:txBody>
      </p:sp>
      <p:sp>
        <p:nvSpPr>
          <p:cNvPr id="6" name="文本框 5"/>
          <p:cNvSpPr txBox="1"/>
          <p:nvPr/>
        </p:nvSpPr>
        <p:spPr>
          <a:xfrm>
            <a:off x="252095" y="2788285"/>
            <a:ext cx="5080000" cy="306705"/>
          </a:xfrm>
          <a:prstGeom prst="rect">
            <a:avLst/>
          </a:prstGeom>
        </p:spPr>
        <p:txBody>
          <a:bodyPr>
            <a:spAutoFit/>
          </a:bodyPr>
          <a:p>
            <a:r>
              <a:rPr lang="zh-CN" altLang="en-US" sz="1400"/>
              <a:t>选择</a:t>
            </a:r>
            <a:r>
              <a:rPr lang="en-US" altLang="zh-CN" sz="1400"/>
              <a:t>10</a:t>
            </a:r>
            <a:r>
              <a:rPr lang="zh-CN" altLang="en-US" sz="1400"/>
              <a:t>种不同功能的蛋白质，涉及多种生物体（</a:t>
            </a:r>
            <a:r>
              <a:rPr lang="en-US" altLang="zh-CN" sz="1400"/>
              <a:t>4</a:t>
            </a:r>
            <a:r>
              <a:rPr lang="zh-CN" altLang="en-US" sz="1400"/>
              <a:t>种）。</a:t>
            </a:r>
            <a:endParaRPr lang="zh-CN" altLang="en-US" sz="1400"/>
          </a:p>
        </p:txBody>
      </p:sp>
      <p:sp>
        <p:nvSpPr>
          <p:cNvPr id="7" name="文本框 6"/>
          <p:cNvSpPr txBox="1"/>
          <p:nvPr/>
        </p:nvSpPr>
        <p:spPr>
          <a:xfrm>
            <a:off x="252095" y="3436620"/>
            <a:ext cx="4572000" cy="306705"/>
          </a:xfrm>
          <a:prstGeom prst="rect">
            <a:avLst/>
          </a:prstGeom>
          <a:noFill/>
        </p:spPr>
        <p:txBody>
          <a:bodyPr wrap="square" rtlCol="0" anchor="t">
            <a:spAutoFit/>
          </a:bodyPr>
          <a:p>
            <a:r>
              <a:rPr lang="zh-CN" altLang="en-US" sz="1400" b="1">
                <a:solidFill>
                  <a:srgbClr val="0078AA"/>
                </a:solidFill>
                <a:ea typeface="微软雅黑" panose="020B0503020204020204" pitchFamily="34" charset="-122"/>
                <a:sym typeface="+mn-ea"/>
              </a:rPr>
              <a:t>方法：</a:t>
            </a:r>
            <a:endParaRPr lang="zh-CN" altLang="en-US" sz="1400" b="1">
              <a:solidFill>
                <a:srgbClr val="0078AA"/>
              </a:solidFill>
              <a:ea typeface="微软雅黑" panose="020B0503020204020204" pitchFamily="34" charset="-122"/>
              <a:sym typeface="+mn-ea"/>
            </a:endParaRPr>
          </a:p>
        </p:txBody>
      </p:sp>
      <p:sp>
        <p:nvSpPr>
          <p:cNvPr id="8" name="文本框 7"/>
          <p:cNvSpPr txBox="1"/>
          <p:nvPr/>
        </p:nvSpPr>
        <p:spPr>
          <a:xfrm>
            <a:off x="252095" y="4084955"/>
            <a:ext cx="6554470" cy="306705"/>
          </a:xfrm>
          <a:prstGeom prst="rect">
            <a:avLst/>
          </a:prstGeom>
        </p:spPr>
        <p:txBody>
          <a:bodyPr wrap="square">
            <a:spAutoFit/>
          </a:bodyPr>
          <a:p>
            <a:r>
              <a:rPr lang="zh-CN" altLang="en-US" sz="1400"/>
              <a:t>利用无监督模型计算变体的序列对数似然值，未使用任何实验数据进行训练。</a:t>
            </a:r>
            <a:endParaRPr lang="zh-CN" altLang="en-US" sz="1400"/>
          </a:p>
        </p:txBody>
      </p:sp>
    </p:spTree>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3.1  </a:t>
            </a:r>
            <a:r>
              <a:rPr sz="2000" b="1">
                <a:solidFill>
                  <a:schemeClr val="bg1"/>
                </a:solidFill>
                <a:latin typeface="微软雅黑" panose="020B0503020204020204" pitchFamily="34" charset="-122"/>
                <a:ea typeface="微软雅黑" panose="020B0503020204020204" pitchFamily="34" charset="-122"/>
                <a:sym typeface="+mn-ea"/>
              </a:rPr>
              <a:t>结</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构</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信</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息</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对</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语</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言</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模</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型</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的</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增</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强</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效</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果</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评</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估</a:t>
            </a:r>
            <a:endParaRPr lang="zh-CN" altLang="en-US" sz="2000" b="1">
              <a:solidFill>
                <a:schemeClr val="bg1"/>
              </a:solidFill>
              <a:latin typeface="微软雅黑" panose="020B0503020204020204" pitchFamily="34" charset="-122"/>
              <a:ea typeface="微软雅黑" panose="020B0503020204020204" pitchFamily="34" charset="-122"/>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2" name="图片 1"/>
          <p:cNvPicPr>
            <a:picLocks noChangeAspect="1"/>
          </p:cNvPicPr>
          <p:nvPr/>
        </p:nvPicPr>
        <p:blipFill>
          <a:blip r:embed="rId1"/>
          <a:stretch>
            <a:fillRect/>
          </a:stretch>
        </p:blipFill>
        <p:spPr>
          <a:xfrm>
            <a:off x="90170" y="1203325"/>
            <a:ext cx="8963660" cy="2804160"/>
          </a:xfrm>
          <a:prstGeom prst="rect">
            <a:avLst/>
          </a:prstGeom>
        </p:spPr>
      </p:pic>
    </p:spTree>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3.2-</a:t>
            </a:r>
            <a:r>
              <a:rPr lang="en-US" altLang="zh-CN" sz="2000" b="1">
                <a:solidFill>
                  <a:schemeClr val="bg1"/>
                </a:solidFill>
                <a:latin typeface="微软雅黑" panose="020B0503020204020204" pitchFamily="34" charset="-122"/>
                <a:ea typeface="微软雅黑" panose="020B0503020204020204" pitchFamily="34" charset="-122"/>
                <a:sym typeface="+mn-ea"/>
              </a:rPr>
              <a:t>a  Spearman</a:t>
            </a:r>
            <a:r>
              <a:rPr sz="2000" b="1">
                <a:solidFill>
                  <a:schemeClr val="bg1"/>
                </a:solidFill>
                <a:latin typeface="微软雅黑" panose="020B0503020204020204" pitchFamily="34" charset="-122"/>
                <a:ea typeface="微软雅黑" panose="020B0503020204020204" pitchFamily="34" charset="-122"/>
                <a:sym typeface="+mn-ea"/>
              </a:rPr>
              <a:t>相关性</a:t>
            </a:r>
            <a:r>
              <a:rPr sz="2000" b="1">
                <a:solidFill>
                  <a:schemeClr val="bg1"/>
                </a:solidFill>
                <a:latin typeface="微软雅黑" panose="020B0503020204020204" pitchFamily="34" charset="-122"/>
                <a:ea typeface="微软雅黑" panose="020B0503020204020204" pitchFamily="34" charset="-122"/>
                <a:sym typeface="+mn-ea"/>
              </a:rPr>
              <a:t>分析</a:t>
            </a:r>
            <a:endParaRPr sz="2000" b="1">
              <a:solidFill>
                <a:schemeClr val="bg1"/>
              </a:solidFill>
              <a:latin typeface="微软雅黑" panose="020B0503020204020204" pitchFamily="34" charset="-122"/>
              <a:ea typeface="微软雅黑" panose="020B0503020204020204" pitchFamily="34" charset="-122"/>
              <a:sym typeface="+mn-ea"/>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2" name="图片 1"/>
          <p:cNvPicPr>
            <a:picLocks noChangeAspect="1"/>
          </p:cNvPicPr>
          <p:nvPr/>
        </p:nvPicPr>
        <p:blipFill>
          <a:blip r:embed="rId1"/>
          <a:stretch>
            <a:fillRect/>
          </a:stretch>
        </p:blipFill>
        <p:spPr>
          <a:xfrm>
            <a:off x="35560" y="1131570"/>
            <a:ext cx="8917305" cy="2679065"/>
          </a:xfrm>
          <a:prstGeom prst="rect">
            <a:avLst/>
          </a:prstGeom>
        </p:spPr>
      </p:pic>
    </p:spTree>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3.2-b  </a:t>
            </a:r>
            <a:r>
              <a:rPr sz="2000" b="1">
                <a:solidFill>
                  <a:schemeClr val="bg1"/>
                </a:solidFill>
                <a:latin typeface="微软雅黑" panose="020B0503020204020204" pitchFamily="34" charset="-122"/>
                <a:ea typeface="微软雅黑" panose="020B0503020204020204" pitchFamily="34" charset="-122"/>
                <a:sym typeface="+mn-ea"/>
              </a:rPr>
              <a:t>散</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点</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图</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分</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析</a:t>
            </a:r>
            <a:endParaRPr sz="2000" b="1">
              <a:solidFill>
                <a:schemeClr val="bg1"/>
              </a:solidFill>
              <a:latin typeface="微软雅黑" panose="020B0503020204020204" pitchFamily="34" charset="-122"/>
              <a:ea typeface="微软雅黑" panose="020B0503020204020204" pitchFamily="34" charset="-122"/>
              <a:sym typeface="+mn-ea"/>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2" name="图片 1"/>
          <p:cNvPicPr>
            <a:picLocks noChangeAspect="1"/>
          </p:cNvPicPr>
          <p:nvPr/>
        </p:nvPicPr>
        <p:blipFill>
          <a:blip r:embed="rId1"/>
          <a:stretch>
            <a:fillRect/>
          </a:stretch>
        </p:blipFill>
        <p:spPr>
          <a:xfrm>
            <a:off x="640080" y="925830"/>
            <a:ext cx="7863840" cy="3291840"/>
          </a:xfrm>
          <a:prstGeom prst="rect">
            <a:avLst/>
          </a:prstGeom>
        </p:spPr>
      </p:pic>
    </p:spTree>
  </p:cSld>
  <p:clrMapOvr>
    <a:masterClrMapping/>
  </p:clrMapOvr>
  <p:transition>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3.2-c  </a:t>
            </a:r>
            <a:r>
              <a:rPr sz="2000" b="1">
                <a:solidFill>
                  <a:schemeClr val="bg1"/>
                </a:solidFill>
                <a:latin typeface="微软雅黑" panose="020B0503020204020204" pitchFamily="34" charset="-122"/>
                <a:ea typeface="微软雅黑" panose="020B0503020204020204" pitchFamily="34" charset="-122"/>
                <a:sym typeface="+mn-ea"/>
              </a:rPr>
              <a:t>概</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念</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性</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插</a:t>
            </a:r>
            <a:r>
              <a:rPr lang="en-US" altLang="zh-CN" sz="2000" b="1">
                <a:solidFill>
                  <a:schemeClr val="bg1"/>
                </a:solidFill>
                <a:latin typeface="微软雅黑" panose="020B0503020204020204" pitchFamily="34" charset="-122"/>
                <a:ea typeface="微软雅黑" panose="020B0503020204020204" pitchFamily="34" charset="-122"/>
                <a:sym typeface="+mn-ea"/>
              </a:rPr>
              <a:t> </a:t>
            </a:r>
            <a:r>
              <a:rPr sz="2000" b="1">
                <a:solidFill>
                  <a:schemeClr val="bg1"/>
                </a:solidFill>
                <a:latin typeface="微软雅黑" panose="020B0503020204020204" pitchFamily="34" charset="-122"/>
                <a:ea typeface="微软雅黑" panose="020B0503020204020204" pitchFamily="34" charset="-122"/>
                <a:sym typeface="+mn-ea"/>
              </a:rPr>
              <a:t>图</a:t>
            </a:r>
            <a:endParaRPr sz="2000" b="1">
              <a:solidFill>
                <a:schemeClr val="bg1"/>
              </a:solidFill>
              <a:latin typeface="微软雅黑" panose="020B0503020204020204" pitchFamily="34" charset="-122"/>
              <a:ea typeface="微软雅黑" panose="020B0503020204020204" pitchFamily="34" charset="-122"/>
              <a:sym typeface="+mn-ea"/>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2" name="图片 1"/>
          <p:cNvPicPr>
            <a:picLocks noChangeAspect="1"/>
          </p:cNvPicPr>
          <p:nvPr/>
        </p:nvPicPr>
        <p:blipFill>
          <a:blip r:embed="rId1"/>
          <a:stretch>
            <a:fillRect/>
          </a:stretch>
        </p:blipFill>
        <p:spPr>
          <a:xfrm>
            <a:off x="2594610" y="994410"/>
            <a:ext cx="3954780" cy="3154680"/>
          </a:xfrm>
          <a:prstGeom prst="rect">
            <a:avLst/>
          </a:prstGeom>
        </p:spPr>
      </p:pic>
    </p:spTree>
  </p:cSld>
  <p:clrMapOvr>
    <a:masterClrMapping/>
  </p:clrMapOvr>
  <p:transition>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3.3   </a:t>
            </a:r>
            <a:endParaRPr sz="2000" b="1">
              <a:solidFill>
                <a:schemeClr val="bg1"/>
              </a:solidFill>
              <a:latin typeface="微软雅黑" panose="020B0503020204020204" pitchFamily="34" charset="-122"/>
              <a:ea typeface="微软雅黑" panose="020B0503020204020204" pitchFamily="34" charset="-122"/>
              <a:sym typeface="+mn-ea"/>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3" name="图片 2"/>
          <p:cNvPicPr>
            <a:picLocks noChangeAspect="1"/>
          </p:cNvPicPr>
          <p:nvPr/>
        </p:nvPicPr>
        <p:blipFill>
          <a:blip r:embed="rId1"/>
          <a:srcRect b="6561"/>
          <a:stretch>
            <a:fillRect/>
          </a:stretch>
        </p:blipFill>
        <p:spPr>
          <a:xfrm>
            <a:off x="251460" y="1245870"/>
            <a:ext cx="8641080" cy="2477770"/>
          </a:xfrm>
          <a:prstGeom prst="rect">
            <a:avLst/>
          </a:prstGeom>
        </p:spPr>
      </p:pic>
    </p:spTree>
  </p:cSld>
  <p:clrMapOvr>
    <a:masterClrMapping/>
  </p:clrMapOvr>
  <p:transition>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3.3   </a:t>
            </a:r>
            <a:endParaRPr sz="2000" b="1">
              <a:solidFill>
                <a:schemeClr val="bg1"/>
              </a:solidFill>
              <a:latin typeface="微软雅黑" panose="020B0503020204020204" pitchFamily="34" charset="-122"/>
              <a:ea typeface="微软雅黑" panose="020B0503020204020204" pitchFamily="34" charset="-122"/>
              <a:sym typeface="+mn-ea"/>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2" name="图片 1"/>
          <p:cNvPicPr>
            <a:picLocks noChangeAspect="1"/>
          </p:cNvPicPr>
          <p:nvPr/>
        </p:nvPicPr>
        <p:blipFill>
          <a:blip r:embed="rId1"/>
          <a:stretch>
            <a:fillRect/>
          </a:stretch>
        </p:blipFill>
        <p:spPr>
          <a:xfrm>
            <a:off x="179705" y="553720"/>
            <a:ext cx="8601710" cy="4398645"/>
          </a:xfrm>
          <a:prstGeom prst="rect">
            <a:avLst/>
          </a:prstGeom>
        </p:spPr>
      </p:pic>
    </p:spTree>
  </p:cSld>
  <p:clrMapOvr>
    <a:masterClrMapping/>
  </p:clrMapOvr>
  <p:transition>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3.4   </a:t>
            </a:r>
            <a:endParaRPr sz="2000" b="1">
              <a:solidFill>
                <a:schemeClr val="bg1"/>
              </a:solidFill>
              <a:latin typeface="微软雅黑" panose="020B0503020204020204" pitchFamily="34" charset="-122"/>
              <a:ea typeface="微软雅黑" panose="020B0503020204020204" pitchFamily="34" charset="-122"/>
              <a:sym typeface="+mn-ea"/>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3" name="图片 2"/>
          <p:cNvPicPr>
            <a:picLocks noChangeAspect="1"/>
          </p:cNvPicPr>
          <p:nvPr/>
        </p:nvPicPr>
        <p:blipFill>
          <a:blip r:embed="rId1"/>
          <a:srcRect r="-3408" b="49674"/>
          <a:stretch>
            <a:fillRect/>
          </a:stretch>
        </p:blipFill>
        <p:spPr>
          <a:xfrm>
            <a:off x="590550" y="789940"/>
            <a:ext cx="7966075" cy="3563620"/>
          </a:xfrm>
          <a:prstGeom prst="rect">
            <a:avLst/>
          </a:prstGeom>
        </p:spPr>
      </p:pic>
    </p:spTree>
  </p:cSld>
  <p:clrMapOvr>
    <a:masterClrMapping/>
  </p:clrMapOvr>
  <p:transition>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3"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5124"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sym typeface="+mn-ea"/>
              </a:rPr>
              <a:t>3.4   </a:t>
            </a:r>
            <a:endParaRPr sz="2000" b="1">
              <a:solidFill>
                <a:schemeClr val="bg1"/>
              </a:solidFill>
              <a:latin typeface="微软雅黑" panose="020B0503020204020204" pitchFamily="34" charset="-122"/>
              <a:ea typeface="微软雅黑" panose="020B0503020204020204" pitchFamily="34" charset="-122"/>
              <a:sym typeface="+mn-ea"/>
            </a:endParaRPr>
          </a:p>
        </p:txBody>
      </p:sp>
      <p:cxnSp>
        <p:nvCxnSpPr>
          <p:cNvPr id="5125" name="Line 5"/>
          <p:cNvCxnSpPr/>
          <p:nvPr/>
        </p:nvCxnSpPr>
        <p:spPr>
          <a:xfrm>
            <a:off x="3175" y="420688"/>
            <a:ext cx="9140825" cy="0"/>
          </a:xfrm>
          <a:prstGeom prst="line">
            <a:avLst/>
          </a:prstGeom>
          <a:noFill/>
          <a:ln>
            <a:solidFill>
              <a:schemeClr val="bg1"/>
            </a:solidFill>
            <a:miter lim="800000"/>
          </a:ln>
        </p:spPr>
      </p:cxnSp>
      <p:pic>
        <p:nvPicPr>
          <p:cNvPr id="3" name="图片 2"/>
          <p:cNvPicPr>
            <a:picLocks noChangeAspect="1"/>
          </p:cNvPicPr>
          <p:nvPr/>
        </p:nvPicPr>
        <p:blipFill>
          <a:blip r:embed="rId1"/>
          <a:srcRect t="48851" r="-4764"/>
          <a:stretch>
            <a:fillRect/>
          </a:stretch>
        </p:blipFill>
        <p:spPr>
          <a:xfrm>
            <a:off x="490220" y="880745"/>
            <a:ext cx="8181340" cy="3671570"/>
          </a:xfrm>
          <a:prstGeom prst="rect">
            <a:avLst/>
          </a:prstGeom>
        </p:spPr>
      </p:pic>
    </p:spTree>
  </p:cSld>
  <p:clrMapOvr>
    <a:masterClrMapping/>
  </p:clrMapOvr>
  <p:transition>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p:cNvPicPr>
          <p:nvPr/>
        </p:nvPicPr>
        <p:blipFill>
          <a:blip r:embed="rId1"/>
          <a:stretch>
            <a:fillRect/>
          </a:stretch>
        </p:blipFill>
        <p:spPr>
          <a:xfrm>
            <a:off x="0" y="1693863"/>
            <a:ext cx="9144000" cy="1755775"/>
          </a:xfrm>
          <a:prstGeom prst="rect">
            <a:avLst/>
          </a:prstGeom>
          <a:noFill/>
          <a:ln>
            <a:noFill/>
            <a:miter lim="800000"/>
            <a:headEnd/>
            <a:tailEnd/>
          </a:ln>
        </p:spPr>
      </p:pic>
      <p:sp>
        <p:nvSpPr>
          <p:cNvPr id="12291" name="Text Box 6"/>
          <p:cNvSpPr/>
          <p:nvPr/>
        </p:nvSpPr>
        <p:spPr>
          <a:xfrm>
            <a:off x="3709988" y="2322513"/>
            <a:ext cx="5434012" cy="519112"/>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r>
              <a:rPr lang="zh-CN" altLang="en-US" sz="2800">
                <a:solidFill>
                  <a:schemeClr val="bg1"/>
                </a:solidFill>
                <a:latin typeface="微软雅黑" panose="020B0503020204020204" pitchFamily="34" charset="-122"/>
                <a:ea typeface="微软雅黑" panose="020B0503020204020204" pitchFamily="34" charset="-122"/>
              </a:rPr>
              <a:t>第四章    研究结论</a:t>
            </a:r>
            <a:endParaRPr sz="2800">
              <a:solidFill>
                <a:schemeClr val="bg1"/>
              </a:solidFill>
              <a:latin typeface="微软雅黑" panose="020B0503020204020204" pitchFamily="34" charset="-122"/>
              <a:ea typeface="微软雅黑" panose="020B0503020204020204" pitchFamily="34" charset="-122"/>
            </a:endParaRPr>
          </a:p>
        </p:txBody>
      </p:sp>
      <p:grpSp>
        <p:nvGrpSpPr>
          <p:cNvPr id="12293" name="Group 5"/>
          <p:cNvGrpSpPr/>
          <p:nvPr/>
        </p:nvGrpSpPr>
        <p:grpSpPr>
          <a:xfrm>
            <a:off x="1254125" y="2149475"/>
            <a:ext cx="863600" cy="863600"/>
            <a:chOff x="0" y="0"/>
            <a:chExt cx="1360" cy="1360"/>
          </a:xfrm>
        </p:grpSpPr>
        <p:pic>
          <p:nvPicPr>
            <p:cNvPr id="12294" name="Picture 7"/>
            <p:cNvPicPr>
              <a:picLocks noChangeAspect="1"/>
            </p:cNvPicPr>
            <p:nvPr/>
          </p:nvPicPr>
          <p:blipFill>
            <a:blip r:embed="rId2"/>
            <a:stretch>
              <a:fillRect/>
            </a:stretch>
          </p:blipFill>
          <p:spPr>
            <a:xfrm>
              <a:off x="294" y="332"/>
              <a:ext cx="795" cy="797"/>
            </a:xfrm>
            <a:prstGeom prst="rect">
              <a:avLst/>
            </a:prstGeom>
            <a:noFill/>
            <a:ln>
              <a:noFill/>
              <a:bevel/>
            </a:ln>
          </p:spPr>
        </p:pic>
        <p:sp>
          <p:nvSpPr>
            <p:cNvPr id="12295" name="正圆 198"/>
            <p:cNvSpPr/>
            <p:nvPr/>
          </p:nvSpPr>
          <p:spPr>
            <a:xfrm>
              <a:off x="0" y="0"/>
              <a:ext cx="1360" cy="1360"/>
            </a:xfrm>
            <a:prstGeom prst="ellipse">
              <a:avLst/>
            </a:prstGeom>
            <a:noFill/>
            <a:ln w="28575">
              <a:solidFill>
                <a:schemeClr val="bg1"/>
              </a:solidFill>
              <a:bevel/>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grpSp>
      <p:pic>
        <p:nvPicPr>
          <p:cNvPr id="4" name="图片 3" descr="青岛科技大学LOGO"/>
          <p:cNvPicPr>
            <a:picLocks noChangeAspect="1"/>
          </p:cNvPicPr>
          <p:nvPr/>
        </p:nvPicPr>
        <p:blipFill>
          <a:blip r:embed="rId3"/>
          <a:stretch>
            <a:fillRect/>
          </a:stretch>
        </p:blipFill>
        <p:spPr>
          <a:xfrm>
            <a:off x="0" y="51435"/>
            <a:ext cx="3364998" cy="722071"/>
          </a:xfrm>
          <a:prstGeom prst="rect">
            <a:avLst/>
          </a:prstGeom>
        </p:spPr>
      </p:pic>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p:nvPr/>
        </p:nvSpPr>
        <p:spPr>
          <a:xfrm>
            <a:off x="3175" y="3175"/>
            <a:ext cx="9153525" cy="481013"/>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7171" name="Rectangle 3"/>
          <p:cNvSpPr/>
          <p:nvPr/>
        </p:nvSpPr>
        <p:spPr>
          <a:xfrm>
            <a:off x="3175" y="5021263"/>
            <a:ext cx="9155113" cy="120650"/>
          </a:xfrm>
          <a:prstGeom prst="rect">
            <a:avLst/>
          </a:prstGeom>
          <a:solidFill>
            <a:srgbClr val="0078AA"/>
          </a:solidFill>
          <a:ln>
            <a:noFill/>
            <a:miter lim="800000"/>
          </a:ln>
        </p:spPr>
        <p:txBody>
          <a:bodyPr wrap="none"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endParaRPr lang="zh-CN" altLang="en-US"/>
          </a:p>
        </p:txBody>
      </p:sp>
      <p:sp>
        <p:nvSpPr>
          <p:cNvPr id="7172" name="Text Box 4"/>
          <p:cNvSpPr/>
          <p:nvPr/>
        </p:nvSpPr>
        <p:spPr>
          <a:xfrm>
            <a:off x="3175" y="12700"/>
            <a:ext cx="9140825" cy="39878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r>
              <a:rPr lang="en-US" altLang="zh-CN" sz="2000" b="1">
                <a:solidFill>
                  <a:schemeClr val="bg1"/>
                </a:solidFill>
                <a:latin typeface="微软雅黑" panose="020B0503020204020204" pitchFamily="34" charset="-122"/>
                <a:ea typeface="微软雅黑" panose="020B0503020204020204" pitchFamily="34" charset="-122"/>
              </a:rPr>
              <a:t>4.1  </a:t>
            </a:r>
            <a:r>
              <a:rPr lang="zh-CN" altLang="en-US" sz="2000" b="1">
                <a:solidFill>
                  <a:schemeClr val="bg1"/>
                </a:solidFill>
                <a:latin typeface="微软雅黑" panose="020B0503020204020204" pitchFamily="34" charset="-122"/>
                <a:ea typeface="微软雅黑" panose="020B0503020204020204" pitchFamily="34" charset="-122"/>
              </a:rPr>
              <a:t>研究结论</a:t>
            </a:r>
            <a:endParaRPr lang="zh-CN" altLang="en-US" sz="2000" b="1">
              <a:solidFill>
                <a:schemeClr val="bg1"/>
              </a:solidFill>
              <a:latin typeface="微软雅黑" panose="020B0503020204020204" pitchFamily="34" charset="-122"/>
              <a:ea typeface="微软雅黑" panose="020B0503020204020204" pitchFamily="34" charset="-122"/>
            </a:endParaRPr>
          </a:p>
        </p:txBody>
      </p:sp>
      <p:cxnSp>
        <p:nvCxnSpPr>
          <p:cNvPr id="7173" name="Line 5"/>
          <p:cNvCxnSpPr/>
          <p:nvPr/>
        </p:nvCxnSpPr>
        <p:spPr>
          <a:xfrm>
            <a:off x="3175" y="420688"/>
            <a:ext cx="9140825" cy="0"/>
          </a:xfrm>
          <a:prstGeom prst="line">
            <a:avLst/>
          </a:prstGeom>
          <a:noFill/>
          <a:ln>
            <a:solidFill>
              <a:schemeClr val="bg1"/>
            </a:solidFill>
            <a:miter lim="800000"/>
          </a:ln>
        </p:spPr>
      </p:cxnSp>
      <p:sp>
        <p:nvSpPr>
          <p:cNvPr id="7" name="文本框 6"/>
          <p:cNvSpPr txBox="1"/>
          <p:nvPr/>
        </p:nvSpPr>
        <p:spPr>
          <a:xfrm>
            <a:off x="107315" y="699135"/>
            <a:ext cx="7483475" cy="382270"/>
          </a:xfrm>
          <a:prstGeom prst="rect">
            <a:avLst/>
          </a:prstGeom>
          <a:noFill/>
        </p:spPr>
        <p:txBody>
          <a:bodyPr wrap="square" rtlCol="0" anchor="t">
            <a:noAutofit/>
          </a:bodyPr>
          <a:lstStyle/>
          <a:p>
            <a:r>
              <a:rPr lang="zh-CN" altLang="en-US" sz="1400" b="1">
                <a:solidFill>
                  <a:srgbClr val="0078AA"/>
                </a:solidFill>
                <a:ea typeface="微软雅黑" panose="020B0503020204020204" pitchFamily="34" charset="-122"/>
                <a:sym typeface="+mn-ea"/>
              </a:rPr>
              <a:t>研究方法：</a:t>
            </a:r>
            <a:r>
              <a:rPr lang="zh-CN" altLang="en-US" sz="1400">
                <a:sym typeface="+mn-ea"/>
              </a:rPr>
              <a:t>采用</a:t>
            </a:r>
            <a:r>
              <a:rPr lang="en-US" altLang="zh-CN" sz="1400">
                <a:sym typeface="+mn-ea"/>
              </a:rPr>
              <a:t>AI</a:t>
            </a:r>
            <a:r>
              <a:rPr lang="zh-CN" altLang="en-US" sz="1400">
                <a:sym typeface="+mn-ea"/>
              </a:rPr>
              <a:t>辅助的</a:t>
            </a:r>
            <a:r>
              <a:rPr lang="en-US" altLang="zh-CN" sz="1400">
                <a:sym typeface="+mn-ea"/>
              </a:rPr>
              <a:t>de novo</a:t>
            </a:r>
            <a:r>
              <a:rPr lang="zh-CN" altLang="en-US" sz="1400">
                <a:sym typeface="+mn-ea"/>
              </a:rPr>
              <a:t>设计开发针对结核病的</a:t>
            </a:r>
            <a:r>
              <a:rPr lang="en-US" altLang="zh-CN" sz="1400">
                <a:sym typeface="+mn-ea"/>
              </a:rPr>
              <a:t>K7W6</a:t>
            </a:r>
            <a:r>
              <a:rPr lang="zh-CN" altLang="en-US" sz="1400">
                <a:sym typeface="+mn-ea"/>
              </a:rPr>
              <a:t>肽。</a:t>
            </a:r>
            <a:endParaRPr lang="zh-CN" altLang="en-US" sz="1400"/>
          </a:p>
          <a:p>
            <a:endParaRPr lang="zh-CN" altLang="en-US" sz="1400" b="1">
              <a:solidFill>
                <a:srgbClr val="0078AA"/>
              </a:solidFill>
              <a:ea typeface="微软雅黑" panose="020B0503020204020204" pitchFamily="34" charset="-122"/>
              <a:sym typeface="+mn-ea"/>
            </a:endParaRPr>
          </a:p>
        </p:txBody>
      </p:sp>
      <p:sp>
        <p:nvSpPr>
          <p:cNvPr id="8" name="文本框 7"/>
          <p:cNvSpPr txBox="1"/>
          <p:nvPr/>
        </p:nvSpPr>
        <p:spPr>
          <a:xfrm>
            <a:off x="107315" y="1329055"/>
            <a:ext cx="7491730" cy="737235"/>
          </a:xfrm>
          <a:prstGeom prst="rect">
            <a:avLst/>
          </a:prstGeom>
          <a:noFill/>
        </p:spPr>
        <p:txBody>
          <a:bodyPr wrap="square" rtlCol="0" anchor="t">
            <a:spAutoFit/>
          </a:bodyPr>
          <a:lstStyle/>
          <a:p>
            <a:r>
              <a:rPr lang="zh-CN" altLang="en-US" sz="1400" b="1">
                <a:solidFill>
                  <a:srgbClr val="0078AA"/>
                </a:solidFill>
                <a:ea typeface="微软雅黑" panose="020B0503020204020204" pitchFamily="34" charset="-122"/>
                <a:sym typeface="+mn-ea"/>
              </a:rPr>
              <a:t>抗菌活性：</a:t>
            </a:r>
            <a:endParaRPr lang="zh-CN" altLang="en-US" sz="1400" b="1">
              <a:solidFill>
                <a:srgbClr val="0078AA"/>
              </a:solidFill>
              <a:ea typeface="微软雅黑" panose="020B0503020204020204" pitchFamily="34" charset="-122"/>
              <a:sym typeface="+mn-ea"/>
            </a:endParaRPr>
          </a:p>
          <a:p>
            <a:r>
              <a:rPr lang="en-US" altLang="zh-CN" sz="1400">
                <a:solidFill>
                  <a:schemeClr val="tx1"/>
                </a:solidFill>
                <a:ea typeface="微软雅黑" panose="020B0503020204020204" pitchFamily="34" charset="-122"/>
                <a:sym typeface="+mn-ea"/>
              </a:rPr>
              <a:t>1. </a:t>
            </a:r>
            <a:r>
              <a:rPr lang="en-US" altLang="zh-CN" sz="1400">
                <a:sym typeface="+mn-ea"/>
              </a:rPr>
              <a:t>K7W6</a:t>
            </a:r>
            <a:r>
              <a:rPr lang="zh-CN" altLang="en-US" sz="1400">
                <a:sym typeface="+mn-ea"/>
              </a:rPr>
              <a:t>对多种分枝杆菌（包括</a:t>
            </a:r>
            <a:r>
              <a:rPr lang="en-US" altLang="zh-CN" sz="1400">
                <a:sym typeface="+mn-ea"/>
              </a:rPr>
              <a:t>M. tb</a:t>
            </a:r>
            <a:r>
              <a:rPr lang="zh-CN" altLang="en-US" sz="1400">
                <a:sym typeface="+mn-ea"/>
              </a:rPr>
              <a:t>及其耐药株）表现出强效抗菌活性。</a:t>
            </a:r>
            <a:endParaRPr lang="zh-CN" altLang="en-US" sz="1400">
              <a:sym typeface="+mn-ea"/>
            </a:endParaRPr>
          </a:p>
          <a:p>
            <a:r>
              <a:rPr lang="en-US" altLang="zh-CN" sz="1400">
                <a:sym typeface="+mn-ea"/>
              </a:rPr>
              <a:t>2. </a:t>
            </a:r>
            <a:r>
              <a:rPr lang="zh-CN" altLang="en-US" sz="1400">
                <a:sym typeface="+mn-ea"/>
              </a:rPr>
              <a:t>与利福平协同作用良好，且低诱导药物耐药性。</a:t>
            </a:r>
            <a:endParaRPr lang="zh-CN" altLang="en-US" sz="1400" b="1">
              <a:solidFill>
                <a:srgbClr val="0078AA"/>
              </a:solidFill>
              <a:ea typeface="微软雅黑" panose="020B0503020204020204" pitchFamily="34" charset="-122"/>
              <a:sym typeface="+mn-ea"/>
            </a:endParaRPr>
          </a:p>
        </p:txBody>
      </p:sp>
      <p:sp>
        <p:nvSpPr>
          <p:cNvPr id="9" name="文本框 8"/>
          <p:cNvSpPr txBox="1"/>
          <p:nvPr/>
        </p:nvSpPr>
        <p:spPr>
          <a:xfrm>
            <a:off x="107315" y="2313940"/>
            <a:ext cx="6362700" cy="306705"/>
          </a:xfrm>
          <a:prstGeom prst="rect">
            <a:avLst/>
          </a:prstGeom>
          <a:noFill/>
        </p:spPr>
        <p:txBody>
          <a:bodyPr wrap="square" rtlCol="0" anchor="t">
            <a:spAutoFit/>
          </a:bodyPr>
          <a:lstStyle/>
          <a:p>
            <a:r>
              <a:rPr lang="zh-CN" altLang="en-US" sz="1400" b="1">
                <a:solidFill>
                  <a:srgbClr val="0078AA"/>
                </a:solidFill>
                <a:ea typeface="微软雅黑" panose="020B0503020204020204" pitchFamily="34" charset="-122"/>
                <a:sym typeface="+mn-ea"/>
              </a:rPr>
              <a:t>细胞毒性：</a:t>
            </a:r>
            <a:r>
              <a:rPr lang="zh-CN" altLang="en-US" sz="1400">
                <a:sym typeface="+mn-ea"/>
              </a:rPr>
              <a:t>对</a:t>
            </a:r>
            <a:r>
              <a:rPr lang="en-US" altLang="zh-CN" sz="1400">
                <a:sym typeface="+mn-ea"/>
              </a:rPr>
              <a:t>RAW246.7</a:t>
            </a:r>
            <a:r>
              <a:rPr lang="zh-CN" altLang="en-US" sz="1400">
                <a:sym typeface="+mn-ea"/>
              </a:rPr>
              <a:t>和</a:t>
            </a:r>
            <a:r>
              <a:rPr lang="en-US" altLang="zh-CN" sz="1400">
                <a:sym typeface="+mn-ea"/>
              </a:rPr>
              <a:t>Vero</a:t>
            </a:r>
            <a:r>
              <a:rPr lang="zh-CN" altLang="en-US" sz="1400">
                <a:sym typeface="+mn-ea"/>
              </a:rPr>
              <a:t>细胞具有中等细胞毒性。</a:t>
            </a:r>
            <a:endParaRPr lang="zh-CN" altLang="en-US" sz="1400">
              <a:sym typeface="+mn-ea"/>
            </a:endParaRPr>
          </a:p>
        </p:txBody>
      </p:sp>
      <p:sp>
        <p:nvSpPr>
          <p:cNvPr id="10" name="文本框 9"/>
          <p:cNvSpPr txBox="1"/>
          <p:nvPr/>
        </p:nvSpPr>
        <p:spPr>
          <a:xfrm>
            <a:off x="107315" y="2868295"/>
            <a:ext cx="4572000" cy="306705"/>
          </a:xfrm>
          <a:prstGeom prst="rect">
            <a:avLst/>
          </a:prstGeom>
          <a:noFill/>
        </p:spPr>
        <p:txBody>
          <a:bodyPr wrap="square" rtlCol="0" anchor="t">
            <a:spAutoFit/>
          </a:bodyPr>
          <a:lstStyle/>
          <a:p>
            <a:r>
              <a:rPr lang="zh-CN" altLang="en-US" sz="1400" b="1">
                <a:solidFill>
                  <a:srgbClr val="0078AA"/>
                </a:solidFill>
                <a:ea typeface="微软雅黑" panose="020B0503020204020204" pitchFamily="34" charset="-122"/>
                <a:sym typeface="+mn-ea"/>
              </a:rPr>
              <a:t>体内效果：</a:t>
            </a:r>
            <a:r>
              <a:rPr lang="zh-CN" altLang="en-US" sz="1400">
                <a:sym typeface="+mn-ea"/>
              </a:rPr>
              <a:t>能有效抑制体内</a:t>
            </a:r>
            <a:r>
              <a:rPr lang="en-US" altLang="zh-CN" sz="1400">
                <a:sym typeface="+mn-ea"/>
              </a:rPr>
              <a:t>M. tb</a:t>
            </a:r>
            <a:r>
              <a:rPr lang="zh-CN" altLang="en-US" sz="1400">
                <a:sym typeface="+mn-ea"/>
              </a:rPr>
              <a:t>感染。</a:t>
            </a:r>
            <a:endParaRPr lang="zh-CN" altLang="en-US" sz="1400">
              <a:sym typeface="+mn-ea"/>
            </a:endParaRPr>
          </a:p>
        </p:txBody>
      </p:sp>
      <p:sp>
        <p:nvSpPr>
          <p:cNvPr id="11" name="文本框 10"/>
          <p:cNvSpPr txBox="1"/>
          <p:nvPr/>
        </p:nvSpPr>
        <p:spPr>
          <a:xfrm>
            <a:off x="107315" y="3422650"/>
            <a:ext cx="8094345" cy="521970"/>
          </a:xfrm>
          <a:prstGeom prst="rect">
            <a:avLst/>
          </a:prstGeom>
          <a:noFill/>
        </p:spPr>
        <p:txBody>
          <a:bodyPr wrap="square" rtlCol="0" anchor="t">
            <a:spAutoFit/>
          </a:bodyPr>
          <a:lstStyle/>
          <a:p>
            <a:r>
              <a:rPr lang="zh-CN" altLang="en-US" sz="1400" b="1">
                <a:solidFill>
                  <a:srgbClr val="0078AA"/>
                </a:solidFill>
                <a:ea typeface="微软雅黑" panose="020B0503020204020204" pitchFamily="34" charset="-122"/>
                <a:sym typeface="+mn-ea"/>
              </a:rPr>
              <a:t>机制分析：</a:t>
            </a:r>
            <a:r>
              <a:rPr lang="en-US" altLang="zh-CN" sz="1400">
                <a:sym typeface="+mn-ea"/>
              </a:rPr>
              <a:t>K7W6</a:t>
            </a:r>
            <a:r>
              <a:rPr lang="zh-CN" altLang="en-US" sz="1400">
                <a:sym typeface="+mn-ea"/>
              </a:rPr>
              <a:t>簇的膜通透性高选择性，主要通过焓</a:t>
            </a:r>
            <a:r>
              <a:rPr lang="en-US" altLang="zh-CN" sz="1400">
                <a:sym typeface="+mn-ea"/>
              </a:rPr>
              <a:t>-</a:t>
            </a:r>
            <a:r>
              <a:rPr lang="zh-CN" altLang="en-US" sz="1400">
                <a:sym typeface="+mn-ea"/>
              </a:rPr>
              <a:t>熵竞争机制实现，即：初始膜结合由焓控制。熵驱动的解聚增强膜破坏能力。</a:t>
            </a:r>
            <a:endParaRPr lang="zh-CN" altLang="en-US" sz="1400"/>
          </a:p>
        </p:txBody>
      </p:sp>
      <p:sp>
        <p:nvSpPr>
          <p:cNvPr id="12" name="文本框 11"/>
          <p:cNvSpPr txBox="1"/>
          <p:nvPr/>
        </p:nvSpPr>
        <p:spPr>
          <a:xfrm>
            <a:off x="107315" y="4192270"/>
            <a:ext cx="8375015" cy="521970"/>
          </a:xfrm>
          <a:prstGeom prst="rect">
            <a:avLst/>
          </a:prstGeom>
          <a:noFill/>
        </p:spPr>
        <p:txBody>
          <a:bodyPr wrap="square" rtlCol="0" anchor="t">
            <a:spAutoFit/>
          </a:bodyPr>
          <a:lstStyle/>
          <a:p>
            <a:pPr>
              <a:buFont typeface="Arial" panose="020B0604020202020204"/>
            </a:pPr>
            <a:r>
              <a:rPr lang="zh-CN" altLang="en-US" sz="1400" b="1">
                <a:solidFill>
                  <a:srgbClr val="0078AA"/>
                </a:solidFill>
                <a:ea typeface="微软雅黑" panose="020B0503020204020204" pitchFamily="34" charset="-122"/>
                <a:sym typeface="+mn-ea"/>
              </a:rPr>
              <a:t>研究意义：</a:t>
            </a:r>
            <a:r>
              <a:rPr lang="zh-CN" altLang="en-US" sz="1400">
                <a:sym typeface="+mn-ea"/>
              </a:rPr>
              <a:t>提供了在治疗结核感染时，利用</a:t>
            </a:r>
            <a:r>
              <a:rPr lang="en-US" altLang="zh-CN" sz="1400">
                <a:sym typeface="+mn-ea"/>
              </a:rPr>
              <a:t>AI</a:t>
            </a:r>
            <a:r>
              <a:rPr lang="zh-CN" altLang="en-US" sz="1400">
                <a:sym typeface="+mn-ea"/>
              </a:rPr>
              <a:t>技术进行合理肽设计的宝贵见解。揭示了自组装</a:t>
            </a:r>
            <a:r>
              <a:rPr lang="en-US" altLang="zh-CN" sz="1400">
                <a:sym typeface="+mn-ea"/>
              </a:rPr>
              <a:t>K7W6</a:t>
            </a:r>
            <a:r>
              <a:rPr lang="zh-CN" altLang="en-US" sz="1400">
                <a:sym typeface="+mn-ea"/>
              </a:rPr>
              <a:t>序列的膜活性机制。</a:t>
            </a:r>
            <a:endParaRPr lang="zh-CN" altLang="en-US" sz="1400">
              <a:sym typeface="+mn-ea"/>
            </a:endParaRPr>
          </a:p>
        </p:txBody>
      </p:sp>
    </p:spTree>
  </p:cSld>
  <p:clrMapOvr>
    <a:masterClrMapping/>
  </p:clrMapOvr>
  <p:transition>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p:nvPr/>
        </p:nvSpPr>
        <p:spPr>
          <a:xfrm>
            <a:off x="11113" y="1958975"/>
            <a:ext cx="9140825" cy="1363663"/>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387" name="Text Box 3"/>
          <p:cNvSpPr/>
          <p:nvPr/>
        </p:nvSpPr>
        <p:spPr>
          <a:xfrm>
            <a:off x="11113" y="2349500"/>
            <a:ext cx="9140825" cy="645160"/>
          </a:xfrm>
          <a:prstGeom prst="rect">
            <a:avLst/>
          </a:prstGeom>
          <a:noFill/>
          <a:ln>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lvl="0" indent="0" algn="ctr"/>
            <a:r>
              <a:rPr lang="en-US" altLang="zh-CN" sz="3600" b="1">
                <a:solidFill>
                  <a:schemeClr val="bg1"/>
                </a:solidFill>
                <a:ea typeface="微软雅黑" panose="020B0503020204020204" pitchFamily="34" charset="-122"/>
              </a:rPr>
              <a:t>Thanks</a:t>
            </a:r>
            <a:endParaRPr lang="en-US" altLang="zh-CN" sz="3600" b="1">
              <a:solidFill>
                <a:schemeClr val="bg1"/>
              </a:solidFill>
              <a:ea typeface="微软雅黑" panose="020B0503020204020204" pitchFamily="34" charset="-122"/>
            </a:endParaRPr>
          </a:p>
        </p:txBody>
      </p:sp>
      <p:sp>
        <p:nvSpPr>
          <p:cNvPr id="16388" name="Rectangle 15"/>
          <p:cNvSpPr/>
          <p:nvPr/>
        </p:nvSpPr>
        <p:spPr>
          <a:xfrm>
            <a:off x="1588" y="-20637"/>
            <a:ext cx="457200" cy="288925"/>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389" name="Rectangle 16"/>
          <p:cNvSpPr/>
          <p:nvPr/>
        </p:nvSpPr>
        <p:spPr>
          <a:xfrm>
            <a:off x="230188" y="-19050"/>
            <a:ext cx="457200" cy="142875"/>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390" name="Rectangle 17"/>
          <p:cNvSpPr/>
          <p:nvPr/>
        </p:nvSpPr>
        <p:spPr>
          <a:xfrm>
            <a:off x="8705850" y="-11112"/>
            <a:ext cx="457200" cy="288925"/>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391" name="Rectangle 18"/>
          <p:cNvSpPr/>
          <p:nvPr/>
        </p:nvSpPr>
        <p:spPr>
          <a:xfrm>
            <a:off x="8423275" y="-11112"/>
            <a:ext cx="457200" cy="144462"/>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392" name="Rectangle 19"/>
          <p:cNvSpPr/>
          <p:nvPr/>
        </p:nvSpPr>
        <p:spPr>
          <a:xfrm>
            <a:off x="995363" y="4114800"/>
            <a:ext cx="76200" cy="206375"/>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393" name="Text Box 20"/>
          <p:cNvSpPr txBox="1">
            <a:spLocks noChangeArrowheads="1"/>
          </p:cNvSpPr>
          <p:nvPr/>
        </p:nvSpPr>
        <p:spPr bwMode="auto">
          <a:xfrm>
            <a:off x="1052513" y="4057650"/>
            <a:ext cx="1866900" cy="306705"/>
          </a:xfrm>
          <a:prstGeom prst="rect">
            <a:avLst/>
          </a:prstGeom>
          <a:noFill/>
          <a:ln w="9525">
            <a:noFill/>
            <a:miter lim="800000"/>
          </a:ln>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marR="0" lvl="0" indent="0"/>
            <a:r>
              <a:rPr lang="zh-CN" altLang="en-US"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指导老师：朱善良</a:t>
            </a:r>
            <a:endParaRPr lang="zh-CN" altLang="en-US"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endParaRPr>
          </a:p>
        </p:txBody>
      </p:sp>
      <p:grpSp>
        <p:nvGrpSpPr>
          <p:cNvPr id="16394" name="Group 21"/>
          <p:cNvGrpSpPr/>
          <p:nvPr/>
        </p:nvGrpSpPr>
        <p:grpSpPr>
          <a:xfrm>
            <a:off x="3911600" y="4051300"/>
            <a:ext cx="1592263" cy="306705"/>
            <a:chOff x="0" y="0"/>
            <a:chExt cx="2508" cy="483"/>
          </a:xfrm>
        </p:grpSpPr>
        <p:sp>
          <p:nvSpPr>
            <p:cNvPr id="16400" name="Rectangle 22"/>
            <p:cNvSpPr/>
            <p:nvPr/>
          </p:nvSpPr>
          <p:spPr>
            <a:xfrm>
              <a:off x="0" y="89"/>
              <a:ext cx="120" cy="328"/>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401" name="Text Box 23"/>
            <p:cNvSpPr txBox="1">
              <a:spLocks noChangeArrowheads="1"/>
            </p:cNvSpPr>
            <p:nvPr/>
          </p:nvSpPr>
          <p:spPr bwMode="auto">
            <a:xfrm>
              <a:off x="90" y="0"/>
              <a:ext cx="2418" cy="483"/>
            </a:xfrm>
            <a:prstGeom prst="rect">
              <a:avLst/>
            </a:prstGeom>
            <a:noFill/>
            <a:ln w="9525">
              <a:noFill/>
              <a:miter lim="800000"/>
            </a:ln>
            <a:effectLst/>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marR="0" lvl="0" indent="0"/>
              <a:r>
                <a:rPr lang="zh-CN" altLang="en-US" sz="1400" b="1" spc="0" dirty="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汇报人：</a:t>
              </a:r>
              <a:r>
                <a:rPr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杜博</a:t>
              </a:r>
              <a:r>
                <a:rPr lang="zh-CN" altLang="en-US"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 </a:t>
              </a:r>
              <a:endParaRPr lang="zh-CN" altLang="en-US" sz="1400" b="1">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endParaRPr>
            </a:p>
          </p:txBody>
        </p:sp>
      </p:grpSp>
      <p:grpSp>
        <p:nvGrpSpPr>
          <p:cNvPr id="16395" name="Group 24"/>
          <p:cNvGrpSpPr/>
          <p:nvPr/>
        </p:nvGrpSpPr>
        <p:grpSpPr>
          <a:xfrm>
            <a:off x="6692900" y="4044950"/>
            <a:ext cx="2187575" cy="306705"/>
            <a:chOff x="0" y="0"/>
            <a:chExt cx="3446" cy="483"/>
          </a:xfrm>
        </p:grpSpPr>
        <p:sp>
          <p:nvSpPr>
            <p:cNvPr id="16398" name="Rectangle 25"/>
            <p:cNvSpPr/>
            <p:nvPr/>
          </p:nvSpPr>
          <p:spPr>
            <a:xfrm>
              <a:off x="0" y="89"/>
              <a:ext cx="120" cy="328"/>
            </a:xfrm>
            <a:prstGeom prst="rect">
              <a:avLst/>
            </a:prstGeom>
            <a:solidFill>
              <a:srgbClr val="0078AA"/>
            </a:solidFill>
            <a:ln>
              <a:noFill/>
              <a:miter lim="800000"/>
            </a:ln>
          </p:spPr>
          <p:txBody>
            <a:bodyPr anchor="ctr" anchorCtr="0"/>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indent="0"/>
            </a:p>
          </p:txBody>
        </p:sp>
        <p:sp>
          <p:nvSpPr>
            <p:cNvPr id="16399" name="Text Box 26"/>
            <p:cNvSpPr txBox="1">
              <a:spLocks noChangeArrowheads="1"/>
            </p:cNvSpPr>
            <p:nvPr/>
          </p:nvSpPr>
          <p:spPr bwMode="auto">
            <a:xfrm>
              <a:off x="90" y="0"/>
              <a:ext cx="3356" cy="483"/>
            </a:xfrm>
            <a:prstGeom prst="rect">
              <a:avLst/>
            </a:prstGeom>
            <a:noFill/>
            <a:ln w="9525">
              <a:noFill/>
              <a:miter lim="800000"/>
            </a:ln>
            <a:effectLst/>
          </p:spPr>
          <p:txBody>
            <a:bodyPr>
              <a:spAutoFit/>
            </a:bodyPr>
            <a:lstStyle>
              <a:defPPr>
                <a:defRPr lang="zh-CN"/>
              </a:defPPr>
              <a:lvl1pPr marL="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 typeface="Arial" panose="020B0604020202020204" pitchFamily="34" charset="0"/>
                <a:buNone/>
                <a:defRPr kumimoji="0" lang="zh-CN" altLang="en-US" sz="1800" b="0" i="0" u="none" baseline="0">
                  <a:solidFill>
                    <a:schemeClr val="tx1"/>
                  </a:solidFill>
                  <a:effectLst/>
                  <a:latin typeface="Arial" panose="020B0604020202020204" pitchFamily="34" charset="0"/>
                  <a:ea typeface="宋体" panose="02010600030101010101" pitchFamily="2" charset="-122"/>
                </a:defRPr>
              </a:lvl5pPr>
            </a:lstStyle>
            <a:p>
              <a:pPr marL="0" marR="0" lvl="0" indent="0"/>
              <a:r>
                <a:rPr lang="zh-CN" altLang="en-US"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汇报时间：</a:t>
              </a:r>
              <a:r>
                <a:rPr lang="en-US" altLang="zh-CN" sz="1400" b="1" spc="0">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rPr>
                <a:t>2025.1.3</a:t>
              </a:r>
              <a:endParaRPr lang="zh-CN" altLang="en-US" sz="1400" b="1">
                <a:solidFill>
                  <a:srgbClr val="00597E"/>
                </a:solidFill>
                <a:effectLst>
                  <a:outerShdw blurRad="38100" dist="38100" dir="2700000" algn="tl">
                    <a:srgbClr val="000000">
                      <a:alpha val="43137"/>
                    </a:srgbClr>
                  </a:outerShdw>
                </a:effectLst>
                <a:ea typeface="微软雅黑" panose="020B0503020204020204" pitchFamily="34" charset="-122"/>
                <a:sym typeface="Arial" panose="020B0604020202020204" pitchFamily="34" charset="0"/>
              </a:endParaRPr>
            </a:p>
          </p:txBody>
        </p:sp>
      </p:grpSp>
      <p:cxnSp>
        <p:nvCxnSpPr>
          <p:cNvPr id="16396" name="Line 27"/>
          <p:cNvCxnSpPr/>
          <p:nvPr/>
        </p:nvCxnSpPr>
        <p:spPr>
          <a:xfrm>
            <a:off x="11113" y="2003425"/>
            <a:ext cx="9151937" cy="0"/>
          </a:xfrm>
          <a:prstGeom prst="line">
            <a:avLst/>
          </a:prstGeom>
          <a:noFill/>
          <a:ln w="19050">
            <a:solidFill>
              <a:schemeClr val="bg1"/>
            </a:solidFill>
            <a:miter lim="800000"/>
          </a:ln>
        </p:spPr>
      </p:cxnSp>
      <p:cxnSp>
        <p:nvCxnSpPr>
          <p:cNvPr id="16397" name="Line 29"/>
          <p:cNvCxnSpPr/>
          <p:nvPr/>
        </p:nvCxnSpPr>
        <p:spPr>
          <a:xfrm>
            <a:off x="-6350" y="3282950"/>
            <a:ext cx="9150350" cy="0"/>
          </a:xfrm>
          <a:prstGeom prst="line">
            <a:avLst/>
          </a:prstGeom>
          <a:noFill/>
          <a:ln w="19050">
            <a:solidFill>
              <a:schemeClr val="bg1"/>
            </a:solidFill>
            <a:bevel/>
          </a:ln>
        </p:spPr>
      </p:cxn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tags/tag1.xml><?xml version="1.0" encoding="utf-8"?>
<p:tagLst xmlns:p="http://schemas.openxmlformats.org/presentationml/2006/main">
  <p:tag name="KSO_WM_DIAGRAM_VIRTUALLY_FRAME" val="{&quot;height&quot;:333.87503937007875,&quot;left&quot;:364.4250393700787,&quot;top&quot;:34.25,&quot;width&quot;:290.5749606299213}"/>
</p:tagLst>
</file>

<file path=ppt/tags/tag2.xml><?xml version="1.0" encoding="utf-8"?>
<p:tagLst xmlns:p="http://schemas.openxmlformats.org/presentationml/2006/main">
  <p:tag name="KSO_WM_DIAGRAM_VIRTUALLY_FRAME" val="{&quot;height&quot;:333.87503937007875,&quot;left&quot;:364.4250393700787,&quot;top&quot;:34.25,&quot;width&quot;:290.5749606299213}"/>
</p:tagLst>
</file>

<file path=ppt/tags/tag3.xml><?xml version="1.0" encoding="utf-8"?>
<p:tagLst xmlns:p="http://schemas.openxmlformats.org/presentationml/2006/main">
  <p:tag name="KSO_WM_DIAGRAM_VIRTUALLY_FRAME" val="{&quot;height&quot;:333.87503937007875,&quot;left&quot;:364.4250393700787,&quot;top&quot;:34.25,&quot;width&quot;:290.5749606299213}"/>
</p:tagLst>
</file>

<file path=ppt/tags/tag4.xml><?xml version="1.0" encoding="utf-8"?>
<p:tagLst xmlns:p="http://schemas.openxmlformats.org/presentationml/2006/main">
  <p:tag name="KSO_WM_DIAGRAM_VIRTUALLY_FRAME" val="{&quot;height&quot;:333.87503937007875,&quot;left&quot;:364.4250393700787,&quot;top&quot;:34.25,&quot;width&quot;:290.5749606299213}"/>
</p:tagLst>
</file>

<file path=ppt/tags/tag5.xml><?xml version="1.0" encoding="utf-8"?>
<p:tagLst xmlns:p="http://schemas.openxmlformats.org/presentationml/2006/main">
  <p:tag name="KSO_WM_DIAGRAM_VIRTUALLY_FRAME" val="{&quot;height&quot;:333.87503937007875,&quot;left&quot;:364.4250393700787,&quot;top&quot;:34.25,&quot;width&quot;:290.5749606299213}"/>
</p:tagLst>
</file>

<file path=ppt/tags/tag6.xml><?xml version="1.0" encoding="utf-8"?>
<p:tagLst xmlns:p="http://schemas.openxmlformats.org/presentationml/2006/main">
  <p:tag name="KSO_WM_DIAGRAM_VIRTUALLY_FRAME" val="{&quot;height&quot;:333.87503937007875,&quot;left&quot;:364.4250393700787,&quot;top&quot;:34.25,&quot;width&quot;:290.5749606299213}"/>
</p:tagLst>
</file>

<file path=ppt/tags/tag7.xml><?xml version="1.0" encoding="utf-8"?>
<p:tagLst xmlns:p="http://schemas.openxmlformats.org/presentationml/2006/main">
  <p:tag name="KSO_WM_DIAGRAM_VIRTUALLY_FRAME" val="{&quot;height&quot;:333.87503937007875,&quot;left&quot;:364.4250393700787,&quot;top&quot;:34.25,&quot;width&quot;:290.5749606299213}"/>
</p:tagLst>
</file>

<file path=ppt/tags/tag8.xml><?xml version="1.0" encoding="utf-8"?>
<p:tagLst xmlns:p="http://schemas.openxmlformats.org/presentationml/2006/main">
  <p:tag name="KSO_WM_DIAGRAM_VIRTUALLY_FRAME" val="{&quot;height&quot;:333.87503937007875,&quot;left&quot;:364.4250393700787,&quot;top&quot;:34.25,&quot;width&quot;:290.5749606299213}"/>
</p:tagLst>
</file>

<file path=ppt/tags/tag9.xml><?xml version="1.0" encoding="utf-8"?>
<p:tagLst xmlns:p="http://schemas.openxmlformats.org/presentationml/2006/main">
  <p:tag name="KSO_WM_DIAGRAM_VIRTUALLY_FRAME" val="{&quot;height&quot;:333.87503937007875,&quot;left&quot;:364.4250393700787,&quot;top&quot;:34.25,&quot;width&quot;:290.5749606299213}"/>
</p:tagLst>
</file>

<file path=ppt/tags/tag10.xml><?xml version="1.0" encoding="utf-8"?>
<p:tagLst xmlns:p="http://schemas.openxmlformats.org/presentationml/2006/main">
  <p:tag name="KSO_WM_DIAGRAM_VIRTUALLY_FRAME" val="{&quot;height&quot;:333.87503937007875,&quot;left&quot;:364.4250393700787,&quot;top&quot;:34.25,&quot;width&quot;:290.5749606299213}"/>
</p:tagLst>
</file>

<file path=ppt/tags/tag11.xml><?xml version="1.0" encoding="utf-8"?>
<p:tagLst xmlns:p="http://schemas.openxmlformats.org/presentationml/2006/main">
  <p:tag name="KSO_WM_DIAGRAM_VIRTUALLY_FRAME" val="{&quot;height&quot;:333.87503937007875,&quot;left&quot;:364.4250393700787,&quot;top&quot;:34.25,&quot;width&quot;:290.5749606299213}"/>
</p:tagLst>
</file>

<file path=ppt/tags/tag12.xml><?xml version="1.0" encoding="utf-8"?>
<p:tagLst xmlns:p="http://schemas.openxmlformats.org/presentationml/2006/main">
  <p:tag name="KSO_WM_DIAGRAM_VIRTUALLY_FRAME" val="{&quot;height&quot;:333.87503937007875,&quot;left&quot;:364.4250393700787,&quot;top&quot;:34.25,&quot;width&quot;:290.5749606299213}"/>
</p:tagLst>
</file>

<file path=ppt/tags/tag13.xml><?xml version="1.0" encoding="utf-8"?>
<p:tagLst xmlns:p="http://schemas.openxmlformats.org/presentationml/2006/main">
  <p:tag name="KSO_WM_DIAGRAM_VIRTUALLY_FRAME" val="{&quot;height&quot;:333.87503937007875,&quot;left&quot;:364.4250393700787,&quot;top&quot;:34.25,&quot;width&quot;:290.5749606299213}"/>
</p:tagLst>
</file>

<file path=ppt/tags/tag14.xml><?xml version="1.0" encoding="utf-8"?>
<p:tagLst xmlns:p="http://schemas.openxmlformats.org/presentationml/2006/main">
  <p:tag name="KSO_WM_DIAGRAM_VIRTUALLY_FRAME" val="{&quot;height&quot;:333.87503937007875,&quot;left&quot;:364.4250393700787,&quot;top&quot;:34.25,&quot;width&quot;:290.5749606299213}"/>
</p:tagLst>
</file>

<file path=ppt/tags/tag15.xml><?xml version="1.0" encoding="utf-8"?>
<p:tagLst xmlns:p="http://schemas.openxmlformats.org/presentationml/2006/main">
  <p:tag name="KSO_WM_DIAGRAM_VIRTUALLY_FRAME" val="{&quot;height&quot;:333.87503937007875,&quot;left&quot;:364.4250393700787,&quot;top&quot;:34.25,&quot;width&quot;:290.5749606299213}"/>
</p:tagLst>
</file>

<file path=ppt/tags/tag16.xml><?xml version="1.0" encoding="utf-8"?>
<p:tagLst xmlns:p="http://schemas.openxmlformats.org/presentationml/2006/main">
  <p:tag name="KSO_WM_DIAGRAM_VIRTUALLY_FRAME" val="{&quot;height&quot;:333.87503937007875,&quot;left&quot;:364.4250393700787,&quot;top&quot;:34.25,&quot;width&quot;:290.5749606299213}"/>
</p:tagLst>
</file>

<file path=ppt/tags/tag17.xml><?xml version="1.0" encoding="utf-8"?>
<p:tagLst xmlns:p="http://schemas.openxmlformats.org/presentationml/2006/main">
  <p:tag name="KSO_WM_DIAGRAM_VIRTUALLY_FRAME" val="{&quot;height&quot;:333.87503937007875,&quot;left&quot;:364.4250393700787,&quot;top&quot;:34.25,&quot;width&quot;:290.5749606299213}"/>
</p:tagLst>
</file>

<file path=ppt/tags/tag18.xml><?xml version="1.0" encoding="utf-8"?>
<p:tagLst xmlns:p="http://schemas.openxmlformats.org/presentationml/2006/main">
  <p:tag name="KSO_WM_DIAGRAM_VIRTUALLY_FRAME" val="{&quot;height&quot;:333.87503937007875,&quot;left&quot;:364.4250393700787,&quot;top&quot;:34.25,&quot;width&quot;:290.5749606299213}"/>
</p:tagLst>
</file>

<file path=ppt/tags/tag19.xml><?xml version="1.0" encoding="utf-8"?>
<p:tagLst xmlns:p="http://schemas.openxmlformats.org/presentationml/2006/main">
  <p:tag name="KSO_WM_DIAGRAM_VIRTUALLY_FRAME" val="{&quot;height&quot;:333.87503937007875,&quot;left&quot;:364.4250393700787,&quot;top&quot;:34.25,&quot;width&quot;:290.5749606299213}"/>
</p:tagLst>
</file>

<file path=ppt/tags/tag20.xml><?xml version="1.0" encoding="utf-8"?>
<p:tagLst xmlns:p="http://schemas.openxmlformats.org/presentationml/2006/main">
  <p:tag name="KSO_WM_DIAGRAM_VIRTUALLY_FRAME" val="{&quot;height&quot;:333.87503937007875,&quot;left&quot;:364.4250393700787,&quot;top&quot;:34.25,&quot;width&quot;:290.5749606299213}"/>
</p:tagLst>
</file>

<file path=ppt/tags/tag21.xml><?xml version="1.0" encoding="utf-8"?>
<p:tagLst xmlns:p="http://schemas.openxmlformats.org/presentationml/2006/main">
  <p:tag name="KSO_WM_DIAGRAM_VIRTUALLY_FRAME" val="{&quot;height&quot;:333.87503937007875,&quot;left&quot;:364.4250393700787,&quot;top&quot;:34.25,&quot;width&quot;:290.5749606299213}"/>
</p:tagLst>
</file>

<file path=ppt/tags/tag22.xml><?xml version="1.0" encoding="utf-8"?>
<p:tagLst xmlns:p="http://schemas.openxmlformats.org/presentationml/2006/main">
  <p:tag name="KSO_WM_DIAGRAM_VIRTUALLY_FRAME" val="{&quot;height&quot;:333.87503937007875,&quot;left&quot;:364.4250393700787,&quot;top&quot;:34.25,&quot;width&quot;:290.5749606299213}"/>
</p:tagLst>
</file>

<file path=ppt/tags/tag23.xml><?xml version="1.0" encoding="utf-8"?>
<p:tagLst xmlns:p="http://schemas.openxmlformats.org/presentationml/2006/main">
  <p:tag name="KSO_WM_DIAGRAM_VIRTUALLY_FRAME" val="{&quot;height&quot;:333.87503937007875,&quot;left&quot;:364.4250393700787,&quot;top&quot;:34.25,&quot;width&quot;:290.5749606299213}"/>
</p:tagLst>
</file>

<file path=ppt/tags/tag24.xml><?xml version="1.0" encoding="utf-8"?>
<p:tagLst xmlns:p="http://schemas.openxmlformats.org/presentationml/2006/main">
  <p:tag name="KSO_WM_DIAGRAM_VIRTUALLY_FRAME" val="{&quot;height&quot;:333.87503937007875,&quot;left&quot;:364.4250393700787,&quot;top&quot;:34.25,&quot;width&quot;:290.5749606299213}"/>
</p:tagLst>
</file>

<file path=ppt/tags/tag25.xml><?xml version="1.0" encoding="utf-8"?>
<p:tagLst xmlns:p="http://schemas.openxmlformats.org/presentationml/2006/main">
  <p:tag name="AS_NET" val="4.0.30319.42000"/>
  <p:tag name="AS_OS" val="Microsoft Windows NT 6.2.9200.0"/>
  <p:tag name="AS_RELEASE_DATE" val="2021.06.14"/>
  <p:tag name="AS_TITLE" val="Aspose.Slides for .NET 4.0 Client Profile"/>
  <p:tag name="AS_VERSION" val="21.6"/>
  <p:tag name="COMMONDATA" val="eyJoZGlkIjoiYTQ5NTk2MzMzOWQxNzUwYzkwNjMyY2E2MWZlNmEyNjcifQ=="/>
</p:tagLst>
</file>

<file path=ppt/theme/theme1.xml><?xml version="1.0" encoding="utf-8"?>
<a:theme xmlns:a="http://schemas.openxmlformats.org/drawingml/2006/main" name="PPTe吧 | PPT爱好者之家">
  <a:themeElements>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fontScheme name="默认设计模板">
      <a:majorFont>
        <a:latin typeface="Arial"/>
        <a:ea typeface="宋体"/>
        <a:cs typeface="Arial"/>
      </a:majorFont>
      <a:minorFont>
        <a:latin typeface="Arial"/>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1851</Words>
  <Application>WPS 演示</Application>
  <PresentationFormat>全屏显示(16:9)</PresentationFormat>
  <Paragraphs>170</Paragraphs>
  <Slides>26</Slides>
  <Notes>31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Arial</vt:lpstr>
      <vt:lpstr>宋体</vt:lpstr>
      <vt:lpstr>Wingdings</vt:lpstr>
      <vt:lpstr>Calibri</vt:lpstr>
      <vt:lpstr>微软雅黑</vt:lpstr>
      <vt:lpstr>Arial</vt:lpstr>
      <vt:lpstr>Arial Unicode MS</vt:lpstr>
      <vt:lpstr>MiSans Bold</vt:lpstr>
      <vt:lpstr>Wingdings</vt:lpstr>
      <vt:lpstr>MiSans Light</vt:lpstr>
      <vt:lpstr>Segoe Print</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风华正茂Dango.</cp:lastModifiedBy>
  <cp:revision>143</cp:revision>
  <dcterms:created xsi:type="dcterms:W3CDTF">2024-12-03T05:51:00Z</dcterms:created>
  <dcterms:modified xsi:type="dcterms:W3CDTF">2025-01-02T14:04:50Z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EE4C3560DBF140D4BEA67E389BFFB35F_12</vt:lpwstr>
  </property>
</Properties>
</file>