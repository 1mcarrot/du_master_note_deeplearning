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2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3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4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5.xml" ContentType="application/vnd.openxmlformats-officedocument.presentationml.notesSlide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6.xml" ContentType="application/vnd.openxmlformats-officedocument.presentationml.notesSlid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7.xml" ContentType="application/vnd.openxmlformats-officedocument.presentationml.notesSlid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8.xml" ContentType="application/vnd.openxmlformats-officedocument.presentationml.notesSlide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notesSlides/notesSlide9.xml" ContentType="application/vnd.openxmlformats-officedocument.presentationml.notesSlide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notesSlides/notesSlide10.xml" ContentType="application/vnd.openxmlformats-officedocument.presentationml.notesSlide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11.xml" ContentType="application/vnd.openxmlformats-officedocument.presentationml.notesSlid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notesSlides/notesSlide12.xml" ContentType="application/vnd.openxmlformats-officedocument.presentationml.notesSlide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notesSlides/notesSlide13.xml" ContentType="application/vnd.openxmlformats-officedocument.presentationml.notesSlid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notesSlides/notesSlide14.xml" ContentType="application/vnd.openxmlformats-officedocument.presentationml.notesSlide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459" r:id="rId2"/>
    <p:sldId id="645" r:id="rId3"/>
    <p:sldId id="641" r:id="rId4"/>
    <p:sldId id="660" r:id="rId5"/>
    <p:sldId id="661" r:id="rId6"/>
    <p:sldId id="643" r:id="rId7"/>
    <p:sldId id="648" r:id="rId8"/>
    <p:sldId id="649" r:id="rId9"/>
    <p:sldId id="650" r:id="rId10"/>
    <p:sldId id="651" r:id="rId11"/>
    <p:sldId id="652" r:id="rId12"/>
    <p:sldId id="653" r:id="rId13"/>
    <p:sldId id="654" r:id="rId14"/>
    <p:sldId id="655" r:id="rId15"/>
    <p:sldId id="656" r:id="rId16"/>
    <p:sldId id="658" r:id="rId17"/>
    <p:sldId id="657" r:id="rId18"/>
    <p:sldId id="497" r:id="rId19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D6D8EF-FF10-4018-846A-D712F3478F5E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1B9F13-8F08-49E6-9A2C-1C81E5F4088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1B693-632D-4080-9CF6-EA28B66DC801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9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6.xml"/><Relationship Id="rId4" Type="http://schemas.openxmlformats.org/officeDocument/2006/relationships/tags" Target="../tags/tag55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0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5.xml"/><Relationship Id="rId4" Type="http://schemas.openxmlformats.org/officeDocument/2006/relationships/tags" Target="../tags/tag6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3" name="矩形 22"/>
          <p:cNvSpPr/>
          <p:nvPr userDrawn="1">
            <p:custDataLst>
              <p:tags r:id="rId6"/>
            </p:custDataLst>
          </p:nvPr>
        </p:nvSpPr>
        <p:spPr>
          <a:xfrm>
            <a:off x="0" y="15663"/>
            <a:ext cx="12192000" cy="960967"/>
          </a:xfrm>
          <a:prstGeom prst="rect">
            <a:avLst/>
          </a:prstGeom>
          <a:solidFill>
            <a:srgbClr val="2A3F94"/>
          </a:solidFill>
          <a:ln>
            <a:solidFill>
              <a:srgbClr val="2A3F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8" rIns="91438" bIns="45718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900" b="0" i="0" u="none" strike="noStrike" kern="1200" cap="none" spc="0" normalizeH="0" baseline="0" noProof="0">
              <a:ln>
                <a:noFill/>
              </a:ln>
              <a:solidFill>
                <a:srgbClr val="1B0FB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8" name="图片 7" descr="8AAHHGN15TD8ZQ7H5V$9JNL.png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1203807" y="-1269"/>
            <a:ext cx="879039" cy="9884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2025/6/2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2025/6/2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/><Relationship Id="rId13" Type="http://schemas.openxmlformats.org/officeDocument/2006/relationships/slideLayout" Target="../slideLayouts/slideLayout6.xml"/><Relationship Id="rId3" Type="http://schemas.openxmlformats.org/officeDocument/2006/relationships/tags" Target="../tags/tag68.xml"/><Relationship Id="rId7" Type="http://schemas.openxmlformats.org/officeDocument/2006/relationships/tags" Target="../tags/tag72.xml"/><Relationship Id="rId12" Type="http://schemas.openxmlformats.org/officeDocument/2006/relationships/tags" Target="../tags/tag77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11" Type="http://schemas.openxmlformats.org/officeDocument/2006/relationships/tags" Target="../tags/tag76.xml"/><Relationship Id="rId5" Type="http://schemas.openxmlformats.org/officeDocument/2006/relationships/tags" Target="../tags/tag70.xml"/><Relationship Id="rId10" Type="http://schemas.openxmlformats.org/officeDocument/2006/relationships/tags" Target="../tags/tag75.xml"/><Relationship Id="rId4" Type="http://schemas.openxmlformats.org/officeDocument/2006/relationships/tags" Target="../tags/tag69.xml"/><Relationship Id="rId9" Type="http://schemas.openxmlformats.org/officeDocument/2006/relationships/tags" Target="../tags/tag74.xml"/><Relationship Id="rId1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13" Type="http://schemas.openxmlformats.org/officeDocument/2006/relationships/notesSlide" Target="../notesSlides/notesSlide2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12" Type="http://schemas.openxmlformats.org/officeDocument/2006/relationships/slideLayout" Target="../slideLayouts/slideLayout6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tags" Target="../tags/tag88.xml"/><Relationship Id="rId5" Type="http://schemas.openxmlformats.org/officeDocument/2006/relationships/tags" Target="../tags/tag82.xml"/><Relationship Id="rId10" Type="http://schemas.openxmlformats.org/officeDocument/2006/relationships/tags" Target="../tags/tag87.xml"/><Relationship Id="rId4" Type="http://schemas.openxmlformats.org/officeDocument/2006/relationships/tags" Target="../tags/tag81.xml"/><Relationship Id="rId9" Type="http://schemas.openxmlformats.org/officeDocument/2006/relationships/tags" Target="../tags/tag86.xml"/><Relationship Id="rId1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openxmlformats.org/officeDocument/2006/relationships/tags" Target="../tags/tag93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openxmlformats.org/officeDocument/2006/relationships/tags" Target="../tags/tag99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9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05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07.xml"/><Relationship Id="rId4" Type="http://schemas.openxmlformats.org/officeDocument/2006/relationships/tags" Target="../tags/tag10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10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109.xml"/><Relationship Id="rId1" Type="http://schemas.openxmlformats.org/officeDocument/2006/relationships/tags" Target="../tags/tag108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12.xml"/><Relationship Id="rId4" Type="http://schemas.openxmlformats.org/officeDocument/2006/relationships/tags" Target="../tags/tag11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15.xml"/><Relationship Id="rId7" Type="http://schemas.openxmlformats.org/officeDocument/2006/relationships/notesSlide" Target="../notesSlides/notesSlide7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17.xml"/><Relationship Id="rId4" Type="http://schemas.openxmlformats.org/officeDocument/2006/relationships/tags" Target="../tags/tag11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20.xml"/><Relationship Id="rId7" Type="http://schemas.openxmlformats.org/officeDocument/2006/relationships/notesSlide" Target="../notesSlides/notesSlide8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22.xml"/><Relationship Id="rId4" Type="http://schemas.openxmlformats.org/officeDocument/2006/relationships/tags" Target="../tags/tag12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25.xml"/><Relationship Id="rId7" Type="http://schemas.openxmlformats.org/officeDocument/2006/relationships/notesSlide" Target="../notesSlides/notesSlide9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27.xml"/><Relationship Id="rId4" Type="http://schemas.openxmlformats.org/officeDocument/2006/relationships/tags" Target="../tags/tag12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30.xml"/><Relationship Id="rId7" Type="http://schemas.openxmlformats.org/officeDocument/2006/relationships/notesSlide" Target="../notesSlides/notesSlide10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32.xml"/><Relationship Id="rId4" Type="http://schemas.openxmlformats.org/officeDocument/2006/relationships/tags" Target="../tags/tag13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35.xml"/><Relationship Id="rId7" Type="http://schemas.openxmlformats.org/officeDocument/2006/relationships/notesSlide" Target="../notesSlides/notesSlide11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37.xml"/><Relationship Id="rId4" Type="http://schemas.openxmlformats.org/officeDocument/2006/relationships/tags" Target="../tags/tag13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40.xml"/><Relationship Id="rId7" Type="http://schemas.openxmlformats.org/officeDocument/2006/relationships/notesSlide" Target="../notesSlides/notesSlide12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42.xml"/><Relationship Id="rId4" Type="http://schemas.openxmlformats.org/officeDocument/2006/relationships/tags" Target="../tags/tag14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45.xml"/><Relationship Id="rId7" Type="http://schemas.openxmlformats.org/officeDocument/2006/relationships/notesSlide" Target="../notesSlides/notesSlide13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47.xml"/><Relationship Id="rId4" Type="http://schemas.openxmlformats.org/officeDocument/2006/relationships/tags" Target="../tags/tag14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50.xml"/><Relationship Id="rId7" Type="http://schemas.openxmlformats.org/officeDocument/2006/relationships/notesSlide" Target="../notesSlides/notesSlide1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52.xml"/><Relationship Id="rId4" Type="http://schemas.openxmlformats.org/officeDocument/2006/relationships/tags" Target="../tags/tag15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516" y="1361217"/>
            <a:ext cx="12130480" cy="1958975"/>
          </a:xfrm>
          <a:prstGeom prst="rect">
            <a:avLst/>
          </a:prstGeom>
          <a:solidFill>
            <a:srgbClr val="132A88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79" tIns="34289" rIns="68579" bIns="34289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25" b="0" i="0" u="none" strike="noStrike" kern="1200" cap="none" spc="0" normalizeH="0" baseline="0" noProof="1">
                <a:ln>
                  <a:noFill/>
                </a:ln>
                <a:solidFill>
                  <a:srgbClr val="1B0FB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 </a:t>
            </a:r>
            <a:endParaRPr kumimoji="0" lang="zh-CN" altLang="en-US" sz="1425" b="0" i="0" u="none" strike="noStrike" kern="1200" cap="none" spc="0" normalizeH="0" baseline="0" noProof="1">
              <a:ln>
                <a:noFill/>
              </a:ln>
              <a:solidFill>
                <a:srgbClr val="1B0FB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grpSp>
        <p:nvGrpSpPr>
          <p:cNvPr id="3076" name="组合 8"/>
          <p:cNvGrpSpPr/>
          <p:nvPr/>
        </p:nvGrpSpPr>
        <p:grpSpPr>
          <a:xfrm>
            <a:off x="93626" y="1484991"/>
            <a:ext cx="11943226" cy="1728385"/>
            <a:chOff x="0" y="1397"/>
            <a:chExt cx="19198" cy="4610"/>
          </a:xfrm>
        </p:grpSpPr>
        <p:sp>
          <p:nvSpPr>
            <p:cNvPr id="3078" name="TextBox 22"/>
            <p:cNvSpPr txBox="1"/>
            <p:nvPr/>
          </p:nvSpPr>
          <p:spPr>
            <a:xfrm>
              <a:off x="4432" y="1785"/>
              <a:ext cx="10432" cy="37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68579" tIns="34289" rIns="68579" bIns="34289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课堂汇报</a:t>
              </a:r>
            </a:p>
          </p:txBody>
        </p:sp>
        <p:cxnSp>
          <p:nvCxnSpPr>
            <p:cNvPr id="3079" name="直接连接符 10"/>
            <p:cNvCxnSpPr/>
            <p:nvPr/>
          </p:nvCxnSpPr>
          <p:spPr>
            <a:xfrm>
              <a:off x="0" y="6007"/>
              <a:ext cx="19198" cy="0"/>
            </a:xfrm>
            <a:prstGeom prst="line">
              <a:avLst/>
            </a:prstGeom>
            <a:ln w="190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3080" name="直接连接符 11"/>
            <p:cNvCxnSpPr/>
            <p:nvPr/>
          </p:nvCxnSpPr>
          <p:spPr>
            <a:xfrm>
              <a:off x="0" y="1397"/>
              <a:ext cx="19198" cy="0"/>
            </a:xfrm>
            <a:prstGeom prst="line">
              <a:avLst/>
            </a:prstGeom>
            <a:ln w="190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cxnSp>
      </p:grpSp>
      <p:sp>
        <p:nvSpPr>
          <p:cNvPr id="2" name="矩形 2"/>
          <p:cNvSpPr/>
          <p:nvPr/>
        </p:nvSpPr>
        <p:spPr>
          <a:xfrm>
            <a:off x="4321983" y="4166543"/>
            <a:ext cx="3967753" cy="1684244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报  告  人：</a:t>
            </a:r>
            <a:r>
              <a: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杜博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指导老师：朱善良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报告日期：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年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6</a:t>
            </a:r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日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 advTm="6483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67710" y="215335"/>
            <a:ext cx="10969200" cy="705600"/>
          </a:xfrm>
        </p:spPr>
        <p:txBody>
          <a:bodyPr/>
          <a:lstStyle/>
          <a:p>
            <a:r>
              <a:rPr lang="zh-CN" altLang="en-US" dirty="0"/>
              <a:t>1.1 引言</a:t>
            </a:r>
          </a:p>
        </p:txBody>
      </p:sp>
      <p:sp>
        <p:nvSpPr>
          <p:cNvPr id="6" name="圆角矩形 3"/>
          <p:cNvSpPr/>
          <p:nvPr>
            <p:custDataLst>
              <p:tags r:id="rId3"/>
            </p:custDataLst>
          </p:nvPr>
        </p:nvSpPr>
        <p:spPr>
          <a:xfrm>
            <a:off x="457278" y="1464635"/>
            <a:ext cx="3569609" cy="4556209"/>
          </a:xfrm>
          <a:custGeom>
            <a:avLst/>
            <a:gdLst>
              <a:gd name="adj" fmla="val 662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39" h="6687">
                <a:moveTo>
                  <a:pt x="5035" y="0"/>
                </a:moveTo>
                <a:lnTo>
                  <a:pt x="5041" y="3"/>
                </a:lnTo>
                <a:cubicBezTo>
                  <a:pt x="5158" y="59"/>
                  <a:pt x="5239" y="179"/>
                  <a:pt x="5239" y="318"/>
                </a:cubicBezTo>
                <a:lnTo>
                  <a:pt x="5239" y="6337"/>
                </a:lnTo>
                <a:cubicBezTo>
                  <a:pt x="5239" y="6531"/>
                  <a:pt x="5083" y="6687"/>
                  <a:pt x="4889" y="6687"/>
                </a:cubicBezTo>
                <a:lnTo>
                  <a:pt x="307" y="6687"/>
                </a:lnTo>
                <a:cubicBezTo>
                  <a:pt x="180" y="6687"/>
                  <a:pt x="69" y="6620"/>
                  <a:pt x="8" y="6519"/>
                </a:cubicBezTo>
                <a:lnTo>
                  <a:pt x="0" y="6505"/>
                </a:lnTo>
                <a:lnTo>
                  <a:pt x="10" y="6510"/>
                </a:lnTo>
                <a:cubicBezTo>
                  <a:pt x="52" y="6527"/>
                  <a:pt x="98" y="6537"/>
                  <a:pt x="146" y="6537"/>
                </a:cubicBezTo>
                <a:lnTo>
                  <a:pt x="4728" y="6537"/>
                </a:lnTo>
                <a:cubicBezTo>
                  <a:pt x="4922" y="6537"/>
                  <a:pt x="5078" y="6381"/>
                  <a:pt x="5078" y="6187"/>
                </a:cubicBezTo>
                <a:lnTo>
                  <a:pt x="5078" y="168"/>
                </a:lnTo>
                <a:cubicBezTo>
                  <a:pt x="5078" y="107"/>
                  <a:pt x="5063" y="51"/>
                  <a:pt x="5036" y="1"/>
                </a:cubicBezTo>
                <a:lnTo>
                  <a:pt x="503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23850" tIns="215900" rIns="179705" bIns="698500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zh-CN" sz="1400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圆角矩形 3"/>
          <p:cNvSpPr/>
          <p:nvPr>
            <p:custDataLst>
              <p:tags r:id="rId4"/>
            </p:custDataLst>
          </p:nvPr>
        </p:nvSpPr>
        <p:spPr>
          <a:xfrm>
            <a:off x="318770" y="1340485"/>
            <a:ext cx="3860800" cy="4578350"/>
          </a:xfrm>
          <a:prstGeom prst="roundRect">
            <a:avLst>
              <a:gd name="adj" fmla="val 6621"/>
            </a:avLst>
          </a:prstGeom>
          <a:solidFill>
            <a:schemeClr val="lt1">
              <a:lumMod val="100000"/>
              <a:alpha val="1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290" tIns="252095" rIns="288290" bIns="698500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优化抗体耗时、耗力且会消耗大量资源</a:t>
            </a:r>
          </a:p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序列空间庞大</a:t>
            </a:r>
          </a:p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常规方法受限于物理实验的规模</a:t>
            </a:r>
          </a:p>
        </p:txBody>
      </p:sp>
      <p:sp>
        <p:nvSpPr>
          <p:cNvPr id="3" name="圆角矩形 16"/>
          <p:cNvSpPr/>
          <p:nvPr>
            <p:custDataLst>
              <p:tags r:id="rId5"/>
            </p:custDataLst>
          </p:nvPr>
        </p:nvSpPr>
        <p:spPr>
          <a:xfrm>
            <a:off x="548183" y="5188640"/>
            <a:ext cx="3243494" cy="529675"/>
          </a:xfrm>
          <a:prstGeom prst="roundRect">
            <a:avLst>
              <a:gd name="adj" fmla="val 2376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>
                <a:solidFill>
                  <a:srgbClr val="FFFF00"/>
                </a:solidFill>
                <a:latin typeface="+mn-ea"/>
                <a:cs typeface="+mn-ea"/>
                <a:sym typeface="+mn-ea"/>
              </a:rPr>
              <a:t>存在的问题</a:t>
            </a:r>
          </a:p>
        </p:txBody>
      </p:sp>
      <p:sp>
        <p:nvSpPr>
          <p:cNvPr id="48" name="圆角矩形 3"/>
          <p:cNvSpPr/>
          <p:nvPr>
            <p:custDataLst>
              <p:tags r:id="rId6"/>
            </p:custDataLst>
          </p:nvPr>
        </p:nvSpPr>
        <p:spPr>
          <a:xfrm>
            <a:off x="4424116" y="1464635"/>
            <a:ext cx="3569609" cy="4556209"/>
          </a:xfrm>
          <a:custGeom>
            <a:avLst/>
            <a:gdLst>
              <a:gd name="adj" fmla="val 662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39" h="6687">
                <a:moveTo>
                  <a:pt x="5035" y="0"/>
                </a:moveTo>
                <a:lnTo>
                  <a:pt x="5041" y="3"/>
                </a:lnTo>
                <a:cubicBezTo>
                  <a:pt x="5158" y="59"/>
                  <a:pt x="5239" y="179"/>
                  <a:pt x="5239" y="318"/>
                </a:cubicBezTo>
                <a:lnTo>
                  <a:pt x="5239" y="6337"/>
                </a:lnTo>
                <a:cubicBezTo>
                  <a:pt x="5239" y="6531"/>
                  <a:pt x="5083" y="6687"/>
                  <a:pt x="4889" y="6687"/>
                </a:cubicBezTo>
                <a:lnTo>
                  <a:pt x="307" y="6687"/>
                </a:lnTo>
                <a:cubicBezTo>
                  <a:pt x="180" y="6687"/>
                  <a:pt x="69" y="6620"/>
                  <a:pt x="8" y="6519"/>
                </a:cubicBezTo>
                <a:lnTo>
                  <a:pt x="0" y="6505"/>
                </a:lnTo>
                <a:lnTo>
                  <a:pt x="10" y="6510"/>
                </a:lnTo>
                <a:cubicBezTo>
                  <a:pt x="52" y="6527"/>
                  <a:pt x="98" y="6537"/>
                  <a:pt x="146" y="6537"/>
                </a:cubicBezTo>
                <a:lnTo>
                  <a:pt x="4728" y="6537"/>
                </a:lnTo>
                <a:cubicBezTo>
                  <a:pt x="4922" y="6537"/>
                  <a:pt x="5078" y="6381"/>
                  <a:pt x="5078" y="6187"/>
                </a:cubicBezTo>
                <a:lnTo>
                  <a:pt x="5078" y="168"/>
                </a:lnTo>
                <a:cubicBezTo>
                  <a:pt x="5078" y="107"/>
                  <a:pt x="5063" y="51"/>
                  <a:pt x="5036" y="1"/>
                </a:cubicBezTo>
                <a:lnTo>
                  <a:pt x="503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23850" tIns="215900" rIns="179705" bIns="698500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zh-CN" sz="1400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 useBgFill="1">
        <p:nvSpPr>
          <p:cNvPr id="49" name="圆角矩形 3"/>
          <p:cNvSpPr/>
          <p:nvPr>
            <p:custDataLst>
              <p:tags r:id="rId7"/>
            </p:custDataLst>
          </p:nvPr>
        </p:nvSpPr>
        <p:spPr>
          <a:xfrm>
            <a:off x="4285121" y="1340629"/>
            <a:ext cx="3598907" cy="4578012"/>
          </a:xfrm>
          <a:prstGeom prst="roundRect">
            <a:avLst>
              <a:gd name="adj" fmla="val 6621"/>
            </a:avLst>
          </a:prstGeom>
          <a:solidFill>
            <a:schemeClr val="lt1">
              <a:lumMod val="100000"/>
              <a:alpha val="10000"/>
            </a:schemeClr>
          </a:solidFill>
          <a:ln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290" tIns="252095" rIns="288290" bIns="698500" numCol="1" spcCol="0" rtlCol="0" fromWordArt="0" anchor="t" anchorCtr="0" forceAA="0" compatLnSpc="1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深度突变扫描</a:t>
            </a:r>
          </a:p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同源定向诱变</a:t>
            </a:r>
            <a:endParaRPr lang="en-US" altLang="zh-CN" sz="22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深度学习模型</a:t>
            </a:r>
          </a:p>
        </p:txBody>
      </p:sp>
      <p:sp>
        <p:nvSpPr>
          <p:cNvPr id="50" name="圆角矩形 16"/>
          <p:cNvSpPr/>
          <p:nvPr>
            <p:custDataLst>
              <p:tags r:id="rId8"/>
            </p:custDataLst>
          </p:nvPr>
        </p:nvSpPr>
        <p:spPr>
          <a:xfrm>
            <a:off x="4453993" y="5188640"/>
            <a:ext cx="3121471" cy="529675"/>
          </a:xfrm>
          <a:prstGeom prst="roundRect">
            <a:avLst>
              <a:gd name="adj" fmla="val 23765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400" b="1">
                <a:solidFill>
                  <a:srgbClr val="FFFF00"/>
                </a:solidFill>
                <a:latin typeface="+mn-ea"/>
                <a:cs typeface="+mn-ea"/>
                <a:sym typeface="+mn-ea"/>
              </a:rPr>
              <a:t>解决的方法</a:t>
            </a:r>
          </a:p>
        </p:txBody>
      </p:sp>
      <p:sp>
        <p:nvSpPr>
          <p:cNvPr id="52" name="圆角矩形 3"/>
          <p:cNvSpPr/>
          <p:nvPr>
            <p:custDataLst>
              <p:tags r:id="rId9"/>
            </p:custDataLst>
          </p:nvPr>
        </p:nvSpPr>
        <p:spPr>
          <a:xfrm>
            <a:off x="8376646" y="1464635"/>
            <a:ext cx="3569609" cy="4556209"/>
          </a:xfrm>
          <a:custGeom>
            <a:avLst/>
            <a:gdLst>
              <a:gd name="adj" fmla="val 6621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239" h="6687">
                <a:moveTo>
                  <a:pt x="5035" y="0"/>
                </a:moveTo>
                <a:lnTo>
                  <a:pt x="5041" y="3"/>
                </a:lnTo>
                <a:cubicBezTo>
                  <a:pt x="5158" y="59"/>
                  <a:pt x="5239" y="179"/>
                  <a:pt x="5239" y="318"/>
                </a:cubicBezTo>
                <a:lnTo>
                  <a:pt x="5239" y="6337"/>
                </a:lnTo>
                <a:cubicBezTo>
                  <a:pt x="5239" y="6531"/>
                  <a:pt x="5083" y="6687"/>
                  <a:pt x="4889" y="6687"/>
                </a:cubicBezTo>
                <a:lnTo>
                  <a:pt x="307" y="6687"/>
                </a:lnTo>
                <a:cubicBezTo>
                  <a:pt x="180" y="6687"/>
                  <a:pt x="69" y="6620"/>
                  <a:pt x="8" y="6519"/>
                </a:cubicBezTo>
                <a:lnTo>
                  <a:pt x="0" y="6505"/>
                </a:lnTo>
                <a:lnTo>
                  <a:pt x="10" y="6510"/>
                </a:lnTo>
                <a:cubicBezTo>
                  <a:pt x="52" y="6527"/>
                  <a:pt x="98" y="6537"/>
                  <a:pt x="146" y="6537"/>
                </a:cubicBezTo>
                <a:lnTo>
                  <a:pt x="4728" y="6537"/>
                </a:lnTo>
                <a:cubicBezTo>
                  <a:pt x="4922" y="6537"/>
                  <a:pt x="5078" y="6381"/>
                  <a:pt x="5078" y="6187"/>
                </a:cubicBezTo>
                <a:lnTo>
                  <a:pt x="5078" y="168"/>
                </a:lnTo>
                <a:cubicBezTo>
                  <a:pt x="5078" y="107"/>
                  <a:pt x="5063" y="51"/>
                  <a:pt x="5036" y="1"/>
                </a:cubicBezTo>
                <a:lnTo>
                  <a:pt x="503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323850" tIns="215900" rIns="179705" bIns="698500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zh-CN" sz="1400" dirty="0">
              <a:solidFill>
                <a:srgbClr val="262626"/>
              </a:solidFill>
              <a:latin typeface="+mn-ea"/>
              <a:cs typeface="+mn-ea"/>
              <a:sym typeface="+mn-ea"/>
            </a:endParaRPr>
          </a:p>
        </p:txBody>
      </p:sp>
      <p:sp useBgFill="1">
        <p:nvSpPr>
          <p:cNvPr id="53" name="圆角矩形 3"/>
          <p:cNvSpPr/>
          <p:nvPr>
            <p:custDataLst>
              <p:tags r:id="rId10"/>
            </p:custDataLst>
          </p:nvPr>
        </p:nvSpPr>
        <p:spPr>
          <a:xfrm>
            <a:off x="8237650" y="1340629"/>
            <a:ext cx="3598907" cy="4578012"/>
          </a:xfrm>
          <a:prstGeom prst="roundRect">
            <a:avLst>
              <a:gd name="adj" fmla="val 6621"/>
            </a:avLst>
          </a:prstGeom>
          <a:solidFill>
            <a:schemeClr val="lt1">
              <a:lumMod val="100000"/>
              <a:alpha val="10000"/>
            </a:schemeClr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288290" tIns="252095" rIns="288290" bIns="698500" numCol="1" spcCol="0" rtlCol="0" fromWordArt="0" anchor="t" anchorCtr="0" forceAA="0" compatLnSpc="1">
            <a:noAutofit/>
          </a:bodyPr>
          <a:lstStyle/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提高抗体优化效率</a:t>
            </a:r>
          </a:p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探索更大序列空间</a:t>
            </a:r>
          </a:p>
          <a:p>
            <a:pPr lvl="0" algn="l">
              <a:lnSpc>
                <a:spcPct val="140000"/>
              </a:lnSpc>
              <a:buClrTx/>
              <a:buSzTx/>
              <a:buFontTx/>
            </a:pPr>
            <a:endParaRPr lang="zh-CN" altLang="en-US" sz="220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  <a:p>
            <a:pPr lvl="0" algn="l">
              <a:lnSpc>
                <a:spcPct val="140000"/>
              </a:lnSpc>
              <a:buClrTx/>
              <a:buSzTx/>
              <a:buFontTx/>
            </a:pPr>
            <a:r>
              <a:rPr lang="zh-CN" altLang="en-US" sz="22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验证方法的有效性</a:t>
            </a:r>
          </a:p>
        </p:txBody>
      </p:sp>
      <p:sp>
        <p:nvSpPr>
          <p:cNvPr id="54" name="圆角矩形 16"/>
          <p:cNvSpPr/>
          <p:nvPr>
            <p:custDataLst>
              <p:tags r:id="rId11"/>
            </p:custDataLst>
          </p:nvPr>
        </p:nvSpPr>
        <p:spPr>
          <a:xfrm>
            <a:off x="8377872" y="5188640"/>
            <a:ext cx="3233269" cy="529675"/>
          </a:xfrm>
          <a:prstGeom prst="roundRect">
            <a:avLst>
              <a:gd name="adj" fmla="val 7492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indent="457200" algn="ctr">
              <a:buClrTx/>
              <a:buSzTx/>
              <a:buFontTx/>
            </a:pPr>
            <a:r>
              <a:rPr lang="zh-CN" altLang="en-US" sz="2400" b="1">
                <a:solidFill>
                  <a:srgbClr val="FFFF00"/>
                </a:solidFill>
                <a:latin typeface="+mn-ea"/>
                <a:cs typeface="+mn-ea"/>
                <a:sym typeface="+mn-ea"/>
              </a:rPr>
              <a:t>实验的目标</a:t>
            </a:r>
          </a:p>
        </p:txBody>
      </p:sp>
      <p:pic>
        <p:nvPicPr>
          <p:cNvPr id="9" name="图片 7" descr="8AAHHGN15TD8ZQ7H5V$9JNL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1203807" y="-1269"/>
            <a:ext cx="879039" cy="98848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7" descr="8AAHHGN15TD8ZQ7H5V$9JNL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11203807" y="-1269"/>
            <a:ext cx="879039" cy="9884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" name="标题 50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1.2 流程框架</a:t>
            </a:r>
            <a:endParaRPr lang="zh-CN" altLang="en-US" b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" name="圆角矩形 43"/>
          <p:cNvSpPr/>
          <p:nvPr>
            <p:custDataLst>
              <p:tags r:id="rId4"/>
            </p:custDataLst>
          </p:nvPr>
        </p:nvSpPr>
        <p:spPr>
          <a:xfrm>
            <a:off x="695960" y="1466891"/>
            <a:ext cx="10800715" cy="1069466"/>
          </a:xfrm>
          <a:prstGeom prst="roundRect">
            <a:avLst>
              <a:gd name="adj" fmla="val 22030"/>
            </a:avLst>
          </a:prstGeom>
          <a:solidFill>
            <a:schemeClr val="lt1">
              <a:lumMod val="100000"/>
              <a:alpha val="10000"/>
            </a:schemeClr>
          </a:solidFill>
          <a:ln>
            <a:gradFill>
              <a:gsLst>
                <a:gs pos="0">
                  <a:schemeClr val="accent1">
                    <a:alpha val="70000"/>
                  </a:schemeClr>
                </a:gs>
                <a:gs pos="100000">
                  <a:schemeClr val="accent1">
                    <a:alpha val="60000"/>
                  </a:schemeClr>
                </a:gs>
              </a:gsLst>
              <a:lin ang="1074000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972185" tIns="0" rIns="179705" bIns="36195" rtlCol="0" anchor="ctr">
            <a:noAutofit/>
          </a:bodyPr>
          <a:lstStyle/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组合突变库生成与筛选：通过同源定向诱变技术生成抗体变体库，并通过流式细胞术筛选出与抗原结合或不结合的抗体序列。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highlight>
                <a:srgbClr val="FFFF00"/>
              </a:highlight>
              <a:sym typeface="+mn-ea"/>
            </a:endParaRPr>
          </a:p>
        </p:txBody>
      </p:sp>
      <p:sp>
        <p:nvSpPr>
          <p:cNvPr id="3" name="椭圆 44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020483" y="1783158"/>
            <a:ext cx="436931" cy="436931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59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dirty="0">
                <a:solidFill>
                  <a:srgbClr val="FFFFFF"/>
                </a:solidFill>
                <a:sym typeface="+mn-ea"/>
              </a:rPr>
              <a:t>1</a:t>
            </a:r>
          </a:p>
        </p:txBody>
      </p:sp>
      <p:sp>
        <p:nvSpPr>
          <p:cNvPr id="5" name="圆角矩形 46"/>
          <p:cNvSpPr/>
          <p:nvPr>
            <p:custDataLst>
              <p:tags r:id="rId6"/>
            </p:custDataLst>
          </p:nvPr>
        </p:nvSpPr>
        <p:spPr>
          <a:xfrm>
            <a:off x="695960" y="2678613"/>
            <a:ext cx="10800715" cy="1069466"/>
          </a:xfrm>
          <a:prstGeom prst="roundRect">
            <a:avLst>
              <a:gd name="adj" fmla="val 22030"/>
            </a:avLst>
          </a:prstGeom>
          <a:solidFill>
            <a:schemeClr val="lt1">
              <a:lumMod val="100000"/>
              <a:alpha val="10000"/>
            </a:schemeClr>
          </a:solidFill>
          <a:ln>
            <a:gradFill>
              <a:gsLst>
                <a:gs pos="0">
                  <a:schemeClr val="accent1">
                    <a:alpha val="70000"/>
                  </a:schemeClr>
                </a:gs>
                <a:gs pos="100000">
                  <a:schemeClr val="accent1">
                    <a:alpha val="60000"/>
                  </a:schemeClr>
                </a:gs>
              </a:gsLst>
              <a:lin ang="1074000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972185" tIns="0" rIns="179705" bIns="36195" rtlCol="0" anchor="ctr">
            <a:noAutofit/>
          </a:bodyPr>
          <a:lstStyle/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数据预处理：对测序数据进行清洗和格式化，准备用于深度学习。</a:t>
            </a:r>
          </a:p>
        </p:txBody>
      </p:sp>
      <p:sp>
        <p:nvSpPr>
          <p:cNvPr id="6" name="椭圆 4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020483" y="2994881"/>
            <a:ext cx="436931" cy="436931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59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dirty="0">
                <a:solidFill>
                  <a:srgbClr val="FFFFFF"/>
                </a:solidFill>
                <a:sym typeface="+mn-ea"/>
              </a:rPr>
              <a:t>2</a:t>
            </a:r>
          </a:p>
        </p:txBody>
      </p:sp>
      <p:sp>
        <p:nvSpPr>
          <p:cNvPr id="7" name="圆角矩形 49"/>
          <p:cNvSpPr/>
          <p:nvPr>
            <p:custDataLst>
              <p:tags r:id="rId8"/>
            </p:custDataLst>
          </p:nvPr>
        </p:nvSpPr>
        <p:spPr>
          <a:xfrm>
            <a:off x="695960" y="3890336"/>
            <a:ext cx="10800715" cy="1069466"/>
          </a:xfrm>
          <a:prstGeom prst="roundRect">
            <a:avLst>
              <a:gd name="adj" fmla="val 22030"/>
            </a:avLst>
          </a:prstGeom>
          <a:solidFill>
            <a:schemeClr val="lt1">
              <a:lumMod val="100000"/>
              <a:alpha val="10000"/>
            </a:schemeClr>
          </a:solidFill>
          <a:ln>
            <a:gradFill>
              <a:gsLst>
                <a:gs pos="0">
                  <a:schemeClr val="accent1">
                    <a:alpha val="70000"/>
                  </a:schemeClr>
                </a:gs>
                <a:gs pos="100000">
                  <a:schemeClr val="accent1">
                    <a:alpha val="60000"/>
                  </a:schemeClr>
                </a:gs>
              </a:gsLst>
              <a:lin ang="1074000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972185" tIns="0" rIns="179705" bIns="36195" rtlCol="0" anchor="ctr">
            <a:noAutofit/>
          </a:bodyPr>
          <a:lstStyle/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深度学习模型训练：使用卷积神经网络(CNN)等模型预测抗原特异性。</a:t>
            </a:r>
          </a:p>
        </p:txBody>
      </p:sp>
      <p:sp>
        <p:nvSpPr>
          <p:cNvPr id="8" name="椭圆 5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020483" y="4206603"/>
            <a:ext cx="436931" cy="436931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59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dirty="0">
                <a:solidFill>
                  <a:srgbClr val="FFFFFF"/>
                </a:solidFill>
                <a:sym typeface="+mn-ea"/>
              </a:rPr>
              <a:t>3</a:t>
            </a:r>
          </a:p>
        </p:txBody>
      </p:sp>
      <p:sp>
        <p:nvSpPr>
          <p:cNvPr id="54" name="圆角矩形 53"/>
          <p:cNvSpPr/>
          <p:nvPr>
            <p:custDataLst>
              <p:tags r:id="rId10"/>
            </p:custDataLst>
          </p:nvPr>
        </p:nvSpPr>
        <p:spPr>
          <a:xfrm>
            <a:off x="695960" y="5102058"/>
            <a:ext cx="10800715" cy="1069466"/>
          </a:xfrm>
          <a:prstGeom prst="roundRect">
            <a:avLst>
              <a:gd name="adj" fmla="val 22030"/>
            </a:avLst>
          </a:prstGeom>
          <a:solidFill>
            <a:schemeClr val="lt1">
              <a:lumMod val="100000"/>
              <a:alpha val="10000"/>
            </a:schemeClr>
          </a:solidFill>
          <a:ln>
            <a:gradFill>
              <a:gsLst>
                <a:gs pos="0">
                  <a:schemeClr val="accent1">
                    <a:alpha val="70000"/>
                  </a:schemeClr>
                </a:gs>
                <a:gs pos="100000">
                  <a:schemeClr val="accent1">
                    <a:alpha val="60000"/>
                  </a:schemeClr>
                </a:gs>
              </a:gsLst>
              <a:lin ang="10740000" scaled="1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972185" tIns="0" rIns="179705" bIns="36195" rtlCol="0" anchor="ctr">
            <a:noAutofit/>
          </a:bodyPr>
          <a:lstStyle/>
          <a:p>
            <a:pPr indent="0" algn="l" fontAlgn="auto">
              <a:lnSpc>
                <a:spcPct val="13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虚拟变体预测与验证：利用训练好的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CNN</a:t>
            </a: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模型预测新变体的结合能力，并通过实验验证。</a:t>
            </a:r>
          </a:p>
        </p:txBody>
      </p:sp>
      <p:sp>
        <p:nvSpPr>
          <p:cNvPr id="55" name="椭圆 54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020483" y="5418326"/>
            <a:ext cx="436931" cy="436931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1">
                  <a:alpha val="59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dirty="0">
                <a:solidFill>
                  <a:srgbClr val="FFFFFF"/>
                </a:solidFill>
                <a:sym typeface="+mn-ea"/>
              </a:rPr>
              <a:t>4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" y="1137920"/>
            <a:ext cx="12187555" cy="421767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t="16376" r="-350"/>
          <a:stretch>
            <a:fillRect/>
          </a:stretch>
        </p:blipFill>
        <p:spPr>
          <a:xfrm>
            <a:off x="0" y="1298575"/>
            <a:ext cx="12192000" cy="325882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 descr="8AAHHGN15TD8ZQ7H5V$9JNL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1203807" y="-1269"/>
            <a:ext cx="879039" cy="9884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9600" y="608330"/>
            <a:ext cx="10032365" cy="763270"/>
          </a:xfrm>
        </p:spPr>
        <p:txBody>
          <a:bodyPr/>
          <a:lstStyle/>
          <a:p>
            <a:r>
              <a:rPr lang="zh-CN" altLang="en-US"/>
              <a:t>2.1 突变库设计</a:t>
            </a: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844550" y="1828800"/>
            <a:ext cx="10612755" cy="428752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883285" y="1828800"/>
            <a:ext cx="10574020" cy="420052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1051560" y="2077720"/>
            <a:ext cx="10405110" cy="3562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0" indent="0" algn="just" fontAlgn="auto">
              <a:lnSpc>
                <a:spcPct val="150000"/>
              </a:lnSpc>
              <a:buNone/>
            </a:pPr>
            <a:r>
              <a:rPr lang="zh-CN" altLang="en-US" sz="2000" kern="0" dirty="0">
                <a:uFillTx/>
                <a:latin typeface="微软雅黑" panose="020B0503020204020204" charset="-122"/>
                <a:cs typeface="+mn-ea"/>
                <a:sym typeface="+mn-ea"/>
              </a:rPr>
              <a:t>实验的第一步是生成一个突变库，目标是 </a:t>
            </a:r>
            <a:r>
              <a:rPr lang="zh-CN" altLang="en-US" sz="2000" kern="0" dirty="0">
                <a:solidFill>
                  <a:srgbClr val="FF0000"/>
                </a:solidFill>
                <a:uFillTx/>
                <a:latin typeface="微软雅黑" panose="020B0503020204020204" charset="-122"/>
                <a:cs typeface="+mn-ea"/>
                <a:sym typeface="+mn-ea"/>
              </a:rPr>
              <a:t>trastuzumab 的</a:t>
            </a:r>
            <a:r>
              <a:rPr lang="zh-CN" altLang="en-US" sz="2000" b="1" kern="0" dirty="0">
                <a:solidFill>
                  <a:srgbClr val="FF0000"/>
                </a:solidFill>
                <a:uFillTx/>
                <a:latin typeface="微软雅黑" panose="020B0503020204020204" charset="-122"/>
                <a:cs typeface="+mn-ea"/>
                <a:sym typeface="+mn-ea"/>
              </a:rPr>
              <a:t> CDRH3 区域</a:t>
            </a:r>
            <a:r>
              <a:rPr lang="zh-CN" altLang="en-US" sz="2000" kern="0" dirty="0">
                <a:uFillTx/>
                <a:latin typeface="微软雅黑" panose="020B0503020204020204" charset="-122"/>
                <a:cs typeface="+mn-ea"/>
                <a:sym typeface="+mn-ea"/>
              </a:rPr>
              <a:t>(重链互补决定区 3)，这是抗体与抗原结合的关键区域。论文使用了 </a:t>
            </a:r>
            <a:r>
              <a:rPr lang="en-US" altLang="zh-CN" sz="2000" b="1" kern="0" dirty="0">
                <a:solidFill>
                  <a:srgbClr val="FF0000"/>
                </a:solidFill>
                <a:uFillTx/>
                <a:latin typeface="微软雅黑" panose="020B0503020204020204" charset="-122"/>
                <a:cs typeface="+mn-ea"/>
                <a:sym typeface="+mn-ea"/>
              </a:rPr>
              <a:t>HDM</a:t>
            </a:r>
            <a:r>
              <a:rPr lang="zh-CN" altLang="en-US" sz="2000" kern="0" dirty="0">
                <a:uFillTx/>
                <a:latin typeface="微软雅黑" panose="020B0503020204020204" charset="-122"/>
                <a:cs typeface="+mn-ea"/>
                <a:sym typeface="+mn-ea"/>
              </a:rPr>
              <a:t> 技术，系统地在 CDRH3 区域引入单点突变。理论上，这种方法会覆盖该区域内每个氨基酸位置的所有可能替换(20 种氨基酸)，生成一个包含大量变体的突变库。</a:t>
            </a:r>
          </a:p>
          <a:p>
            <a:pPr marL="0" lvl="0" indent="0" algn="just" fontAlgn="auto">
              <a:lnSpc>
                <a:spcPct val="150000"/>
              </a:lnSpc>
              <a:buNone/>
            </a:pPr>
            <a:endParaRPr lang="zh-CN" altLang="en-US" sz="2000" kern="0" dirty="0">
              <a:uFillTx/>
              <a:latin typeface="微软雅黑" panose="020B0503020204020204" charset="-122"/>
              <a:cs typeface="+mn-ea"/>
              <a:sym typeface="+mn-ea"/>
            </a:endParaRPr>
          </a:p>
          <a:p>
            <a:pPr marL="0" lvl="0" indent="0" algn="just" fontAlgn="auto">
              <a:lnSpc>
                <a:spcPct val="150000"/>
              </a:lnSpc>
              <a:buNone/>
            </a:pPr>
            <a:r>
              <a:rPr lang="zh-CN" altLang="en-US" sz="2000" kern="0" dirty="0">
                <a:uFillTx/>
                <a:latin typeface="微软雅黑" panose="020B0503020204020204" charset="-122"/>
                <a:cs typeface="+mn-ea"/>
                <a:sym typeface="+mn-ea"/>
              </a:rPr>
              <a:t>为什么选择 CDRH3?</a:t>
            </a:r>
          </a:p>
          <a:p>
            <a:pPr marL="0" lvl="0" indent="0" algn="just" fontAlgn="auto">
              <a:lnSpc>
                <a:spcPct val="150000"/>
              </a:lnSpc>
              <a:buNone/>
            </a:pPr>
            <a:r>
              <a:rPr lang="zh-CN" altLang="en-US" sz="2000" kern="0" dirty="0">
                <a:uFillTx/>
                <a:latin typeface="微软雅黑" panose="020B0503020204020204" charset="-122"/>
                <a:cs typeface="+mn-ea"/>
                <a:sym typeface="+mn-ea"/>
              </a:rPr>
              <a:t>CDRH3 是抗体与抗原相互作用的核心区域，其序列变化直接影响抗原结合能力。通过系统性突变，可以探索序列空间，找到潜在的优化变体。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 descr="8AAHHGN15TD8ZQ7H5V$9JNL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1203807" y="-1269"/>
            <a:ext cx="879039" cy="9884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9600" y="608330"/>
            <a:ext cx="10032365" cy="763270"/>
          </a:xfrm>
        </p:spPr>
        <p:txBody>
          <a:bodyPr/>
          <a:lstStyle/>
          <a:p>
            <a:r>
              <a:rPr lang="zh-CN" altLang="en-US"/>
              <a:t>2.</a:t>
            </a:r>
            <a:r>
              <a:rPr lang="en-US" altLang="zh-CN"/>
              <a:t>2</a:t>
            </a:r>
            <a:r>
              <a:rPr lang="zh-CN" altLang="en-US"/>
              <a:t> </a:t>
            </a:r>
            <a:r>
              <a:rPr lang="zh-CN" altLang="en-US">
                <a:sym typeface="+mn-ea"/>
              </a:rPr>
              <a:t>细胞表达与筛选</a:t>
            </a:r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643255" y="1589405"/>
            <a:ext cx="10612755" cy="428752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643255" y="1676400"/>
            <a:ext cx="10574020" cy="420052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943610" y="1890395"/>
            <a:ext cx="9973945" cy="3547110"/>
          </a:xfrm>
          <a:prstGeom prst="rect">
            <a:avLst/>
          </a:prstGeom>
          <a:noFill/>
        </p:spPr>
        <p:txBody>
          <a:bodyPr wrap="square" rtlCol="0" anchor="ctr" anchorCtr="0"/>
          <a:lstStyle/>
          <a:p>
            <a:pPr marL="0" lvl="0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突变库通过载体(如质粒)导入哺乳动物细胞，每个细胞表达一个独特的抗体变体。接下来，通过流式细胞术(Flow Cytometry) 进行筛选，分成以下几个群体:</a:t>
            </a:r>
          </a:p>
          <a:p>
            <a:pPr marL="0" lvl="0" indent="0" fontAlgn="auto">
              <a:lnSpc>
                <a:spcPct val="150000"/>
              </a:lnSpc>
            </a:pPr>
            <a:r>
              <a:rPr lang="zh-CN" altLang="en-US" sz="1600" b="1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+mn-ea"/>
                <a:sym typeface="+mn-ea"/>
              </a:rPr>
              <a:t>Ab+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 筛选(抗体表达群体)：</a:t>
            </a: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使用荧光标记的抗体特异性染料，分离出成功表达抗体的细胞(记为 Ab+)。</a:t>
            </a: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Ab+ 群体包含所有表达出来的抗体序列，无论是否能结合抗原。这些序列数据存储在 _Ab.txt 文件中。</a:t>
            </a:r>
          </a:p>
          <a:p>
            <a:pPr marL="0" lvl="0" indent="0" fontAlgn="auto">
              <a:lnSpc>
                <a:spcPct val="150000"/>
              </a:lnSpc>
            </a:pPr>
            <a:r>
              <a:rPr lang="zh-CN" altLang="en-US" sz="1600" b="1" kern="0" dirty="0">
                <a:ln>
                  <a:noFill/>
                  <a:prstDash val="sysDot"/>
                </a:ln>
                <a:solidFill>
                  <a:srgbClr val="FF0000"/>
                </a:solidFill>
                <a:latin typeface="+mn-ea"/>
                <a:sym typeface="+mn-ea"/>
              </a:rPr>
              <a:t>Ag+ 和 Ag- 筛选</a:t>
            </a: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(抗原结合与不结合群体)：</a:t>
            </a: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将 Ab+ 细胞与荧光标记的 HER2 抗原(使用 647 或 488 染料)孵育。</a:t>
            </a: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通过流式细胞术检测荧光强度：</a:t>
            </a: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高荧光(Ag+)：表示抗体能结合 HER2，记为抗原正样本(_2Ag647.txt, _2Ag488.txt)。</a:t>
            </a: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低荧光(Ag-)：表示抗体不结合 HER2，记为抗原负样本(_AgN.txt)。</a:t>
            </a: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为提高筛选特异性，Ag+ 群体会经过两轮富集(Ag+1, Ag+2)，逐步浓缩结合能力强的变体。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 descr="8AAHHGN15TD8ZQ7H5V$9JNL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203807" y="-1269"/>
            <a:ext cx="879039" cy="9884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9600" y="608330"/>
            <a:ext cx="10032365" cy="763270"/>
          </a:xfrm>
        </p:spPr>
        <p:txBody>
          <a:bodyPr/>
          <a:lstStyle/>
          <a:p>
            <a:r>
              <a:rPr lang="zh-CN" altLang="en-US"/>
              <a:t>2.</a:t>
            </a:r>
            <a:r>
              <a:rPr lang="en-US" altLang="zh-CN"/>
              <a:t>3</a:t>
            </a:r>
            <a:r>
              <a:rPr lang="zh-CN" altLang="en-US"/>
              <a:t> 深度测序</a:t>
            </a: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770255" y="1713865"/>
            <a:ext cx="10612755" cy="428752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808990" y="1713865"/>
            <a:ext cx="10574020" cy="431546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79805" y="1898650"/>
            <a:ext cx="10193655" cy="39179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400"/>
              <a:t>筛选完成后，分别对 </a:t>
            </a:r>
            <a:r>
              <a:rPr lang="en-US" altLang="zh-CN" sz="2400"/>
              <a:t>Ab+</a:t>
            </a:r>
            <a:r>
              <a:rPr lang="zh-CN" altLang="en-US" sz="2400"/>
              <a:t>、</a:t>
            </a:r>
            <a:r>
              <a:rPr lang="en-US" altLang="zh-CN" sz="2400"/>
              <a:t>Ag+ </a:t>
            </a:r>
            <a:r>
              <a:rPr lang="zh-CN" altLang="en-US" sz="2400"/>
              <a:t>和 </a:t>
            </a:r>
            <a:r>
              <a:rPr lang="en-US" altLang="zh-CN" sz="2400"/>
              <a:t>Ag- </a:t>
            </a:r>
            <a:r>
              <a:rPr lang="zh-CN" altLang="en-US" sz="2400"/>
              <a:t>群体进行 </a:t>
            </a:r>
            <a:r>
              <a:rPr lang="zh-CN" altLang="en-US" sz="2400" b="1">
                <a:solidFill>
                  <a:srgbClr val="FF0000"/>
                </a:solidFill>
              </a:rPr>
              <a:t>深度测序</a:t>
            </a:r>
            <a:r>
              <a:rPr lang="zh-CN" altLang="en-US" sz="2400"/>
              <a:t>（</a:t>
            </a:r>
            <a:r>
              <a:rPr lang="en-US" altLang="zh-CN" sz="2400"/>
              <a:t>Deep Sequencing</a:t>
            </a:r>
            <a:r>
              <a:rPr lang="zh-CN" altLang="en-US" sz="2400"/>
              <a:t>），获取抗体序列数据。</a:t>
            </a:r>
          </a:p>
          <a:p>
            <a:endParaRPr lang="zh-CN" altLang="en-US" sz="2400"/>
          </a:p>
          <a:p>
            <a:r>
              <a:rPr lang="zh-CN" altLang="en-US" sz="2400"/>
              <a:t>测序结果以 </a:t>
            </a:r>
            <a:r>
              <a:rPr lang="en-US" altLang="zh-CN" sz="2400"/>
              <a:t>MiXCR </a:t>
            </a:r>
            <a:r>
              <a:rPr lang="zh-CN" altLang="en-US" sz="2400"/>
              <a:t>格式输出（</a:t>
            </a:r>
            <a:r>
              <a:rPr lang="en-US" altLang="zh-CN" sz="2400"/>
              <a:t>.txt </a:t>
            </a:r>
            <a:r>
              <a:rPr lang="zh-CN" altLang="en-US" sz="2400"/>
              <a:t>文件），每个文件包含以下信息：</a:t>
            </a:r>
          </a:p>
          <a:p>
            <a:endParaRPr lang="zh-CN" altLang="en-US" sz="2400"/>
          </a:p>
          <a:p>
            <a:pPr indent="457200"/>
            <a:r>
              <a:rPr lang="en-US" altLang="zh-CN" sz="2400"/>
              <a:t>CDRH3 </a:t>
            </a:r>
            <a:r>
              <a:rPr lang="zh-CN" altLang="en-US" sz="2400"/>
              <a:t>氨基酸序列（</a:t>
            </a:r>
            <a:r>
              <a:rPr lang="en-US" altLang="zh-CN" sz="2400"/>
              <a:t>AASeq</a:t>
            </a:r>
            <a:r>
              <a:rPr lang="zh-CN" altLang="en-US" sz="2400"/>
              <a:t>）：抗体的氨基酸序列。</a:t>
            </a:r>
          </a:p>
          <a:p>
            <a:pPr indent="457200">
              <a:buFont typeface="Arial" panose="020B0604020202020204"/>
              <a:buNone/>
            </a:pPr>
            <a:r>
              <a:rPr lang="zh-CN" altLang="en-US" sz="2400"/>
              <a:t>核苷酸序列（</a:t>
            </a:r>
            <a:r>
              <a:rPr lang="en-US" altLang="zh-CN" sz="2400"/>
              <a:t>NucSeq</a:t>
            </a:r>
            <a:r>
              <a:rPr lang="zh-CN" altLang="en-US" sz="2400"/>
              <a:t>）：对应的 </a:t>
            </a:r>
            <a:r>
              <a:rPr lang="en-US" altLang="zh-CN" sz="2400"/>
              <a:t>DNA </a:t>
            </a:r>
            <a:r>
              <a:rPr lang="zh-CN" altLang="en-US" sz="2400"/>
              <a:t>序列。</a:t>
            </a:r>
          </a:p>
          <a:p>
            <a:pPr indent="457200">
              <a:buFont typeface="Arial" panose="020B0604020202020204"/>
              <a:buNone/>
            </a:pPr>
            <a:r>
              <a:rPr lang="zh-CN" altLang="en-US" sz="2400"/>
              <a:t>克隆计数（</a:t>
            </a:r>
            <a:r>
              <a:rPr lang="en-US" altLang="zh-CN" sz="2400"/>
              <a:t>Count</a:t>
            </a:r>
            <a:r>
              <a:rPr lang="zh-CN" altLang="en-US" sz="2400"/>
              <a:t>）：该序列在群体中的出现次数。</a:t>
            </a:r>
          </a:p>
          <a:p>
            <a:pPr indent="457200">
              <a:buFont typeface="Arial" panose="020B0604020202020204"/>
              <a:buNone/>
            </a:pPr>
            <a:r>
              <a:rPr lang="zh-CN" altLang="en-US" sz="2400"/>
              <a:t>比例（</a:t>
            </a:r>
            <a:r>
              <a:rPr lang="en-US" altLang="zh-CN" sz="2400"/>
              <a:t>Fraction</a:t>
            </a:r>
            <a:r>
              <a:rPr lang="zh-CN" altLang="en-US" sz="2400"/>
              <a:t>）：该序列占总序列的比例。</a:t>
            </a:r>
          </a:p>
          <a:p>
            <a:pPr indent="0">
              <a:buFont typeface="Arial" panose="020B0604020202020204"/>
              <a:buNone/>
            </a:pPr>
            <a:endParaRPr lang="zh-CN" altLang="en-US" sz="2400"/>
          </a:p>
          <a:p>
            <a:r>
              <a:rPr lang="zh-CN" altLang="en-US" sz="2400"/>
              <a:t>这些数据是后续分析的基础，反映了不同变体的表达水平和抗原结合能力。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 descr="8AAHHGN15TD8ZQ7H5V$9JNL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203807" y="-1269"/>
            <a:ext cx="879039" cy="9884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9600" y="608330"/>
            <a:ext cx="10032365" cy="763270"/>
          </a:xfrm>
        </p:spPr>
        <p:txBody>
          <a:bodyPr>
            <a:normAutofit/>
          </a:bodyPr>
          <a:lstStyle/>
          <a:p>
            <a:r>
              <a:rPr lang="en-US" altLang="zh-CN"/>
              <a:t>3.1 MiXCR </a:t>
            </a:r>
            <a:r>
              <a:rPr lang="zh-CN" altLang="en-US"/>
              <a:t>数据处理</a:t>
            </a: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844550" y="1713865"/>
            <a:ext cx="10612755" cy="428752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808990" y="1713865"/>
            <a:ext cx="10574020" cy="431546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40435" y="1902460"/>
            <a:ext cx="10061575" cy="358013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2400"/>
              <a:t>测序数据需要经过清洗和格式化，才能用于机器学习。</a:t>
            </a:r>
          </a:p>
          <a:p>
            <a:endParaRPr lang="zh-CN" altLang="en-US" sz="2400"/>
          </a:p>
          <a:p>
            <a:r>
              <a:rPr lang="zh-CN" altLang="en-US" sz="2400"/>
              <a:t>论文使用了 </a:t>
            </a:r>
            <a:r>
              <a:rPr lang="en-US" altLang="zh-CN" sz="2400"/>
              <a:t>MiXCR </a:t>
            </a:r>
            <a:r>
              <a:rPr lang="zh-CN" altLang="en-US" sz="2400"/>
              <a:t>工具 处理原始测序文件，提取关键信息：</a:t>
            </a:r>
          </a:p>
          <a:p>
            <a:endParaRPr lang="zh-CN" altLang="en-US" sz="2400"/>
          </a:p>
          <a:p>
            <a:pPr indent="0">
              <a:buFont typeface="Arial" panose="020B0604020202020204"/>
              <a:buNone/>
            </a:pPr>
            <a:r>
              <a:rPr lang="zh-CN" altLang="en-US" sz="2400"/>
              <a:t>从 </a:t>
            </a:r>
            <a:r>
              <a:rPr lang="en-US" altLang="zh-CN" sz="2400"/>
              <a:t>_Ab.txt</a:t>
            </a:r>
            <a:r>
              <a:rPr lang="zh-CN" altLang="en-US" sz="2400"/>
              <a:t>、</a:t>
            </a:r>
            <a:r>
              <a:rPr lang="en-US" altLang="zh-CN" sz="2400"/>
              <a:t>_2Ag*.txt </a:t>
            </a:r>
            <a:r>
              <a:rPr lang="zh-CN" altLang="en-US" sz="2400"/>
              <a:t>和 </a:t>
            </a:r>
            <a:r>
              <a:rPr lang="en-US" altLang="zh-CN" sz="2400"/>
              <a:t>_AgN.txt </a:t>
            </a:r>
            <a:r>
              <a:rPr lang="zh-CN" altLang="en-US" sz="2400"/>
              <a:t>文件中提取 </a:t>
            </a:r>
            <a:r>
              <a:rPr lang="en-US" altLang="zh-CN" sz="2400" b="1">
                <a:solidFill>
                  <a:srgbClr val="FF0000"/>
                </a:solidFill>
              </a:rPr>
              <a:t>AASeq</a:t>
            </a:r>
            <a:r>
              <a:rPr lang="zh-CN" altLang="en-US" sz="2400" b="1">
                <a:solidFill>
                  <a:srgbClr val="FF0000"/>
                </a:solidFill>
              </a:rPr>
              <a:t>、</a:t>
            </a:r>
            <a:r>
              <a:rPr lang="en-US" altLang="zh-CN" sz="2400" b="1">
                <a:solidFill>
                  <a:srgbClr val="FF0000"/>
                </a:solidFill>
              </a:rPr>
              <a:t>NucSeq</a:t>
            </a:r>
            <a:r>
              <a:rPr lang="zh-CN" altLang="en-US" sz="2400" b="1">
                <a:solidFill>
                  <a:srgbClr val="FF0000"/>
                </a:solidFill>
              </a:rPr>
              <a:t>、</a:t>
            </a:r>
            <a:r>
              <a:rPr lang="en-US" altLang="zh-CN" sz="2400" b="1">
                <a:solidFill>
                  <a:srgbClr val="FF0000"/>
                </a:solidFill>
              </a:rPr>
              <a:t>Count </a:t>
            </a:r>
            <a:r>
              <a:rPr lang="zh-CN" altLang="en-US" sz="2400" b="1">
                <a:solidFill>
                  <a:srgbClr val="FF0000"/>
                </a:solidFill>
              </a:rPr>
              <a:t>和 </a:t>
            </a:r>
            <a:r>
              <a:rPr lang="en-US" altLang="zh-CN" sz="2400" b="1">
                <a:solidFill>
                  <a:srgbClr val="FF0000"/>
                </a:solidFill>
              </a:rPr>
              <a:t>Fraction</a:t>
            </a:r>
            <a:r>
              <a:rPr lang="zh-CN" altLang="en-US" sz="2400"/>
              <a:t>。</a:t>
            </a:r>
          </a:p>
          <a:p>
            <a:pPr indent="0">
              <a:buFont typeface="Arial" panose="020B0604020202020204"/>
              <a:buNone/>
            </a:pPr>
            <a:endParaRPr lang="zh-CN" altLang="en-US" sz="2400"/>
          </a:p>
          <a:p>
            <a:pPr indent="0">
              <a:buFont typeface="Arial" panose="020B0604020202020204"/>
              <a:buNone/>
            </a:pPr>
            <a:r>
              <a:rPr lang="zh-CN" altLang="en-US" sz="2400"/>
              <a:t>过滤规则： </a:t>
            </a:r>
          </a:p>
          <a:p>
            <a:pPr lvl="1" indent="0">
              <a:buFont typeface="Arial" panose="020B0604020202020204"/>
              <a:buNone/>
            </a:pPr>
            <a:r>
              <a:rPr lang="zh-CN" altLang="en-US" sz="2400"/>
              <a:t>保留指定长度的序列（例如，</a:t>
            </a:r>
            <a:r>
              <a:rPr lang="en-US" altLang="zh-CN" sz="2400"/>
              <a:t>seq_len=15</a:t>
            </a:r>
            <a:r>
              <a:rPr lang="zh-CN" altLang="en-US" sz="2400"/>
              <a:t>）。</a:t>
            </a:r>
          </a:p>
          <a:p>
            <a:pPr lvl="1" indent="0">
              <a:buFont typeface="Arial" panose="020B0604020202020204"/>
              <a:buNone/>
            </a:pPr>
            <a:r>
              <a:rPr lang="zh-CN" altLang="en-US" sz="2400"/>
              <a:t>去除低丰度序列（</a:t>
            </a:r>
            <a:r>
              <a:rPr lang="en-US" altLang="zh-CN" sz="2400"/>
              <a:t>Count &gt; 1</a:t>
            </a:r>
            <a:r>
              <a:rPr lang="zh-CN" altLang="en-US" sz="2400"/>
              <a:t>），避免噪声干扰。</a:t>
            </a:r>
          </a:p>
          <a:p>
            <a:pPr lvl="1" indent="0">
              <a:buFont typeface="Arial" panose="020B0604020202020204"/>
              <a:buNone/>
            </a:pPr>
            <a:r>
              <a:rPr lang="zh-CN" altLang="en-US" sz="2400"/>
              <a:t>去除重复序列和无效序列（包含 </a:t>
            </a:r>
            <a:r>
              <a:rPr lang="en-US" altLang="zh-CN" sz="2400"/>
              <a:t>* </a:t>
            </a:r>
            <a:r>
              <a:rPr lang="zh-CN" altLang="en-US" sz="2400"/>
              <a:t>或 </a:t>
            </a:r>
            <a:r>
              <a:rPr lang="en-US" altLang="zh-CN" sz="2400"/>
              <a:t>_ </a:t>
            </a:r>
            <a:r>
              <a:rPr lang="zh-CN" altLang="en-US" sz="2400"/>
              <a:t>的序列）。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 descr="8AAHHGN15TD8ZQ7H5V$9JNL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203807" y="-1269"/>
            <a:ext cx="879039" cy="9884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9600" y="608330"/>
            <a:ext cx="10032365" cy="763270"/>
          </a:xfrm>
        </p:spPr>
        <p:txBody>
          <a:bodyPr>
            <a:normAutofit/>
          </a:bodyPr>
          <a:lstStyle/>
          <a:p>
            <a:r>
              <a:rPr lang="en-US" altLang="zh-CN"/>
              <a:t>3.2 </a:t>
            </a:r>
            <a:r>
              <a:rPr lang="zh-CN" altLang="en-US"/>
              <a:t>序列切片</a:t>
            </a: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808990" y="1713865"/>
            <a:ext cx="10612755" cy="428752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808990" y="1713865"/>
            <a:ext cx="10574020" cy="431546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69645" y="2454275"/>
            <a:ext cx="10146030" cy="168656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2400"/>
              <a:t>为了聚焦于 </a:t>
            </a:r>
            <a:r>
              <a:rPr lang="en-US" altLang="zh-CN" sz="2400"/>
              <a:t>CDRH3 </a:t>
            </a:r>
            <a:r>
              <a:rPr lang="zh-CN" altLang="en-US" sz="2400"/>
              <a:t>的核心区域，数据处理中会对 </a:t>
            </a:r>
            <a:r>
              <a:rPr lang="en-US" altLang="zh-CN" sz="2400" b="1">
                <a:solidFill>
                  <a:srgbClr val="FF0000"/>
                </a:solidFill>
              </a:rPr>
              <a:t>AASeq</a:t>
            </a:r>
            <a:r>
              <a:rPr lang="en-US" altLang="zh-CN" sz="2400"/>
              <a:t> </a:t>
            </a:r>
            <a:r>
              <a:rPr lang="zh-CN" altLang="en-US" sz="2400"/>
              <a:t>进行切片：</a:t>
            </a:r>
          </a:p>
          <a:p>
            <a:endParaRPr lang="zh-CN" altLang="en-US" sz="2400"/>
          </a:p>
          <a:p>
            <a:pPr indent="0">
              <a:buFont typeface="Arial" panose="020B0604020202020204"/>
              <a:buNone/>
            </a:pPr>
            <a:r>
              <a:rPr lang="zh-CN" altLang="en-US" sz="2400"/>
              <a:t>切片逻辑：去掉序列开头的前 </a:t>
            </a:r>
            <a:r>
              <a:rPr lang="en-US" altLang="zh-CN" sz="2400"/>
              <a:t>3 </a:t>
            </a:r>
            <a:r>
              <a:rPr lang="zh-CN" altLang="en-US" sz="2400"/>
              <a:t>个氨基酸（通常是 </a:t>
            </a:r>
            <a:r>
              <a:rPr lang="en-US" altLang="zh-CN" sz="2400"/>
              <a:t>CAR </a:t>
            </a:r>
            <a:r>
              <a:rPr lang="zh-CN" altLang="en-US" sz="2400"/>
              <a:t>或 </a:t>
            </a:r>
            <a:r>
              <a:rPr lang="en-US" altLang="zh-CN" sz="2400"/>
              <a:t>CSR</a:t>
            </a:r>
            <a:r>
              <a:rPr lang="zh-CN" altLang="en-US" sz="2400"/>
              <a:t>）和末尾的 </a:t>
            </a:r>
            <a:r>
              <a:rPr lang="en-US" altLang="zh-CN" sz="2400"/>
              <a:t>2 </a:t>
            </a:r>
            <a:r>
              <a:rPr lang="zh-CN" altLang="en-US" sz="2400"/>
              <a:t>个氨基酸，保留中间的核心区域。</a:t>
            </a:r>
          </a:p>
          <a:p>
            <a:pPr indent="0">
              <a:buFont typeface="Arial" panose="020B0604020202020204"/>
              <a:buNone/>
            </a:pPr>
            <a:endParaRPr lang="zh-CN" altLang="en-US" sz="2400"/>
          </a:p>
          <a:p>
            <a:pPr indent="0">
              <a:buFont typeface="Arial" panose="020B0604020202020204"/>
              <a:buNone/>
            </a:pPr>
            <a:r>
              <a:rPr lang="zh-CN" altLang="en-US" sz="2400"/>
              <a:t>这一步骤确保模型关注与抗原结合最相关的序列片段。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 descr="8AAHHGN15TD8ZQ7H5V$9JNL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203807" y="-1269"/>
            <a:ext cx="879039" cy="9884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9600" y="608330"/>
            <a:ext cx="10032365" cy="763270"/>
          </a:xfrm>
        </p:spPr>
        <p:txBody>
          <a:bodyPr>
            <a:normAutofit/>
          </a:bodyPr>
          <a:lstStyle/>
          <a:p>
            <a:r>
              <a:rPr lang="en-US" altLang="zh-CN"/>
              <a:t>3.3 </a:t>
            </a:r>
            <a:r>
              <a:rPr lang="zh-CN" altLang="en-US"/>
              <a:t>数据集构建</a:t>
            </a: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808990" y="1741805"/>
            <a:ext cx="10612755" cy="428752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808990" y="1713865"/>
            <a:ext cx="10574020" cy="431546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50290" y="1889442"/>
            <a:ext cx="10332720" cy="3964305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altLang="zh-CN" sz="2000" dirty="0"/>
              <a:t>1.</a:t>
            </a:r>
            <a:r>
              <a:rPr lang="zh-CN" altLang="en-US" sz="2000" dirty="0"/>
              <a:t>根据筛选结果，数据集分为正样本和负样本：</a:t>
            </a:r>
          </a:p>
          <a:p>
            <a:pPr indent="0">
              <a:buFont typeface="Arial" panose="020B0604020202020204"/>
              <a:buNone/>
            </a:pPr>
            <a:endParaRPr lang="zh-CN" altLang="en-US" sz="2000" dirty="0"/>
          </a:p>
          <a:p>
            <a:pPr indent="0">
              <a:buFont typeface="Arial" panose="020B0604020202020204"/>
              <a:buNone/>
            </a:pPr>
            <a:r>
              <a:rPr lang="zh-CN" altLang="en-US" sz="2000" dirty="0"/>
              <a:t>正样本（</a:t>
            </a:r>
            <a:r>
              <a:rPr lang="en-US" altLang="zh-CN" sz="2000" dirty="0"/>
              <a:t>Ag+</a:t>
            </a:r>
            <a:r>
              <a:rPr lang="zh-CN" altLang="en-US" sz="2000" dirty="0"/>
              <a:t>）：来自 </a:t>
            </a:r>
            <a:r>
              <a:rPr lang="en-US" altLang="zh-CN" sz="2000" dirty="0"/>
              <a:t>Ag+ </a:t>
            </a:r>
            <a:r>
              <a:rPr lang="zh-CN" altLang="en-US" sz="2000" dirty="0"/>
              <a:t>群体（</a:t>
            </a:r>
            <a:r>
              <a:rPr lang="en-US" altLang="zh-CN" sz="2000" dirty="0"/>
              <a:t>_2Ag*.txt</a:t>
            </a:r>
            <a:r>
              <a:rPr lang="zh-CN" altLang="en-US" sz="2000" dirty="0"/>
              <a:t>），标记为 </a:t>
            </a:r>
            <a:r>
              <a:rPr lang="en-US" altLang="zh-CN" sz="2000" dirty="0" err="1"/>
              <a:t>AgClass</a:t>
            </a:r>
            <a:r>
              <a:rPr lang="en-US" altLang="zh-CN" sz="2000" dirty="0"/>
              <a:t>=1</a:t>
            </a:r>
            <a:r>
              <a:rPr lang="zh-CN" altLang="en-US" sz="2000" dirty="0"/>
              <a:t>，表示能结合 </a:t>
            </a:r>
            <a:r>
              <a:rPr lang="en-US" altLang="zh-CN" sz="2000" dirty="0"/>
              <a:t>HER2</a:t>
            </a:r>
            <a:r>
              <a:rPr lang="zh-CN" altLang="en-US" sz="2000" dirty="0"/>
              <a:t>。</a:t>
            </a:r>
          </a:p>
          <a:p>
            <a:pPr indent="0">
              <a:buFont typeface="Arial" panose="020B0604020202020204"/>
              <a:buNone/>
            </a:pPr>
            <a:endParaRPr lang="zh-CN" altLang="en-US" sz="2000" dirty="0"/>
          </a:p>
          <a:p>
            <a:pPr indent="0">
              <a:buFont typeface="Arial" panose="020B0604020202020204"/>
              <a:buNone/>
            </a:pPr>
            <a:r>
              <a:rPr lang="zh-CN" altLang="en-US" sz="2000" dirty="0"/>
              <a:t>负样本（</a:t>
            </a:r>
            <a:r>
              <a:rPr lang="en-US" altLang="zh-CN" sz="2000" dirty="0"/>
              <a:t>Ag-</a:t>
            </a:r>
            <a:r>
              <a:rPr lang="zh-CN" altLang="en-US" sz="2000" dirty="0"/>
              <a:t>）：来自 </a:t>
            </a:r>
            <a:r>
              <a:rPr lang="en-US" altLang="zh-CN" sz="2000" dirty="0"/>
              <a:t>Ag- </a:t>
            </a:r>
            <a:r>
              <a:rPr lang="zh-CN" altLang="en-US" sz="2000" dirty="0"/>
              <a:t>群体（</a:t>
            </a:r>
            <a:r>
              <a:rPr lang="en-US" altLang="zh-CN" sz="2000" dirty="0"/>
              <a:t>_AgN.txt</a:t>
            </a:r>
            <a:r>
              <a:rPr lang="zh-CN" altLang="en-US" sz="2000" dirty="0"/>
              <a:t>），标记为 </a:t>
            </a:r>
            <a:r>
              <a:rPr lang="en-US" altLang="zh-CN" sz="2000" dirty="0" err="1"/>
              <a:t>AgClass</a:t>
            </a:r>
            <a:r>
              <a:rPr lang="en-US" altLang="zh-CN" sz="2000" dirty="0"/>
              <a:t>=0</a:t>
            </a:r>
            <a:r>
              <a:rPr lang="zh-CN" altLang="en-US" sz="2000" dirty="0"/>
              <a:t>，表示不结合 </a:t>
            </a:r>
            <a:r>
              <a:rPr lang="en-US" altLang="zh-CN" sz="2000" dirty="0"/>
              <a:t>HER2</a:t>
            </a:r>
            <a:r>
              <a:rPr lang="zh-CN" altLang="en-US" sz="2000" dirty="0"/>
              <a:t>。</a:t>
            </a:r>
          </a:p>
          <a:p>
            <a:pPr indent="0">
              <a:buFont typeface="Arial" panose="020B0604020202020204"/>
              <a:buNone/>
            </a:pPr>
            <a:endParaRPr lang="zh-CN" altLang="en-US" sz="2000" dirty="0"/>
          </a:p>
          <a:p>
            <a:pPr indent="0">
              <a:buFont typeface="Arial" panose="020B0604020202020204"/>
              <a:buNone/>
            </a:pPr>
            <a:r>
              <a:rPr lang="en-US" altLang="zh-CN" sz="2000" dirty="0"/>
              <a:t>2.</a:t>
            </a:r>
            <a:r>
              <a:rPr lang="zh-CN" altLang="en-US" sz="2000" dirty="0"/>
              <a:t>数据整合： </a:t>
            </a:r>
          </a:p>
          <a:p>
            <a:pPr lvl="1" indent="0">
              <a:buFont typeface="Arial" panose="020B0604020202020204"/>
              <a:buNone/>
            </a:pPr>
            <a:r>
              <a:rPr lang="zh-CN" altLang="en-US" sz="2000" dirty="0"/>
              <a:t>合并正负样本，去除重复序列。</a:t>
            </a:r>
          </a:p>
          <a:p>
            <a:pPr lvl="1" indent="0">
              <a:buFont typeface="Arial" panose="020B0604020202020204"/>
              <a:buNone/>
            </a:pPr>
            <a:r>
              <a:rPr lang="zh-CN" altLang="en-US" sz="2000" dirty="0"/>
              <a:t>打乱数据顺序，随机分割为训练集、验证集和测试集（例如，使用 </a:t>
            </a:r>
            <a:r>
              <a:rPr lang="en-US" altLang="zh-CN" sz="2000" dirty="0" err="1"/>
              <a:t>data_split_adj</a:t>
            </a:r>
            <a:r>
              <a:rPr lang="en-US" altLang="zh-CN" sz="2000" dirty="0"/>
              <a:t> </a:t>
            </a:r>
            <a:r>
              <a:rPr lang="zh-CN" altLang="en-US" sz="2000" dirty="0"/>
              <a:t>函数）。</a:t>
            </a:r>
          </a:p>
          <a:p>
            <a:endParaRPr lang="en-US" altLang="zh-CN" sz="2000" dirty="0"/>
          </a:p>
          <a:p>
            <a:r>
              <a:rPr lang="zh-CN" altLang="en-US" sz="2000" dirty="0"/>
              <a:t>最终数据集包含 </a:t>
            </a:r>
            <a:r>
              <a:rPr lang="en-US" altLang="zh-CN" sz="2000" dirty="0" err="1"/>
              <a:t>AASeq</a:t>
            </a:r>
            <a:r>
              <a:rPr lang="zh-CN" altLang="en-US" sz="2000" dirty="0"/>
              <a:t>（切片后的序列）和 </a:t>
            </a:r>
            <a:r>
              <a:rPr lang="en-US" altLang="zh-CN" sz="2000" dirty="0" err="1"/>
              <a:t>AgClass</a:t>
            </a:r>
            <a:r>
              <a:rPr lang="zh-CN" altLang="en-US" sz="2000" dirty="0"/>
              <a:t>（</a:t>
            </a:r>
            <a:r>
              <a:rPr lang="en-US" altLang="zh-CN" sz="2000" dirty="0"/>
              <a:t>0 </a:t>
            </a:r>
            <a:r>
              <a:rPr lang="zh-CN" altLang="en-US" sz="2000" dirty="0"/>
              <a:t>或 </a:t>
            </a:r>
            <a:r>
              <a:rPr lang="en-US" altLang="zh-CN" sz="2000" dirty="0"/>
              <a:t>1</a:t>
            </a:r>
            <a:r>
              <a:rPr lang="zh-CN" altLang="en-US" sz="2000" dirty="0"/>
              <a:t>），为模型训练做好准备。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 descr="8AAHHGN15TD8ZQ7H5V$9JNL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203807" y="-1269"/>
            <a:ext cx="879039" cy="9884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9600" y="608330"/>
            <a:ext cx="10032365" cy="763270"/>
          </a:xfrm>
        </p:spPr>
        <p:txBody>
          <a:bodyPr>
            <a:normAutofit/>
          </a:bodyPr>
          <a:lstStyle/>
          <a:p>
            <a:r>
              <a:rPr lang="en-US" altLang="zh-CN"/>
              <a:t>4.1 </a:t>
            </a:r>
            <a:r>
              <a:rPr lang="zh-CN" altLang="en-US"/>
              <a:t>数据编码</a:t>
            </a: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808990" y="1713865"/>
            <a:ext cx="10612755" cy="428752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808990" y="1713865"/>
            <a:ext cx="10574020" cy="431546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88695" y="2165985"/>
            <a:ext cx="9850120" cy="2242820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000"/>
              <a:t>机器学习模型无法直接处理氨基酸序列，因此需要将序列转化为数值形式：</a:t>
            </a:r>
          </a:p>
          <a:p>
            <a:pPr indent="0" fontAlgn="auto">
              <a:lnSpc>
                <a:spcPct val="150000"/>
              </a:lnSpc>
            </a:pPr>
            <a:endParaRPr lang="zh-CN" altLang="en-US" sz="2000"/>
          </a:p>
          <a:p>
            <a:pPr indent="0" fontAlgn="auto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 sz="2000"/>
              <a:t>独热编码（</a:t>
            </a:r>
            <a:r>
              <a:rPr lang="en-US" altLang="zh-CN" sz="2000"/>
              <a:t>One-Hot Encoding</a:t>
            </a:r>
            <a:r>
              <a:rPr lang="zh-CN" altLang="en-US" sz="2000"/>
              <a:t>）：将 </a:t>
            </a:r>
            <a:r>
              <a:rPr lang="en-US" altLang="zh-CN" sz="2000"/>
              <a:t>20 </a:t>
            </a:r>
            <a:r>
              <a:rPr lang="zh-CN" altLang="en-US" sz="2000"/>
              <a:t>种氨基酸映射为一个 </a:t>
            </a:r>
            <a:r>
              <a:rPr lang="en-US" altLang="zh-CN" sz="2000"/>
              <a:t>20 </a:t>
            </a:r>
            <a:r>
              <a:rPr lang="zh-CN" altLang="en-US" sz="2000"/>
              <a:t>维向量，每种氨基酸对应一个位置为 </a:t>
            </a:r>
            <a:r>
              <a:rPr lang="en-US" altLang="zh-CN" sz="2000"/>
              <a:t>1</a:t>
            </a:r>
            <a:r>
              <a:rPr lang="zh-CN" altLang="en-US" sz="2000"/>
              <a:t>，其余为 </a:t>
            </a:r>
            <a:r>
              <a:rPr lang="en-US" altLang="zh-CN" sz="2000"/>
              <a:t>0</a:t>
            </a:r>
            <a:r>
              <a:rPr lang="zh-CN" altLang="en-US" sz="2000"/>
              <a:t>。</a:t>
            </a:r>
          </a:p>
          <a:p>
            <a:pPr indent="0" fontAlgn="auto">
              <a:lnSpc>
                <a:spcPct val="150000"/>
              </a:lnSpc>
              <a:buFont typeface="Arial" panose="020B0604020202020204"/>
              <a:buChar char="•"/>
            </a:pPr>
            <a:endParaRPr lang="zh-CN" altLang="en-US" sz="2000"/>
          </a:p>
          <a:p>
            <a:pPr indent="0" fontAlgn="auto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 sz="2000"/>
              <a:t>输入形状：对于每个样本，编码后生成一个 </a:t>
            </a:r>
            <a:r>
              <a:rPr lang="en-US" altLang="zh-CN" sz="2000"/>
              <a:t>(</a:t>
            </a:r>
            <a:r>
              <a:rPr lang="zh-CN" altLang="en-US" sz="2000"/>
              <a:t>序列长度</a:t>
            </a:r>
            <a:r>
              <a:rPr lang="en-US" altLang="zh-CN" sz="2000"/>
              <a:t>, 20) </a:t>
            </a:r>
            <a:r>
              <a:rPr lang="zh-CN" altLang="en-US" sz="2000"/>
              <a:t>的矩阵。例如，序列长度为 </a:t>
            </a:r>
            <a:r>
              <a:rPr lang="en-US" altLang="zh-CN" sz="2000"/>
              <a:t>10</a:t>
            </a:r>
            <a:r>
              <a:rPr lang="zh-CN" altLang="en-US" sz="2000"/>
              <a:t>，则输入形状为 </a:t>
            </a:r>
            <a:r>
              <a:rPr lang="en-US" altLang="zh-CN" sz="2000"/>
              <a:t>(</a:t>
            </a:r>
            <a:r>
              <a:rPr lang="zh-CN" altLang="en-US" sz="2000"/>
              <a:t>样本数</a:t>
            </a:r>
            <a:r>
              <a:rPr lang="en-US" altLang="zh-CN" sz="2000"/>
              <a:t>, 10, 20)</a:t>
            </a:r>
            <a:r>
              <a:rPr lang="zh-CN" altLang="en-US" sz="2000"/>
              <a:t>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 descr="8AAHHGN15TD8ZQ7H5V$9JNL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203807" y="-1269"/>
            <a:ext cx="879039" cy="9884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9600" y="608330"/>
            <a:ext cx="10032365" cy="763270"/>
          </a:xfrm>
        </p:spPr>
        <p:txBody>
          <a:bodyPr>
            <a:normAutofit/>
          </a:bodyPr>
          <a:lstStyle/>
          <a:p>
            <a:r>
              <a:rPr lang="en-US" altLang="zh-CN"/>
              <a:t>4.2 CNN</a:t>
            </a:r>
            <a:r>
              <a:rPr lang="zh-CN" altLang="en-US"/>
              <a:t>模型设计</a:t>
            </a: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844550" y="1713865"/>
            <a:ext cx="10612755" cy="428752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808990" y="1713865"/>
            <a:ext cx="10574020" cy="431546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21385" y="1878330"/>
            <a:ext cx="10282555" cy="3985895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/>
              <a:t>模型架构： </a:t>
            </a:r>
          </a:p>
          <a:p>
            <a:pPr lvl="1" indent="0" fontAlgn="auto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/>
              <a:t>卷积层：提取序列的局部特征（例如，</a:t>
            </a:r>
            <a:r>
              <a:rPr lang="en-US" altLang="zh-CN"/>
              <a:t>400 </a:t>
            </a:r>
            <a:r>
              <a:rPr lang="zh-CN" altLang="en-US"/>
              <a:t>个滤波器，</a:t>
            </a:r>
            <a:r>
              <a:rPr lang="en-US" altLang="zh-CN"/>
              <a:t>3x3 </a:t>
            </a:r>
            <a:r>
              <a:rPr lang="zh-CN" altLang="en-US"/>
              <a:t>卷积核）。</a:t>
            </a:r>
          </a:p>
          <a:p>
            <a:pPr lvl="1" indent="0" fontAlgn="auto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/>
              <a:t>池化层：降维并保留重要信息（例如，</a:t>
            </a:r>
            <a:r>
              <a:rPr lang="en-US" altLang="zh-CN"/>
              <a:t>2x1 </a:t>
            </a:r>
            <a:r>
              <a:rPr lang="zh-CN" altLang="en-US"/>
              <a:t>最大池化）。</a:t>
            </a:r>
          </a:p>
          <a:p>
            <a:pPr lvl="1" indent="0" fontAlgn="auto">
              <a:lnSpc>
                <a:spcPct val="150000"/>
              </a:lnSpc>
              <a:buFont typeface="Arial" panose="020B0604020202020204"/>
              <a:buNone/>
            </a:pPr>
            <a:r>
              <a:rPr lang="en-US" altLang="zh-CN"/>
              <a:t>Dropout</a:t>
            </a:r>
            <a:r>
              <a:rPr lang="zh-CN" altLang="en-US"/>
              <a:t>：防止过拟合（丢弃率 </a:t>
            </a:r>
            <a:r>
              <a:rPr lang="en-US" altLang="zh-CN"/>
              <a:t>0.5</a:t>
            </a:r>
            <a:r>
              <a:rPr lang="zh-CN" altLang="en-US"/>
              <a:t>）。</a:t>
            </a:r>
          </a:p>
          <a:p>
            <a:pPr lvl="1" indent="0" fontAlgn="auto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/>
              <a:t>扁平化：将卷积输出展平为一维向量。</a:t>
            </a:r>
          </a:p>
          <a:p>
            <a:pPr lvl="1" indent="0" fontAlgn="auto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/>
              <a:t>全连接层：整合特征并输出分类概率（例如，</a:t>
            </a:r>
            <a:r>
              <a:rPr lang="en-US" altLang="zh-CN"/>
              <a:t>50 </a:t>
            </a:r>
            <a:r>
              <a:rPr lang="zh-CN" altLang="en-US"/>
              <a:t>个单元）。</a:t>
            </a:r>
          </a:p>
          <a:p>
            <a:pPr indent="0" fontAlgn="auto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/>
              <a:t>编译参数： </a:t>
            </a:r>
          </a:p>
          <a:p>
            <a:pPr lvl="1" indent="0" fontAlgn="auto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/>
              <a:t>优化器：</a:t>
            </a:r>
            <a:r>
              <a:rPr lang="en-US" altLang="zh-CN"/>
              <a:t>Adam</a:t>
            </a:r>
            <a:r>
              <a:rPr lang="zh-CN" altLang="en-US"/>
              <a:t>，学习率 </a:t>
            </a:r>
            <a:r>
              <a:rPr lang="en-US" altLang="zh-CN"/>
              <a:t>0.000075</a:t>
            </a:r>
            <a:r>
              <a:rPr lang="zh-CN" altLang="en-US"/>
              <a:t>。</a:t>
            </a:r>
          </a:p>
          <a:p>
            <a:pPr lvl="1" indent="0" fontAlgn="auto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/>
              <a:t>损失函数：二元交叉熵（适合二分类问题）。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 descr="8AAHHGN15TD8ZQ7H5V$9JNL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203807" y="-1269"/>
            <a:ext cx="879039" cy="9884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9600" y="608330"/>
            <a:ext cx="10032365" cy="763270"/>
          </a:xfrm>
        </p:spPr>
        <p:txBody>
          <a:bodyPr>
            <a:normAutofit/>
          </a:bodyPr>
          <a:lstStyle/>
          <a:p>
            <a:r>
              <a:rPr lang="en-US" altLang="zh-CN"/>
              <a:t>4.3 </a:t>
            </a:r>
            <a:r>
              <a:rPr lang="zh-CN" altLang="en-US"/>
              <a:t>性能评估</a:t>
            </a: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844550" y="1741805"/>
            <a:ext cx="10612755" cy="428752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808990" y="1713865"/>
            <a:ext cx="10574020" cy="431546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37260" y="2064385"/>
            <a:ext cx="10317480" cy="361442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2400"/>
              <a:t>训练完成后，在测试集上评估模型：</a:t>
            </a:r>
          </a:p>
          <a:p>
            <a:endParaRPr lang="zh-CN" altLang="en-US" sz="2400"/>
          </a:p>
          <a:p>
            <a:pPr indent="0">
              <a:buFont typeface="Arial" panose="020B0604020202020204"/>
              <a:buNone/>
            </a:pPr>
            <a:r>
              <a:rPr lang="zh-CN" altLang="en-US" sz="2400"/>
              <a:t>预测：对测试集序列进行分类，输出结合概率。</a:t>
            </a:r>
          </a:p>
          <a:p>
            <a:pPr indent="0">
              <a:buFont typeface="Arial" panose="020B0604020202020204"/>
              <a:buNone/>
            </a:pPr>
            <a:endParaRPr lang="zh-CN" altLang="en-US" sz="2400"/>
          </a:p>
          <a:p>
            <a:pPr indent="0">
              <a:buFont typeface="Arial" panose="020B0604020202020204"/>
              <a:buNone/>
            </a:pPr>
            <a:r>
              <a:rPr lang="zh-CN" altLang="en-US" sz="2400"/>
              <a:t>可视化： 绘制 </a:t>
            </a:r>
            <a:r>
              <a:rPr lang="en-US" altLang="zh-CN" sz="2400"/>
              <a:t>ROC </a:t>
            </a:r>
            <a:r>
              <a:rPr lang="zh-CN" altLang="en-US" sz="2400"/>
              <a:t>曲线（接收者操作特征曲线）和 精确度</a:t>
            </a:r>
            <a:r>
              <a:rPr lang="en-US" altLang="zh-CN" sz="2400"/>
              <a:t>-</a:t>
            </a:r>
            <a:r>
              <a:rPr lang="zh-CN" altLang="en-US" sz="2400"/>
              <a:t>召回率曲线（</a:t>
            </a:r>
            <a:r>
              <a:rPr lang="en-US" altLang="zh-CN" sz="2400"/>
              <a:t>PR </a:t>
            </a:r>
            <a:r>
              <a:rPr lang="zh-CN" altLang="en-US" sz="2400"/>
              <a:t>曲线）。</a:t>
            </a:r>
          </a:p>
          <a:p>
            <a:pPr lvl="1" indent="0">
              <a:buFont typeface="Arial" panose="020B0604020202020204"/>
              <a:buNone/>
            </a:pPr>
            <a:endParaRPr lang="zh-CN" altLang="en-US" sz="2400"/>
          </a:p>
          <a:p>
            <a:pPr indent="0">
              <a:buFont typeface="Arial" panose="020B0604020202020204"/>
              <a:buNone/>
            </a:pPr>
            <a:r>
              <a:rPr lang="zh-CN" altLang="en-US" sz="2400"/>
              <a:t>统计指标：准确率、精确率、召回率、</a:t>
            </a:r>
            <a:r>
              <a:rPr lang="en-US" altLang="zh-CN" sz="2400"/>
              <a:t>F1 </a:t>
            </a:r>
            <a:r>
              <a:rPr lang="zh-CN" altLang="en-US" sz="2400"/>
              <a:t>分数和 </a:t>
            </a:r>
            <a:r>
              <a:rPr lang="en-US" altLang="zh-CN" sz="2400"/>
              <a:t>MCC</a:t>
            </a:r>
            <a:r>
              <a:rPr lang="zh-CN" altLang="en-US" sz="2400"/>
              <a:t>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 descr="8AAHHGN15TD8ZQ7H5V$9JNL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203807" y="-1269"/>
            <a:ext cx="879039" cy="9884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9600" y="608330"/>
            <a:ext cx="10032365" cy="763270"/>
          </a:xfrm>
        </p:spPr>
        <p:txBody>
          <a:bodyPr>
            <a:normAutofit/>
          </a:bodyPr>
          <a:lstStyle/>
          <a:p>
            <a:r>
              <a:rPr lang="en-US" altLang="zh-CN"/>
              <a:t>5.1 </a:t>
            </a:r>
            <a:r>
              <a:rPr lang="zh-CN" altLang="en-US"/>
              <a:t>虚拟变体预测</a:t>
            </a: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808990" y="1713865"/>
            <a:ext cx="10612755" cy="428752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808990" y="1713865"/>
            <a:ext cx="10574020" cy="431546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89330" y="1830705"/>
            <a:ext cx="10050145" cy="3843655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0" fontAlgn="auto">
              <a:lnSpc>
                <a:spcPct val="120000"/>
              </a:lnSpc>
              <a:spcAft>
                <a:spcPct val="60000"/>
              </a:spcAft>
            </a:pPr>
            <a:r>
              <a:rPr lang="zh-CN" altLang="en-US" sz="2800" b="1"/>
              <a:t>虚拟库生成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2000"/>
              <a:t>基于 </a:t>
            </a:r>
            <a:r>
              <a:rPr lang="en-US" altLang="zh-CN" sz="2000"/>
              <a:t>DMS </a:t>
            </a:r>
            <a:r>
              <a:rPr lang="zh-CN" altLang="en-US" sz="2000"/>
              <a:t>数据，论文生成了一个大规模虚拟突变库（约 </a:t>
            </a:r>
            <a:r>
              <a:rPr lang="en-US" altLang="zh-CN" sz="2000"/>
              <a:t>7.2×10⁷ </a:t>
            </a:r>
            <a:r>
              <a:rPr lang="zh-CN" altLang="en-US" sz="2000"/>
              <a:t>个变体），覆盖更广泛的序列空间。这些变体并未全部通过实验筛选，而是通过计算方法生成。</a:t>
            </a:r>
          </a:p>
          <a:p>
            <a:pPr indent="0" fontAlgn="auto">
              <a:lnSpc>
                <a:spcPct val="120000"/>
              </a:lnSpc>
            </a:pPr>
            <a:endParaRPr lang="zh-CN" altLang="en-US" sz="2000"/>
          </a:p>
          <a:p>
            <a:pPr indent="0" fontAlgn="auto">
              <a:lnSpc>
                <a:spcPct val="120000"/>
              </a:lnSpc>
              <a:spcAft>
                <a:spcPct val="60000"/>
              </a:spcAft>
            </a:pPr>
            <a:r>
              <a:rPr lang="zh-CN" altLang="en-US" sz="2800" b="1"/>
              <a:t>模型预测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2000"/>
              <a:t>使用训练好的 </a:t>
            </a:r>
            <a:r>
              <a:rPr lang="en-US" altLang="zh-CN" sz="2000"/>
              <a:t>CNN </a:t>
            </a:r>
            <a:r>
              <a:rPr lang="zh-CN" altLang="en-US" sz="2000"/>
              <a:t>模型，对虚拟变体进行预测：</a:t>
            </a:r>
          </a:p>
          <a:p>
            <a:pPr indent="0" fontAlgn="auto">
              <a:lnSpc>
                <a:spcPct val="120000"/>
              </a:lnSpc>
              <a:buFont typeface="Arial" panose="020B0604020202020204"/>
              <a:buNone/>
            </a:pPr>
            <a:r>
              <a:rPr lang="zh-CN" altLang="en-US" sz="2000"/>
              <a:t>输入：虚拟变体的独热编码序列。</a:t>
            </a:r>
          </a:p>
          <a:p>
            <a:pPr indent="0" fontAlgn="auto">
              <a:lnSpc>
                <a:spcPct val="120000"/>
              </a:lnSpc>
              <a:buFont typeface="Arial" panose="020B0604020202020204"/>
              <a:buNone/>
            </a:pPr>
            <a:r>
              <a:rPr lang="zh-CN" altLang="en-US" sz="2000"/>
              <a:t>输出：每个变体结合 </a:t>
            </a:r>
            <a:r>
              <a:rPr lang="en-US" altLang="zh-CN" sz="2000"/>
              <a:t>HER2 </a:t>
            </a:r>
            <a:r>
              <a:rPr lang="zh-CN" altLang="en-US" sz="2000"/>
              <a:t>的概率。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 descr="8AAHHGN15TD8ZQ7H5V$9JNL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203807" y="-1269"/>
            <a:ext cx="879039" cy="9884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9600" y="608330"/>
            <a:ext cx="10032365" cy="763270"/>
          </a:xfrm>
        </p:spPr>
        <p:txBody>
          <a:bodyPr>
            <a:normAutofit/>
          </a:bodyPr>
          <a:lstStyle/>
          <a:p>
            <a:r>
              <a:rPr lang="en-US" altLang="zh-CN"/>
              <a:t>5.2 </a:t>
            </a:r>
            <a:r>
              <a:rPr lang="zh-CN" altLang="en-US"/>
              <a:t>虚拟变体验证</a:t>
            </a: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844550" y="1741805"/>
            <a:ext cx="10612755" cy="428752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808990" y="1713865"/>
            <a:ext cx="10574020" cy="431546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6000" y="1865630"/>
            <a:ext cx="10098405" cy="3666490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0" fontAlgn="auto">
              <a:lnSpc>
                <a:spcPct val="120000"/>
              </a:lnSpc>
              <a:buFont typeface="Arial" panose="020B0604020202020204"/>
              <a:buNone/>
            </a:pPr>
            <a:r>
              <a:rPr lang="zh-CN" altLang="en-US" sz="2400"/>
              <a:t>筛选高潜力变体：选择模型预测概率最高的变体。</a:t>
            </a:r>
          </a:p>
          <a:p>
            <a:pPr indent="0" fontAlgn="auto">
              <a:lnSpc>
                <a:spcPct val="120000"/>
              </a:lnSpc>
              <a:buFont typeface="Arial" panose="020B0604020202020204"/>
              <a:buChar char="•"/>
            </a:pPr>
            <a:endParaRPr lang="zh-CN" altLang="en-US" sz="2400"/>
          </a:p>
          <a:p>
            <a:pPr indent="0" fontAlgn="auto">
              <a:lnSpc>
                <a:spcPct val="120000"/>
              </a:lnSpc>
              <a:buFont typeface="Arial" panose="020B0604020202020204"/>
              <a:buNone/>
            </a:pPr>
            <a:r>
              <a:rPr lang="zh-CN" altLang="en-US" sz="2400"/>
              <a:t>细胞系构建：通过 </a:t>
            </a:r>
            <a:r>
              <a:rPr lang="en-US" altLang="zh-CN" sz="2400"/>
              <a:t>CRISPR-Cas9 </a:t>
            </a:r>
            <a:r>
              <a:rPr lang="zh-CN" altLang="en-US" sz="2400"/>
              <a:t>技术将这些变体导入细胞，表达抗体。</a:t>
            </a:r>
          </a:p>
          <a:p>
            <a:pPr indent="0" fontAlgn="auto">
              <a:lnSpc>
                <a:spcPct val="120000"/>
              </a:lnSpc>
              <a:buFont typeface="Arial" panose="020B0604020202020204"/>
              <a:buChar char="•"/>
            </a:pPr>
            <a:endParaRPr lang="zh-CN" altLang="en-US" sz="2400"/>
          </a:p>
          <a:p>
            <a:pPr indent="0" fontAlgn="auto">
              <a:lnSpc>
                <a:spcPct val="120000"/>
              </a:lnSpc>
              <a:buFont typeface="Arial" panose="020B0604020202020204"/>
              <a:buNone/>
            </a:pPr>
            <a:r>
              <a:rPr lang="zh-CN" altLang="en-US" sz="2400"/>
              <a:t>结合能力测试： </a:t>
            </a:r>
          </a:p>
          <a:p>
            <a:pPr lvl="1" indent="0" fontAlgn="auto">
              <a:lnSpc>
                <a:spcPct val="120000"/>
              </a:lnSpc>
              <a:buFont typeface="Arial" panose="020B0604020202020204"/>
              <a:buNone/>
            </a:pPr>
            <a:r>
              <a:rPr lang="zh-CN" altLang="en-US" sz="2400"/>
              <a:t>使用流式细胞术验证抗体与 </a:t>
            </a:r>
            <a:r>
              <a:rPr lang="en-US" altLang="zh-CN" sz="2400"/>
              <a:t>HER2 </a:t>
            </a:r>
            <a:r>
              <a:rPr lang="zh-CN" altLang="en-US" sz="2400"/>
              <a:t>的结合。</a:t>
            </a:r>
          </a:p>
          <a:p>
            <a:pPr lvl="1" indent="0" fontAlgn="auto">
              <a:lnSpc>
                <a:spcPct val="120000"/>
              </a:lnSpc>
              <a:buFont typeface="Arial" panose="020B0604020202020204"/>
              <a:buNone/>
            </a:pPr>
            <a:r>
              <a:rPr lang="en-US" altLang="zh-CN" sz="2400"/>
              <a:t>Ag+</a:t>
            </a:r>
            <a:r>
              <a:rPr lang="zh-CN" altLang="en-US" sz="2400"/>
              <a:t>占比为</a:t>
            </a:r>
            <a:r>
              <a:rPr lang="en-US" altLang="zh-CN" sz="2400"/>
              <a:t>14%</a:t>
            </a:r>
            <a:r>
              <a:rPr lang="zh-CN" altLang="en-US" sz="2400"/>
              <a:t>，符合随机筛选的流式细胞术实验的</a:t>
            </a:r>
            <a:r>
              <a:rPr lang="en-US" altLang="zh-CN" sz="2400"/>
              <a:t>Ag+</a:t>
            </a:r>
            <a:r>
              <a:rPr lang="zh-CN" altLang="en-US" sz="2400"/>
              <a:t>比例。</a:t>
            </a:r>
          </a:p>
          <a:p>
            <a:pPr lvl="1" indent="0" fontAlgn="auto">
              <a:lnSpc>
                <a:spcPct val="120000"/>
              </a:lnSpc>
              <a:buFont typeface="Arial" panose="020B0604020202020204"/>
              <a:buChar char="◦"/>
            </a:pPr>
            <a:endParaRPr lang="zh-CN" altLang="en-US" sz="2400"/>
          </a:p>
          <a:p>
            <a:pPr indent="0" fontAlgn="auto">
              <a:lnSpc>
                <a:spcPct val="120000"/>
              </a:lnSpc>
              <a:buFont typeface="Arial" panose="020B0604020202020204"/>
              <a:buNone/>
            </a:pPr>
            <a:r>
              <a:rPr lang="zh-CN" altLang="en-US" sz="2400"/>
              <a:t>结果：验证模型预测的准确性，确认优化变体的性能。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 descr="8AAHHGN15TD8ZQ7H5V$9JNL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203807" y="-1269"/>
            <a:ext cx="879039" cy="9884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9600" y="608330"/>
            <a:ext cx="10032365" cy="763270"/>
          </a:xfrm>
        </p:spPr>
        <p:txBody>
          <a:bodyPr>
            <a:normAutofit/>
          </a:bodyPr>
          <a:lstStyle/>
          <a:p>
            <a:r>
              <a:rPr lang="en-US" altLang="zh-CN"/>
              <a:t>6 </a:t>
            </a:r>
            <a:r>
              <a:rPr lang="zh-CN" altLang="en-US"/>
              <a:t>意义与展望</a:t>
            </a:r>
          </a:p>
        </p:txBody>
      </p:sp>
      <p:sp>
        <p:nvSpPr>
          <p:cNvPr id="16" name="矩形 15"/>
          <p:cNvSpPr/>
          <p:nvPr>
            <p:custDataLst>
              <p:tags r:id="rId4"/>
            </p:custDataLst>
          </p:nvPr>
        </p:nvSpPr>
        <p:spPr>
          <a:xfrm>
            <a:off x="844550" y="1741805"/>
            <a:ext cx="10612755" cy="428752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808990" y="1713865"/>
            <a:ext cx="10574020" cy="431546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21715" y="1875155"/>
            <a:ext cx="10022205" cy="3563620"/>
          </a:xfrm>
          <a:prstGeom prst="rect">
            <a:avLst/>
          </a:prstGeom>
        </p:spPr>
        <p:txBody>
          <a:bodyPr>
            <a:noAutofit/>
          </a:bodyPr>
          <a:lstStyle/>
          <a:p>
            <a:pPr indent="0" fontAlgn="auto">
              <a:lnSpc>
                <a:spcPct val="120000"/>
              </a:lnSpc>
              <a:buFont typeface="Arial" panose="020B0604020202020204"/>
              <a:buNone/>
            </a:pPr>
            <a:r>
              <a:rPr lang="en-US" altLang="zh-CN" sz="2400"/>
              <a:t>1. DMS</a:t>
            </a:r>
            <a:r>
              <a:rPr lang="zh-CN" altLang="en-US" sz="2400"/>
              <a:t>的突变策略对于生成</a:t>
            </a:r>
            <a:r>
              <a:rPr lang="zh-CN" altLang="en-US" sz="2400" b="1">
                <a:solidFill>
                  <a:srgbClr val="FF0000"/>
                </a:solidFill>
              </a:rPr>
              <a:t>富含抗原结合变体的高质量训练数据</a:t>
            </a:r>
            <a:r>
              <a:rPr lang="zh-CN" altLang="en-US" sz="2400"/>
              <a:t>至关重要，若采用完全随机的组合突变策略，则难以生成大量抗原结合变体。</a:t>
            </a:r>
          </a:p>
          <a:p>
            <a:pPr indent="0" fontAlgn="auto">
              <a:lnSpc>
                <a:spcPct val="120000"/>
              </a:lnSpc>
              <a:buFont typeface="Arial" panose="020B0604020202020204"/>
              <a:buNone/>
            </a:pPr>
            <a:endParaRPr lang="zh-CN" altLang="en-US" sz="2400"/>
          </a:p>
          <a:p>
            <a:pPr indent="0" fontAlgn="auto">
              <a:lnSpc>
                <a:spcPct val="120000"/>
              </a:lnSpc>
              <a:buFont typeface="Arial" panose="020B0604020202020204"/>
              <a:buNone/>
            </a:pPr>
            <a:r>
              <a:rPr lang="en-US" altLang="zh-CN" sz="2400"/>
              <a:t>2. </a:t>
            </a:r>
            <a:r>
              <a:rPr lang="zh-CN" altLang="en-US" sz="2400"/>
              <a:t>当抗体与其靶抗原的亲和力达到理想范围后，</a:t>
            </a:r>
            <a:r>
              <a:rPr lang="zh-CN" altLang="en-US" sz="2400" b="1">
                <a:solidFill>
                  <a:srgbClr val="FF0000"/>
                </a:solidFill>
              </a:rPr>
              <a:t>优化其他生物物理特性</a:t>
            </a:r>
            <a:r>
              <a:rPr lang="zh-CN" altLang="en-US" sz="2400"/>
              <a:t>成为开发的重点。借助计算预测的最新进展，许多特性（如粘度、清除率、稳定性、特异性、溶解度和免疫原性）可从序列信息中估算。</a:t>
            </a:r>
          </a:p>
          <a:p>
            <a:pPr indent="0" fontAlgn="auto">
              <a:lnSpc>
                <a:spcPct val="120000"/>
              </a:lnSpc>
              <a:buFont typeface="Arial" panose="020B0604020202020204"/>
              <a:buNone/>
            </a:pPr>
            <a:endParaRPr lang="zh-CN" altLang="en-US" sz="2400"/>
          </a:p>
          <a:p>
            <a:pPr indent="0" fontAlgn="auto">
              <a:lnSpc>
                <a:spcPct val="120000"/>
              </a:lnSpc>
              <a:buFont typeface="Arial" panose="020B0604020202020204"/>
              <a:buNone/>
            </a:pPr>
            <a:r>
              <a:rPr lang="en-US" altLang="zh-CN" sz="2400"/>
              <a:t>3. </a:t>
            </a:r>
            <a:r>
              <a:rPr lang="zh-CN" altLang="en-US" sz="2400"/>
              <a:t>扩展至</a:t>
            </a:r>
            <a:r>
              <a:rPr lang="zh-CN" altLang="en-US" sz="2400" b="1">
                <a:solidFill>
                  <a:srgbClr val="FF0000"/>
                </a:solidFill>
              </a:rPr>
              <a:t>可变轻链和重链的其他区域</a:t>
            </a:r>
            <a:r>
              <a:rPr lang="zh-CN" altLang="en-US" sz="2400"/>
              <a:t>，整合多个区域，可开发能够捕获抗体与靶抗原复杂关系的深度神经网络。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>
            <p:custDataLst>
              <p:tags r:id="rId1"/>
            </p:custDataLst>
          </p:nvPr>
        </p:nvSpPr>
        <p:spPr>
          <a:xfrm>
            <a:off x="0" y="-70414"/>
            <a:ext cx="12192000" cy="960967"/>
          </a:xfrm>
          <a:prstGeom prst="rect">
            <a:avLst/>
          </a:prstGeom>
          <a:solidFill>
            <a:srgbClr val="2A3F94"/>
          </a:solidFill>
          <a:ln>
            <a:solidFill>
              <a:srgbClr val="2A3F9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8" rIns="91438" bIns="45718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900" b="0" i="0" u="none" strike="noStrike" kern="1200" cap="none" spc="0" normalizeH="0" baseline="0" noProof="0">
              <a:ln>
                <a:noFill/>
              </a:ln>
              <a:solidFill>
                <a:srgbClr val="1B0FB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7" name="图片 7" descr="8AAHHGN15TD8ZQ7H5V$9JNL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203807" y="-1269"/>
            <a:ext cx="879039" cy="9884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5132810" y="2982050"/>
            <a:ext cx="2464612" cy="893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 fontAlgn="base">
              <a:lnSpc>
                <a:spcPct val="120000"/>
              </a:lnSpc>
            </a:pPr>
            <a:r>
              <a:rPr lang="zh-CN" altLang="en-US" sz="4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谢 谢！</a:t>
            </a:r>
            <a:endParaRPr lang="en-US" altLang="zh-CN" sz="4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Tm="145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k4Y2RmYWE5Y2FjZjE1OTMzMDFlYzg5ODNmZmE2ND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1307_3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4"/>
  <p:tag name="KSO_WM_SLIDE_INDEX" val="3"/>
  <p:tag name="KSO_WM_SLIDE_SIZE" val="853.9*343.45"/>
  <p:tag name="KSO_WM_SLIDE_POSITION" val="51.3*128.1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1307"/>
  <p:tag name="KSO_WM_SLIDE_LAYOUT" val="a_l"/>
  <p:tag name="KSO_WM_SLIDE_LAYOUT_CNT" val="1_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1307_3*a*1"/>
  <p:tag name="KSO_WM_TEMPLATE_CATEGORY" val="diagram"/>
  <p:tag name="KSO_WM_TEMPLATE_INDEX" val="20231307"/>
  <p:tag name="KSO_WM_UNIT_LAYERLEVEL" val="1"/>
  <p:tag name="KSO_WM_TAG_VERSION" val="3.0"/>
  <p:tag name="KSO_WM_BEAUTIFY_FLAG" val="#wm#"/>
  <p:tag name="KSO_WM_UNIT_TEXT_TYPE" val="1"/>
  <p:tag name="KSO_WM_UNIT_PRESET_TEXT" val="单击此处添加标题"/>
  <p:tag name="KSO_WM_UNIT_TEXT_FILL_FORE_SCHEMECOLOR_INDEX" val="13"/>
  <p:tag name="KSO_WM_UNIT_TEXT_FILL_TYPE" val="1"/>
  <p:tag name="KSO_WM_UNIT_USESOURCEFORMAT_APPLY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307_2*l_h_i*1_1_2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93.08944881889767,&quot;left&quot;:24.900000000000013,&quot;top&quot;:105.55,&quot;width&quot;:915.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08944881889767,&quot;left&quot;:24.900000000000013,&quot;top&quot;:105.55,&quot;width&quot;:915.75}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307_2*l_h_f*1_1_1"/>
  <p:tag name="KSO_WM_TEMPLATE_CATEGORY" val="diagram"/>
  <p:tag name="KSO_WM_TEMPLATE_INDEX" val="20231307"/>
  <p:tag name="KSO_WM_UNIT_LAYERLEVEL" val="1_1_1"/>
  <p:tag name="KSO_WM_TAG_VERSION" val="3.0"/>
  <p:tag name="KSO_WM_UNIT_TEXT_TYPE" val="1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117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的观点。"/>
  <p:tag name="KSO_WM_UNIT_FILL_TYPE" val="1"/>
  <p:tag name="KSO_WM_UNIT_FILL_FORE_SCHEMECOLOR_INDEX" val="2"/>
  <p:tag name="KSO_WM_UNIT_FILL_FORE_SCHEMECOLOR_INDEX_BRIGHTNESS" val="0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08944881889767,&quot;left&quot;:24.900000000000013,&quot;top&quot;:105.55,&quot;width&quot;:915.75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307_2*l_h_i*1_1_1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307_2*l_h_i*1_2_2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93.08944881889767,&quot;left&quot;:24.900000000000013,&quot;top&quot;:105.55,&quot;width&quot;:915.75}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8"/>
  <p:tag name="KSO_WM_UNIT_FILL_FORE_SCHEMECOLOR_INDEX_BRIGHTNESS" val="0"/>
  <p:tag name="KSO_WM_UNIT_USESOURCEFORMAT_APPLY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08944881889767,&quot;left&quot;:24.900000000000013,&quot;top&quot;:105.55,&quot;width&quot;:915.75}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307_2*l_h_f*1_2_1"/>
  <p:tag name="KSO_WM_TEMPLATE_CATEGORY" val="diagram"/>
  <p:tag name="KSO_WM_TEMPLATE_INDEX" val="20231307"/>
  <p:tag name="KSO_WM_UNIT_LAYERLEVEL" val="1_1_1"/>
  <p:tag name="KSO_WM_TAG_VERSION" val="3.0"/>
  <p:tag name="KSO_WM_UNIT_TEXT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8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117"/>
  <p:tag name="KSO_WM_UNIT_PRESET_TEXT" val="单击此处添加文本具体内容，简明扼要地阐述您的观点。根据需要可酌情增减文字，以便观者准确地理解您传达的思想单击此处添加文本具体内容，简明扼要地阐述您的观点。以便观者准确地理解您传达的思想单击此处添加文本具体内容。"/>
  <p:tag name="KSO_WM_UNIT_LINE_FORE_SCHEMECOLOR_INDEX" val="8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08944881889767,&quot;left&quot;:24.900000000000013,&quot;top&quot;:105.55,&quot;width&quot;:915.75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307_2*l_h_i*1_2_1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8"/>
  <p:tag name="KSO_WM_UNIT_FILL_FORE_SCHEMECOLOR_INDEX_BRIGHTNESS" val="0"/>
  <p:tag name="KSO_WM_UNIT_USESOURCEFORMAT_APPLY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307_2*l_h_i*1_3_2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393.08944881889767,&quot;left&quot;:24.900000000000013,&quot;top&quot;:105.55,&quot;width&quot;:915.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62626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08944881889767,&quot;left&quot;:24.900000000000013,&quot;top&quot;:105.55,&quot;width&quot;:915.75}"/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307_2*l_h_f*1_3_1"/>
  <p:tag name="KSO_WM_TEMPLATE_CATEGORY" val="diagram"/>
  <p:tag name="KSO_WM_TEMPLATE_INDEX" val="20231307"/>
  <p:tag name="KSO_WM_UNIT_LAYERLEVEL" val="1_1_1"/>
  <p:tag name="KSO_WM_TAG_VERSION" val="3.0"/>
  <p:tag name="KSO_WM_UNIT_TEXT_TYPE" val="1"/>
  <p:tag name="KSO_WM_DIAGRAM_MAX_ITEMCNT" val="4"/>
  <p:tag name="KSO_WM_DIAGRAM_MIN_ITEMCNT" val="2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VALUE" val="117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。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3.08944881889767,&quot;left&quot;:24.900000000000013,&quot;top&quot;:105.55,&quot;width&quot;:915.75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307_2*l_h_i*1_3_1"/>
  <p:tag name="KSO_WM_TEMPLATE_CATEGORY" val="diagram"/>
  <p:tag name="KSO_WM_TEMPLATE_INDEX" val="20231307"/>
  <p:tag name="KSO_WM_UNIT_LAYERLEVEL" val="1_1_1"/>
  <p:tag name="KSO_WM_TAG_VERSION" val="3.0"/>
  <p:tag name="KSO_WM_DIAGRAM_MAX_ITEMCNT" val="4"/>
  <p:tag name="KSO_WM_DIAGRAM_MIN_ITEMCNT" val="2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35151_11"/>
  <p:tag name="KSO_WM_TEMPLATE_SUBCATEGORY" val="0"/>
  <p:tag name="KSO_WM_TEMPLATE_MASTER_TYPE" val="0"/>
  <p:tag name="KSO_WM_TEMPLATE_COLOR_TYPE" val="0"/>
  <p:tag name="KSO_WM_SLIDE_ITEM_CNT" val="12"/>
  <p:tag name="KSO_WM_SLIDE_INDEX" val="11"/>
  <p:tag name="KSO_WM_TAG_VERSION" val="3.0"/>
  <p:tag name="KSO_WM_BEAUTIFY_FLAG" val="#wm#"/>
  <p:tag name="KSO_WM_TEMPLATE_CATEGORY" val="diagram"/>
  <p:tag name="KSO_WM_TEMPLATE_INDEX" val="20235151"/>
  <p:tag name="KSO_WM_SLIDE_TYPE" val="text"/>
  <p:tag name="KSO_WM_SLIDE_SUBTYPE" val="diag"/>
  <p:tag name="KSO_WM_SLIDE_SIZE" val="850.4*372.15"/>
  <p:tag name="KSO_WM_SLIDE_POSITION" val="54.8*114.65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5151_11*a*1"/>
  <p:tag name="KSO_WM_TEMPLATE_CATEGORY" val="diagram"/>
  <p:tag name="KSO_WM_TEMPLATE_INDEX" val="20235151"/>
  <p:tag name="KSO_WM_UNIT_LAYERLEVEL" val="1"/>
  <p:tag name="KSO_WM_TAG_VERSION" val="3.0"/>
  <p:tag name="KSO_WM_BEAUTIFY_FLAG" val="#wm#"/>
  <p:tag name="KSO_WM_UNIT_TEXT_TYPE" val="1"/>
  <p:tag name="KSO_WM_UNIT_PRESET_TEXT" val="单击此处添加文档标题内容"/>
  <p:tag name="KSO_WM_UNIT_TEXT_FILL_FORE_SCHEMECOLOR_INDEX" val="13"/>
  <p:tag name="KSO_WM_UNIT_TEXT_FILL_TYPE" val="1"/>
  <p:tag name="KSO_WM_UNIT_USESOURCEFORMAT_APPLY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VALUE" val="1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5151_3*l_h_f*1_1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UNIT_TEXT_TYPE" val="1"/>
  <p:tag name="KSO_WM_DIAGRAM_MAX_ITEMCNT" val="12"/>
  <p:tag name="KSO_WM_DIAGRAM_MIN_ITEMCNT" val="2"/>
  <p:tag name="KSO_WM_DIAGRAM_VIRTUALLY_FRAME" val="{&quot;height&quot;:372.1281089623034,&quot;left&quot;:54.8,&quot;top&quot;:114.66094551884835,&quot;width&quot;:850.45}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LINE_FORE_SCHEMECOLOR_INDEX" val="5"/>
  <p:tag name="KSO_WM_UNIT_USESOURCEFORMAT_APPLY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5151_3*l_h_i*1_1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DIAGRAM_MAX_ITEMCNT" val="12"/>
  <p:tag name="KSO_WM_DIAGRAM_MIN_ITEMCNT" val="2"/>
  <p:tag name="KSO_WM_DIAGRAM_VIRTUALLY_FRAME" val="{&quot;height&quot;:372.1281089623034,&quot;left&quot;:54.8,&quot;top&quot;:114.66094551884835,&quot;width&quot;:850.4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USESOURCEFORMAT_APPLY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5151_3*l_h_f*1_2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UNIT_TEXT_TYPE" val="1"/>
  <p:tag name="KSO_WM_DIAGRAM_MAX_ITEMCNT" val="12"/>
  <p:tag name="KSO_WM_DIAGRAM_MIN_ITEMCNT" val="2"/>
  <p:tag name="KSO_WM_DIAGRAM_VIRTUALLY_FRAME" val="{&quot;height&quot;:372.1281089623034,&quot;left&quot;:54.8,&quot;top&quot;:114.66094551884835,&quot;width&quot;:850.45}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4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LINE_FORE_SCHEMECOLOR_INDEX" val="5"/>
  <p:tag name="KSO_WM_UNIT_USESOURCEFORMAT_APPLY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5151_3*l_h_i*1_2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DIAGRAM_MAX_ITEMCNT" val="12"/>
  <p:tag name="KSO_WM_DIAGRAM_MIN_ITEMCNT" val="2"/>
  <p:tag name="KSO_WM_DIAGRAM_VIRTUALLY_FRAME" val="{&quot;height&quot;:372.1281089623034,&quot;left&quot;:54.8,&quot;top&quot;:114.66094551884835,&quot;width&quot;:850.4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USESOURCEFORMAT_APPLY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5151_3*l_h_f*1_3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UNIT_TEXT_TYPE" val="1"/>
  <p:tag name="KSO_WM_DIAGRAM_MAX_ITEMCNT" val="12"/>
  <p:tag name="KSO_WM_DIAGRAM_MIN_ITEMCNT" val="2"/>
  <p:tag name="KSO_WM_DIAGRAM_VIRTUALLY_FRAME" val="{&quot;height&quot;:372.1281089623034,&quot;left&quot;:54.8,&quot;top&quot;:114.66094551884835,&quot;width&quot;:850.45}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LINE_FORE_SCHEMECOLOR_INDEX" val="5"/>
  <p:tag name="KSO_WM_UNIT_USESOURCEFORMAT_APPLY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5151_3*l_h_i*1_3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DIAGRAM_MAX_ITEMCNT" val="12"/>
  <p:tag name="KSO_WM_DIAGRAM_MIN_ITEMCNT" val="2"/>
  <p:tag name="KSO_WM_DIAGRAM_VIRTUALLY_FRAME" val="{&quot;height&quot;:372.1281089623034,&quot;left&quot;:54.8,&quot;top&quot;:114.66094551884835,&quot;width&quot;:850.4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USESOURCEFORMAT_APPLY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5151_3*l_h_f*1_4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UNIT_TEXT_TYPE" val="1"/>
  <p:tag name="KSO_WM_DIAGRAM_MAX_ITEMCNT" val="12"/>
  <p:tag name="KSO_WM_DIAGRAM_MIN_ITEMCNT" val="2"/>
  <p:tag name="KSO_WM_DIAGRAM_VIRTUALLY_FRAME" val="{&quot;height&quot;:372.1281089623034,&quot;left&quot;:54.8,&quot;top&quot;:114.66094551884835,&quot;width&quot;:850.45}"/>
  <p:tag name="KSO_WM_DIAGRAM_COLOR_MATCH_VALUE" val="{&quot;shape&quot;:{&quot;fill&quot;:{&quot;solid&quot;:{&quot;brightness&quot;:0,&quot;colorType&quot;:1,&quot;foreColorIndex&quot;:2,&quot;transparency&quot;:0.8999999761581421},&quot;type&quot;:1},&quot;glow&quot;:{&quot;colorType&quot;:0},&quot;line&quot;:{&quot;gradient&quot;:[{&quot;brightness&quot;:0,&quot;colorType&quot;:1,&quot;foreColorIndex&quot;:5,&quot;pos&quot;:0,&quot;transparency&quot;:0.30000001192092896},{&quot;brightness&quot;:0,&quot;colorType&quot;:1,&quot;foreColorIndex&quot;:5,&quot;pos&quot;:1,&quot;transparency&quot;:0.400000005960464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4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"/>
  <p:tag name="KSO_WM_UNIT_FILL_TYPE" val="1"/>
  <p:tag name="KSO_WM_UNIT_FILL_FORE_SCHEMECOLOR_INDEX" val="2"/>
  <p:tag name="KSO_WM_UNIT_FILL_FORE_SCHEMECOLOR_INDEX_BRIGHTNESS" val="0"/>
  <p:tag name="KSO_WM_UNIT_TEXT_FILL_FORE_SCHEMECOLOR_INDEX" val="1"/>
  <p:tag name="KSO_WM_UNIT_TEXT_FILL_TYPE" val="1"/>
  <p:tag name="KSO_WM_UNIT_LINE_FORE_SCHEMECOLOR_INDEX" val="5"/>
  <p:tag name="KSO_WM_UNIT_USESOURCEFORMAT_APPLY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5151_3*l_h_i*1_4_1"/>
  <p:tag name="KSO_WM_TEMPLATE_CATEGORY" val="diagram"/>
  <p:tag name="KSO_WM_TEMPLATE_INDEX" val="20235151"/>
  <p:tag name="KSO_WM_UNIT_LAYERLEVEL" val="1_1_1"/>
  <p:tag name="KSO_WM_TAG_VERSION" val="3.0"/>
  <p:tag name="KSO_WM_BEAUTIFY_FLAG" val="#wm#"/>
  <p:tag name="KSO_WM_DIAGRAM_MAX_ITEMCNT" val="12"/>
  <p:tag name="KSO_WM_DIAGRAM_MIN_ITEMCNT" val="2"/>
  <p:tag name="KSO_WM_DIAGRAM_VIRTUALLY_FRAME" val="{&quot;height&quot;:372.1281089623034,&quot;left&quot;:54.8,&quot;top&quot;:114.66094551884835,&quot;width&quot;:850.4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4099999964237213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USESOURCEFORMAT_APPLY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515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3515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LORSCHEME_VERSION" val="3.2"/>
  <p:tag name="KSO_WM_SLIDE_ID" val="custom2023563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864*444"/>
  <p:tag name="KSO_WM_SLIDE_POSITION" val="48*47"/>
  <p:tag name="KSO_WM_TAG_VERSION" val="3.0"/>
  <p:tag name="KSO_WM_BEAUTIFY_FLAG" val="#wm#"/>
  <p:tag name="KSO_WM_TEMPLATE_CATEGORY" val="custom"/>
  <p:tag name="KSO_WM_TEMPLATE_INDEX" val="20235630"/>
  <p:tag name="KSO_WM_SLIDE_LAYOUT" val="a_f"/>
  <p:tag name="KSO_WM_SLIDE_LAYOUT_CNT" val="1_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30_1*a*1"/>
  <p:tag name="KSO_WM_TEMPLATE_CATEGORY" val="custom"/>
  <p:tag name="KSO_WM_TEMPLATE_INDEX" val="2023563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6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630_1*i*1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7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630_1*i*2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5630_1*f*1"/>
  <p:tag name="KSO_WM_TEMPLATE_CATEGORY" val="custom"/>
  <p:tag name="KSO_WM_TEMPLATE_INDEX" val="20235630"/>
  <p:tag name="KSO_WM_UNIT_LAYERLEVEL" val="1"/>
  <p:tag name="KSO_WM_TAG_VERSION" val="3.0"/>
  <p:tag name="KSO_WM_BEAUTIFY_FLAG" val="#wm#"/>
  <p:tag name="KSO_WM_UNIT_VALUE" val="414"/>
  <p:tag name="KSO_WM_UNIT_TEXT_TYPE" val="1"/>
  <p:tag name="KSO_WM_UNIT_PRESET_TEXT" val="单击此处添加小标题：&#10;单击此处输入你的正文，文字是您思想的提炼，为了最终演示发布的良好效果，请尽量言简意赅的阐述观点。根据需要可酌情增减文字，以便观者可以准确理解您所传达的信息。单击此处输入你的正文，文字是您思想的提炼，为了最终演示发布的良好效果，请尽量言简意赅的阐述观点。根据需要可酌情增减文字，以便观者可以准确理解您所传达的信息。&#10;单击此处添加正文具体内容，文字是您思想的重要提炼。&#10;单击此处添加小标题：&#10;点击此处添加正文，文字是您思想的提炼，为了最终演示发布的良好效果，请简单的阐述观点。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LORSCHEME_VERSION" val="3.2"/>
  <p:tag name="KSO_WM_SLIDE_ID" val="custom2023563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864*444"/>
  <p:tag name="KSO_WM_SLIDE_POSITION" val="48*47"/>
  <p:tag name="KSO_WM_TAG_VERSION" val="3.0"/>
  <p:tag name="KSO_WM_BEAUTIFY_FLAG" val="#wm#"/>
  <p:tag name="KSO_WM_TEMPLATE_CATEGORY" val="custom"/>
  <p:tag name="KSO_WM_TEMPLATE_INDEX" val="20235630"/>
  <p:tag name="KSO_WM_SLIDE_LAYOUT" val="a_f"/>
  <p:tag name="KSO_WM_SLIDE_LAYOUT_CNT" val="1_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30_1*a*1"/>
  <p:tag name="KSO_WM_TEMPLATE_CATEGORY" val="custom"/>
  <p:tag name="KSO_WM_TEMPLATE_INDEX" val="2023563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6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630_1*i*1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7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630_1*i*2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374_1*f*1"/>
  <p:tag name="KSO_WM_TEMPLATE_CATEGORY" val="custom"/>
  <p:tag name="KSO_WM_TEMPLATE_INDEX" val="20233374"/>
  <p:tag name="KSO_WM_UNIT_LAYERLEVEL" val="1"/>
  <p:tag name="KSO_WM_TAG_VERSION" val="3.0"/>
  <p:tag name="KSO_WM_BEAUTIFY_FLAG" val="#wm#"/>
  <p:tag name="KSO_WM_UNIT_TEXT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LORSCHEME_VERSION" val="3.2"/>
  <p:tag name="KSO_WM_SLIDE_ID" val="custom2023563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864*444"/>
  <p:tag name="KSO_WM_SLIDE_POSITION" val="48*47"/>
  <p:tag name="KSO_WM_TAG_VERSION" val="3.0"/>
  <p:tag name="KSO_WM_BEAUTIFY_FLAG" val="#wm#"/>
  <p:tag name="KSO_WM_TEMPLATE_CATEGORY" val="custom"/>
  <p:tag name="KSO_WM_TEMPLATE_INDEX" val="20235630"/>
  <p:tag name="KSO_WM_SLIDE_LAYOUT" val="a_f"/>
  <p:tag name="KSO_WM_SLIDE_LAYOUT_CNT" val="1_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30_1*a*1"/>
  <p:tag name="KSO_WM_TEMPLATE_CATEGORY" val="custom"/>
  <p:tag name="KSO_WM_TEMPLATE_INDEX" val="2023563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6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630_1*i*1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7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630_1*i*2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LORSCHEME_VERSION" val="3.2"/>
  <p:tag name="KSO_WM_SLIDE_ID" val="custom2023563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864*444"/>
  <p:tag name="KSO_WM_SLIDE_POSITION" val="48*47"/>
  <p:tag name="KSO_WM_TAG_VERSION" val="3.0"/>
  <p:tag name="KSO_WM_BEAUTIFY_FLAG" val="#wm#"/>
  <p:tag name="KSO_WM_TEMPLATE_CATEGORY" val="custom"/>
  <p:tag name="KSO_WM_TEMPLATE_INDEX" val="20235630"/>
  <p:tag name="KSO_WM_SLIDE_LAYOUT" val="a_f"/>
  <p:tag name="KSO_WM_SLIDE_LAYOUT_CNT" val="1_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30_1*a*1"/>
  <p:tag name="KSO_WM_TEMPLATE_CATEGORY" val="custom"/>
  <p:tag name="KSO_WM_TEMPLATE_INDEX" val="2023563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6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630_1*i*1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7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630_1*i*2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LORSCHEME_VERSION" val="3.2"/>
  <p:tag name="KSO_WM_SLIDE_ID" val="custom2023563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864*444"/>
  <p:tag name="KSO_WM_SLIDE_POSITION" val="48*47"/>
  <p:tag name="KSO_WM_TAG_VERSION" val="3.0"/>
  <p:tag name="KSO_WM_BEAUTIFY_FLAG" val="#wm#"/>
  <p:tag name="KSO_WM_TEMPLATE_CATEGORY" val="custom"/>
  <p:tag name="KSO_WM_TEMPLATE_INDEX" val="20235630"/>
  <p:tag name="KSO_WM_SLIDE_LAYOUT" val="a_f"/>
  <p:tag name="KSO_WM_SLIDE_LAYOUT_CNT" val="1_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30_1*a*1"/>
  <p:tag name="KSO_WM_TEMPLATE_CATEGORY" val="custom"/>
  <p:tag name="KSO_WM_TEMPLATE_INDEX" val="2023563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6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630_1*i*1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7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630_1*i*2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LORSCHEME_VERSION" val="3.2"/>
  <p:tag name="KSO_WM_SLIDE_ID" val="custom2023563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864*444"/>
  <p:tag name="KSO_WM_SLIDE_POSITION" val="48*47"/>
  <p:tag name="KSO_WM_TAG_VERSION" val="3.0"/>
  <p:tag name="KSO_WM_BEAUTIFY_FLAG" val="#wm#"/>
  <p:tag name="KSO_WM_TEMPLATE_CATEGORY" val="custom"/>
  <p:tag name="KSO_WM_TEMPLATE_INDEX" val="20235630"/>
  <p:tag name="KSO_WM_SLIDE_LAYOUT" val="a_f"/>
  <p:tag name="KSO_WM_SLIDE_LAYOUT_CNT" val="1_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30_1*a*1"/>
  <p:tag name="KSO_WM_TEMPLATE_CATEGORY" val="custom"/>
  <p:tag name="KSO_WM_TEMPLATE_INDEX" val="2023563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6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630_1*i*1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7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630_1*i*2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LORSCHEME_VERSION" val="3.2"/>
  <p:tag name="KSO_WM_SLIDE_ID" val="custom2023563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864*444"/>
  <p:tag name="KSO_WM_SLIDE_POSITION" val="48*47"/>
  <p:tag name="KSO_WM_TAG_VERSION" val="3.0"/>
  <p:tag name="KSO_WM_BEAUTIFY_FLAG" val="#wm#"/>
  <p:tag name="KSO_WM_TEMPLATE_CATEGORY" val="custom"/>
  <p:tag name="KSO_WM_TEMPLATE_INDEX" val="20235630"/>
  <p:tag name="KSO_WM_SLIDE_LAYOUT" val="a_f"/>
  <p:tag name="KSO_WM_SLIDE_LAYOUT_CNT" val="1_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30_1*a*1"/>
  <p:tag name="KSO_WM_TEMPLATE_CATEGORY" val="custom"/>
  <p:tag name="KSO_WM_TEMPLATE_INDEX" val="2023563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6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630_1*i*1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7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630_1*i*2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LORSCHEME_VERSION" val="3.2"/>
  <p:tag name="KSO_WM_SLIDE_ID" val="custom2023563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864*444"/>
  <p:tag name="KSO_WM_SLIDE_POSITION" val="48*47"/>
  <p:tag name="KSO_WM_TAG_VERSION" val="3.0"/>
  <p:tag name="KSO_WM_BEAUTIFY_FLAG" val="#wm#"/>
  <p:tag name="KSO_WM_TEMPLATE_CATEGORY" val="custom"/>
  <p:tag name="KSO_WM_TEMPLATE_INDEX" val="20235630"/>
  <p:tag name="KSO_WM_SLIDE_LAYOUT" val="a_f"/>
  <p:tag name="KSO_WM_SLIDE_LAYOUT_CNT" val="1_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30_1*a*1"/>
  <p:tag name="KSO_WM_TEMPLATE_CATEGORY" val="custom"/>
  <p:tag name="KSO_WM_TEMPLATE_INDEX" val="2023563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6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630_1*i*1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7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630_1*i*2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LORSCHEME_VERSION" val="3.2"/>
  <p:tag name="KSO_WM_SLIDE_ID" val="custom2023563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864*444"/>
  <p:tag name="KSO_WM_SLIDE_POSITION" val="48*47"/>
  <p:tag name="KSO_WM_TAG_VERSION" val="3.0"/>
  <p:tag name="KSO_WM_BEAUTIFY_FLAG" val="#wm#"/>
  <p:tag name="KSO_WM_TEMPLATE_CATEGORY" val="custom"/>
  <p:tag name="KSO_WM_TEMPLATE_INDEX" val="20235630"/>
  <p:tag name="KSO_WM_SLIDE_LAYOUT" val="a_f"/>
  <p:tag name="KSO_WM_SLIDE_LAYOUT_CNT" val="1_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30_1*a*1"/>
  <p:tag name="KSO_WM_TEMPLATE_CATEGORY" val="custom"/>
  <p:tag name="KSO_WM_TEMPLATE_INDEX" val="2023563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6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630_1*i*1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7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630_1*i*2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LORSCHEME_VERSION" val="3.2"/>
  <p:tag name="KSO_WM_SLIDE_ID" val="custom2023563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864*444"/>
  <p:tag name="KSO_WM_SLIDE_POSITION" val="48*47"/>
  <p:tag name="KSO_WM_TAG_VERSION" val="3.0"/>
  <p:tag name="KSO_WM_BEAUTIFY_FLAG" val="#wm#"/>
  <p:tag name="KSO_WM_TEMPLATE_CATEGORY" val="custom"/>
  <p:tag name="KSO_WM_TEMPLATE_INDEX" val="20235630"/>
  <p:tag name="KSO_WM_SLIDE_LAYOUT" val="a_f"/>
  <p:tag name="KSO_WM_SLIDE_LAYOUT_CNT" val="1_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30_1*a*1"/>
  <p:tag name="KSO_WM_TEMPLATE_CATEGORY" val="custom"/>
  <p:tag name="KSO_WM_TEMPLATE_INDEX" val="2023563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6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630_1*i*1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7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630_1*i*2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LORSCHEME_VERSION" val="3.2"/>
  <p:tag name="KSO_WM_SLIDE_ID" val="custom2023563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864*444"/>
  <p:tag name="KSO_WM_SLIDE_POSITION" val="48*47"/>
  <p:tag name="KSO_WM_TAG_VERSION" val="3.0"/>
  <p:tag name="KSO_WM_BEAUTIFY_FLAG" val="#wm#"/>
  <p:tag name="KSO_WM_TEMPLATE_CATEGORY" val="custom"/>
  <p:tag name="KSO_WM_TEMPLATE_INDEX" val="20235630"/>
  <p:tag name="KSO_WM_SLIDE_LAYOUT" val="a_f"/>
  <p:tag name="KSO_WM_SLIDE_LAYOUT_CNT" val="1_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30_1*a*1"/>
  <p:tag name="KSO_WM_TEMPLATE_CATEGORY" val="custom"/>
  <p:tag name="KSO_WM_TEMPLATE_INDEX" val="2023563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6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630_1*i*1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7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630_1*i*2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LORSCHEME_VERSION" val="3.2"/>
  <p:tag name="KSO_WM_SLIDE_ID" val="custom20235630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864*444"/>
  <p:tag name="KSO_WM_SLIDE_POSITION" val="48*47"/>
  <p:tag name="KSO_WM_TAG_VERSION" val="3.0"/>
  <p:tag name="KSO_WM_BEAUTIFY_FLAG" val="#wm#"/>
  <p:tag name="KSO_WM_TEMPLATE_CATEGORY" val="custom"/>
  <p:tag name="KSO_WM_TEMPLATE_INDEX" val="20235630"/>
  <p:tag name="KSO_WM_SLIDE_LAYOUT" val="a_f"/>
  <p:tag name="KSO_WM_SLIDE_LAYOUT_CNT" val="1_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630_1*a*1"/>
  <p:tag name="KSO_WM_TEMPLATE_CATEGORY" val="custom"/>
  <p:tag name="KSO_WM_TEMPLATE_INDEX" val="20235630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6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5630_1*i*1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LOR_SCHEME_SHAPE_ID" val="17"/>
  <p:tag name="KSO_WM_UNIT_COLOR_SCHEME_PARENT_PAGE" val="0_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5630_1*i*2"/>
  <p:tag name="KSO_WM_TEMPLATE_CATEGORY" val="custom"/>
  <p:tag name="KSO_WM_TEMPLATE_INDEX" val="20235630"/>
  <p:tag name="KSO_WM_UNIT_LAYERLEVEL" val="1"/>
  <p:tag name="KSO_WM_TAG_VERSION" val="3.0"/>
  <p:tag name="KSO_WM_BEAUTIFY_FLAG" val="#wm#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1517</Words>
  <Application>Microsoft Office PowerPoint</Application>
  <PresentationFormat>宽屏</PresentationFormat>
  <Paragraphs>150</Paragraphs>
  <Slides>18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等线</vt:lpstr>
      <vt:lpstr>微软雅黑</vt:lpstr>
      <vt:lpstr>Arial</vt:lpstr>
      <vt:lpstr>Times New Roman</vt:lpstr>
      <vt:lpstr>Wingdings</vt:lpstr>
      <vt:lpstr>WPS</vt:lpstr>
      <vt:lpstr>PowerPoint 演示文稿</vt:lpstr>
      <vt:lpstr>1.1 引言</vt:lpstr>
      <vt:lpstr>1.2 流程框架</vt:lpstr>
      <vt:lpstr>PowerPoint 演示文稿</vt:lpstr>
      <vt:lpstr>PowerPoint 演示文稿</vt:lpstr>
      <vt:lpstr>2.1 突变库设计</vt:lpstr>
      <vt:lpstr>2.2 细胞表达与筛选</vt:lpstr>
      <vt:lpstr>2.3 深度测序</vt:lpstr>
      <vt:lpstr>3.1 MiXCR 数据处理</vt:lpstr>
      <vt:lpstr>3.2 序列切片</vt:lpstr>
      <vt:lpstr>3.3 数据集构建</vt:lpstr>
      <vt:lpstr>4.1 数据编码</vt:lpstr>
      <vt:lpstr>4.2 CNN模型设计</vt:lpstr>
      <vt:lpstr>4.3 性能评估</vt:lpstr>
      <vt:lpstr>5.1 虚拟变体预测</vt:lpstr>
      <vt:lpstr>5.2 虚拟变体验证</vt:lpstr>
      <vt:lpstr>6 意义与展望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xuechen lan</dc:creator>
  <cp:lastModifiedBy>Lenovo</cp:lastModifiedBy>
  <cp:revision>311</cp:revision>
  <dcterms:created xsi:type="dcterms:W3CDTF">2024-11-16T13:08:00Z</dcterms:created>
  <dcterms:modified xsi:type="dcterms:W3CDTF">2025-06-02T11:59:04Z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F5FF2F86B7124E00BCD8C73738B07681_12</vt:lpwstr>
  </property>
  <property fmtid="{D5CDD505-2E9C-101B-9397-08002B2CF9AE}" pid="3" name="KSOProductBuildVer">
    <vt:lpwstr>2052-12.1.0.21171</vt:lpwstr>
  </property>
</Properties>
</file>