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8" r:id="rId6"/>
    <p:sldId id="261" r:id="rId7"/>
    <p:sldId id="278" r:id="rId8"/>
    <p:sldId id="316" r:id="rId9"/>
    <p:sldId id="318" r:id="rId10"/>
    <p:sldId id="320" r:id="rId11"/>
    <p:sldId id="321" r:id="rId12"/>
    <p:sldId id="322" r:id="rId13"/>
    <p:sldId id="282" r:id="rId14"/>
    <p:sldId id="324" r:id="rId15"/>
    <p:sldId id="288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微软雅黑" panose="020B0503020204020204" pitchFamily="34" charset="-122"/>
      <p:regular r:id="rId24"/>
    </p:embeddedFont>
  </p:embeddedFontLst>
  <p:custDataLst>
    <p:tags r:id="rId25"/>
  </p:custDataLst>
  <p:defaultTextStyle>
    <a:defPPr>
      <a:defRPr lang="zh-CN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 typeface="Arial" panose="020B0604020202020204" pitchFamily="34" charset="0"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宋体" panose="02010600030101010101" pitchFamily="2" charset="-122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7" d="100"/>
          <a:sy n="217" d="100"/>
        </p:scale>
        <p:origin x="15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6.xml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/>
            <a:endParaRPr lang="zh-CN" altLang="en-US" sz="12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EC1B255A-C6F3-4AFB-92E2-EA6F97F7890F}" type="datetime1">
              <a:rPr lang="zh-CN" altLang="en-US" sz="1200"/>
            </a:fld>
            <a:endParaRPr lang="en-US" altLang="zh-CN" sz="1200"/>
          </a:p>
        </p:txBody>
      </p:sp>
      <p:sp>
        <p:nvSpPr>
          <p:cNvPr id="1741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ctr" anchorCtr="0" compatLnSpc="1"/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en-US" altLang="zh-CN" sz="120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numCol="1" anchor="b" anchorCtr="0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r" eaLnBrk="1" hangingPunct="1"/>
            <a:fld id="{D22BFC5B-7C49-4F8A-8AAC-64C6D9668A2C}" type="slidenum">
              <a:rPr lang="zh-CN" altLang="en-US" sz="1200"/>
            </a:fld>
            <a:endParaRPr lang="en-US" alt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2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3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5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8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4</a:t>
            </a:r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lvl="0" indent="0" algn="r" eaLnBrk="1" hangingPunct="1"/>
            <a:r>
              <a:rPr lang="en-US" altLang="zh-CN" sz="1200"/>
              <a:t>15</a:t>
            </a:r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fld id="{928364B9-60DE-45E0-8829-DC47DB291339}" type="datetime1">
              <a:rPr lang="zh-CN" altLang="en-US" sz="1400"/>
            </a:fld>
            <a:endParaRPr lang="en-US" altLang="zh-CN" sz="140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fld id="{D88217C3-B87D-4426-A8B3-65B7B98706BD}" type="slidenum">
              <a:rPr lang="zh-CN" altLang="en-US" sz="1400"/>
            </a:fld>
            <a:endParaRPr lang="en-US" altLang="zh-CN" sz="140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ctr" anchorCtr="0"/>
          <a:lstStyle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400" b="0" i="0" u="none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j-cs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/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zh-CN" altLang="en-US" sz="3200" b="0" i="0" u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zh-CN" altLang="en-US" sz="28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kumimoji="0" lang="zh-CN" altLang="en-US" sz="24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kumimoji="0" lang="zh-CN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kumimoji="0" lang="zh-CN" altLang="en-US" sz="2000" b="0" i="0" u="none" baseline="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zh-CN" altLang="en-US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0"/>
            <a:r>
              <a:rPr lang="zh-CN" altLang="en-US"/>
              <a:t>第二级</a:t>
            </a:r>
            <a:endParaRPr lang="zh-CN" altLang="en-US"/>
          </a:p>
          <a:p>
            <a:pPr lvl="0"/>
            <a:r>
              <a:rPr lang="zh-CN" altLang="en-US"/>
              <a:t>第三级</a:t>
            </a:r>
            <a:endParaRPr lang="zh-CN" altLang="en-US"/>
          </a:p>
          <a:p>
            <a:pPr lvl="0"/>
            <a:r>
              <a:rPr lang="zh-CN" altLang="en-US"/>
              <a:t>第四级</a:t>
            </a:r>
            <a:endParaRPr lang="zh-CN" altLang="en-US"/>
          </a:p>
          <a:p>
            <a:pPr lvl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eaLnBrk="1" hangingPunct="1"/>
            <a:r>
              <a:rPr lang="en-US" altLang="zh-CN" sz="1400"/>
              <a:t>2022/7/23</a:t>
            </a:r>
            <a:endParaRPr lang="en-US" altLang="zh-CN" sz="1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125"/>
            <a:ext cx="2895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ct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ctr" eaLnBrk="1" hangingPunct="1"/>
            <a:endParaRPr lang="en-US" altLang="zh-CN" sz="1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125"/>
            <a:ext cx="213360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numCol="1" compatLnSpc="1"/>
          <a:lstStyle>
            <a:defPPr>
              <a:defRPr lang="zh-CN"/>
            </a:defPPr>
            <a:lvl1pPr marL="0" indent="0" algn="r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4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 algn="r" eaLnBrk="1" hangingPunct="1"/>
            <a:r>
              <a:rPr lang="en-US" altLang="zh-CN" sz="1400"/>
              <a:t>‹#›</a:t>
            </a:r>
            <a:endParaRPr lang="en-US" altLang="zh-CN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marL="0" indent="0" algn="ctr" defTabSz="914400" rtl="0" eaLnBrk="0" fontAlgn="base" hangingPunct="0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4400" b="0" i="0" u="none" baseline="0">
          <a:solidFill>
            <a:schemeClr val="tx2"/>
          </a:solidFill>
          <a:effectLst/>
          <a:latin typeface="Arial" panose="020B0604020202020204" pitchFamily="34" charset="0"/>
          <a:ea typeface="宋体" panose="02010600030101010101" pitchFamily="2" charset="-122"/>
          <a:cs typeface="+mj-cs"/>
        </a:defRPr>
      </a:lvl1pPr>
    </p:titleStyle>
    <p:bodyStyle>
      <a:lvl1pPr marL="342900" indent="-3429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3200" b="0" i="0" u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800" b="0" i="0" u="none" baseline="0">
          <a:solidFill>
            <a:schemeClr val="tx1"/>
          </a:solidFill>
          <a:effectLst/>
          <a:latin typeface="+mn-lt"/>
          <a:ea typeface="+mn-ea"/>
        </a:defRPr>
      </a:lvl2pPr>
      <a:lvl3pPr marL="11430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defRPr kumimoji="0" sz="2400" b="0" i="0" u="none" baseline="0">
          <a:solidFill>
            <a:schemeClr val="tx1"/>
          </a:solidFill>
          <a:effectLst/>
          <a:latin typeface="+mn-lt"/>
          <a:ea typeface="+mn-ea"/>
        </a:defRPr>
      </a:lvl3pPr>
      <a:lvl4pPr marL="16002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4pPr>
      <a:lvl5pPr marL="2057400" indent="-228600" algn="l" defTabSz="914400" rtl="0" eaLnBrk="0" fontAlgn="base" hangingPunct="0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defRPr kumimoji="0" sz="2000" b="0" i="0" u="none" baseline="0">
          <a:solidFill>
            <a:schemeClr val="tx1"/>
          </a:solidFill>
          <a:effectLst/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10.emf"/><Relationship Id="rId1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15"/>
          <p:cNvSpPr/>
          <p:nvPr/>
        </p:nvSpPr>
        <p:spPr>
          <a:xfrm>
            <a:off x="1588" y="-20637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58" name="Rectangle 16"/>
          <p:cNvSpPr/>
          <p:nvPr/>
        </p:nvSpPr>
        <p:spPr>
          <a:xfrm>
            <a:off x="230188" y="-19050"/>
            <a:ext cx="457200" cy="1428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59" name="Rectangle 17"/>
          <p:cNvSpPr/>
          <p:nvPr/>
        </p:nvSpPr>
        <p:spPr>
          <a:xfrm>
            <a:off x="8705850" y="-11112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0" name="Rectangle 18"/>
          <p:cNvSpPr/>
          <p:nvPr/>
        </p:nvSpPr>
        <p:spPr>
          <a:xfrm>
            <a:off x="8423275" y="-11112"/>
            <a:ext cx="457200" cy="1444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1" name="Rectangle 19"/>
          <p:cNvSpPr/>
          <p:nvPr/>
        </p:nvSpPr>
        <p:spPr>
          <a:xfrm>
            <a:off x="995363" y="4329113"/>
            <a:ext cx="76200" cy="2079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2062" name="Text Box 20"/>
          <p:cNvSpPr txBox="1">
            <a:spLocks noChangeArrowheads="1"/>
          </p:cNvSpPr>
          <p:nvPr/>
        </p:nvSpPr>
        <p:spPr bwMode="auto">
          <a:xfrm>
            <a:off x="1052513" y="4273550"/>
            <a:ext cx="186690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/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指导</a:t>
            </a:r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教师：</a:t>
            </a:r>
            <a:r>
              <a:rPr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朱善良</a:t>
            </a:r>
            <a:endParaRPr sz="1400" b="1" spc="0">
              <a:solidFill>
                <a:srgbClr val="0059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063" name="Group 21"/>
          <p:cNvGrpSpPr/>
          <p:nvPr/>
        </p:nvGrpSpPr>
        <p:grpSpPr>
          <a:xfrm>
            <a:off x="3911600" y="4265613"/>
            <a:ext cx="1592263" cy="306705"/>
            <a:chOff x="0" y="0"/>
            <a:chExt cx="2508" cy="483"/>
          </a:xfrm>
        </p:grpSpPr>
        <p:sp>
          <p:nvSpPr>
            <p:cNvPr id="2071" name="Rectangle 22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2072" name="Text Box 23"/>
            <p:cNvSpPr txBox="1">
              <a:spLocks noChangeArrowheads="1"/>
            </p:cNvSpPr>
            <p:nvPr/>
          </p:nvSpPr>
          <p:spPr bwMode="auto">
            <a:xfrm>
              <a:off x="90" y="0"/>
              <a:ext cx="2418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学生：</a:t>
              </a:r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杜博 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64" name="Group 24"/>
          <p:cNvGrpSpPr/>
          <p:nvPr/>
        </p:nvGrpSpPr>
        <p:grpSpPr>
          <a:xfrm>
            <a:off x="6692900" y="4259263"/>
            <a:ext cx="2187575" cy="306705"/>
            <a:chOff x="0" y="0"/>
            <a:chExt cx="3446" cy="483"/>
          </a:xfrm>
        </p:grpSpPr>
        <p:sp>
          <p:nvSpPr>
            <p:cNvPr id="2069" name="Rectangle 25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2070" name="Text Box 26"/>
            <p:cNvSpPr txBox="1">
              <a:spLocks noChangeArrowheads="1"/>
            </p:cNvSpPr>
            <p:nvPr/>
          </p:nvSpPr>
          <p:spPr bwMode="auto">
            <a:xfrm>
              <a:off x="90" y="0"/>
              <a:ext cx="3356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汇报时间：</a:t>
              </a:r>
              <a:r>
                <a:rPr lang="en-US" altLang="zh-CN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2025.3.3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065" name="Line 27"/>
          <p:cNvCxnSpPr/>
          <p:nvPr/>
        </p:nvCxnSpPr>
        <p:spPr>
          <a:xfrm>
            <a:off x="11113" y="2433638"/>
            <a:ext cx="9151937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cxnSp>
        <p:nvCxnSpPr>
          <p:cNvPr id="2067" name="Line 29"/>
          <p:cNvCxnSpPr/>
          <p:nvPr/>
        </p:nvCxnSpPr>
        <p:spPr>
          <a:xfrm>
            <a:off x="-6350" y="3713163"/>
            <a:ext cx="9150350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sp>
        <p:nvSpPr>
          <p:cNvPr id="2" name="矩形 1"/>
          <p:cNvSpPr/>
          <p:nvPr/>
        </p:nvSpPr>
        <p:spPr>
          <a:xfrm>
            <a:off x="611505" y="1131570"/>
            <a:ext cx="7834630" cy="1938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6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利用高容量机器学习的</a:t>
            </a:r>
            <a:endParaRPr lang="zh-CN" altLang="en-US" sz="6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6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抗体互补决定区设计</a:t>
            </a:r>
            <a:endParaRPr lang="zh-CN" altLang="en-US" sz="6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>
            <p:custDataLst>
              <p:tags r:id="rId1"/>
            </p:custDataLst>
          </p:nvPr>
        </p:nvGrpSpPr>
        <p:grpSpPr>
          <a:xfrm>
            <a:off x="4644073" y="749300"/>
            <a:ext cx="3602037" cy="844550"/>
            <a:chOff x="0" y="0"/>
            <a:chExt cx="5672" cy="1330"/>
          </a:xfrm>
        </p:grpSpPr>
        <p:grpSp>
          <p:nvGrpSpPr>
            <p:cNvPr id="3108" name="Group 3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110" name="Rectangle 4"/>
              <p:cNvSpPr/>
              <p:nvPr>
                <p:custDataLst>
                  <p:tags r:id="rId2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1" name="Rectangle 5"/>
              <p:cNvSpPr/>
              <p:nvPr>
                <p:custDataLst>
                  <p:tags r:id="rId3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2" name="AutoShap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13" name="AutoShape 7"/>
              <p:cNvSpPr/>
              <p:nvPr>
                <p:custDataLst>
                  <p:tags r:id="rId5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109" name="Text Box 8"/>
            <p:cNvSpPr/>
            <p:nvPr>
              <p:custDataLst>
                <p:tags r:id="rId6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第一章    </a:t>
              </a:r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研究背景</a:t>
              </a:r>
              <a:endParaRPr lang="zh-CN" altLang="en-US" sz="2000" b="1">
                <a:solidFill>
                  <a:srgbClr val="FFFF00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075" name="Group 9"/>
          <p:cNvGrpSpPr/>
          <p:nvPr>
            <p:custDataLst>
              <p:tags r:id="rId7"/>
            </p:custDataLst>
          </p:nvPr>
        </p:nvGrpSpPr>
        <p:grpSpPr>
          <a:xfrm>
            <a:off x="4653598" y="1840230"/>
            <a:ext cx="3602037" cy="844550"/>
            <a:chOff x="0" y="0"/>
            <a:chExt cx="5672" cy="1330"/>
          </a:xfrm>
        </p:grpSpPr>
        <p:grpSp>
          <p:nvGrpSpPr>
            <p:cNvPr id="3102" name="Group 10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104" name="Rectangl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5" name="Rectangle 12"/>
              <p:cNvSpPr/>
              <p:nvPr>
                <p:custDataLst>
                  <p:tags r:id="rId9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6" name="AutoShape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7" name="AutoShape 14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103" name="Text Box 15"/>
            <p:cNvSpPr/>
            <p:nvPr>
              <p:custDataLst>
                <p:tags r:id="rId12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第二章    论文概述</a:t>
              </a:r>
              <a:endParaRPr lang="zh-CN" altLang="en-US"/>
            </a:p>
          </p:txBody>
        </p:sp>
      </p:grpSp>
      <p:grpSp>
        <p:nvGrpSpPr>
          <p:cNvPr id="3076" name="Group 16"/>
          <p:cNvGrpSpPr/>
          <p:nvPr>
            <p:custDataLst>
              <p:tags r:id="rId13"/>
            </p:custDataLst>
          </p:nvPr>
        </p:nvGrpSpPr>
        <p:grpSpPr>
          <a:xfrm>
            <a:off x="4654233" y="2931795"/>
            <a:ext cx="3602037" cy="844550"/>
            <a:chOff x="0" y="0"/>
            <a:chExt cx="5672" cy="1330"/>
          </a:xfrm>
        </p:grpSpPr>
        <p:grpSp>
          <p:nvGrpSpPr>
            <p:cNvPr id="3096" name="Group 17"/>
            <p:cNvGrpSpPr/>
            <p:nvPr/>
          </p:nvGrpSpPr>
          <p:grpSpPr>
            <a:xfrm>
              <a:off x="0" y="0"/>
              <a:ext cx="5672" cy="1330"/>
              <a:chOff x="0" y="0"/>
              <a:chExt cx="5672" cy="1330"/>
            </a:xfrm>
          </p:grpSpPr>
          <p:sp>
            <p:nvSpPr>
              <p:cNvPr id="3098" name="Rectangle 1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6" y="325"/>
                <a:ext cx="5655" cy="680"/>
              </a:xfrm>
              <a:prstGeom prst="rect">
                <a:avLst/>
              </a:prstGeom>
              <a:solidFill>
                <a:srgbClr val="0078AA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099" name="Rectangle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4091" y="0"/>
                <a:ext cx="1020" cy="340"/>
              </a:xfrm>
              <a:prstGeom prst="rect">
                <a:avLst/>
              </a:prstGeom>
              <a:solidFill>
                <a:srgbClr val="4BCAFF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0" name="AutoShape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5112" y="0"/>
                <a:ext cx="561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  <p:sp>
            <p:nvSpPr>
              <p:cNvPr id="3101" name="AutoShape 21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0" y="990"/>
                <a:ext cx="583" cy="340"/>
              </a:xfrm>
              <a:prstGeom prst="rtTriangle">
                <a:avLst/>
              </a:prstGeom>
              <a:solidFill>
                <a:srgbClr val="00AAD4"/>
              </a:solidFill>
              <a:ln>
                <a:noFill/>
                <a:miter lim="800000"/>
              </a:ln>
            </p:spPr>
            <p:txBody>
              <a:bodyPr anchor="ctr" anchorCtr="0"/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</a:lstStyle>
              <a:p>
                <a:pPr marL="0" indent="0"/>
              </a:p>
            </p:txBody>
          </p:sp>
        </p:grpSp>
        <p:sp>
          <p:nvSpPr>
            <p:cNvPr id="3097" name="Text Box 22"/>
            <p:cNvSpPr/>
            <p:nvPr>
              <p:custDataLst>
                <p:tags r:id="rId18"/>
              </p:custDataLst>
            </p:nvPr>
          </p:nvSpPr>
          <p:spPr>
            <a:xfrm>
              <a:off x="0" y="340"/>
              <a:ext cx="3629" cy="628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/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第三章    </a:t>
              </a:r>
              <a:r>
                <a:rPr lang="zh-CN" altLang="en-US" sz="2000" b="1">
                  <a:solidFill>
                    <a:srgbClr val="FFFF00"/>
                  </a:solidFill>
                  <a:ea typeface="微软雅黑" panose="020B0503020204020204" pitchFamily="34" charset="-122"/>
                </a:rPr>
                <a:t>论文总结</a:t>
              </a:r>
              <a:endParaRPr lang="zh-CN" altLang="en-US" sz="2000" b="1">
                <a:solidFill>
                  <a:srgbClr val="FFFF00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079" name="Rectangle 37"/>
          <p:cNvSpPr/>
          <p:nvPr/>
        </p:nvSpPr>
        <p:spPr>
          <a:xfrm>
            <a:off x="1588" y="-19050"/>
            <a:ext cx="3636962" cy="5183188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3080" name="Text Box 38"/>
          <p:cNvSpPr/>
          <p:nvPr/>
        </p:nvSpPr>
        <p:spPr>
          <a:xfrm>
            <a:off x="1588" y="1816100"/>
            <a:ext cx="3638550" cy="1323439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【 </a:t>
            </a:r>
            <a:r>
              <a:rPr lang="zh-CN" altLang="en-US" sz="4000" b="1">
                <a:solidFill>
                  <a:schemeClr val="bg1"/>
                </a:solidFill>
                <a:ea typeface="微软雅黑" panose="020B0503020204020204" pitchFamily="34" charset="-122"/>
              </a:rPr>
              <a:t>目   录 </a:t>
            </a:r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】</a:t>
            </a:r>
            <a:endParaRPr lang="en-US" altLang="zh-CN" sz="4000" b="1">
              <a:solidFill>
                <a:schemeClr val="bg1"/>
              </a:solidFill>
              <a:ea typeface="微软雅黑" panose="020B0503020204020204" pitchFamily="34" charset="-122"/>
            </a:endParaRPr>
          </a:p>
          <a:p>
            <a:pPr marL="0" lvl="0" indent="0" algn="ctr"/>
            <a:r>
              <a:rPr lang="en-US" altLang="zh-CN" sz="4000" b="1">
                <a:solidFill>
                  <a:schemeClr val="bg1"/>
                </a:solidFill>
                <a:ea typeface="微软雅黑" panose="020B0503020204020204" pitchFamily="34" charset="-122"/>
              </a:rPr>
              <a:t>CONTENTS</a:t>
            </a:r>
            <a:endParaRPr lang="zh-CN" altLang="en-US" sz="320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3081" name="Line 39"/>
          <p:cNvCxnSpPr/>
          <p:nvPr/>
        </p:nvCxnSpPr>
        <p:spPr>
          <a:xfrm>
            <a:off x="3563938" y="-19050"/>
            <a:ext cx="1587" cy="5183188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sp>
        <p:nvSpPr>
          <p:cNvPr id="3082" name="AutoShape 40"/>
          <p:cNvSpPr/>
          <p:nvPr/>
        </p:nvSpPr>
        <p:spPr>
          <a:xfrm rot="10800000">
            <a:off x="8693150" y="0"/>
            <a:ext cx="455613" cy="423863"/>
          </a:xfrm>
          <a:prstGeom prst="rtTriangle">
            <a:avLst/>
          </a:prstGeom>
          <a:solidFill>
            <a:srgbClr val="008FC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3083" name="AutoShape 41"/>
          <p:cNvSpPr/>
          <p:nvPr/>
        </p:nvSpPr>
        <p:spPr>
          <a:xfrm rot="16200000">
            <a:off x="8740775" y="4756150"/>
            <a:ext cx="360363" cy="455613"/>
          </a:xfrm>
          <a:prstGeom prst="rtTriangle">
            <a:avLst/>
          </a:prstGeom>
          <a:solidFill>
            <a:srgbClr val="008FC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 fill="hold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3863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grpSp>
        <p:nvGrpSpPr>
          <p:cNvPr id="4099" name="Group 3"/>
          <p:cNvGrpSpPr/>
          <p:nvPr/>
        </p:nvGrpSpPr>
        <p:grpSpPr>
          <a:xfrm>
            <a:off x="1231900" y="2146300"/>
            <a:ext cx="863600" cy="863600"/>
            <a:chOff x="0" y="0"/>
            <a:chExt cx="1928" cy="1928"/>
          </a:xfrm>
        </p:grpSpPr>
        <p:pic>
          <p:nvPicPr>
            <p:cNvPr id="4102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" y="461"/>
              <a:ext cx="1247" cy="1024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sp>
          <p:nvSpPr>
            <p:cNvPr id="4103" name="正圆 108"/>
            <p:cNvSpPr/>
            <p:nvPr/>
          </p:nvSpPr>
          <p:spPr>
            <a:xfrm>
              <a:off x="0" y="0"/>
              <a:ext cx="1928" cy="1928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sp>
        <p:nvSpPr>
          <p:cNvPr id="4100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   </a:t>
            </a:r>
            <a:endParaRPr lang="en-US" altLang="zh-CN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6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 景 概 述</a:t>
            </a:r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2" name="Text Box 14"/>
          <p:cNvSpPr/>
          <p:nvPr>
            <p:custDataLst>
              <p:tags r:id="rId1"/>
            </p:custDataLst>
          </p:nvPr>
        </p:nvSpPr>
        <p:spPr>
          <a:xfrm>
            <a:off x="179705" y="915035"/>
            <a:ext cx="4958715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抗体设计</a:t>
            </a:r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的挑战：</a:t>
            </a:r>
            <a:r>
              <a:rPr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高亲和力与特异性</a:t>
            </a:r>
            <a:endParaRPr sz="1400" b="1">
              <a:solidFill>
                <a:srgbClr val="0078AA"/>
              </a:solidFill>
              <a:ea typeface="微软雅黑" panose="020B0503020204020204" pitchFamily="34" charset="-122"/>
            </a:endParaRPr>
          </a:p>
        </p:txBody>
      </p:sp>
      <p:sp>
        <p:nvSpPr>
          <p:cNvPr id="17" name="Text Box 14"/>
          <p:cNvSpPr/>
          <p:nvPr>
            <p:custDataLst>
              <p:tags r:id="rId2"/>
            </p:custDataLst>
          </p:nvPr>
        </p:nvSpPr>
        <p:spPr>
          <a:xfrm>
            <a:off x="179705" y="1983740"/>
            <a:ext cx="6701155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传统方法：</a:t>
            </a:r>
            <a:r>
              <a:rPr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经验性，缺乏预测模型</a:t>
            </a:r>
            <a:endParaRPr lang="zh-CN" altLang="en-US" sz="1400">
              <a:solidFill>
                <a:schemeClr val="tx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Text Box 14"/>
          <p:cNvSpPr/>
          <p:nvPr>
            <p:custDataLst>
              <p:tags r:id="rId3"/>
            </p:custDataLst>
          </p:nvPr>
        </p:nvSpPr>
        <p:spPr>
          <a:xfrm>
            <a:off x="179705" y="3052445"/>
            <a:ext cx="6701155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zh-CN" altLang="en-US"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</a:rPr>
              <a:t>计算方法的局限</a:t>
            </a:r>
            <a:r>
              <a:rPr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</a:rPr>
              <a:t>：</a:t>
            </a:r>
            <a:r>
              <a:rPr sz="1400">
                <a:latin typeface="+mn-lt"/>
                <a:ea typeface="微软雅黑" panose="020B0503020204020204" pitchFamily="34" charset="-122"/>
                <a:sym typeface="+mn-ea"/>
              </a:rPr>
              <a:t>依赖目标结构</a:t>
            </a:r>
            <a:endParaRPr lang="zh-CN" altLang="en-US" sz="1400">
              <a:solidFill>
                <a:schemeClr val="tx1"/>
              </a:solidFill>
              <a:latin typeface="+mn-lt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Text Box 14"/>
          <p:cNvSpPr/>
          <p:nvPr>
            <p:custDataLst>
              <p:tags r:id="rId4"/>
            </p:custDataLst>
          </p:nvPr>
        </p:nvSpPr>
        <p:spPr>
          <a:xfrm>
            <a:off x="179705" y="4121150"/>
            <a:ext cx="6701155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>
              <a:buFont typeface="Arial" panose="020B0604020202020204"/>
            </a:pPr>
            <a:r>
              <a:rPr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  <a:sym typeface="+mn-ea"/>
              </a:rPr>
              <a:t>研究目标</a:t>
            </a:r>
            <a:r>
              <a:rPr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</a:rPr>
              <a:t>：</a:t>
            </a:r>
            <a:r>
              <a:rPr sz="1400">
                <a:ea typeface="微软雅黑" panose="020B0503020204020204" pitchFamily="34" charset="-122"/>
                <a:sym typeface="+mn-ea"/>
              </a:rPr>
              <a:t>用机器学习突破限制</a:t>
            </a:r>
            <a:endParaRPr lang="zh-CN" altLang="en-US" sz="1400">
              <a:solidFill>
                <a:schemeClr val="tx1"/>
              </a:solidFill>
              <a:latin typeface="+mn-lt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3863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147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49" name="Group 5"/>
          <p:cNvGrpSpPr/>
          <p:nvPr/>
        </p:nvGrpSpPr>
        <p:grpSpPr>
          <a:xfrm>
            <a:off x="1254125" y="2159000"/>
            <a:ext cx="863600" cy="863600"/>
            <a:chOff x="0" y="0"/>
            <a:chExt cx="1360" cy="1360"/>
          </a:xfrm>
        </p:grpSpPr>
        <p:pic>
          <p:nvPicPr>
            <p:cNvPr id="6150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" y="193"/>
              <a:ext cx="877" cy="940"/>
            </a:xfrm>
            <a:prstGeom prst="rect">
              <a:avLst/>
            </a:prstGeom>
            <a:noFill/>
            <a:ln>
              <a:noFill/>
              <a:bevel/>
            </a:ln>
          </p:spPr>
        </p:pic>
        <p:sp>
          <p:nvSpPr>
            <p:cNvPr id="6151" name="正圆 198"/>
            <p:cNvSpPr/>
            <p:nvPr/>
          </p:nvSpPr>
          <p:spPr>
            <a:xfrm>
              <a:off x="0" y="0"/>
              <a:ext cx="1360" cy="136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bevel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图一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554990"/>
            <a:ext cx="6386830" cy="4340225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图二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络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56423"/>
          <a:stretch>
            <a:fillRect/>
          </a:stretch>
        </p:blipFill>
        <p:spPr>
          <a:xfrm>
            <a:off x="1475740" y="627380"/>
            <a:ext cx="6129020" cy="4220845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图三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484505"/>
            <a:ext cx="8352790" cy="440817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图四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517525"/>
            <a:ext cx="7837170" cy="44069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图五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579120"/>
            <a:ext cx="7425690" cy="434721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3863"/>
            <a:ext cx="9144000" cy="17557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219" name="Text Box 6"/>
          <p:cNvSpPr/>
          <p:nvPr/>
        </p:nvSpPr>
        <p:spPr>
          <a:xfrm>
            <a:off x="3709988" y="2322513"/>
            <a:ext cx="5434012" cy="52197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  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  <a:endParaRPr lang="zh-CN" altLang="en-US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21" name="Group 5"/>
          <p:cNvGrpSpPr/>
          <p:nvPr/>
        </p:nvGrpSpPr>
        <p:grpSpPr>
          <a:xfrm>
            <a:off x="1254125" y="2136775"/>
            <a:ext cx="863600" cy="863600"/>
            <a:chOff x="0" y="0"/>
            <a:chExt cx="1360" cy="1360"/>
          </a:xfrm>
        </p:grpSpPr>
        <p:pic>
          <p:nvPicPr>
            <p:cNvPr id="9222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" y="256"/>
              <a:ext cx="808" cy="816"/>
            </a:xfrm>
            <a:prstGeom prst="rect">
              <a:avLst/>
            </a:prstGeom>
            <a:noFill/>
            <a:ln>
              <a:noFill/>
              <a:bevel/>
            </a:ln>
          </p:spPr>
        </p:pic>
        <p:sp>
          <p:nvSpPr>
            <p:cNvPr id="9223" name="正圆 198"/>
            <p:cNvSpPr/>
            <p:nvPr/>
          </p:nvSpPr>
          <p:spPr>
            <a:xfrm>
              <a:off x="0" y="0"/>
              <a:ext cx="1360" cy="136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bevel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</p:grpSp>
      <p:pic>
        <p:nvPicPr>
          <p:cNvPr id="4" name="图片 3" descr="青岛科技大学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"/>
            <a:ext cx="3364998" cy="722071"/>
          </a:xfrm>
          <a:prstGeom prst="rect">
            <a:avLst/>
          </a:prstGeom>
        </p:spPr>
      </p:pic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/>
          <p:nvPr/>
        </p:nvSpPr>
        <p:spPr>
          <a:xfrm>
            <a:off x="3175" y="3175"/>
            <a:ext cx="9153525" cy="48101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3" name="Rectangle 3"/>
          <p:cNvSpPr/>
          <p:nvPr/>
        </p:nvSpPr>
        <p:spPr>
          <a:xfrm>
            <a:off x="3175" y="5021263"/>
            <a:ext cx="9155113" cy="120650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wrap="none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endParaRPr lang="zh-CN" altLang="en-US"/>
          </a:p>
        </p:txBody>
      </p:sp>
      <p:sp>
        <p:nvSpPr>
          <p:cNvPr id="5124" name="Text Box 4"/>
          <p:cNvSpPr/>
          <p:nvPr/>
        </p:nvSpPr>
        <p:spPr>
          <a:xfrm>
            <a:off x="3175" y="12700"/>
            <a:ext cx="9140825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25" name="Line 5"/>
          <p:cNvCxnSpPr/>
          <p:nvPr/>
        </p:nvCxnSpPr>
        <p:spPr>
          <a:xfrm>
            <a:off x="3175" y="420688"/>
            <a:ext cx="9140825" cy="0"/>
          </a:xfrm>
          <a:prstGeom prst="line">
            <a:avLst/>
          </a:prstGeom>
          <a:noFill/>
          <a:ln>
            <a:solidFill>
              <a:schemeClr val="bg1"/>
            </a:solidFill>
            <a:miter lim="800000"/>
          </a:ln>
        </p:spPr>
      </p:cxnSp>
      <p:sp>
        <p:nvSpPr>
          <p:cNvPr id="2" name="Text Box 14"/>
          <p:cNvSpPr/>
          <p:nvPr>
            <p:custDataLst>
              <p:tags r:id="rId1"/>
            </p:custDataLst>
          </p:nvPr>
        </p:nvSpPr>
        <p:spPr>
          <a:xfrm>
            <a:off x="179705" y="915035"/>
            <a:ext cx="8818880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rPr>
              <a:t>无需结构依赖</a:t>
            </a:r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：</a:t>
            </a: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仅通过序列</a:t>
            </a:r>
            <a:r>
              <a:rPr lang="en-US" altLang="zh-CN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富集度数据训练模型，突破传统方法对靶标结构的依赖，适用于未知结构靶标。</a:t>
            </a:r>
            <a:endParaRPr sz="1400" b="1">
              <a:solidFill>
                <a:srgbClr val="0078AA"/>
              </a:solidFill>
              <a:ea typeface="微软雅黑" panose="020B0503020204020204" pitchFamily="34" charset="-122"/>
            </a:endParaRPr>
          </a:p>
        </p:txBody>
      </p:sp>
      <p:sp>
        <p:nvSpPr>
          <p:cNvPr id="17" name="Text Box 14"/>
          <p:cNvSpPr/>
          <p:nvPr>
            <p:custDataLst>
              <p:tags r:id="rId2"/>
            </p:custDataLst>
          </p:nvPr>
        </p:nvSpPr>
        <p:spPr>
          <a:xfrm>
            <a:off x="179705" y="1983740"/>
            <a:ext cx="8714740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zh-CN" altLang="en-US" sz="1400" b="1">
                <a:solidFill>
                  <a:srgbClr val="0078AA"/>
                </a:solidFill>
                <a:ea typeface="微软雅黑" panose="020B0503020204020204" pitchFamily="34" charset="-122"/>
              </a:rPr>
              <a:t>梯度引导设计</a:t>
            </a:r>
            <a:r>
              <a:rPr sz="1400" b="1">
                <a:solidFill>
                  <a:srgbClr val="0078AA"/>
                </a:solidFill>
                <a:ea typeface="微软雅黑" panose="020B0503020204020204" pitchFamily="34" charset="-122"/>
              </a:rPr>
              <a:t>：</a:t>
            </a:r>
            <a:r>
              <a:rPr lang="zh-CN" altLang="en-US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利用反向传播梯度精准优化</a:t>
            </a:r>
            <a:r>
              <a:rPr lang="en-US" altLang="zh-CN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CDR-H3</a:t>
            </a:r>
            <a:r>
              <a:rPr lang="zh-CN" altLang="en-US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序列，显著提升亲和力（实验验证</a:t>
            </a:r>
            <a:r>
              <a:rPr lang="en-US" altLang="zh-CN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EC50</a:t>
            </a:r>
            <a:r>
              <a:rPr lang="zh-CN" altLang="en-US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降低约</a:t>
            </a:r>
            <a:r>
              <a:rPr lang="en-US" altLang="zh-CN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40%</a:t>
            </a:r>
            <a:r>
              <a:rPr lang="zh-CN" altLang="en-US" sz="1400">
                <a:solidFill>
                  <a:schemeClr val="tx1"/>
                </a:solidFill>
                <a:ea typeface="微软雅黑" panose="020B0503020204020204" pitchFamily="34" charset="-122"/>
                <a:sym typeface="+mn-ea"/>
              </a:rPr>
              <a:t>）。</a:t>
            </a:r>
            <a:endParaRPr lang="zh-CN" altLang="en-US" sz="1400">
              <a:solidFill>
                <a:schemeClr val="tx1"/>
              </a:solidFill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Text Box 14"/>
          <p:cNvSpPr/>
          <p:nvPr>
            <p:custDataLst>
              <p:tags r:id="rId3"/>
            </p:custDataLst>
          </p:nvPr>
        </p:nvSpPr>
        <p:spPr>
          <a:xfrm>
            <a:off x="179705" y="3052445"/>
            <a:ext cx="8623935" cy="30670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/>
            <a:r>
              <a:rPr lang="zh-CN" altLang="en-US"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</a:rPr>
              <a:t>亲和力优化</a:t>
            </a:r>
            <a:r>
              <a:rPr sz="1400" b="1">
                <a:solidFill>
                  <a:srgbClr val="0078AA"/>
                </a:solidFill>
                <a:latin typeface="+mn-lt"/>
                <a:ea typeface="微软雅黑" panose="020B0503020204020204" pitchFamily="34" charset="-122"/>
              </a:rPr>
              <a:t>：</a:t>
            </a:r>
            <a:r>
              <a:rPr lang="zh-CN" altLang="en-US" sz="1400">
                <a:latin typeface="+mn-lt"/>
                <a:ea typeface="微软雅黑" panose="020B0503020204020204" pitchFamily="34" charset="-122"/>
                <a:sym typeface="+mn-ea"/>
              </a:rPr>
              <a:t>机器学习设计的</a:t>
            </a:r>
            <a:r>
              <a:rPr lang="en-US" altLang="zh-CN" sz="1400">
                <a:latin typeface="+mn-lt"/>
                <a:ea typeface="微软雅黑" panose="020B0503020204020204" pitchFamily="34" charset="-122"/>
                <a:sym typeface="+mn-ea"/>
              </a:rPr>
              <a:t>CDR-H3</a:t>
            </a:r>
            <a:r>
              <a:rPr lang="zh-CN" altLang="en-US" sz="1400">
                <a:latin typeface="+mn-lt"/>
                <a:ea typeface="微软雅黑" panose="020B0503020204020204" pitchFamily="34" charset="-122"/>
                <a:sym typeface="+mn-ea"/>
              </a:rPr>
              <a:t>序列比传统实验筛选序列</a:t>
            </a:r>
            <a:r>
              <a:rPr lang="en-US" altLang="zh-CN" sz="1400">
                <a:latin typeface="+mn-lt"/>
                <a:ea typeface="微软雅黑" panose="020B0503020204020204" pitchFamily="34" charset="-122"/>
                <a:sym typeface="+mn-ea"/>
              </a:rPr>
              <a:t>EC50</a:t>
            </a:r>
            <a:r>
              <a:rPr lang="zh-CN" altLang="en-US" sz="1400">
                <a:latin typeface="+mn-lt"/>
                <a:ea typeface="微软雅黑" panose="020B0503020204020204" pitchFamily="34" charset="-122"/>
                <a:sym typeface="+mn-ea"/>
              </a:rPr>
              <a:t>更低。</a:t>
            </a:r>
            <a:endParaRPr lang="zh-CN" altLang="en-US" sz="1400">
              <a:solidFill>
                <a:schemeClr val="tx1"/>
              </a:solidFill>
              <a:latin typeface="+mn-lt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/>
          <p:nvPr/>
        </p:nvSpPr>
        <p:spPr>
          <a:xfrm>
            <a:off x="11113" y="1958975"/>
            <a:ext cx="9140825" cy="1363663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87" name="Text Box 3"/>
          <p:cNvSpPr/>
          <p:nvPr/>
        </p:nvSpPr>
        <p:spPr>
          <a:xfrm>
            <a:off x="11113" y="2349500"/>
            <a:ext cx="9140825" cy="64516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/>
            <a:r>
              <a:rPr lang="en-US" altLang="zh-CN" sz="3600" b="1">
                <a:solidFill>
                  <a:schemeClr val="bg1"/>
                </a:solidFill>
                <a:ea typeface="微软雅黑" panose="020B0503020204020204" pitchFamily="34" charset="-122"/>
              </a:rPr>
              <a:t>Thanks</a:t>
            </a:r>
            <a:endParaRPr lang="en-US" altLang="zh-CN" sz="3600" b="1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6388" name="Rectangle 15"/>
          <p:cNvSpPr/>
          <p:nvPr/>
        </p:nvSpPr>
        <p:spPr>
          <a:xfrm>
            <a:off x="1588" y="-20637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89" name="Rectangle 16"/>
          <p:cNvSpPr/>
          <p:nvPr/>
        </p:nvSpPr>
        <p:spPr>
          <a:xfrm>
            <a:off x="230188" y="-19050"/>
            <a:ext cx="457200" cy="1428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0" name="Rectangle 17"/>
          <p:cNvSpPr/>
          <p:nvPr/>
        </p:nvSpPr>
        <p:spPr>
          <a:xfrm>
            <a:off x="8705850" y="-11112"/>
            <a:ext cx="457200" cy="28892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1" name="Rectangle 18"/>
          <p:cNvSpPr/>
          <p:nvPr/>
        </p:nvSpPr>
        <p:spPr>
          <a:xfrm>
            <a:off x="8423275" y="-11112"/>
            <a:ext cx="457200" cy="144462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2" name="Rectangle 19"/>
          <p:cNvSpPr/>
          <p:nvPr/>
        </p:nvSpPr>
        <p:spPr>
          <a:xfrm>
            <a:off x="995363" y="4114800"/>
            <a:ext cx="76200" cy="206375"/>
          </a:xfrm>
          <a:prstGeom prst="rect">
            <a:avLst/>
          </a:prstGeom>
          <a:solidFill>
            <a:srgbClr val="0078AA"/>
          </a:solidFill>
          <a:ln>
            <a:noFill/>
            <a:miter lim="800000"/>
          </a:ln>
        </p:spPr>
        <p:txBody>
          <a:bodyPr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indent="0"/>
          </a:p>
        </p:txBody>
      </p:sp>
      <p:sp>
        <p:nvSpPr>
          <p:cNvPr id="16393" name="Text Box 20"/>
          <p:cNvSpPr txBox="1">
            <a:spLocks noChangeArrowheads="1"/>
          </p:cNvSpPr>
          <p:nvPr/>
        </p:nvSpPr>
        <p:spPr bwMode="auto">
          <a:xfrm>
            <a:off x="1052513" y="4057650"/>
            <a:ext cx="1866900" cy="306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marL="0" marR="0" lvl="0" indent="0"/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指导老师：</a:t>
            </a:r>
            <a:r>
              <a:rPr lang="zh-CN" altLang="en-US" sz="1400" b="1" spc="0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rPr>
              <a:t>朱善良</a:t>
            </a:r>
            <a:endParaRPr lang="zh-CN" altLang="en-US" sz="1400" b="1" spc="0">
              <a:solidFill>
                <a:srgbClr val="00597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394" name="Group 21"/>
          <p:cNvGrpSpPr/>
          <p:nvPr/>
        </p:nvGrpSpPr>
        <p:grpSpPr>
          <a:xfrm>
            <a:off x="3911600" y="4051300"/>
            <a:ext cx="1592263" cy="306705"/>
            <a:chOff x="0" y="0"/>
            <a:chExt cx="2508" cy="483"/>
          </a:xfrm>
        </p:grpSpPr>
        <p:sp>
          <p:nvSpPr>
            <p:cNvPr id="16400" name="Rectangle 22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16401" name="Text Box 23"/>
            <p:cNvSpPr txBox="1">
              <a:spLocks noChangeArrowheads="1"/>
            </p:cNvSpPr>
            <p:nvPr/>
          </p:nvSpPr>
          <p:spPr bwMode="auto">
            <a:xfrm>
              <a:off x="90" y="0"/>
              <a:ext cx="2418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 dirty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学生：</a:t>
              </a:r>
              <a:r>
                <a:rPr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杜博</a:t>
              </a:r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6395" name="Group 24"/>
          <p:cNvGrpSpPr/>
          <p:nvPr/>
        </p:nvGrpSpPr>
        <p:grpSpPr>
          <a:xfrm>
            <a:off x="6692900" y="4044950"/>
            <a:ext cx="2187575" cy="306705"/>
            <a:chOff x="0" y="0"/>
            <a:chExt cx="3446" cy="483"/>
          </a:xfrm>
        </p:grpSpPr>
        <p:sp>
          <p:nvSpPr>
            <p:cNvPr id="16398" name="Rectangle 25"/>
            <p:cNvSpPr/>
            <p:nvPr/>
          </p:nvSpPr>
          <p:spPr>
            <a:xfrm>
              <a:off x="0" y="89"/>
              <a:ext cx="120" cy="328"/>
            </a:xfrm>
            <a:prstGeom prst="rect">
              <a:avLst/>
            </a:prstGeom>
            <a:solidFill>
              <a:srgbClr val="0078AA"/>
            </a:solidFill>
            <a:ln>
              <a:noFill/>
              <a:miter lim="800000"/>
            </a:ln>
          </p:spPr>
          <p:txBody>
            <a:bodyPr anchor="ctr" anchorCtr="0"/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indent="0"/>
            </a:p>
          </p:txBody>
        </p:sp>
        <p:sp>
          <p:nvSpPr>
            <p:cNvPr id="16399" name="Text Box 26"/>
            <p:cNvSpPr txBox="1">
              <a:spLocks noChangeArrowheads="1"/>
            </p:cNvSpPr>
            <p:nvPr/>
          </p:nvSpPr>
          <p:spPr bwMode="auto">
            <a:xfrm>
              <a:off x="90" y="0"/>
              <a:ext cx="3356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marR="0" lvl="0" indent="0"/>
              <a:r>
                <a:rPr lang="zh-CN" altLang="en-US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汇报时间：</a:t>
              </a:r>
              <a:r>
                <a:rPr lang="en-US" altLang="zh-CN" sz="1400" b="1" spc="0">
                  <a:solidFill>
                    <a:srgbClr val="00597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sym typeface="Arial" panose="020B0604020202020204" pitchFamily="34" charset="0"/>
                </a:rPr>
                <a:t>2025.3.3</a:t>
              </a:r>
              <a:endParaRPr lang="zh-CN" altLang="en-US" sz="1400" b="1">
                <a:solidFill>
                  <a:srgbClr val="0059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16396" name="Line 27"/>
          <p:cNvCxnSpPr/>
          <p:nvPr/>
        </p:nvCxnSpPr>
        <p:spPr>
          <a:xfrm>
            <a:off x="11113" y="2003425"/>
            <a:ext cx="9151937" cy="0"/>
          </a:xfrm>
          <a:prstGeom prst="line">
            <a:avLst/>
          </a:prstGeom>
          <a:noFill/>
          <a:ln w="19050">
            <a:solidFill>
              <a:schemeClr val="bg1"/>
            </a:solidFill>
            <a:miter lim="800000"/>
          </a:ln>
        </p:spPr>
      </p:cxnSp>
      <p:cxnSp>
        <p:nvCxnSpPr>
          <p:cNvPr id="16397" name="Line 29"/>
          <p:cNvCxnSpPr/>
          <p:nvPr/>
        </p:nvCxnSpPr>
        <p:spPr>
          <a:xfrm>
            <a:off x="-6350" y="3282950"/>
            <a:ext cx="9150350" cy="0"/>
          </a:xfrm>
          <a:prstGeom prst="line">
            <a:avLst/>
          </a:prstGeom>
          <a:noFill/>
          <a:ln w="19050">
            <a:solidFill>
              <a:schemeClr val="bg1"/>
            </a:solidFill>
            <a:bevel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2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3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4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5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6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7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8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9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0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1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2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3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4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5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6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7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8.xml><?xml version="1.0" encoding="utf-8"?>
<p:tagLst xmlns:p="http://schemas.openxmlformats.org/presentationml/2006/main">
  <p:tag name="KSO_WM_DIAGRAM_VIRTUALLY_FRAME" val="{&quot;height&quot;:333.87503937007875,&quot;left&quot;:364.4250393700787,&quot;top&quot;:34.25,&quot;width&quot;:290.5749606299213}"/>
</p:tagLst>
</file>

<file path=ppt/tags/tag19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0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1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2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3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4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5.xml><?xml version="1.0" encoding="utf-8"?>
<p:tagLst xmlns:p="http://schemas.openxmlformats.org/presentationml/2006/main">
  <p:tag name="KSO_WM_DIAGRAM_VIRTUALLY_FRAME" val="{&quot;height&quot;:227.39929133858269,&quot;left&quot;:422.25,&quot;top&quot;:130,&quot;width&quot;:287.05}"/>
</p:tagLst>
</file>

<file path=ppt/tags/tag26.xml><?xml version="1.0" encoding="utf-8"?>
<p:tagLst xmlns:p="http://schemas.openxmlformats.org/presentationml/2006/main">
  <p:tag name="AS_NET" val="4.0.30319.42000"/>
  <p:tag name="AS_OS" val="Microsoft Windows NT 6.2.9200.0"/>
  <p:tag name="AS_RELEASE_DATE" val="2021.06.14"/>
  <p:tag name="AS_TITLE" val="Aspose.Slides for .NET 4.0 Client Profile"/>
  <p:tag name="AS_VERSION" val="21.6"/>
  <p:tag name="commondata" val="eyJoZGlkIjoiYTQ5NTk2MzMzOWQxNzUwYzkwNjMyY2E2MWZlNmEyNjcifQ=="/>
</p:tagLst>
</file>

<file path=ppt/theme/theme1.xml><?xml version="1.0" encoding="utf-8"?>
<a:theme xmlns:a="http://schemas.openxmlformats.org/drawingml/2006/main" name="PPTe吧 | PPT爱好者之家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WPS 演示</Application>
  <PresentationFormat>全屏显示(16:9)</PresentationFormat>
  <Paragraphs>60</Paragraphs>
  <Slides>13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Arial</vt:lpstr>
      <vt:lpstr>Arial Unicode MS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风华正茂</cp:lastModifiedBy>
  <cp:revision>77</cp:revision>
  <dcterms:created xsi:type="dcterms:W3CDTF">2024-12-03T05:51:00Z</dcterms:created>
  <dcterms:modified xsi:type="dcterms:W3CDTF">2025-03-03T10:31:55Z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EE4C3560DBF140D4BEA67E389BFFB35F_12</vt:lpwstr>
  </property>
</Properties>
</file>